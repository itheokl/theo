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70d31795a44dc0" /><Relationship Type="http://schemas.openxmlformats.org/officeDocument/2006/relationships/extended-properties" Target="/docProps/app.xml" Id="Ra4ef6ccc1f17462b" /><Relationship Type="http://schemas.openxmlformats.org/officeDocument/2006/relationships/officeDocument" Target="/ppt/presentation.xml" Id="R5579c68303424c1c" /></Relationships>
</file>

<file path=ppt/presentation.xml><?xml version="1.0" encoding="utf-8"?>
<p:presentation xmlns:p="http://schemas.openxmlformats.org/presentationml/2006/main">
  <p:sldMasterIdLst>
    <p:sldMasterId xmlns:r="http://schemas.openxmlformats.org/officeDocument/2006/relationships" id="2147483648" r:id="Red815be78448440c"/>
  </p:sldMasterIdLst>
  <p:notesMasterIdLst>
    <p:notesMasterId xmlns:r="http://schemas.openxmlformats.org/officeDocument/2006/relationships" r:id="Rcbd4e05e173c4a75"/>
  </p:notesMasterIdLst>
  <p:sldIdLst>
    <p:sldId xmlns:r="http://schemas.openxmlformats.org/officeDocument/2006/relationships" id="256" r:id="R32e313a09b5847b1"/>
    <p:sldId xmlns:r="http://schemas.openxmlformats.org/officeDocument/2006/relationships" id="257" r:id="R91703e203c034948"/>
    <p:sldId xmlns:r="http://schemas.openxmlformats.org/officeDocument/2006/relationships" id="258" r:id="Re0ae7b8b846e43e7"/>
    <p:sldId xmlns:r="http://schemas.openxmlformats.org/officeDocument/2006/relationships" id="259" r:id="Rafee965d57294235"/>
    <p:sldId xmlns:r="http://schemas.openxmlformats.org/officeDocument/2006/relationships" id="260" r:id="R62f07f740e1a4c63"/>
    <p:sldId xmlns:r="http://schemas.openxmlformats.org/officeDocument/2006/relationships" id="261" r:id="R591d69b23c444b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65f13b5d997496c" /><Relationship Type="http://schemas.openxmlformats.org/officeDocument/2006/relationships/slideMaster" Target="/ppt/slideMasters/slideMaster1.xml" Id="Red815be78448440c" /><Relationship Type="http://schemas.openxmlformats.org/officeDocument/2006/relationships/notesMaster" Target="/ppt/notesMasters/notesMaster1.xml" Id="Rcbd4e05e173c4a75" /><Relationship Type="http://schemas.openxmlformats.org/officeDocument/2006/relationships/presProps" Target="/ppt/presProps.xml" Id="R25736df5abbc458a" /><Relationship Type="http://schemas.openxmlformats.org/officeDocument/2006/relationships/viewProps" Target="/ppt/viewProps.xml" Id="Rf2d463b3d34149a0" /><Relationship Type="http://schemas.openxmlformats.org/officeDocument/2006/relationships/tableStyles" Target="/ppt/tableStyles.xml" Id="R56c9262bfeda4b5b" /><Relationship Type="http://schemas.openxmlformats.org/officeDocument/2006/relationships/slide" Target="/ppt/slides/slide1.xml" Id="R32e313a09b5847b1" /><Relationship Type="http://schemas.openxmlformats.org/officeDocument/2006/relationships/slide" Target="/ppt/slides/slide2.xml" Id="R91703e203c034948" /><Relationship Type="http://schemas.openxmlformats.org/officeDocument/2006/relationships/slide" Target="/ppt/slides/slide3.xml" Id="Re0ae7b8b846e43e7" /><Relationship Type="http://schemas.openxmlformats.org/officeDocument/2006/relationships/slide" Target="/ppt/slides/slide4.xml" Id="Rafee965d57294235" /><Relationship Type="http://schemas.openxmlformats.org/officeDocument/2006/relationships/slide" Target="/ppt/slides/slide5.xml" Id="R62f07f740e1a4c63" /><Relationship Type="http://schemas.openxmlformats.org/officeDocument/2006/relationships/slide" Target="/ppt/slides/slide6.xml" Id="R591d69b23c444b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d1292c8cd949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917c76f6894411" /><Relationship Type="http://schemas.openxmlformats.org/officeDocument/2006/relationships/notesMaster" Target="/ppt/notesMasters/notesMaster1.xml" Id="R2a72c0d39dab45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ad5b369a6649d7" /><Relationship Type="http://schemas.openxmlformats.org/officeDocument/2006/relationships/notesMaster" Target="/ppt/notesMasters/notesMaster1.xml" Id="R39c1966d2f084a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476f8b11da480b" /><Relationship Type="http://schemas.openxmlformats.org/officeDocument/2006/relationships/notesMaster" Target="/ppt/notesMasters/notesMaster1.xml" Id="Rb079b0a4ff5b4e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2e4d01b76f4d5f" /><Relationship Type="http://schemas.openxmlformats.org/officeDocument/2006/relationships/notesMaster" Target="/ppt/notesMasters/notesMaster1.xml" Id="R99ddd0ee5ef74a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52b841ff5340a9" /><Relationship Type="http://schemas.openxmlformats.org/officeDocument/2006/relationships/notesMaster" Target="/ppt/notesMasters/notesMaster1.xml" Id="R96755e9f2c784f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2c1de475fd49be" /><Relationship Type="http://schemas.openxmlformats.org/officeDocument/2006/relationships/notesMaster" Target="/ppt/notesMasters/notesMaster1.xml" Id="R2a256a76e25c44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is intentionally left for the team to complete before submission. Problem statement title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full-system endpoint, not a claim that every feature is implemented. Nearest means the first supported receiving VASP along a directed, time-consistent traced path. VASP attribution depends on label coverage; customer deposit-account ownership may require VASP confirmation. NCRP/SAHYOG access and interfaces require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Workflow diagram generated with the built-in image-generation tool to illustrate the proposed design; it is not a system screenshot. Blockchain documentation: https://github.com/Blockstream/esplora/blob/master/API.md . The proposed cross-chain layer will correlate supported bridge events; separate chain adapters alone do not establish cross-chain continuity. ML models require labelled evaluation and remain assistive, not proof of wrongdoing.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Prototype scope checked against local source on 10 September 2026: backend/app/api/demo.py uses direction both, depth 1, max_nodes 80 and max_edges 160. Frontend exposes PDF and CSV export. This is not production certification or full exchange coverage. Proposed endpoint features are explicitly planned. No timing, accuracy or cost benchmarks are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These are intended impacts, not measured outcomes. AEGIS supports investigators; it does not freeze assets, issue legal orders or guarantee recovery. Open-source software still incurs infrastructure, indexing and data-access costs.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Meiklejohn et al. (2013), A Fistful of Bitcoins: Characterizing Payments Among Men with No Names.</a:t>
            </a:r>
            <a:endParaRPr/>
          </a:p>
          <a:p xmlns:a="http://schemas.openxmlformats.org/drawingml/2006/main">
            <a:pPr>
              <a:spcBef>
                <a:spcPct val="0"/>
              </a:spcBef>
              <a:buNone/>
            </a:pPr>
            <a:r>
              <a:t>https://conferences.sigcomm.org/imc/2013/papers/imc182-meiklejohnA.pdf</a:t>
            </a:r>
            <a:endParaRPr/>
          </a:p>
          <a:p xmlns:a="http://schemas.openxmlformats.org/drawingml/2006/main">
            <a:pPr>
              <a:spcBef>
                <a:spcPct val="0"/>
              </a:spcBef>
              <a:buNone/>
            </a:pPr>
            <a:r>
              <a:t/>
            </a:r>
            <a:endParaRPr/>
          </a:p>
          <a:p xmlns:a="http://schemas.openxmlformats.org/drawingml/2006/main">
            <a:pPr>
              <a:spcBef>
                <a:spcPct val="0"/>
              </a:spcBef>
              <a:buNone/>
            </a:pPr>
            <a:r>
              <a:t>Weber et al. (2019), Anti-Money Laundering in Bitcoin: Experimenting with Graph Convolutional Networks for Financial Forensics.</a:t>
            </a:r>
            <a:endParaRPr/>
          </a:p>
          <a:p xmlns:a="http://schemas.openxmlformats.org/drawingml/2006/main">
            <a:pPr>
              <a:spcBef>
                <a:spcPct val="0"/>
              </a:spcBef>
              <a:buNone/>
            </a:pPr>
            <a:r>
              <a:t>https://arxiv.org/abs/1908.02591</a:t>
            </a:r>
            <a:endParaRPr/>
          </a:p>
          <a:p xmlns:a="http://schemas.openxmlformats.org/drawingml/2006/main">
            <a:pPr>
              <a:spcBef>
                <a:spcPct val="0"/>
              </a:spcBef>
              <a:buNone/>
            </a:pPr>
            <a:r>
              <a:t/>
            </a:r>
            <a:endParaRPr/>
          </a:p>
          <a:p xmlns:a="http://schemas.openxmlformats.org/drawingml/2006/main">
            <a:pPr>
              <a:spcBef>
                <a:spcPct val="0"/>
              </a:spcBef>
              <a:buNone/>
            </a:pPr>
            <a:r>
              <a:t>Blockstream Esplora: address and transaction API documentation.</a:t>
            </a:r>
            <a:endParaRPr/>
          </a:p>
          <a:p xmlns:a="http://schemas.openxmlformats.org/drawingml/2006/main">
            <a:pPr>
              <a:spcBef>
                <a:spcPct val="0"/>
              </a:spcBef>
              <a:buNone/>
            </a:pPr>
            <a:r>
              <a:t>https://github.com/Blockstream/esplora/blob/master/API.md</a:t>
            </a:r>
            <a:endParaRPr/>
          </a:p>
          <a:p xmlns:a="http://schemas.openxmlformats.org/drawingml/2006/main">
            <a:pPr>
              <a:spcBef>
                <a:spcPct val="0"/>
              </a:spcBef>
              <a:buNone/>
            </a:pPr>
            <a:r>
              <a:t/>
            </a:r>
            <a:endParaRPr/>
          </a:p>
          <a:p xmlns:a="http://schemas.openxmlformats.org/drawingml/2006/main">
            <a:pPr>
              <a:spcBef>
                <a:spcPct val="0"/>
              </a:spcBef>
              <a:buNone/>
            </a:pPr>
            <a:r>
              <a:t>Binance, Our Commitment to Transparency (2022): published wallet disclosures.</a:t>
            </a:r>
            <a:endParaRPr/>
          </a:p>
          <a:p xmlns:a="http://schemas.openxmlformats.org/drawingml/2006/main">
            <a:pPr>
              <a:spcBef>
                <a:spcPct val="0"/>
              </a:spcBef>
              <a:buNone/>
            </a:pPr>
            <a:r>
              <a:t>https://www.binance.com/en-IN/blog/community/2895840147147652626</a:t>
            </a:r>
            <a:endParaRPr/>
          </a:p>
          <a:p xmlns:a="http://schemas.openxmlformats.org/drawingml/2006/main">
            <a:pPr>
              <a:spcBef>
                <a:spcPct val="0"/>
              </a:spcBef>
              <a:buNone/>
            </a:pPr>
            <a:r>
              <a:t/>
            </a:r>
            <a:endParaRPr/>
          </a:p>
          <a:p xmlns:a="http://schemas.openxmlformats.org/drawingml/2006/main">
            <a:pPr>
              <a:spcBef>
                <a:spcPct val="0"/>
              </a:spcBef>
              <a:buNone/>
            </a:pPr>
            <a:r>
              <a:t>FATF (2021), Updated Guidance for a Risk-Based Approach to Virtual Assets and VASPs.</a:t>
            </a:r>
            <a:endParaRPr/>
          </a:p>
          <a:p xmlns:a="http://schemas.openxmlformats.org/drawingml/2006/main">
            <a:pPr>
              <a:spcBef>
                <a:spcPct val="0"/>
              </a:spcBef>
              <a:buNone/>
            </a:pPr>
            <a:r>
              <a:t>https://www.fatf-gafi.org/en/publications/Fatfrecommendations/Guidance-rba-virtual-assets-2021.html</a:t>
            </a:r>
            <a:endParaRPr/>
          </a:p>
          <a:p xmlns:a="http://schemas.openxmlformats.org/drawingml/2006/main">
            <a:pPr>
              <a:spcBef>
                <a:spcPct val="0"/>
              </a:spcBef>
              <a:buNone/>
            </a:pPr>
            <a:r>
              <a:t/>
            </a:r>
            <a:endParaRPr/>
          </a:p>
          <a:p xmlns:a="http://schemas.openxmlformats.org/drawingml/2006/main">
            <a:pPr>
              <a:spcBef>
                <a:spcPct val="0"/>
              </a:spcBef>
              <a:buNone/>
            </a:pPr>
            <a:r>
              <a:t>NIST SP 800-86 (2006), Guide to Integrating Forensic Techniques into Incident Response.</a:t>
            </a:r>
            <a:endParaRPr/>
          </a:p>
          <a:p xmlns:a="http://schemas.openxmlformats.org/drawingml/2006/main">
            <a:pPr>
              <a:spcBef>
                <a:spcPct val="0"/>
              </a:spcBef>
              <a:buNone/>
            </a:pPr>
            <a:r>
              <a:t>https://csrc.nist.gov/pubs/sp/800/86/final</a:t>
            </a:r>
            <a:endParaRPr/>
          </a:p>
          <a:p xmlns:a="http://schemas.openxmlformats.org/drawingml/2006/main">
            <a:pPr>
              <a:spcBef>
                <a:spcPct val="0"/>
              </a:spcBef>
              <a:buNone/>
            </a:pPr>
            <a:r>
              <a:t/>
            </a:r>
            <a:endParaRPr/>
          </a:p>
          <a:p xmlns:a="http://schemas.openxmlformats.org/drawingml/2006/main">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01b8c59abb456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477faae83945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9177e074704f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006914804648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fd7fac65094b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5bde6ed7464e5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3adade3663b48d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259c410c1cb4e0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ed77c61c68a495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dec2c620a694de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f7d8bfa30ca4f7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F767A7-A571-4E2D-A15E-ECB7D2D49D70}"/>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A07DF1A-EBDB-416B-89CF-0D4C2612386E}"/>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881BBBC1-D54E-49C1-8EBA-3F2424DB15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24D02823-E05A-4E5F-B4FF-4705A3385E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646A347-1A17-4A7E-852F-CE5457C20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92BF4D-D65C-4EC6-860B-70740D1B351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0BA957E-9C8A-4738-BB51-D4BD6B3AE1F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CDB964-784A-4CF9-B732-B69F8A0E53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5BBCDCFF-9082-43EF-B62E-9BEBC3E745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5A319D4-5B05-4FF7-B803-19D00B4FD1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D8BDCC-F02E-4721-B27C-80E3E95F9D2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471E42-5806-40AD-8072-A38EDBBF88D9}"/>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FE3674B-2CBC-48B9-937C-774D30A7BF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A4BC1F53-799F-49D7-8D8E-8CB4D864D4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CC77AF4-A957-40B7-B9BD-C8FD07861B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1F0742-2880-4287-A634-A46240A41E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D55C406-1C5F-4DB8-AC0F-9F3ECD505BE1}"/>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928E694-49DB-43D6-A5E3-38BE87250432}"/>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78C747BA-42D3-45ED-B136-B79D3888D3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CEA6CD2F-8FDE-4E47-AED1-1A9FDB3668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C2D658A5-EA61-4930-9ED2-4F2F7C7B1C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AF8FB1-9F58-4407-998C-C7EC157BF6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83BCF6-0966-41A0-B4CE-E7A2C8CA8A66}"/>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8D3516C-3C3F-4D1E-9AC5-51A1E7E48701}"/>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954CFC4-884E-49F1-919C-B96B2BB68EC7}"/>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0056341-723D-4E90-AA2A-AFBF08408099}"/>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07A221A0-059D-4CD2-9197-BF3FB8424F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511E1AEA-51DB-4B25-BC0B-699BE9FC5E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C4512172-1927-4F2C-85C5-F04E67265E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247FFF-0339-404D-9F69-FFBA3B4617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6AFA2344-C629-4F31-A70D-717E915D25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AE9551F-7FE9-4DE6-8272-AF0D3655CE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2CCDA9F1-907D-4152-87E4-14C19FDEB7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6DC9845A-323D-41AC-9DBA-0B9F4B8CDE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75BE088C-5778-471C-B04D-5BEF0F019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D2C3B5A5-916D-4F7C-BB3E-4A7ADDAEAA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B8F7E1-45BD-45ED-9C16-DB6B4134F0E0}"/>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0EC29F3-8568-4BA0-9636-184A7AFF9576}"/>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1C655F4-C861-4A0D-BD55-89E1BCAB119E}"/>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E6770E33-7C71-485D-B2DE-9C4C7C3C2B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C5E8D642-19A2-4C5D-8029-5BDC2069F8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03A6878-D9B0-4D1A-9618-3BB4A9C284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4EF4FC-D837-4B1E-9930-322BA22A37CD}"/>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E175DCE-8E76-4350-BF0B-D4305809BC8A}"/>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A4600688-EBA9-4846-A951-D08C76433520}"/>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366C9B5-70B8-4725-8FC2-09C3828F23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767ABCBB-499D-44A9-8BB0-AD7515CDCC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8CD4F5F-A763-4488-B5A6-EDE7D85F06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5B4C2A-6E90-4ABD-8D8B-97952F1736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7DDFA12-AEA2-4151-BFC8-C0671DEB8C6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8BACFA3-7029-4B2D-8F4D-FBF65F9585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FEA3DA21-2434-40AA-BD72-10522041B1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527041E-60EE-4D18-A50C-D9DD5981A2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30529A6-60EC-49CE-8C94-D6E7CA5DB064}"/>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662EB7D-5B20-46EE-AFCC-38ACD846E253}"/>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E453789-45CB-4246-9462-60F2BC635B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6ED84393-0719-43B3-BA70-7542722C5F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06BA54C-2A26-46C2-B3D6-28C28C89FF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b79cd616ea42c3" /><Relationship Type="http://schemas.openxmlformats.org/officeDocument/2006/relationships/slideLayout" Target="/ppt/slideLayouts/slideLayout1.xml" Id="R1ca49a6e2e6b4f9c" /><Relationship Type="http://schemas.openxmlformats.org/officeDocument/2006/relationships/slideLayout" Target="/ppt/slideLayouts/slideLayout2.xml" Id="Rc7d35a16b73d4103" /><Relationship Type="http://schemas.openxmlformats.org/officeDocument/2006/relationships/slideLayout" Target="/ppt/slideLayouts/slideLayout3.xml" Id="R3d4a1db968684228" /><Relationship Type="http://schemas.openxmlformats.org/officeDocument/2006/relationships/slideLayout" Target="/ppt/slideLayouts/slideLayout4.xml" Id="R9014051675d042cb" /><Relationship Type="http://schemas.openxmlformats.org/officeDocument/2006/relationships/slideLayout" Target="/ppt/slideLayouts/slideLayout5.xml" Id="Rccd03397ad7942c0" /><Relationship Type="http://schemas.openxmlformats.org/officeDocument/2006/relationships/slideLayout" Target="/ppt/slideLayouts/slideLayout6.xml" Id="R09e22f994d5a420b" /><Relationship Type="http://schemas.openxmlformats.org/officeDocument/2006/relationships/slideLayout" Target="/ppt/slideLayouts/slideLayout7.xml" Id="R1882c6edb13243a4" /><Relationship Type="http://schemas.openxmlformats.org/officeDocument/2006/relationships/slideLayout" Target="/ppt/slideLayouts/slideLayout8.xml" Id="Recb1a73c1f2147a1" /><Relationship Type="http://schemas.openxmlformats.org/officeDocument/2006/relationships/slideLayout" Target="/ppt/slideLayouts/slideLayout9.xml" Id="R47e12682c8b8410d" /><Relationship Type="http://schemas.openxmlformats.org/officeDocument/2006/relationships/slideLayout" Target="/ppt/slideLayouts/slideLayout10.xml" Id="Rcb49db9a292f4e0d" /><Relationship Type="http://schemas.openxmlformats.org/officeDocument/2006/relationships/slideLayout" Target="/ppt/slideLayouts/slideLayout11.xml" Id="R9c9464e68f8a4d6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7F5FA883-B4C3-4B23-9C47-91C74BD1B0D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65B21BA4-E432-4D39-A253-48096986723D}"/>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E980FBF-EDE0-47B7-92A6-D7DC871AA0DA}"/>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4B7A727-C776-4140-9F64-4C606C792347}"/>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76870E1-F380-4D1A-BE47-7ECEEF31026B}"/>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a49a6e2e6b4f9c"/>
    <p:sldLayoutId xmlns:r="http://schemas.openxmlformats.org/officeDocument/2006/relationships" id="2147483650" r:id="Rc7d35a16b73d4103"/>
    <p:sldLayoutId xmlns:r="http://schemas.openxmlformats.org/officeDocument/2006/relationships" id="2147483651" r:id="R3d4a1db968684228"/>
    <p:sldLayoutId xmlns:r="http://schemas.openxmlformats.org/officeDocument/2006/relationships" id="2147483652" r:id="R9014051675d042cb"/>
    <p:sldLayoutId xmlns:r="http://schemas.openxmlformats.org/officeDocument/2006/relationships" id="2147483653" r:id="Rccd03397ad7942c0"/>
    <p:sldLayoutId xmlns:r="http://schemas.openxmlformats.org/officeDocument/2006/relationships" id="2147483654" r:id="R09e22f994d5a420b"/>
    <p:sldLayoutId xmlns:r="http://schemas.openxmlformats.org/officeDocument/2006/relationships" id="2147483655" r:id="R1882c6edb13243a4"/>
    <p:sldLayoutId xmlns:r="http://schemas.openxmlformats.org/officeDocument/2006/relationships" id="2147483656" r:id="Recb1a73c1f2147a1"/>
    <p:sldLayoutId xmlns:r="http://schemas.openxmlformats.org/officeDocument/2006/relationships" id="2147483657" r:id="R47e12682c8b8410d"/>
    <p:sldLayoutId xmlns:r="http://schemas.openxmlformats.org/officeDocument/2006/relationships" id="2147483658" r:id="Rcb49db9a292f4e0d"/>
    <p:sldLayoutId xmlns:r="http://schemas.openxmlformats.org/officeDocument/2006/relationships" id="2147483659" r:id="R9c9464e68f8a4d65"/>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b5c373b8e64486" /><Relationship Type="http://schemas.openxmlformats.org/officeDocument/2006/relationships/image" Target="/ppt/media/image.png" Id="R2b097dfa2a174d6d" /><Relationship Type="http://schemas.openxmlformats.org/officeDocument/2006/relationships/image" Target="/ppt/media/image2.png" Id="Rc75450f9d4d04742" /><Relationship Type="http://schemas.openxmlformats.org/officeDocument/2006/relationships/notesSlide" Target="/ppt/notesSlides/notesSlide1.xml" Id="Rb46727d77c204b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56bf17aa24c4fa9" /><Relationship Type="http://schemas.openxmlformats.org/officeDocument/2006/relationships/image" Target="/ppt/media/image3.png" Id="R040881ab11204b84" /><Relationship Type="http://schemas.openxmlformats.org/officeDocument/2006/relationships/notesSlide" Target="/ppt/notesSlides/notesSlide2.xml" Id="R6cbd4355e26141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a0796b084054217" /><Relationship Type="http://schemas.openxmlformats.org/officeDocument/2006/relationships/image" Target="/ppt/media/image4.png" Id="R9287443ce2ab4d4b" /><Relationship Type="http://schemas.openxmlformats.org/officeDocument/2006/relationships/image" Target="/ppt/media/image5.png" Id="R4addedd405fa4065" /><Relationship Type="http://schemas.openxmlformats.org/officeDocument/2006/relationships/notesSlide" Target="/ppt/notesSlides/notesSlide3.xml" Id="R42084bcf587142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fa77c9054904704" /><Relationship Type="http://schemas.openxmlformats.org/officeDocument/2006/relationships/image" Target="/ppt/media/image6.png" Id="R93cbf84111654f87" /><Relationship Type="http://schemas.openxmlformats.org/officeDocument/2006/relationships/notesSlide" Target="/ppt/notesSlides/notesSlide4.xml" Id="R43880d5802ca4a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351f85d3c674794" /><Relationship Type="http://schemas.openxmlformats.org/officeDocument/2006/relationships/image" Target="/ppt/media/image7.png" Id="Rec86ce5e295b4ebe" /><Relationship Type="http://schemas.openxmlformats.org/officeDocument/2006/relationships/notesSlide" Target="/ppt/notesSlides/notesSlide5.xml" Id="R78c53e66b55946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f7175a6f80f47a8" /><Relationship Type="http://schemas.openxmlformats.org/officeDocument/2006/relationships/hyperlink" Target="https://conferences.sigcomm.org/imc/2013/papers/imc182-meiklejohnA.pdf" TargetMode="External" Id="R3ce8deb58cb849dc" /><Relationship Type="http://schemas.openxmlformats.org/officeDocument/2006/relationships/hyperlink" Target="https://arxiv.org/abs/1908.02591" TargetMode="External" Id="R7bd1b16922c5456f" /><Relationship Type="http://schemas.openxmlformats.org/officeDocument/2006/relationships/hyperlink" Target="https://github.com/Blockstream/esplora/blob/master/API.md" TargetMode="External" Id="R1d3d6becfa7b4fe0" /><Relationship Type="http://schemas.openxmlformats.org/officeDocument/2006/relationships/hyperlink" Target="https://www.binance.com/en-IN/blog/community/2895840147147652626" TargetMode="External" Id="Rba091b557cd543c6" /><Relationship Type="http://schemas.openxmlformats.org/officeDocument/2006/relationships/hyperlink" Target="https://www.fatf-gafi.org/en/publications/Fatfrecommendations/Guidance-rba-virtual-assets-2021.html" TargetMode="External" Id="Rf4c84e7a815d476b" /><Relationship Type="http://schemas.openxmlformats.org/officeDocument/2006/relationships/hyperlink" Target="https://csrc.nist.gov/pubs/sp/800/86/final" TargetMode="External" Id="Rea8f37b4b470495a" /><Relationship Type="http://schemas.openxmlformats.org/officeDocument/2006/relationships/image" Target="/ppt/media/image8.png" Id="R8d515d18841449e9" /><Relationship Type="http://schemas.openxmlformats.org/officeDocument/2006/relationships/notesSlide" Target="/ppt/notesSlides/notesSlide6.xml" Id="R205f846a8dd843b4"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2b097dfa2a174d6d"/>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EBC9B2A0-6882-4EC7-82DD-4C0C2B62C611}"/>
              </a:ext>
            </a:extLst>
          </p:cNvPr>
          <p:cNvSpPr>
            <a:spLocks xmlns:a="http://schemas.openxmlformats.org/drawingml/2006/main" noGrp="1"/>
          </p:cNvSpPr>
          <p:nvPr>
            <p:ph type="subTitle" idx="1"/>
          </p:nvPr>
        </p:nvSpPr>
        <p:spPr>
          <a:xfrm xmlns:a="http://schemas.openxmlformats.org/drawingml/2006/main">
            <a:off x="1238250" y="1143000"/>
            <a:ext cx="8534400" cy="60960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777777"/>
                </a:solidFill>
                <a:latin typeface="Times New Roman"/>
                <a:ea typeface="Times New Roman"/>
                <a:cs typeface="Times New Roman"/>
              </a:defRPr>
            </a:pPr>
            <a:r>
              <a:rPr sz="2850" b="1">
                <a:solidFill>
                  <a:srgbClr val="777777"/>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50E5E925-ED22-4F68-BBE5-974527ADBA47}"/>
              </a:ext>
            </a:extLst>
          </p:cNvPr>
          <p:cNvSpPr>
            <a:spLocks xmlns:a="http://schemas.openxmlformats.org/drawingml/2006/main" noGrp="1"/>
          </p:cNvSpPr>
          <p:nvPr>
            <p:ph type="ctrTitle" idx="0"/>
          </p:nvPr>
        </p:nvSpPr>
        <p:spPr>
          <a:xfrm xmlns:a="http://schemas.openxmlformats.org/drawingml/2006/main">
            <a:off x="323850" y="190500"/>
            <a:ext cx="9353550" cy="78105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3450" b="1">
                <a:solidFill>
                  <a:srgbClr val="1F497D"/>
                </a:solidFill>
                <a:latin typeface="Arial"/>
                <a:ea typeface="Arial"/>
                <a:cs typeface="Arial"/>
              </a:defRPr>
            </a:pPr>
            <a:r>
              <a:rPr sz="3450" b="1">
                <a:solidFill>
                  <a:srgbClr val="1F497D"/>
                </a:solidFill>
                <a:latin typeface="Arial"/>
                <a:ea typeface="Arial"/>
                <a:cs typeface="Arial"/>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0DEB99E2-1C43-41EC-A1FE-4D60CCE4E048}"/>
              </a:ext>
            </a:extLst>
          </p:cNvPr>
          <p:cNvSpPr>
            <a:spLocks xmlns:a="http://schemas.openxmlformats.org/drawingml/2006/main" noGrp="1"/>
          </p:cNvSpPr>
          <p:nvPr/>
        </p:nvSpPr>
        <p:spPr>
          <a:xfrm xmlns:a="http://schemas.openxmlformats.org/drawingml/2006/main">
            <a:off x="331286" y="2076450"/>
            <a:ext cx="5924550" cy="4703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
            </a:r>
            <a:endParaRPr/>
          </a:p>
        </p:txBody>
      </p:sp>
      <p:sp>
        <p:nvSpPr>
          <p:cNvPr id="40" name="">
            <a:extLst xmlns:a="http://schemas.openxmlformats.org/drawingml/2006/main">
              <a:ext uri="{FF2B5EF4-FFF2-40B4-BE49-F238E27FC236}">
                <a16:creationId xmlns:a16="http://schemas.microsoft.com/office/drawing/2014/main" id="{A9B18E34-5A62-4749-8632-CA2D732FA553}"/>
              </a:ext>
            </a:extLst>
          </p:cNvPr>
          <p:cNvSpPr>
            <a:spLocks xmlns:a="http://schemas.openxmlformats.org/drawingml/2006/main" noGrp="1"/>
          </p:cNvSpPr>
          <p:nvPr/>
        </p:nvSpPr>
        <p:spPr>
          <a:xfrm xmlns:a="http://schemas.openxmlformats.org/drawingml/2006/main">
            <a:off x="419100" y="2257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ID: SIH26183</a:t>
            </a:r>
          </a:p>
        </p:txBody>
      </p:sp>
      <p:sp>
        <p:nvSpPr>
          <p:cNvPr id="41" name="">
            <a:extLst xmlns:a="http://schemas.openxmlformats.org/drawingml/2006/main">
              <a:ext uri="{FF2B5EF4-FFF2-40B4-BE49-F238E27FC236}">
                <a16:creationId xmlns:a16="http://schemas.microsoft.com/office/drawing/2014/main" id="{7E137E0E-949B-49C2-8A86-C6F7E0C07CC0}"/>
              </a:ext>
            </a:extLst>
          </p:cNvPr>
          <p:cNvSpPr>
            <a:spLocks xmlns:a="http://schemas.openxmlformats.org/drawingml/2006/main" noGrp="1"/>
          </p:cNvSpPr>
          <p:nvPr/>
        </p:nvSpPr>
        <p:spPr>
          <a:xfrm xmlns:a="http://schemas.openxmlformats.org/drawingml/2006/main">
            <a:off x="419100" y="27241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55A05076-0D4B-4F3B-BD10-3291F2BDC157}"/>
              </a:ext>
            </a:extLst>
          </p:cNvPr>
          <p:cNvSpPr>
            <a:spLocks xmlns:a="http://schemas.openxmlformats.org/drawingml/2006/main" noGrp="1"/>
          </p:cNvSpPr>
          <p:nvPr/>
        </p:nvSpPr>
        <p:spPr>
          <a:xfrm xmlns:a="http://schemas.openxmlformats.org/drawingml/2006/main">
            <a:off x="419100" y="3105150"/>
            <a:ext cx="6105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Real-Time Identification of Fraud-Linked Cryptocurrency Exchanges from Victim-Reported Suspect Wallet Addresses through Automated Blockchain Analytics</a:t>
            </a:r>
          </a:p>
        </p:txBody>
      </p:sp>
      <p:sp>
        <p:nvSpPr>
          <p:cNvPr id="43" name="">
            <a:extLst xmlns:a="http://schemas.openxmlformats.org/drawingml/2006/main">
              <a:ext uri="{FF2B5EF4-FFF2-40B4-BE49-F238E27FC236}">
                <a16:creationId xmlns:a16="http://schemas.microsoft.com/office/drawing/2014/main" id="{7EE23670-E471-4C1F-A3CE-8FA7C93781A9}"/>
              </a:ext>
            </a:extLst>
          </p:cNvPr>
          <p:cNvSpPr>
            <a:spLocks xmlns:a="http://schemas.openxmlformats.org/drawingml/2006/main" noGrp="1"/>
          </p:cNvSpPr>
          <p:nvPr/>
        </p:nvSpPr>
        <p:spPr>
          <a:xfrm xmlns:a="http://schemas.openxmlformats.org/drawingml/2006/main">
            <a:off x="419100" y="46005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Theme: Blockchain &amp; Cybersecurity</a:t>
            </a:r>
          </a:p>
        </p:txBody>
      </p:sp>
      <p:sp>
        <p:nvSpPr>
          <p:cNvPr id="44" name="">
            <a:extLst xmlns:a="http://schemas.openxmlformats.org/drawingml/2006/main">
              <a:ext uri="{FF2B5EF4-FFF2-40B4-BE49-F238E27FC236}">
                <a16:creationId xmlns:a16="http://schemas.microsoft.com/office/drawing/2014/main" id="{2477B7E1-BC27-402C-B80E-B848C87F2C99}"/>
              </a:ext>
            </a:extLst>
          </p:cNvPr>
          <p:cNvSpPr>
            <a:spLocks xmlns:a="http://schemas.openxmlformats.org/drawingml/2006/main" noGrp="1"/>
          </p:cNvSpPr>
          <p:nvPr/>
        </p:nvSpPr>
        <p:spPr>
          <a:xfrm xmlns:a="http://schemas.openxmlformats.org/drawingml/2006/main">
            <a:off x="4191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PS Category: Software</a:t>
            </a:r>
          </a:p>
        </p:txBody>
      </p:sp>
      <p:sp>
        <p:nvSpPr>
          <p:cNvPr id="45" name="">
            <a:extLst xmlns:a="http://schemas.openxmlformats.org/drawingml/2006/main">
              <a:ext uri="{FF2B5EF4-FFF2-40B4-BE49-F238E27FC236}">
                <a16:creationId xmlns:a16="http://schemas.microsoft.com/office/drawing/2014/main" id="{29E5C58E-5097-4EC9-B46C-5DDC0BE191EE}"/>
              </a:ext>
            </a:extLst>
          </p:cNvPr>
          <p:cNvSpPr>
            <a:spLocks xmlns:a="http://schemas.openxmlformats.org/drawingml/2006/main" noGrp="1"/>
          </p:cNvSpPr>
          <p:nvPr/>
        </p:nvSpPr>
        <p:spPr>
          <a:xfrm xmlns:a="http://schemas.openxmlformats.org/drawingml/2006/main">
            <a:off x="419100" y="543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Team ID: [ENTER REGISTERED TEAM ID]</a:t>
            </a:r>
          </a:p>
        </p:txBody>
      </p:sp>
      <p:sp>
        <p:nvSpPr>
          <p:cNvPr id="46" name="">
            <a:extLst xmlns:a="http://schemas.openxmlformats.org/drawingml/2006/main">
              <a:ext uri="{FF2B5EF4-FFF2-40B4-BE49-F238E27FC236}">
                <a16:creationId xmlns:a16="http://schemas.microsoft.com/office/drawing/2014/main" id="{D8F9E9C3-381D-480D-A0AE-8EB3834518EB}"/>
              </a:ext>
            </a:extLst>
          </p:cNvPr>
          <p:cNvSpPr>
            <a:spLocks xmlns:a="http://schemas.openxmlformats.org/drawingml/2006/main" noGrp="1"/>
          </p:cNvSpPr>
          <p:nvPr/>
        </p:nvSpPr>
        <p:spPr>
          <a:xfrm xmlns:a="http://schemas.openxmlformats.org/drawingml/2006/main">
            <a:off x="419100" y="58578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Team Name (Registered on portal):</a:t>
            </a:r>
          </a:p>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COLD COFFEE</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c75450f9d4d04742"/>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13168054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15E94DF-84DB-41C3-A888-5C0F4A5F41C6}"/>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8B98809-A4D4-4887-8466-AA0DA3781CC9}"/>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AEGIS FORENSICS</a:t>
            </a:r>
          </a:p>
        </p:txBody>
      </p:sp>
      <p:sp>
        <p:nvSpPr>
          <p:cNvPr id="6" name="Slide Number Placeholder 5">
            <a:extLst xmlns:a="http://schemas.openxmlformats.org/drawingml/2006/main">
              <a:ext uri="{FF2B5EF4-FFF2-40B4-BE49-F238E27FC236}">
                <a16:creationId xmlns:a16="http://schemas.microsoft.com/office/drawing/2014/main" id="{F43CD4B6-0F36-4340-AD2A-FFE9FA1D7872}"/>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E2598689-54C9-18A7-3A19-ED76AA08988F}" type="slidenum">
              <a:rPr sz="127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17F0B20C-F2DD-47B9-B160-8AE0B0EFE3AC}"/>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5364" name="">
            <a:extLst xmlns:a="http://schemas.openxmlformats.org/drawingml/2006/main">
              <a:ext uri="{FF2B5EF4-FFF2-40B4-BE49-F238E27FC236}">
                <a16:creationId xmlns:a16="http://schemas.microsoft.com/office/drawing/2014/main" id="{51A55356-B9B3-4916-8BAE-A3B47E949E8A}"/>
              </a:ext>
            </a:extLst>
          </p:cNvPr>
          <p:cNvSpPr>
            <a:spLocks xmlns:a="http://schemas.openxmlformats.org/drawingml/2006/main" noGrp="1"/>
          </p:cNvSpPr>
          <p:nvPr/>
        </p:nvSpPr>
        <p:spPr>
          <a:xfrm xmlns:a="http://schemas.openxmlformats.org/drawingml/2006/main">
            <a:off x="609600" y="1304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Proposed Solution (Describe your Idea/Solution/Prototype)</a:t>
            </a:r>
          </a:p>
        </p:txBody>
      </p:sp>
      <p:sp>
        <p:nvSpPr>
          <p:cNvPr id="15365" name="">
            <a:extLst xmlns:a="http://schemas.openxmlformats.org/drawingml/2006/main">
              <a:ext uri="{FF2B5EF4-FFF2-40B4-BE49-F238E27FC236}">
                <a16:creationId xmlns:a16="http://schemas.microsoft.com/office/drawing/2014/main" id="{E05887D6-2A4F-4DD5-840D-9322C8857789}"/>
              </a:ext>
            </a:extLst>
          </p:cNvPr>
          <p:cNvSpPr>
            <a:spLocks xmlns:a="http://schemas.openxmlformats.org/drawingml/2006/main" noGrp="1"/>
          </p:cNvSpPr>
          <p:nvPr/>
        </p:nvSpPr>
        <p:spPr>
          <a:xfrm xmlns:a="http://schemas.openxmlformats.org/drawingml/2006/main">
            <a:off x="609600" y="1781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Detailed explanation of the proposed solution</a:t>
            </a:r>
          </a:p>
        </p:txBody>
      </p:sp>
      <p:sp>
        <p:nvSpPr>
          <p:cNvPr id="15366" name="">
            <a:extLst xmlns:a="http://schemas.openxmlformats.org/drawingml/2006/main">
              <a:ext uri="{FF2B5EF4-FFF2-40B4-BE49-F238E27FC236}">
                <a16:creationId xmlns:a16="http://schemas.microsoft.com/office/drawing/2014/main" id="{FA8CBDB1-40D1-43D1-B111-EEAC48F1399C}"/>
              </a:ext>
            </a:extLst>
          </p:cNvPr>
          <p:cNvSpPr>
            <a:spLocks xmlns:a="http://schemas.openxmlformats.org/drawingml/2006/main" noGrp="1"/>
          </p:cNvSpPr>
          <p:nvPr/>
        </p:nvSpPr>
        <p:spPr>
          <a:xfrm xmlns:a="http://schemas.openxmlformats.org/drawingml/2006/main">
            <a:off x="723900" y="2143125"/>
            <a:ext cx="108013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Ingest victim-reported addresses and trace outgoing funds through intermediary wallets.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Identify the nearest supported receiving exchange/VASP with its deposit transaction and path.</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Monitor subsequent movement and generate alerts with standardized investigation reports.</a:t>
            </a:r>
          </a:p>
        </p:txBody>
      </p:sp>
      <p:sp>
        <p:nvSpPr>
          <p:cNvPr id="15367" name="">
            <a:extLst xmlns:a="http://schemas.openxmlformats.org/drawingml/2006/main">
              <a:ext uri="{FF2B5EF4-FFF2-40B4-BE49-F238E27FC236}">
                <a16:creationId xmlns:a16="http://schemas.microsoft.com/office/drawing/2014/main" id="{78CE3D3E-7F78-412A-A333-9C2F5BE753E1}"/>
              </a:ext>
            </a:extLst>
          </p:cNvPr>
          <p:cNvSpPr>
            <a:spLocks xmlns:a="http://schemas.openxmlformats.org/drawingml/2006/main" noGrp="1"/>
          </p:cNvSpPr>
          <p:nvPr/>
        </p:nvSpPr>
        <p:spPr>
          <a:xfrm xmlns:a="http://schemas.openxmlformats.org/drawingml/2006/main">
            <a:off x="609600" y="3590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How it addresses the problem</a:t>
            </a:r>
          </a:p>
        </p:txBody>
      </p:sp>
      <p:sp>
        <p:nvSpPr>
          <p:cNvPr id="15368" name="">
            <a:extLst xmlns:a="http://schemas.openxmlformats.org/drawingml/2006/main">
              <a:ext uri="{FF2B5EF4-FFF2-40B4-BE49-F238E27FC236}">
                <a16:creationId xmlns:a16="http://schemas.microsoft.com/office/drawing/2014/main" id="{8DF06D5B-2B6F-499B-AA63-AB1477C349E4}"/>
              </a:ext>
            </a:extLst>
          </p:cNvPr>
          <p:cNvSpPr>
            <a:spLocks xmlns:a="http://schemas.openxmlformats.org/drawingml/2006/main" noGrp="1"/>
          </p:cNvSpPr>
          <p:nvPr/>
        </p:nvSpPr>
        <p:spPr>
          <a:xfrm xmlns:a="http://schemas.openxmlformats.org/drawingml/2006/main">
            <a:off x="723900" y="3952875"/>
            <a:ext cx="10801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Give investigators transaction hashes, amounts, timestamps and sourced attribution evidence.</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Recommend follow-up actions; plan NCRP/SAHYOG integration through approved interfaces.</a:t>
            </a:r>
          </a:p>
        </p:txBody>
      </p:sp>
      <p:sp>
        <p:nvSpPr>
          <p:cNvPr id="15369" name="">
            <a:extLst xmlns:a="http://schemas.openxmlformats.org/drawingml/2006/main">
              <a:ext uri="{FF2B5EF4-FFF2-40B4-BE49-F238E27FC236}">
                <a16:creationId xmlns:a16="http://schemas.microsoft.com/office/drawing/2014/main" id="{257D491A-7FC2-4E97-A80E-D3152805C02C}"/>
              </a:ext>
            </a:extLst>
          </p:cNvPr>
          <p:cNvSpPr>
            <a:spLocks xmlns:a="http://schemas.openxmlformats.org/drawingml/2006/main" noGrp="1"/>
          </p:cNvSpPr>
          <p:nvPr/>
        </p:nvSpPr>
        <p:spPr>
          <a:xfrm xmlns:a="http://schemas.openxmlformats.org/drawingml/2006/main">
            <a:off x="609600" y="5029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Innovation and uniqueness of the solution</a:t>
            </a:r>
          </a:p>
        </p:txBody>
      </p:sp>
      <p:sp>
        <p:nvSpPr>
          <p:cNvPr id="15370" name="">
            <a:extLst xmlns:a="http://schemas.openxmlformats.org/drawingml/2006/main">
              <a:ext uri="{FF2B5EF4-FFF2-40B4-BE49-F238E27FC236}">
                <a16:creationId xmlns:a16="http://schemas.microsoft.com/office/drawing/2014/main" id="{BD8087DA-840E-490A-A649-379E96814D73}"/>
              </a:ext>
            </a:extLst>
          </p:cNvPr>
          <p:cNvSpPr>
            <a:spLocks xmlns:a="http://schemas.openxmlformats.org/drawingml/2006/main" noGrp="1"/>
          </p:cNvSpPr>
          <p:nvPr/>
        </p:nvSpPr>
        <p:spPr>
          <a:xfrm xmlns:a="http://schemas.openxmlformats.org/drawingml/2006/main">
            <a:off x="723900" y="5381625"/>
            <a:ext cx="10801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Combine receiving-VASP discovery with evidence provenance and movement monitoring.</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Keep observed facts, inferred links and unresolved paths distinct for investigator review.</a:t>
            </a:r>
          </a:p>
        </p:txBody>
      </p:sp>
      <p:pic>
        <p:nvPicPr>
          <p:cNvPr id="15384" name=""/>
          <p:cNvPicPr>
            <a:picLocks xmlns:a="http://schemas.openxmlformats.org/drawingml/2006/main" noChangeAspect="1"/>
          </p:cNvPicPr>
          <p:nvPr/>
        </p:nvPicPr>
        <p:blipFill>
          <a:blip xmlns:r="http://schemas.openxmlformats.org/officeDocument/2006/relationships" xmlns:a="http://schemas.openxmlformats.org/drawingml/2006/main" r:embed="R040881ab11204b84"/>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14689008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4659298A-8907-4994-847D-1977F97E960F}"/>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08A6E31-70D7-4C14-BFD9-E3BFC3A647B2}"/>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202359C0-8A7A-196E-DD58-8E6569619F09}" type="slidenum">
              <a:rPr sz="127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8A9522A-D5B8-4D95-B350-0BE5E6B12C7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5BEBEC70-AA39-4FFA-94BD-F4E51B346F9B}"/>
              </a:ext>
            </a:extLst>
          </p:cNvPr>
          <p:cNvSpPr>
            <a:spLocks xmlns:a="http://schemas.openxmlformats.org/drawingml/2006/main" noGrp="1"/>
          </p:cNvSpPr>
          <p:nvPr/>
        </p:nvSpPr>
        <p:spPr>
          <a:xfrm xmlns:a="http://schemas.openxmlformats.org/drawingml/2006/main">
            <a:off x="609600" y="1333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Technologies to be used</a:t>
            </a:r>
          </a:p>
        </p:txBody>
      </p:sp>
      <p:sp>
        <p:nvSpPr>
          <p:cNvPr id="17413" name="">
            <a:extLst xmlns:a="http://schemas.openxmlformats.org/drawingml/2006/main">
              <a:ext uri="{FF2B5EF4-FFF2-40B4-BE49-F238E27FC236}">
                <a16:creationId xmlns:a16="http://schemas.microsoft.com/office/drawing/2014/main" id="{BDD77519-39B6-48B3-830D-79CA6ECDA426}"/>
              </a:ext>
            </a:extLst>
          </p:cNvPr>
          <p:cNvSpPr>
            <a:spLocks xmlns:a="http://schemas.openxmlformats.org/drawingml/2006/main" noGrp="1"/>
          </p:cNvSpPr>
          <p:nvPr/>
        </p:nvSpPr>
        <p:spPr>
          <a:xfrm xmlns:a="http://schemas.openxmlformats.org/drawingml/2006/main">
            <a:off x="723900" y="1743075"/>
            <a:ext cx="108013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React dashboard; Python/FastAPI services; queued workers and persistent case storage.</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Bitcoin, EVM and TRON adapters; incremental indexing and versioned VASP address labels.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Bounded graph search, cautious clustering, explainable rules and evaluated ML risk detection.</a:t>
            </a:r>
          </a:p>
        </p:txBody>
      </p:sp>
      <p:sp>
        <p:nvSpPr>
          <p:cNvPr id="17414" name="">
            <a:extLst xmlns:a="http://schemas.openxmlformats.org/drawingml/2006/main">
              <a:ext uri="{FF2B5EF4-FFF2-40B4-BE49-F238E27FC236}">
                <a16:creationId xmlns:a16="http://schemas.microsoft.com/office/drawing/2014/main" id="{412F13E3-48CD-4AA7-81D6-EE471F80B029}"/>
              </a:ext>
            </a:extLst>
          </p:cNvPr>
          <p:cNvSpPr>
            <a:spLocks xmlns:a="http://schemas.openxmlformats.org/drawingml/2006/main" noGrp="1"/>
          </p:cNvSpPr>
          <p:nvPr/>
        </p:nvSpPr>
        <p:spPr>
          <a:xfrm xmlns:a="http://schemas.openxmlformats.org/drawingml/2006/main">
            <a:off x="609600" y="3200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Methodology and process for implementation</a:t>
            </a:r>
          </a:p>
        </p:txBody>
      </p:sp>
      <p:pic>
        <p:nvPicPr>
          <p:cNvPr id="17426" name=""/>
          <p:cNvPicPr>
            <a:picLocks xmlns:a="http://schemas.openxmlformats.org/drawingml/2006/main" noChangeAspect="1"/>
          </p:cNvPicPr>
          <p:nvPr/>
        </p:nvPicPr>
        <p:blipFill>
          <a:blip xmlns:r="http://schemas.openxmlformats.org/officeDocument/2006/relationships" xmlns:a="http://schemas.openxmlformats.org/drawingml/2006/main" r:embed="R9287443ce2ab4d4b"/>
          <a:srcRect xmlns:a="http://schemas.openxmlformats.org/drawingml/2006/main" l="0" t="19216" r="0" b="19216"/>
          <a:stretch xmlns:a="http://schemas.openxmlformats.org/drawingml/2006/main">
            <a:fillRect l="0" t="0" r="0" b="0"/>
          </a:stretch>
        </p:blipFill>
        <p:spPr>
          <a:xfrm xmlns:a="http://schemas.openxmlformats.org/drawingml/2006/main">
            <a:off x="523875" y="3590925"/>
            <a:ext cx="11144250" cy="2305050"/>
          </a:xfrm>
          <a:prstGeom xmlns:a="http://schemas.openxmlformats.org/drawingml/2006/main" prst="rect">
            <a:avLst/>
          </a:prstGeom>
        </p:spPr>
      </p:pic>
      <p:sp>
        <p:nvSpPr>
          <p:cNvPr id="17416" name="">
            <a:extLst xmlns:a="http://schemas.openxmlformats.org/drawingml/2006/main">
              <a:ext uri="{FF2B5EF4-FFF2-40B4-BE49-F238E27FC236}">
                <a16:creationId xmlns:a16="http://schemas.microsoft.com/office/drawing/2014/main" id="{CDCFEE49-6FC0-4322-8E0B-A6283E9C15D2}"/>
              </a:ext>
            </a:extLst>
          </p:cNvPr>
          <p:cNvSpPr>
            <a:spLocks xmlns:a="http://schemas.openxmlformats.org/drawingml/2006/main" noGrp="1"/>
          </p:cNvSpPr>
          <p:nvPr/>
        </p:nvSpPr>
        <p:spPr>
          <a:xfrm xmlns:a="http://schemas.openxmlformats.org/drawingml/2006/main">
            <a:off x="619125" y="59531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F497D"/>
                </a:solidFill>
                <a:latin typeface="Arial"/>
                <a:ea typeface="Arial"/>
                <a:cs typeface="Arial"/>
              </a:defRPr>
            </a:pPr>
            <a:r>
              <a:rPr sz="1650" b="0">
                <a:solidFill>
                  <a:srgbClr val="1F497D"/>
                </a:solidFill>
                <a:latin typeface="Arial"/>
                <a:ea typeface="Arial"/>
                <a:cs typeface="Arial"/>
              </a:rPr>
              <a:t>Planned integration: complaint APIs and NCRP/SAHYOG, subject to approved access.</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4addedd405fa4065"/>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9485404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E2D7BE9-8DFD-4E4F-A73E-F4F27287D421}"/>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6DD1BD94-A3E4-4AE5-BC9B-38FD0573F593}"/>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FD6AB9A-5F9E-5F59-51AB-3C8734130965}" type="slidenum">
              <a:rPr sz="1275"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12B73861-8832-4ACA-B08D-33824E2897DF}"/>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6443B651-1124-4ECD-A8E5-2CB39EB88E6B}"/>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Analysis of the feasibility of the idea</a:t>
            </a:r>
          </a:p>
        </p:txBody>
      </p:sp>
      <p:sp>
        <p:nvSpPr>
          <p:cNvPr id="17413" name="">
            <a:extLst xmlns:a="http://schemas.openxmlformats.org/drawingml/2006/main">
              <a:ext uri="{FF2B5EF4-FFF2-40B4-BE49-F238E27FC236}">
                <a16:creationId xmlns:a16="http://schemas.microsoft.com/office/drawing/2014/main" id="{4F6233AD-A351-4DCB-8D9B-8C4E5E871C32}"/>
              </a:ext>
            </a:extLst>
          </p:cNvPr>
          <p:cNvSpPr>
            <a:spLocks xmlns:a="http://schemas.openxmlformats.org/drawingml/2006/main" noGrp="1"/>
          </p:cNvSpPr>
          <p:nvPr/>
        </p:nvSpPr>
        <p:spPr>
          <a:xfrm xmlns:a="http://schemas.openxmlformats.org/drawingml/2006/main">
            <a:off x="723900" y="1762125"/>
            <a:ext cx="10801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Prototype foundation: bounded Bitcoin tracing, incoming/outgoing graph views and PDF/CSV export.</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Planned endpoint: multi-hop VASP discovery, monitoring, additional chains and LEA integration.</a:t>
            </a:r>
          </a:p>
        </p:txBody>
      </p:sp>
      <p:sp>
        <p:nvSpPr>
          <p:cNvPr id="17414" name="">
            <a:extLst xmlns:a="http://schemas.openxmlformats.org/drawingml/2006/main">
              <a:ext uri="{FF2B5EF4-FFF2-40B4-BE49-F238E27FC236}">
                <a16:creationId xmlns:a16="http://schemas.microsoft.com/office/drawing/2014/main" id="{963C91DC-F5BF-4452-B9F7-F980285C0421}"/>
              </a:ext>
            </a:extLst>
          </p:cNvPr>
          <p:cNvSpPr>
            <a:spLocks xmlns:a="http://schemas.openxmlformats.org/drawingml/2006/main" noGrp="1"/>
          </p:cNvSpPr>
          <p:nvPr/>
        </p:nvSpPr>
        <p:spPr>
          <a:xfrm xmlns:a="http://schemas.openxmlformats.org/drawingml/2006/main">
            <a:off x="609600" y="3009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challenges and risks</a:t>
            </a:r>
          </a:p>
        </p:txBody>
      </p:sp>
      <p:sp>
        <p:nvSpPr>
          <p:cNvPr id="17415" name="">
            <a:extLst xmlns:a="http://schemas.openxmlformats.org/drawingml/2006/main">
              <a:ext uri="{FF2B5EF4-FFF2-40B4-BE49-F238E27FC236}">
                <a16:creationId xmlns:a16="http://schemas.microsoft.com/office/drawing/2014/main" id="{8BF69911-2E92-4148-81F8-B648D9669B0B}"/>
              </a:ext>
            </a:extLst>
          </p:cNvPr>
          <p:cNvSpPr>
            <a:spLocks xmlns:a="http://schemas.openxmlformats.org/drawingml/2006/main" noGrp="1"/>
          </p:cNvSpPr>
          <p:nvPr/>
        </p:nvSpPr>
        <p:spPr>
          <a:xfrm xmlns:a="http://schemas.openxmlformats.org/drawingml/2006/main">
            <a:off x="723900" y="3419475"/>
            <a:ext cx="10801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Rate limits and large histories; incomplete or outdated exchange-address labels.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Mixing activity and ambiguous ownership; unsupported bridges and restricted integration access.</a:t>
            </a:r>
          </a:p>
        </p:txBody>
      </p:sp>
      <p:sp>
        <p:nvSpPr>
          <p:cNvPr id="17416" name="">
            <a:extLst xmlns:a="http://schemas.openxmlformats.org/drawingml/2006/main">
              <a:ext uri="{FF2B5EF4-FFF2-40B4-BE49-F238E27FC236}">
                <a16:creationId xmlns:a16="http://schemas.microsoft.com/office/drawing/2014/main" id="{CF291A9D-8735-45B0-BDFA-86DC15FA343F}"/>
              </a:ext>
            </a:extLst>
          </p:cNvPr>
          <p:cNvSpPr>
            <a:spLocks xmlns:a="http://schemas.openxmlformats.org/drawingml/2006/main" noGrp="1"/>
          </p:cNvSpPr>
          <p:nvPr/>
        </p:nvSpPr>
        <p:spPr>
          <a:xfrm xmlns:a="http://schemas.openxmlformats.org/drawingml/2006/main">
            <a:off x="609600" y="4600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Strategies for overcoming these challenges</a:t>
            </a:r>
          </a:p>
        </p:txBody>
      </p:sp>
      <p:sp>
        <p:nvSpPr>
          <p:cNvPr id="17417" name="">
            <a:extLst xmlns:a="http://schemas.openxmlformats.org/drawingml/2006/main">
              <a:ext uri="{FF2B5EF4-FFF2-40B4-BE49-F238E27FC236}">
                <a16:creationId xmlns:a16="http://schemas.microsoft.com/office/drawing/2014/main" id="{4C1F59AE-F6D0-4D04-9A65-32E9BB7567A1}"/>
              </a:ext>
            </a:extLst>
          </p:cNvPr>
          <p:cNvSpPr>
            <a:spLocks xmlns:a="http://schemas.openxmlformats.org/drawingml/2006/main" noGrp="1"/>
          </p:cNvSpPr>
          <p:nvPr/>
        </p:nvSpPr>
        <p:spPr>
          <a:xfrm xmlns:a="http://schemas.openxmlformats.org/drawingml/2006/main">
            <a:off x="723900" y="5010150"/>
            <a:ext cx="108013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Use indexing, caching and bounded traversal; retain label sources and mark tracing gaps.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Validate precision, coverage, false positives and latency before expanding the deployment.</a:t>
            </a:r>
          </a:p>
        </p:txBody>
      </p:sp>
      <p:pic>
        <p:nvPicPr>
          <p:cNvPr id="17430" name=""/>
          <p:cNvPicPr>
            <a:picLocks xmlns:a="http://schemas.openxmlformats.org/drawingml/2006/main" noChangeAspect="1"/>
          </p:cNvPicPr>
          <p:nvPr/>
        </p:nvPicPr>
        <p:blipFill>
          <a:blip xmlns:r="http://schemas.openxmlformats.org/officeDocument/2006/relationships" xmlns:a="http://schemas.openxmlformats.org/drawingml/2006/main" r:embed="R93cbf84111654f87"/>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88E43624-4540-4BEC-AAA3-8049EA47D397}"/>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B455D779-8440-4699-91AE-945AB8A2B0DF}"/>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E5B3003-2C54-13C6-9832-7637201064DE}" type="slidenum">
              <a:rPr sz="1275"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F4F6620-7988-47BB-874A-F834027C0F7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98110FDC-5C90-46B3-A50A-AD506BA2D5B4}"/>
              </a:ext>
            </a:extLst>
          </p:cNvPr>
          <p:cNvSpPr>
            <a:spLocks xmlns:a="http://schemas.openxmlformats.org/drawingml/2006/main" noGrp="1"/>
          </p:cNvSpPr>
          <p:nvPr/>
        </p:nvSpPr>
        <p:spPr>
          <a:xfrm xmlns:a="http://schemas.openxmlformats.org/drawingml/2006/main">
            <a:off x="609600" y="1400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impact on the target audience</a:t>
            </a:r>
          </a:p>
        </p:txBody>
      </p:sp>
      <p:sp>
        <p:nvSpPr>
          <p:cNvPr id="17413" name="">
            <a:extLst xmlns:a="http://schemas.openxmlformats.org/drawingml/2006/main">
              <a:ext uri="{FF2B5EF4-FFF2-40B4-BE49-F238E27FC236}">
                <a16:creationId xmlns:a16="http://schemas.microsoft.com/office/drawing/2014/main" id="{1B0B06F6-AA42-4053-ABE6-9B01D5EA61CD}"/>
              </a:ext>
            </a:extLst>
          </p:cNvPr>
          <p:cNvSpPr>
            <a:spLocks xmlns:a="http://schemas.openxmlformats.org/drawingml/2006/main" noGrp="1"/>
          </p:cNvSpPr>
          <p:nvPr/>
        </p:nvSpPr>
        <p:spPr>
          <a:xfrm xmlns:a="http://schemas.openxmlformats.org/drawingml/2006/main">
            <a:off x="723900" y="1876425"/>
            <a:ext cx="108013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Cybercrime investigators: prioritize cases with identifiable receiving VASPs and track new movement.</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Investigators and prosecutors: review transaction paths, attribution sources and analysis records.</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Financial intelligence units: triage activity using explainable patterns and evidence-linked indicators.</a:t>
            </a:r>
          </a:p>
        </p:txBody>
      </p:sp>
      <p:sp>
        <p:nvSpPr>
          <p:cNvPr id="17414" name="">
            <a:extLst xmlns:a="http://schemas.openxmlformats.org/drawingml/2006/main">
              <a:ext uri="{FF2B5EF4-FFF2-40B4-BE49-F238E27FC236}">
                <a16:creationId xmlns:a16="http://schemas.microsoft.com/office/drawing/2014/main" id="{29F110B9-97B1-4135-BC20-69D571452507}"/>
              </a:ext>
            </a:extLst>
          </p:cNvPr>
          <p:cNvSpPr>
            <a:spLocks xmlns:a="http://schemas.openxmlformats.org/drawingml/2006/main" noGrp="1"/>
          </p:cNvSpPr>
          <p:nvPr/>
        </p:nvSpPr>
        <p:spPr>
          <a:xfrm xmlns:a="http://schemas.openxmlformats.org/drawingml/2006/main">
            <a:off x="609600" y="3886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Benefits of the solution (social, economic, environmental, etc.)</a:t>
            </a:r>
          </a:p>
        </p:txBody>
      </p:sp>
      <p:sp>
        <p:nvSpPr>
          <p:cNvPr id="17415" name="">
            <a:extLst xmlns:a="http://schemas.openxmlformats.org/drawingml/2006/main">
              <a:ext uri="{FF2B5EF4-FFF2-40B4-BE49-F238E27FC236}">
                <a16:creationId xmlns:a16="http://schemas.microsoft.com/office/drawing/2014/main" id="{C0C63940-3AE7-4318-984C-D0F542EBB233}"/>
              </a:ext>
            </a:extLst>
          </p:cNvPr>
          <p:cNvSpPr>
            <a:spLocks xmlns:a="http://schemas.openxmlformats.org/drawingml/2006/main" noGrp="1"/>
          </p:cNvSpPr>
          <p:nvPr/>
        </p:nvSpPr>
        <p:spPr>
          <a:xfrm xmlns:a="http://schemas.openxmlformats.org/drawingml/2006/main">
            <a:off x="723900" y="4324350"/>
            <a:ext cx="108013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Social: support faster preservation and freezing requests through investigator-reviewed findings.</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Economic: reduce repetitive tracing effort with open-source components and shared infrastructure.</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Operational: standardize evidence reports and improve coordination with identified VASPs.</a:t>
            </a:r>
          </a:p>
        </p:txBody>
      </p:sp>
      <p:sp>
        <p:nvSpPr>
          <p:cNvPr id="17416" name="">
            <a:extLst xmlns:a="http://schemas.openxmlformats.org/drawingml/2006/main">
              <a:ext uri="{FF2B5EF4-FFF2-40B4-BE49-F238E27FC236}">
                <a16:creationId xmlns:a16="http://schemas.microsoft.com/office/drawing/2014/main" id="{8DDF3396-3139-4113-97FD-5D4F5AACAC0F}"/>
              </a:ext>
            </a:extLst>
          </p:cNvPr>
          <p:cNvSpPr>
            <a:spLocks xmlns:a="http://schemas.openxmlformats.org/drawingml/2006/main" noGrp="1"/>
          </p:cNvSpPr>
          <p:nvPr/>
        </p:nvSpPr>
        <p:spPr>
          <a:xfrm xmlns:a="http://schemas.openxmlformats.org/drawingml/2006/main">
            <a:off x="723900" y="6019800"/>
            <a:ext cx="1080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F497D"/>
                </a:solidFill>
                <a:latin typeface="Arial"/>
                <a:ea typeface="Arial"/>
                <a:cs typeface="Arial"/>
              </a:defRPr>
            </a:pPr>
            <a:r>
              <a:rPr sz="1500" b="0">
                <a:solidFill>
                  <a:srgbClr val="1F497D"/>
                </a:solidFill>
                <a:latin typeface="Arial"/>
                <a:ea typeface="Arial"/>
                <a:cs typeface="Arial"/>
              </a:rPr>
              <a:t>Expected benefits to be measured in pilots; fund recovery and attribution are not guaranteed.</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ec86ce5e295b4ebe"/>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32254E5-F9FF-407F-BB7E-2C55614FB6DB}"/>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D11FB0B2-D1C4-40DC-AD41-FF83C7B5E1C8}"/>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8C630A04-5A25-9E0C-9436-126091DB86B3}" type="slidenum">
              <a:rPr sz="1275"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FAF84D3E-8DD0-4B21-818B-FE49231BAF9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B4DEFD14-E39D-412F-82AC-11DE8FBCF5D8}"/>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Details / Links of the reference and research work</a:t>
            </a:r>
          </a:p>
        </p:txBody>
      </p:sp>
      <p:sp>
        <p:nvSpPr>
          <p:cNvPr id="17413" name="">
            <a:extLst xmlns:a="http://schemas.openxmlformats.org/drawingml/2006/main">
              <a:ext uri="{FF2B5EF4-FFF2-40B4-BE49-F238E27FC236}">
                <a16:creationId xmlns:a16="http://schemas.microsoft.com/office/drawing/2014/main" id="{4BEA7456-B093-422C-892E-625E1682684A}"/>
              </a:ext>
            </a:extLst>
          </p:cNvPr>
          <p:cNvSpPr>
            <a:spLocks xmlns:a="http://schemas.openxmlformats.org/drawingml/2006/main" noGrp="1"/>
          </p:cNvSpPr>
          <p:nvPr/>
        </p:nvSpPr>
        <p:spPr>
          <a:xfrm xmlns:a="http://schemas.openxmlformats.org/drawingml/2006/main">
            <a:off x="619125" y="18097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Address clustering</a:t>
            </a:r>
          </a:p>
        </p:txBody>
      </p:sp>
      <p:sp>
        <p:nvSpPr>
          <p:cNvPr id="17414" name="">
            <a:extLst xmlns:a="http://schemas.openxmlformats.org/drawingml/2006/main">
              <a:ext uri="{FF2B5EF4-FFF2-40B4-BE49-F238E27FC236}">
                <a16:creationId xmlns:a16="http://schemas.microsoft.com/office/drawing/2014/main" id="{7428435C-60F1-4980-8399-F3F828B14BBE}"/>
              </a:ext>
            </a:extLst>
          </p:cNvPr>
          <p:cNvSpPr>
            <a:spLocks xmlns:a="http://schemas.openxmlformats.org/drawingml/2006/main" noGrp="1"/>
          </p:cNvSpPr>
          <p:nvPr/>
        </p:nvSpPr>
        <p:spPr>
          <a:xfrm xmlns:a="http://schemas.openxmlformats.org/drawingml/2006/main">
            <a:off x="2790825" y="18097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Meiklejohn et al. (2013), A Fistful of Bitcoins: Characterizing Payments Among Men with No Names.</a:t>
            </a:r>
          </a:p>
        </p:txBody>
      </p:sp>
      <p:sp>
        <p:nvSpPr>
          <p:cNvPr id="17415" name="">
            <a:extLst xmlns:a="http://schemas.openxmlformats.org/drawingml/2006/main">
              <a:ext uri="{FF2B5EF4-FFF2-40B4-BE49-F238E27FC236}">
                <a16:creationId xmlns:a16="http://schemas.microsoft.com/office/drawing/2014/main" id="{31109119-8089-40E2-8FAF-B33264A068E5}"/>
              </a:ext>
            </a:extLst>
          </p:cNvPr>
          <p:cNvSpPr>
            <a:spLocks xmlns:a="http://schemas.openxmlformats.org/drawingml/2006/main" noGrp="1"/>
          </p:cNvSpPr>
          <p:nvPr/>
        </p:nvSpPr>
        <p:spPr>
          <a:xfrm xmlns:a="http://schemas.openxmlformats.org/drawingml/2006/main">
            <a:off x="2790825" y="22764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3ce8deb58cb849dc"/>
              </a:rPr>
              <a:t>ACM IMC paper</a:t>
            </a:r>
          </a:p>
        </p:txBody>
      </p:sp>
      <p:sp>
        <p:nvSpPr>
          <p:cNvPr id="17416" name="">
            <a:extLst xmlns:a="http://schemas.openxmlformats.org/drawingml/2006/main">
              <a:ext uri="{FF2B5EF4-FFF2-40B4-BE49-F238E27FC236}">
                <a16:creationId xmlns:a16="http://schemas.microsoft.com/office/drawing/2014/main" id="{DDE7359E-FE50-4C28-A3F5-A8361D826FB9}"/>
              </a:ext>
            </a:extLst>
          </p:cNvPr>
          <p:cNvSpPr>
            <a:spLocks xmlns:a="http://schemas.openxmlformats.org/drawingml/2006/main" noGrp="1"/>
          </p:cNvSpPr>
          <p:nvPr/>
        </p:nvSpPr>
        <p:spPr>
          <a:xfrm xmlns:a="http://schemas.openxmlformats.org/drawingml/2006/main">
            <a:off x="619125" y="25336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ML-assisted analysis</a:t>
            </a:r>
          </a:p>
        </p:txBody>
      </p:sp>
      <p:sp>
        <p:nvSpPr>
          <p:cNvPr id="17417" name="">
            <a:extLst xmlns:a="http://schemas.openxmlformats.org/drawingml/2006/main">
              <a:ext uri="{FF2B5EF4-FFF2-40B4-BE49-F238E27FC236}">
                <a16:creationId xmlns:a16="http://schemas.microsoft.com/office/drawing/2014/main" id="{EF59722C-5B26-43F5-8152-97868A80372C}"/>
              </a:ext>
            </a:extLst>
          </p:cNvPr>
          <p:cNvSpPr>
            <a:spLocks xmlns:a="http://schemas.openxmlformats.org/drawingml/2006/main" noGrp="1"/>
          </p:cNvSpPr>
          <p:nvPr/>
        </p:nvSpPr>
        <p:spPr>
          <a:xfrm xmlns:a="http://schemas.openxmlformats.org/drawingml/2006/main">
            <a:off x="2790825" y="25336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Weber et al. (2019), Anti-Money Laundering in Bitcoin: Experimenting with Graph Convolutional Networks for Financial Forensics.</a:t>
            </a:r>
          </a:p>
        </p:txBody>
      </p:sp>
      <p:sp>
        <p:nvSpPr>
          <p:cNvPr id="17418" name="">
            <a:extLst xmlns:a="http://schemas.openxmlformats.org/drawingml/2006/main">
              <a:ext uri="{FF2B5EF4-FFF2-40B4-BE49-F238E27FC236}">
                <a16:creationId xmlns:a16="http://schemas.microsoft.com/office/drawing/2014/main" id="{1D863C23-D287-41F9-BB10-D7448C6B0883}"/>
              </a:ext>
            </a:extLst>
          </p:cNvPr>
          <p:cNvSpPr>
            <a:spLocks xmlns:a="http://schemas.openxmlformats.org/drawingml/2006/main" noGrp="1"/>
          </p:cNvSpPr>
          <p:nvPr/>
        </p:nvSpPr>
        <p:spPr>
          <a:xfrm xmlns:a="http://schemas.openxmlformats.org/drawingml/2006/main">
            <a:off x="2790825" y="30003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7bd1b16922c5456f"/>
              </a:rPr>
              <a:t>arXiv:1908.02591</a:t>
            </a:r>
          </a:p>
        </p:txBody>
      </p:sp>
      <p:sp>
        <p:nvSpPr>
          <p:cNvPr id="17419" name="">
            <a:extLst xmlns:a="http://schemas.openxmlformats.org/drawingml/2006/main">
              <a:ext uri="{FF2B5EF4-FFF2-40B4-BE49-F238E27FC236}">
                <a16:creationId xmlns:a16="http://schemas.microsoft.com/office/drawing/2014/main" id="{D4CD79F7-73FB-41B2-A03A-A6536772FBD3}"/>
              </a:ext>
            </a:extLst>
          </p:cNvPr>
          <p:cNvSpPr>
            <a:spLocks xmlns:a="http://schemas.openxmlformats.org/drawingml/2006/main" noGrp="1"/>
          </p:cNvSpPr>
          <p:nvPr/>
        </p:nvSpPr>
        <p:spPr>
          <a:xfrm xmlns:a="http://schemas.openxmlformats.org/drawingml/2006/main">
            <a:off x="619125" y="32575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Blockchain data</a:t>
            </a:r>
          </a:p>
        </p:txBody>
      </p:sp>
      <p:sp>
        <p:nvSpPr>
          <p:cNvPr id="17420" name="">
            <a:extLst xmlns:a="http://schemas.openxmlformats.org/drawingml/2006/main">
              <a:ext uri="{FF2B5EF4-FFF2-40B4-BE49-F238E27FC236}">
                <a16:creationId xmlns:a16="http://schemas.microsoft.com/office/drawing/2014/main" id="{3B6A3A89-0808-4756-A9AA-1DCE7FDBB58F}"/>
              </a:ext>
            </a:extLst>
          </p:cNvPr>
          <p:cNvSpPr>
            <a:spLocks xmlns:a="http://schemas.openxmlformats.org/drawingml/2006/main" noGrp="1"/>
          </p:cNvSpPr>
          <p:nvPr/>
        </p:nvSpPr>
        <p:spPr>
          <a:xfrm xmlns:a="http://schemas.openxmlformats.org/drawingml/2006/main">
            <a:off x="2790825" y="32575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Blockstream Esplora: address and transaction API documentation.</a:t>
            </a:r>
          </a:p>
        </p:txBody>
      </p:sp>
      <p:sp>
        <p:nvSpPr>
          <p:cNvPr id="17421" name="">
            <a:extLst xmlns:a="http://schemas.openxmlformats.org/drawingml/2006/main">
              <a:ext uri="{FF2B5EF4-FFF2-40B4-BE49-F238E27FC236}">
                <a16:creationId xmlns:a16="http://schemas.microsoft.com/office/drawing/2014/main" id="{056DBE7F-B84B-4283-BC1F-AA7B78EA7D58}"/>
              </a:ext>
            </a:extLst>
          </p:cNvPr>
          <p:cNvSpPr>
            <a:spLocks xmlns:a="http://schemas.openxmlformats.org/drawingml/2006/main" noGrp="1"/>
          </p:cNvSpPr>
          <p:nvPr/>
        </p:nvSpPr>
        <p:spPr>
          <a:xfrm xmlns:a="http://schemas.openxmlformats.org/drawingml/2006/main">
            <a:off x="2790825" y="37242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1d3d6becfa7b4fe0"/>
              </a:rPr>
              <a:t>Official API documentation</a:t>
            </a:r>
          </a:p>
        </p:txBody>
      </p:sp>
      <p:sp>
        <p:nvSpPr>
          <p:cNvPr id="17422" name="">
            <a:extLst xmlns:a="http://schemas.openxmlformats.org/drawingml/2006/main">
              <a:ext uri="{FF2B5EF4-FFF2-40B4-BE49-F238E27FC236}">
                <a16:creationId xmlns:a16="http://schemas.microsoft.com/office/drawing/2014/main" id="{9DB6A338-1DE8-4CA9-98CD-B5B56D4AFD8C}"/>
              </a:ext>
            </a:extLst>
          </p:cNvPr>
          <p:cNvSpPr>
            <a:spLocks xmlns:a="http://schemas.openxmlformats.org/drawingml/2006/main" noGrp="1"/>
          </p:cNvSpPr>
          <p:nvPr/>
        </p:nvSpPr>
        <p:spPr>
          <a:xfrm xmlns:a="http://schemas.openxmlformats.org/drawingml/2006/main">
            <a:off x="619125" y="39814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Attribution sources</a:t>
            </a:r>
          </a:p>
        </p:txBody>
      </p:sp>
      <p:sp>
        <p:nvSpPr>
          <p:cNvPr id="17423" name="">
            <a:extLst xmlns:a="http://schemas.openxmlformats.org/drawingml/2006/main">
              <a:ext uri="{FF2B5EF4-FFF2-40B4-BE49-F238E27FC236}">
                <a16:creationId xmlns:a16="http://schemas.microsoft.com/office/drawing/2014/main" id="{00F8ED17-BAA1-48B2-AD86-33DEF7D8A517}"/>
              </a:ext>
            </a:extLst>
          </p:cNvPr>
          <p:cNvSpPr>
            <a:spLocks xmlns:a="http://schemas.openxmlformats.org/drawingml/2006/main" noGrp="1"/>
          </p:cNvSpPr>
          <p:nvPr/>
        </p:nvSpPr>
        <p:spPr>
          <a:xfrm xmlns:a="http://schemas.openxmlformats.org/drawingml/2006/main">
            <a:off x="2790825" y="39814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Binance, Our Commitment to Transparency (2022): published wallet disclosures.</a:t>
            </a:r>
          </a:p>
        </p:txBody>
      </p:sp>
      <p:sp>
        <p:nvSpPr>
          <p:cNvPr id="17424" name="">
            <a:extLst xmlns:a="http://schemas.openxmlformats.org/drawingml/2006/main">
              <a:ext uri="{FF2B5EF4-FFF2-40B4-BE49-F238E27FC236}">
                <a16:creationId xmlns:a16="http://schemas.microsoft.com/office/drawing/2014/main" id="{8E33491D-BB28-484C-BC5A-16616880D185}"/>
              </a:ext>
            </a:extLst>
          </p:cNvPr>
          <p:cNvSpPr>
            <a:spLocks xmlns:a="http://schemas.openxmlformats.org/drawingml/2006/main" noGrp="1"/>
          </p:cNvSpPr>
          <p:nvPr/>
        </p:nvSpPr>
        <p:spPr>
          <a:xfrm xmlns:a="http://schemas.openxmlformats.org/drawingml/2006/main">
            <a:off x="2790825" y="44481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ba091b557cd543c6"/>
              </a:rPr>
              <a:t>Historical disclosure; not a deposit-account registry</a:t>
            </a:r>
          </a:p>
        </p:txBody>
      </p:sp>
      <p:sp>
        <p:nvSpPr>
          <p:cNvPr id="17425" name="">
            <a:extLst xmlns:a="http://schemas.openxmlformats.org/drawingml/2006/main">
              <a:ext uri="{FF2B5EF4-FFF2-40B4-BE49-F238E27FC236}">
                <a16:creationId xmlns:a16="http://schemas.microsoft.com/office/drawing/2014/main" id="{82F9BFE0-F570-446F-AC99-18CABEB7F9C2}"/>
              </a:ext>
            </a:extLst>
          </p:cNvPr>
          <p:cNvSpPr>
            <a:spLocks xmlns:a="http://schemas.openxmlformats.org/drawingml/2006/main" noGrp="1"/>
          </p:cNvSpPr>
          <p:nvPr/>
        </p:nvSpPr>
        <p:spPr>
          <a:xfrm xmlns:a="http://schemas.openxmlformats.org/drawingml/2006/main">
            <a:off x="619125" y="47053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AML context</a:t>
            </a:r>
          </a:p>
        </p:txBody>
      </p:sp>
      <p:sp>
        <p:nvSpPr>
          <p:cNvPr id="17426" name="">
            <a:extLst xmlns:a="http://schemas.openxmlformats.org/drawingml/2006/main">
              <a:ext uri="{FF2B5EF4-FFF2-40B4-BE49-F238E27FC236}">
                <a16:creationId xmlns:a16="http://schemas.microsoft.com/office/drawing/2014/main" id="{EDC7CB4C-84FD-4B2C-897B-402332A3A728}"/>
              </a:ext>
            </a:extLst>
          </p:cNvPr>
          <p:cNvSpPr>
            <a:spLocks xmlns:a="http://schemas.openxmlformats.org/drawingml/2006/main" noGrp="1"/>
          </p:cNvSpPr>
          <p:nvPr/>
        </p:nvSpPr>
        <p:spPr>
          <a:xfrm xmlns:a="http://schemas.openxmlformats.org/drawingml/2006/main">
            <a:off x="2790825" y="47053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FATF (2021), Updated Guidance for a Risk-Based Approach to Virtual Assets and VASPs.</a:t>
            </a:r>
          </a:p>
        </p:txBody>
      </p:sp>
      <p:sp>
        <p:nvSpPr>
          <p:cNvPr id="17427" name="">
            <a:extLst xmlns:a="http://schemas.openxmlformats.org/drawingml/2006/main">
              <a:ext uri="{FF2B5EF4-FFF2-40B4-BE49-F238E27FC236}">
                <a16:creationId xmlns:a16="http://schemas.microsoft.com/office/drawing/2014/main" id="{D36A5F6F-E57C-467F-A58A-60A98521809B}"/>
              </a:ext>
            </a:extLst>
          </p:cNvPr>
          <p:cNvSpPr>
            <a:spLocks xmlns:a="http://schemas.openxmlformats.org/drawingml/2006/main" noGrp="1"/>
          </p:cNvSpPr>
          <p:nvPr/>
        </p:nvSpPr>
        <p:spPr>
          <a:xfrm xmlns:a="http://schemas.openxmlformats.org/drawingml/2006/main">
            <a:off x="2790825" y="51720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f4c84e7a815d476b"/>
              </a:rPr>
              <a:t>FATF guidance</a:t>
            </a:r>
          </a:p>
        </p:txBody>
      </p:sp>
      <p:sp>
        <p:nvSpPr>
          <p:cNvPr id="17428" name="">
            <a:extLst xmlns:a="http://schemas.openxmlformats.org/drawingml/2006/main">
              <a:ext uri="{FF2B5EF4-FFF2-40B4-BE49-F238E27FC236}">
                <a16:creationId xmlns:a16="http://schemas.microsoft.com/office/drawing/2014/main" id="{F1C3514B-3DE4-48D7-9552-4EEE1CA7998C}"/>
              </a:ext>
            </a:extLst>
          </p:cNvPr>
          <p:cNvSpPr>
            <a:spLocks xmlns:a="http://schemas.openxmlformats.org/drawingml/2006/main" noGrp="1"/>
          </p:cNvSpPr>
          <p:nvPr/>
        </p:nvSpPr>
        <p:spPr>
          <a:xfrm xmlns:a="http://schemas.openxmlformats.org/drawingml/2006/main">
            <a:off x="619125" y="54292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Evidence handling</a:t>
            </a:r>
          </a:p>
        </p:txBody>
      </p:sp>
      <p:sp>
        <p:nvSpPr>
          <p:cNvPr id="17429" name="">
            <a:extLst xmlns:a="http://schemas.openxmlformats.org/drawingml/2006/main">
              <a:ext uri="{FF2B5EF4-FFF2-40B4-BE49-F238E27FC236}">
                <a16:creationId xmlns:a16="http://schemas.microsoft.com/office/drawing/2014/main" id="{E50F7CA0-3F8E-46FB-9164-361E1CC05131}"/>
              </a:ext>
            </a:extLst>
          </p:cNvPr>
          <p:cNvSpPr>
            <a:spLocks xmlns:a="http://schemas.openxmlformats.org/drawingml/2006/main" noGrp="1"/>
          </p:cNvSpPr>
          <p:nvPr/>
        </p:nvSpPr>
        <p:spPr>
          <a:xfrm xmlns:a="http://schemas.openxmlformats.org/drawingml/2006/main">
            <a:off x="2790825" y="54292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NIST SP 800-86 (2006), Guide to Integrating Forensic Techniques into Incident Response.</a:t>
            </a:r>
          </a:p>
        </p:txBody>
      </p:sp>
      <p:sp>
        <p:nvSpPr>
          <p:cNvPr id="17430" name="">
            <a:extLst xmlns:a="http://schemas.openxmlformats.org/drawingml/2006/main">
              <a:ext uri="{FF2B5EF4-FFF2-40B4-BE49-F238E27FC236}">
                <a16:creationId xmlns:a16="http://schemas.microsoft.com/office/drawing/2014/main" id="{B341EE8F-5A85-44FA-8F4B-06F51C242F49}"/>
              </a:ext>
            </a:extLst>
          </p:cNvPr>
          <p:cNvSpPr>
            <a:spLocks xmlns:a="http://schemas.openxmlformats.org/drawingml/2006/main" noGrp="1"/>
          </p:cNvSpPr>
          <p:nvPr/>
        </p:nvSpPr>
        <p:spPr>
          <a:xfrm xmlns:a="http://schemas.openxmlformats.org/drawingml/2006/main">
            <a:off x="2790825" y="58959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ea8f37b4b470495a"/>
              </a:rPr>
              <a:t>NIST guidance; not a guarantee of legal admissibility</a:t>
            </a:r>
          </a:p>
        </p:txBody>
      </p:sp>
      <p:pic>
        <p:nvPicPr>
          <p:cNvPr id="17456" name=""/>
          <p:cNvPicPr>
            <a:picLocks xmlns:a="http://schemas.openxmlformats.org/drawingml/2006/main" noChangeAspect="1"/>
          </p:cNvPicPr>
          <p:nvPr/>
        </p:nvPicPr>
        <p:blipFill>
          <a:blip xmlns:r="http://schemas.openxmlformats.org/officeDocument/2006/relationships" xmlns:a="http://schemas.openxmlformats.org/drawingml/2006/main" r:embed="R8d515d18841449e9"/>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2026-09-10T17:36:14.7800000Z</dcterms:created>
  <dcterms:modified xsi:type="dcterms:W3CDTF">2026-09-10T17:36:14.7800000Z</dcterms:modified>
</coreProperties>
</file>