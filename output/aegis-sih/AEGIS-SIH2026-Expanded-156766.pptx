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a:lstStyle/>
          <a:p>
            <a:pPr>
              <a:spcBef>
                <a:spcPct val="0"/>
              </a:spcBef>
              <a:buNone/>
            </a:pPr>
            <a:r>
              <a:t>Proposed end product, not achieved performance. A supported receiving VASP is a candidate backed by address-label evidence along a time-consistent outgoing path. A label is not proof of customer identity or complicity. The package contains transaction IDs, amounts, timestamps, label provenance, confidence rationale, uncertainty and recommended investigator review. Real-time monitoring depends on provider/index updates. Requests remain subject to authorized investigator action and applicable procedures.</a:t>
            </a:r>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Proposed architecture. Bitcoin tracing follows UTXO spend relationships, while EVM/TRON adapters follow transfer events. Transactions involving multiple inputs/outputs require explicit allocation assumptions: a graph path alone does not prove exact victim-fund continuity. Bridge correlation requires supported event identifiers and mappings. Collaborative transactions and mixing can invalidate naive clustering. Source labels and heuristic expansions must remain distinct. Candidate ranking should explain evidence strength rather than invent calibrated probabilities. AI/ML is planned and requires evaluation before operational use. NCRP/SAHYOG integration depends on approved interfaces and authorization. Method references: Meiklejohn et al. https://conferences.sigcomm.org/imc/2013/papers/imc182-meiklejohnA.pdf ; Weber et al. https://arxiv.org/abs/1908.02591 ; Esplora https://github.com/Blockstream/esplora/blob/master/API.md</a:t>
            </a:r>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Proposed phased delivery, not a statement of current maturity. Data supply is a dependency: public disclosures alone are not a comprehensive exchange-deposit registry. Authorized partner data may require agreements and licensing. Held-out evaluation should prevent overlap with registry construction and include withdrawals, change outputs, collaborative transactions and unlabelled addresses as hard cases. Measure attribution precision, coverage, false positives and p95 alert latency under declared load. Agency deployment needs privacy controls, encrypted storage/transport, retention policy, audit review and approved integration access. Source: Binance historical disclosure https://www.binance.com/en-IN/blog/community/2895840147147652626 ; NIST SP 800-86 https://csrc.nist.gov/pubs/sp/800/86/final</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Fictional proposed-use illustration only, not evidence from a demonstrated fraud case. Wallet A transfers to B, which later transfers to an address sourced to hypothetical VASP X. Solid arrows denote the illustrated transactions, and the dashed arrow denotes attribution rather than another transfer. Exact victim-fund attribution may remain uncertain because of mixing, unrelated balances or multi-input/output transactions. The investigator must review allocation assumptions and source reliability. The platform supports coordination and preservation requests but cannot independently freeze funds or guarantee recovery. Expected benefits must be evaluated during pilots.</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a:lstStyle/>
          <a:p>
            <a:pPr>
              <a:spcBef>
                <a:spcPct val="0"/>
              </a:spcBef>
              <a:buNone/>
            </a:pPr>
            <a:r>
              <a:t>Meiklejohn et al. (2013), A Fistful of Bitcoins: Characterizing Payments Among Men with No Names.</a:t>
            </a:r>
            <a:endParaRPr/>
          </a:p>
          <a:p>
            <a:pPr>
              <a:spcBef>
                <a:spcPct val="0"/>
              </a:spcBef>
              <a:buNone/>
            </a:pPr>
            <a:r>
              <a:t>https://conferences.sigcomm.org/imc/2013/papers/imc182-meiklejohnA.pdf</a:t>
            </a:r>
            <a:endParaRPr/>
          </a:p>
          <a:p>
            <a:pPr>
              <a:spcBef>
                <a:spcPct val="0"/>
              </a:spcBef>
              <a:buNone/>
            </a:pPr>
            <a:r>
              <a:t/>
            </a:r>
            <a:endParaRPr/>
          </a:p>
          <a:p>
            <a:pPr>
              <a:spcBef>
                <a:spcPct val="0"/>
              </a:spcBef>
              <a:buNone/>
            </a:pPr>
            <a:r>
              <a:t>Weber et al. (2019), Anti-Money Laundering in Bitcoin: Experimenting with Graph Convolutional Networks for Financial Forensics.</a:t>
            </a:r>
            <a:endParaRPr/>
          </a:p>
          <a:p>
            <a:pPr>
              <a:spcBef>
                <a:spcPct val="0"/>
              </a:spcBef>
              <a:buNone/>
            </a:pPr>
            <a:r>
              <a:t>https://arxiv.org/abs/1908.02591</a:t>
            </a:r>
            <a:endParaRPr/>
          </a:p>
          <a:p>
            <a:pPr>
              <a:spcBef>
                <a:spcPct val="0"/>
              </a:spcBef>
              <a:buNone/>
            </a:pPr>
            <a:r>
              <a:t/>
            </a:r>
            <a:endParaRPr/>
          </a:p>
          <a:p>
            <a:pPr>
              <a:spcBef>
                <a:spcPct val="0"/>
              </a:spcBef>
              <a:buNone/>
            </a:pPr>
            <a:r>
              <a:t>Blockstream Esplora: address and transaction API documentation.</a:t>
            </a:r>
            <a:endParaRPr/>
          </a:p>
          <a:p>
            <a:pPr>
              <a:spcBef>
                <a:spcPct val="0"/>
              </a:spcBef>
              <a:buNone/>
            </a:pPr>
            <a:r>
              <a:t>https://github.com/Blockstream/esplora/blob/master/API.md</a:t>
            </a:r>
            <a:endParaRPr/>
          </a:p>
          <a:p>
            <a:pPr>
              <a:spcBef>
                <a:spcPct val="0"/>
              </a:spcBef>
              <a:buNone/>
            </a:pPr>
            <a:r>
              <a:t/>
            </a:r>
            <a:endParaRPr/>
          </a:p>
          <a:p>
            <a:pPr>
              <a:spcBef>
                <a:spcPct val="0"/>
              </a:spcBef>
              <a:buNone/>
            </a:pPr>
            <a:r>
              <a:t>Binance, Our Commitment to Transparency (2022): published wallet disclosures.</a:t>
            </a:r>
            <a:endParaRPr/>
          </a:p>
          <a:p>
            <a:pPr>
              <a:spcBef>
                <a:spcPct val="0"/>
              </a:spcBef>
              <a:buNone/>
            </a:pPr>
            <a:r>
              <a:t>https://www.binance.com/en-IN/blog/community/2895840147147652626</a:t>
            </a:r>
            <a:endParaRPr/>
          </a:p>
          <a:p>
            <a:pPr>
              <a:spcBef>
                <a:spcPct val="0"/>
              </a:spcBef>
              <a:buNone/>
            </a:pPr>
            <a:r>
              <a:t/>
            </a:r>
            <a:endParaRPr/>
          </a:p>
          <a:p>
            <a:pPr>
              <a:spcBef>
                <a:spcPct val="0"/>
              </a:spcBef>
              <a:buNone/>
            </a:pPr>
            <a:r>
              <a:t>FATF (2021), Updated Guidance for a Risk-Based Approach to Virtual Assets and VASPs.</a:t>
            </a:r>
            <a:endParaRPr/>
          </a:p>
          <a:p>
            <a:pPr>
              <a:spcBef>
                <a:spcPct val="0"/>
              </a:spcBef>
              <a:buNone/>
            </a:pPr>
            <a:r>
              <a:t>https://www.fatf-gafi.org/en/publications/Fatfrecommendations/Guidance-rba-virtual-assets-2021.html</a:t>
            </a:r>
            <a:endParaRPr/>
          </a:p>
          <a:p>
            <a:pPr>
              <a:spcBef>
                <a:spcPct val="0"/>
              </a:spcBef>
              <a:buNone/>
            </a:pPr>
            <a:r>
              <a:t/>
            </a:r>
            <a:endParaRPr/>
          </a:p>
          <a:p>
            <a:pPr>
              <a:spcBef>
                <a:spcPct val="0"/>
              </a:spcBef>
              <a:buNone/>
            </a:pPr>
            <a:r>
              <a:t>NIST SP 800-86 (2006), Guide to Integrating Forensic Techniques into Incident Response.</a:t>
            </a:r>
            <a:endParaRPr/>
          </a:p>
          <a:p>
            <a:pPr>
              <a:spcBef>
                <a:spcPct val="0"/>
              </a:spcBef>
              <a:buNone/>
            </a:pPr>
            <a:r>
              <a:t>https://csrc.nist.gov/pubs/sp/800/86/final</a:t>
            </a:r>
            <a:endParaRPr/>
          </a:p>
          <a:p>
            <a:pPr>
              <a:spcBef>
                <a:spcPct val="0"/>
              </a:spcBef>
              <a:buNone/>
            </a:pPr>
            <a:r>
              <a:t/>
            </a:r>
            <a:endParaRPr/>
          </a:p>
          <a:p>
            <a:pPr>
              <a:spcBef>
                <a:spcPct val="0"/>
              </a:spcBef>
              <a:buNone/>
            </a:pPr>
            <a:r>
              <a:t>Sources checked 10 September 2026. Research supports proposed methods, not product accuracy claims. Historical reserve disclosures do not establish customer deposit-account ownership.</a:t>
            </a:r>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Type="http://schemas.openxmlformats.org/officeDocument/2006/relationships/hyperlink" Target="https://conferences.sigcomm.org/imc/2013/papers/imc182-meiklejohnA.pdf" TargetMode="External" Id="aegis1"/><Relationship Type="http://schemas.openxmlformats.org/officeDocument/2006/relationships/hyperlink" Target="https://arxiv.org/abs/1908.02591" TargetMode="External" Id="aegis2"/><Relationship Type="http://schemas.openxmlformats.org/officeDocument/2006/relationships/hyperlink" Target="https://github.com/Blockstream/esplora/blob/master/API.md" TargetMode="External" Id="aegis3"/><Relationship Type="http://schemas.openxmlformats.org/officeDocument/2006/relationships/hyperlink" Target="https://www.binance.com/en-IN/blog/community/2895840147147652626" TargetMode="External" Id="aegis4"/><Relationship Type="http://schemas.openxmlformats.org/officeDocument/2006/relationships/hyperlink" Target="https://www.fatf-gafi.org/en/publications/Fatfrecommendations/Guidance-rba-virtual-assets-2021.html" TargetMode="External" Id="aegis5"/><Relationship Type="http://schemas.openxmlformats.org/officeDocument/2006/relationships/hyperlink" Target="https://csrc.nist.gov/pubs/sp/800/86/final" TargetMode="External" Id="aegis6"/></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COVER">
            <a:extLst>
              <a:ext uri="{FF2B5EF4-FFF2-40B4-BE49-F238E27FC236}">
                <a16:creationId xmlns:a16="http://schemas.microsoft.com/office/drawing/2014/main" id="{6345C3D0-5A4E-48A4-858C-AE0B4E7B2F90}"/>
              </a:ext>
            </a:extLst>
          </p:cNvPr>
          <p:cNvSpPr>
            <a:spLocks noGrp="1"/>
          </p:cNvSpPr>
          <p:nvPr/>
        </p:nvSpPr>
        <p:spPr>
          <a:xfrm>
            <a:off x="331280" y="2676525"/>
            <a:ext cx="5924550" cy="4029075"/>
          </a:xfrm>
          <a:prstGeom prst="rect">
            <a:avLst/>
          </a:prstGeom>
          <a:noFill/>
          <a:ln w="0">
            <a:noFill/>
          </a:ln>
        </p:spPr>
        <p:txBody>
          <a:bodyPr wrap="square" lIns="91440" tIns="0" rIns="91440" bIns="0">
            <a:noAutofit/>
          </a:bodyPr>
          <a:lstStyle/>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Problem Statement ID – </a:t>
            </a:r>
            <a:r>
              <a:rPr sz="2000" b="0">
                <a:solidFill>
                  <a:srgbClr val="000000"/>
                </a:solidFill>
                <a:latin typeface="Arial"/>
                <a:ea typeface="Arial"/>
                <a:cs typeface="Arial"/>
              </a:rPr>
              <a:t>SIH26183</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Problem Statement Title-</a:t>
            </a:r>
            <a:br>
              <a:rPr sz="1700" b="0">
                <a:solidFill>
                  <a:srgbClr val="000000"/>
                </a:solidFill>
                <a:latin typeface="Arial"/>
                <a:ea typeface="Arial"/>
                <a:cs typeface="Arial"/>
              </a:rPr>
            </a:br>
            <a:r>
              <a:rPr sz="1700" b="0">
                <a:solidFill>
                  <a:srgbClr val="000000"/>
                </a:solidFill>
                <a:latin typeface="Arial"/>
                <a:ea typeface="Arial"/>
                <a:cs typeface="Arial"/>
              </a:rPr>
              <a:t>Real-Time Identification of Fraud-Linked Cryptocurrency Exchanges from Victim-Reported Suspect Wallet Addresses through Automated Blockchain Analytics</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Theme- </a:t>
            </a:r>
            <a:r>
              <a:rPr sz="2000" b="0">
                <a:solidFill>
                  <a:srgbClr val="000000"/>
                </a:solidFill>
                <a:latin typeface="Arial"/>
                <a:ea typeface="Arial"/>
                <a:cs typeface="Arial"/>
              </a:rPr>
              <a:t>Blockchain &amp; Cybersecurity</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PS Category- </a:t>
            </a:r>
            <a:r>
              <a:rPr sz="2000" b="0">
                <a:solidFill>
                  <a:srgbClr val="000000"/>
                </a:solidFill>
                <a:latin typeface="Arial"/>
                <a:ea typeface="Arial"/>
                <a:cs typeface="Arial"/>
              </a:rPr>
              <a:t>Software</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Team ID- </a:t>
            </a:r>
            <a:r>
              <a:rPr sz="2000" b="0">
                <a:solidFill>
                  <a:srgbClr val="000000"/>
                </a:solidFill>
                <a:latin typeface="Arial"/>
                <a:ea typeface="Arial"/>
                <a:cs typeface="Arial"/>
              </a:rPr>
              <a:t>156766</a:t>
            </a:r>
          </a:p>
          <a:p>
            <a:pPr marL="285750" indent="-285750" algn="l">
              <a:lnSpc>
                <a:spcPct val="100000"/>
              </a:lnSpc>
              <a:buFont typeface="Arial" panose="020B0604020202020204" pitchFamily="34" charset="0"/>
              <a:buChar char="•"/>
              <a:spcAft>
                <a:spcPts val="600"/>
              </a:spcAft>
            </a:pPr>
            <a:r>
              <a:rPr sz="2400" b="1">
                <a:solidFill>
                  <a:srgbClr val="000000"/>
                </a:solidFill>
                <a:latin typeface="Arial"/>
                <a:ea typeface="Arial"/>
                <a:cs typeface="Arial"/>
              </a:rPr>
              <a:t>Team Name (Registered on portal)</a:t>
            </a:r>
            <a:br>
              <a:rPr sz="2000" b="0">
                <a:solidFill>
                  <a:srgbClr val="000000"/>
                </a:solidFill>
                <a:latin typeface="Arial"/>
                <a:ea typeface="Arial"/>
                <a:cs typeface="Arial"/>
              </a:rPr>
            </a:br>
            <a:r>
              <a:rPr sz="2000" b="0">
                <a:solidFill>
                  <a:srgbClr val="000000"/>
                </a:solidFill>
                <a:latin typeface="Arial"/>
                <a:ea typeface="Arial"/>
                <a:cs typeface="Arial"/>
              </a:rPr>
              <a:t>COLD COFFEE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AEGIS FORENSICS</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91A44068-4B2F-4AE2-A331-7FAE768F5EEE}"/>
              </a:ext>
            </a:extLst>
          </p:cNvPr>
          <p:cNvSpPr>
            <a:spLocks noGrp="1"/>
          </p:cNvSpPr>
          <p:nvPr/>
        </p:nvSpPr>
        <p:spPr>
          <a:xfrm>
            <a:off x="-1" y="1419225"/>
            <a:ext cx="12191999" cy="695325"/>
          </a:xfrm>
          <a:prstGeom prst="rect">
            <a:avLst/>
          </a:prstGeom>
          <a:noFill/>
          <a:ln w="0">
            <a:noFill/>
          </a:ln>
        </p:spPr>
        <p:txBody>
          <a:bodyPr wrap="square" lIns="91440" tIns="0" rIns="91440" bIns="0">
            <a:noAutofit/>
          </a:bodyPr>
          <a:lstStyle/>
          <a:p>
            <a:pPr marL="342900" indent="-342900">
              <a:buFont typeface="Wingdings" panose="05000000000000000000" pitchFamily="2" charset="2"/>
              <a:buChar char="v"/>
            </a:pPr>
            <a:r>
              <a:rPr lang="en-US" sz="3200" b="1" u="sng" dirty="0">
                <a:solidFill>
                  <a:schemeClr val="tx2"/>
                </a:solidFill>
                <a:latin typeface="Arial" pitchFamily="34" charset="0"/>
                <a:cs typeface="Arial" pitchFamily="34" charset="0"/>
              </a:rPr>
              <a:t>Proposed Solution (Describe your Idea/Solution/Prototype)</a:t>
            </a:r>
            <a:endParaRPr lang="en-US" sz="3200" u="sng" dirty="0">
              <a:solidFill>
                <a:schemeClr val="tx2"/>
              </a:solidFill>
              <a:latin typeface="Arial" pitchFamily="34" charset="0"/>
              <a:cs typeface="Arial" pitchFamily="34" charset="0"/>
            </a:endParaRPr>
          </a:p>
        </p:txBody>
      </p:sp>
      <p:sp>
        <p:nvSpPr>
          <p:cNvPr id="50001" name="AEGIS_PROMPT_1">
            <a:extLst>
              <a:ext uri="{FF2B5EF4-FFF2-40B4-BE49-F238E27FC236}">
                <a16:creationId xmlns:a16="http://schemas.microsoft.com/office/drawing/2014/main" id="{0473E29B-1D2D-4BDB-8021-B919F75CC74F}"/>
              </a:ext>
            </a:extLst>
          </p:cNvPr>
          <p:cNvSpPr>
            <a:spLocks noGrp="1"/>
          </p:cNvSpPr>
          <p:nvPr/>
        </p:nvSpPr>
        <p:spPr>
          <a:xfrm>
            <a:off x="-1" y="2124075"/>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Detailed explanation of the proposed solution</a:t>
            </a:r>
          </a:p>
        </p:txBody>
      </p:sp>
      <p:sp>
        <p:nvSpPr>
          <p:cNvPr id="50002" name="AEGIS_NODE_1">
            <a:extLst>
              <a:ext uri="{FF2B5EF4-FFF2-40B4-BE49-F238E27FC236}">
                <a16:creationId xmlns:a16="http://schemas.microsoft.com/office/drawing/2014/main" id="{8B8B4CCE-E215-49E6-ACAB-BA24007FA433}"/>
              </a:ext>
            </a:extLst>
          </p:cNvPr>
          <p:cNvSpPr>
            <a:spLocks noGrp="1"/>
          </p:cNvSpPr>
          <p:nvPr/>
        </p:nvSpPr>
        <p:spPr>
          <a:xfrm>
            <a:off x="457200" y="2609850"/>
            <a:ext cx="2533650" cy="781050"/>
          </a:xfrm>
          <a:prstGeom prst="rect">
            <a:avLst/>
          </a:prstGeom>
          <a:solidFill>
            <a:srgbClr val="FFFFFF"/>
          </a:solidFill>
          <a:ln w="16193">
            <a:solidFill>
              <a:srgbClr val="1F497D"/>
            </a:solidFill>
          </a:ln>
        </p:spPr>
        <p:txBody>
          <a:bodyPr lIns="85725" tIns="66675" rIns="85725" bIns="66675" anchor="ctr"/>
          <a:lstStyle/>
          <a:p>
            <a:r>
              <a:t/>
            </a:r>
          </a:p>
        </p:txBody>
      </p:sp>
      <p:sp>
        <p:nvSpPr>
          <p:cNvPr id="50003" name="AEGIS_2">
            <a:extLst>
              <a:ext uri="{FF2B5EF4-FFF2-40B4-BE49-F238E27FC236}">
                <a16:creationId xmlns:a16="http://schemas.microsoft.com/office/drawing/2014/main" id="{6A3BEC0C-6C2B-47B5-AFDC-00BDBE12B8AB}"/>
              </a:ext>
            </a:extLst>
          </p:cNvPr>
          <p:cNvSpPr>
            <a:spLocks noGrp="1"/>
          </p:cNvSpPr>
          <p:nvPr/>
        </p:nvSpPr>
        <p:spPr>
          <a:xfrm>
            <a:off x="514350" y="2686050"/>
            <a:ext cx="241935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Reported wallet</a:t>
            </a:r>
          </a:p>
        </p:txBody>
      </p:sp>
      <p:sp>
        <p:nvSpPr>
          <p:cNvPr id="50004" name="AEGIS_3">
            <a:extLst>
              <a:ext uri="{FF2B5EF4-FFF2-40B4-BE49-F238E27FC236}">
                <a16:creationId xmlns:a16="http://schemas.microsoft.com/office/drawing/2014/main" id="{EB821492-42FE-49AD-A49B-B989F8E6CD90}"/>
              </a:ext>
            </a:extLst>
          </p:cNvPr>
          <p:cNvSpPr>
            <a:spLocks noGrp="1"/>
          </p:cNvSpPr>
          <p:nvPr/>
        </p:nvSpPr>
        <p:spPr>
          <a:xfrm>
            <a:off x="514350" y="2924175"/>
            <a:ext cx="2419350" cy="4476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Complaint and</a:t>
            </a:r>
          </a:p>
          <a:p>
            <a:pPr>
              <a:defRPr sz="1425" b="0">
                <a:solidFill>
                  <a:srgbClr val="000000"/>
                </a:solidFill>
                <a:latin typeface="Arial"/>
                <a:ea typeface="Arial"/>
                <a:cs typeface="Arial"/>
              </a:defRPr>
            </a:pPr>
            <a:r>
              <a:rPr sz="1425" b="0">
                <a:solidFill>
                  <a:srgbClr val="000000"/>
                </a:solidFill>
                <a:latin typeface="Arial"/>
                <a:ea typeface="Arial"/>
                <a:cs typeface="Arial"/>
              </a:rPr>
              <a:t>case context</a:t>
            </a:r>
          </a:p>
        </p:txBody>
      </p:sp>
      <p:sp>
        <p:nvSpPr>
          <p:cNvPr id="50005" name="AEGIS_NODE_4">
            <a:extLst>
              <a:ext uri="{FF2B5EF4-FFF2-40B4-BE49-F238E27FC236}">
                <a16:creationId xmlns:a16="http://schemas.microsoft.com/office/drawing/2014/main" id="{D652C9F2-BCD4-4D90-94D5-FD1B265FFA6C}"/>
              </a:ext>
            </a:extLst>
          </p:cNvPr>
          <p:cNvSpPr>
            <a:spLocks noGrp="1"/>
          </p:cNvSpPr>
          <p:nvPr/>
        </p:nvSpPr>
        <p:spPr>
          <a:xfrm>
            <a:off x="3314700" y="2609850"/>
            <a:ext cx="2533650" cy="781050"/>
          </a:xfrm>
          <a:prstGeom prst="rect">
            <a:avLst/>
          </a:prstGeom>
          <a:solidFill>
            <a:srgbClr val="FFFFFF"/>
          </a:solidFill>
          <a:ln w="16193">
            <a:solidFill>
              <a:srgbClr val="1F497D"/>
            </a:solidFill>
          </a:ln>
        </p:spPr>
        <p:txBody>
          <a:bodyPr lIns="85725" tIns="66675" rIns="85725" bIns="66675" anchor="ctr"/>
          <a:lstStyle/>
          <a:p>
            <a:r>
              <a:t/>
            </a:r>
          </a:p>
        </p:txBody>
      </p:sp>
      <p:sp>
        <p:nvSpPr>
          <p:cNvPr id="50006" name="AEGIS_5">
            <a:extLst>
              <a:ext uri="{FF2B5EF4-FFF2-40B4-BE49-F238E27FC236}">
                <a16:creationId xmlns:a16="http://schemas.microsoft.com/office/drawing/2014/main" id="{96DD2036-D357-46FA-8FBC-7BECF44285E9}"/>
              </a:ext>
            </a:extLst>
          </p:cNvPr>
          <p:cNvSpPr>
            <a:spLocks noGrp="1"/>
          </p:cNvSpPr>
          <p:nvPr/>
        </p:nvSpPr>
        <p:spPr>
          <a:xfrm>
            <a:off x="3371850" y="2686050"/>
            <a:ext cx="241935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Intermediary hops</a:t>
            </a:r>
          </a:p>
        </p:txBody>
      </p:sp>
      <p:sp>
        <p:nvSpPr>
          <p:cNvPr id="50007" name="AEGIS_6">
            <a:extLst>
              <a:ext uri="{FF2B5EF4-FFF2-40B4-BE49-F238E27FC236}">
                <a16:creationId xmlns:a16="http://schemas.microsoft.com/office/drawing/2014/main" id="{CEB94F73-463E-4342-93C8-31CD75DA1506}"/>
              </a:ext>
            </a:extLst>
          </p:cNvPr>
          <p:cNvSpPr>
            <a:spLocks noGrp="1"/>
          </p:cNvSpPr>
          <p:nvPr/>
        </p:nvSpPr>
        <p:spPr>
          <a:xfrm>
            <a:off x="3371850" y="2924175"/>
            <a:ext cx="2419350" cy="4476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Trace outgoing</a:t>
            </a:r>
          </a:p>
          <a:p>
            <a:pPr>
              <a:defRPr sz="1425" b="0">
                <a:solidFill>
                  <a:srgbClr val="000000"/>
                </a:solidFill>
                <a:latin typeface="Arial"/>
                <a:ea typeface="Arial"/>
                <a:cs typeface="Arial"/>
              </a:defRPr>
            </a:pPr>
            <a:r>
              <a:rPr sz="1425" b="0">
                <a:solidFill>
                  <a:srgbClr val="000000"/>
                </a:solidFill>
                <a:latin typeface="Arial"/>
                <a:ea typeface="Arial"/>
                <a:cs typeface="Arial"/>
              </a:rPr>
              <a:t>fund movement</a:t>
            </a:r>
          </a:p>
        </p:txBody>
      </p:sp>
      <p:sp>
        <p:nvSpPr>
          <p:cNvPr id="50008" name="AEGIS_NODE_7">
            <a:extLst>
              <a:ext uri="{FF2B5EF4-FFF2-40B4-BE49-F238E27FC236}">
                <a16:creationId xmlns:a16="http://schemas.microsoft.com/office/drawing/2014/main" id="{C05D99AF-8792-445B-99BF-86B919553CA1}"/>
              </a:ext>
            </a:extLst>
          </p:cNvPr>
          <p:cNvSpPr>
            <a:spLocks noGrp="1"/>
          </p:cNvSpPr>
          <p:nvPr/>
        </p:nvSpPr>
        <p:spPr>
          <a:xfrm>
            <a:off x="6172200" y="2609850"/>
            <a:ext cx="2533650" cy="781050"/>
          </a:xfrm>
          <a:prstGeom prst="rect">
            <a:avLst/>
          </a:prstGeom>
          <a:solidFill>
            <a:srgbClr val="FFFFFF"/>
          </a:solidFill>
          <a:ln w="16193">
            <a:solidFill>
              <a:srgbClr val="1F497D"/>
            </a:solidFill>
          </a:ln>
        </p:spPr>
        <p:txBody>
          <a:bodyPr lIns="85725" tIns="66675" rIns="85725" bIns="66675" anchor="ctr"/>
          <a:lstStyle/>
          <a:p>
            <a:r>
              <a:t/>
            </a:r>
          </a:p>
        </p:txBody>
      </p:sp>
      <p:sp>
        <p:nvSpPr>
          <p:cNvPr id="50009" name="AEGIS_8">
            <a:extLst>
              <a:ext uri="{FF2B5EF4-FFF2-40B4-BE49-F238E27FC236}">
                <a16:creationId xmlns:a16="http://schemas.microsoft.com/office/drawing/2014/main" id="{45A6C89C-9F08-490F-AD86-16E4B7165CF3}"/>
              </a:ext>
            </a:extLst>
          </p:cNvPr>
          <p:cNvSpPr>
            <a:spLocks noGrp="1"/>
          </p:cNvSpPr>
          <p:nvPr/>
        </p:nvSpPr>
        <p:spPr>
          <a:xfrm>
            <a:off x="6229350" y="2686050"/>
            <a:ext cx="241935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Receiving VASP</a:t>
            </a:r>
          </a:p>
        </p:txBody>
      </p:sp>
      <p:sp>
        <p:nvSpPr>
          <p:cNvPr id="50010" name="AEGIS_9">
            <a:extLst>
              <a:ext uri="{FF2B5EF4-FFF2-40B4-BE49-F238E27FC236}">
                <a16:creationId xmlns:a16="http://schemas.microsoft.com/office/drawing/2014/main" id="{DB43C926-23DF-4A01-8CA3-B8F617A552F1}"/>
              </a:ext>
            </a:extLst>
          </p:cNvPr>
          <p:cNvSpPr>
            <a:spLocks noGrp="1"/>
          </p:cNvSpPr>
          <p:nvPr/>
        </p:nvSpPr>
        <p:spPr>
          <a:xfrm>
            <a:off x="6229350" y="2924175"/>
            <a:ext cx="2419350" cy="4476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First supported</a:t>
            </a:r>
          </a:p>
          <a:p>
            <a:pPr>
              <a:defRPr sz="1425" b="0">
                <a:solidFill>
                  <a:srgbClr val="000000"/>
                </a:solidFill>
                <a:latin typeface="Arial"/>
                <a:ea typeface="Arial"/>
                <a:cs typeface="Arial"/>
              </a:defRPr>
            </a:pPr>
            <a:r>
              <a:rPr sz="1425" b="0">
                <a:solidFill>
                  <a:srgbClr val="000000"/>
                </a:solidFill>
                <a:latin typeface="Arial"/>
                <a:ea typeface="Arial"/>
                <a:cs typeface="Arial"/>
              </a:rPr>
              <a:t>candidate per path</a:t>
            </a:r>
          </a:p>
        </p:txBody>
      </p:sp>
      <p:sp>
        <p:nvSpPr>
          <p:cNvPr id="50011" name="AEGIS_NODE_10">
            <a:extLst>
              <a:ext uri="{FF2B5EF4-FFF2-40B4-BE49-F238E27FC236}">
                <a16:creationId xmlns:a16="http://schemas.microsoft.com/office/drawing/2014/main" id="{3458619A-72C4-4284-A2AC-17318B520F65}"/>
              </a:ext>
            </a:extLst>
          </p:cNvPr>
          <p:cNvSpPr>
            <a:spLocks noGrp="1"/>
          </p:cNvSpPr>
          <p:nvPr/>
        </p:nvSpPr>
        <p:spPr>
          <a:xfrm>
            <a:off x="9029700" y="2609850"/>
            <a:ext cx="2533650" cy="781050"/>
          </a:xfrm>
          <a:prstGeom prst="rect">
            <a:avLst/>
          </a:prstGeom>
          <a:solidFill>
            <a:srgbClr val="FFFFFF"/>
          </a:solidFill>
          <a:ln w="16193">
            <a:solidFill>
              <a:srgbClr val="1F497D"/>
            </a:solidFill>
          </a:ln>
        </p:spPr>
        <p:txBody>
          <a:bodyPr lIns="85725" tIns="66675" rIns="85725" bIns="66675" anchor="ctr"/>
          <a:lstStyle/>
          <a:p>
            <a:r>
              <a:t/>
            </a:r>
          </a:p>
        </p:txBody>
      </p:sp>
      <p:sp>
        <p:nvSpPr>
          <p:cNvPr id="50012" name="AEGIS_11">
            <a:extLst>
              <a:ext uri="{FF2B5EF4-FFF2-40B4-BE49-F238E27FC236}">
                <a16:creationId xmlns:a16="http://schemas.microsoft.com/office/drawing/2014/main" id="{82771712-AFE1-4B48-841E-7D5D0CC17775}"/>
              </a:ext>
            </a:extLst>
          </p:cNvPr>
          <p:cNvSpPr>
            <a:spLocks noGrp="1"/>
          </p:cNvSpPr>
          <p:nvPr/>
        </p:nvSpPr>
        <p:spPr>
          <a:xfrm>
            <a:off x="9086850" y="2686050"/>
            <a:ext cx="241935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Investigator lead</a:t>
            </a:r>
          </a:p>
        </p:txBody>
      </p:sp>
      <p:sp>
        <p:nvSpPr>
          <p:cNvPr id="50013" name="AEGIS_12">
            <a:extLst>
              <a:ext uri="{FF2B5EF4-FFF2-40B4-BE49-F238E27FC236}">
                <a16:creationId xmlns:a16="http://schemas.microsoft.com/office/drawing/2014/main" id="{733BD002-ADE0-4908-A5FE-5A0C65437216}"/>
              </a:ext>
            </a:extLst>
          </p:cNvPr>
          <p:cNvSpPr>
            <a:spLocks noGrp="1"/>
          </p:cNvSpPr>
          <p:nvPr/>
        </p:nvSpPr>
        <p:spPr>
          <a:xfrm>
            <a:off x="9086850" y="2924175"/>
            <a:ext cx="2419350" cy="4476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Fund trail, sources</a:t>
            </a:r>
          </a:p>
          <a:p>
            <a:pPr>
              <a:defRPr sz="1425" b="0">
                <a:solidFill>
                  <a:srgbClr val="000000"/>
                </a:solidFill>
                <a:latin typeface="Arial"/>
                <a:ea typeface="Arial"/>
                <a:cs typeface="Arial"/>
              </a:defRPr>
            </a:pPr>
            <a:r>
              <a:rPr sz="1425" b="0">
                <a:solidFill>
                  <a:srgbClr val="000000"/>
                </a:solidFill>
                <a:latin typeface="Arial"/>
                <a:ea typeface="Arial"/>
                <a:cs typeface="Arial"/>
              </a:rPr>
              <a:t>and next action</a:t>
            </a:r>
          </a:p>
        </p:txBody>
      </p:sp>
      <p:cxnSp>
        <p:nvCxnSpPr>
          <p:cNvPr id="50014" name="AEGIS_LINK_13"/>
          <p:cNvCxnSpPr>
            <a:stCxn id="50002" idx="3"/>
            <a:endCxn id="50005" idx="1"/>
          </p:cNvCxnSpPr>
          <p:nvPr/>
        </p:nvCxnSpPr>
        <p:spPr>
          <a:xfrm>
            <a:off x="2990850" y="3000375"/>
            <a:ext cx="323850" cy="0"/>
          </a:xfrm>
          <a:prstGeom prst="straightConnector1">
            <a:avLst/>
          </a:prstGeom>
          <a:ln w="23813">
            <a:solidFill>
              <a:srgbClr val="1F497D"/>
            </a:solidFill>
            <a:prstDash val="solid"/>
            <a:tailEnd type="triangle" w="med" len="med"/>
          </a:ln>
        </p:spPr>
      </p:cxnSp>
      <p:cxnSp>
        <p:nvCxnSpPr>
          <p:cNvPr id="50015" name="AEGIS_LINK_14"/>
          <p:cNvCxnSpPr>
            <a:stCxn id="50005" idx="3"/>
            <a:endCxn id="50008" idx="1"/>
          </p:cNvCxnSpPr>
          <p:nvPr/>
        </p:nvCxnSpPr>
        <p:spPr>
          <a:xfrm>
            <a:off x="5848350" y="3000375"/>
            <a:ext cx="323850" cy="0"/>
          </a:xfrm>
          <a:prstGeom prst="straightConnector1">
            <a:avLst/>
          </a:prstGeom>
          <a:ln w="23813">
            <a:solidFill>
              <a:srgbClr val="1F497D"/>
            </a:solidFill>
            <a:prstDash val="solid"/>
            <a:tailEnd type="triangle" w="med" len="med"/>
          </a:ln>
        </p:spPr>
      </p:cxnSp>
      <p:cxnSp>
        <p:nvCxnSpPr>
          <p:cNvPr id="50016" name="AEGIS_LINK_15"/>
          <p:cNvCxnSpPr>
            <a:stCxn id="50008" idx="3"/>
            <a:endCxn id="50011" idx="1"/>
          </p:cNvCxnSpPr>
          <p:nvPr/>
        </p:nvCxnSpPr>
        <p:spPr>
          <a:xfrm>
            <a:off x="8705850" y="3000375"/>
            <a:ext cx="323850" cy="0"/>
          </a:xfrm>
          <a:prstGeom prst="straightConnector1">
            <a:avLst/>
          </a:prstGeom>
          <a:ln w="23813">
            <a:solidFill>
              <a:srgbClr val="1F497D"/>
            </a:solidFill>
            <a:prstDash val="solid"/>
            <a:tailEnd type="triangle" w="med" len="med"/>
          </a:ln>
        </p:spPr>
      </p:cxnSp>
      <p:sp>
        <p:nvSpPr>
          <p:cNvPr id="50017" name="AEGIS_PROMPT_2">
            <a:extLst>
              <a:ext uri="{FF2B5EF4-FFF2-40B4-BE49-F238E27FC236}">
                <a16:creationId xmlns:a16="http://schemas.microsoft.com/office/drawing/2014/main" id="{33D60411-773D-4DB1-91A8-609C2511BA8C}"/>
              </a:ext>
            </a:extLst>
          </p:cNvPr>
          <p:cNvSpPr>
            <a:spLocks noGrp="1"/>
          </p:cNvSpPr>
          <p:nvPr/>
        </p:nvSpPr>
        <p:spPr>
          <a:xfrm>
            <a:off x="-1" y="3457575"/>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 How it addresses the problem</a:t>
            </a:r>
          </a:p>
        </p:txBody>
      </p:sp>
      <p:sp>
        <p:nvSpPr>
          <p:cNvPr id="50018" name="AEGIS_16">
            <a:extLst>
              <a:ext uri="{FF2B5EF4-FFF2-40B4-BE49-F238E27FC236}">
                <a16:creationId xmlns:a16="http://schemas.microsoft.com/office/drawing/2014/main" id="{C96C0F2C-7D0A-45A9-942D-5F6BCEACC8D5}"/>
              </a:ext>
            </a:extLst>
          </p:cNvPr>
          <p:cNvSpPr>
            <a:spLocks noGrp="1"/>
          </p:cNvSpPr>
          <p:nvPr/>
        </p:nvSpPr>
        <p:spPr>
          <a:xfrm>
            <a:off x="457200" y="3914775"/>
            <a:ext cx="11144250" cy="46672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Manual block-explorer tracing requires investigators to follow transactions individually, check destination labels and revisit addresses for new activity. AEGIS will automate these steps and prioritize receiving-VASP candidates for investigator review.</a:t>
            </a:r>
          </a:p>
        </p:txBody>
      </p:sp>
      <p:sp>
        <p:nvSpPr>
          <p:cNvPr id="50019" name="AEGIS_17">
            <a:extLst>
              <a:ext uri="{FF2B5EF4-FFF2-40B4-BE49-F238E27FC236}">
                <a16:creationId xmlns:a16="http://schemas.microsoft.com/office/drawing/2014/main" id="{67E420AA-9AF0-4EA9-880D-20BCC63C449C}"/>
              </a:ext>
            </a:extLst>
          </p:cNvPr>
          <p:cNvSpPr>
            <a:spLocks noGrp="1"/>
          </p:cNvSpPr>
          <p:nvPr/>
        </p:nvSpPr>
        <p:spPr>
          <a:xfrm>
            <a:off x="457200" y="4438650"/>
            <a:ext cx="11144250" cy="4476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Each lead will include the transaction path, attribution source, uncertainty and recommended next action, supporting faster preservation requests and VASP coordination.</a:t>
            </a:r>
          </a:p>
        </p:txBody>
      </p:sp>
      <p:sp>
        <p:nvSpPr>
          <p:cNvPr id="50020" name="AEGIS_PROMPT_3">
            <a:extLst>
              <a:ext uri="{FF2B5EF4-FFF2-40B4-BE49-F238E27FC236}">
                <a16:creationId xmlns:a16="http://schemas.microsoft.com/office/drawing/2014/main" id="{DE64C9AF-39B6-4641-AE9E-770CF1A51F11}"/>
              </a:ext>
            </a:extLst>
          </p:cNvPr>
          <p:cNvSpPr>
            <a:spLocks noGrp="1"/>
          </p:cNvSpPr>
          <p:nvPr/>
        </p:nvSpPr>
        <p:spPr>
          <a:xfrm>
            <a:off x="-1" y="4886325"/>
            <a:ext cx="12191999" cy="457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Innovation and uniqueness of the solution </a:t>
            </a:r>
          </a:p>
        </p:txBody>
      </p:sp>
      <p:sp>
        <p:nvSpPr>
          <p:cNvPr id="50021" name="AEGIS_18">
            <a:extLst>
              <a:ext uri="{FF2B5EF4-FFF2-40B4-BE49-F238E27FC236}">
                <a16:creationId xmlns:a16="http://schemas.microsoft.com/office/drawing/2014/main" id="{A56D3250-C236-4F5F-8E4D-F857DD86052F}"/>
              </a:ext>
            </a:extLst>
          </p:cNvPr>
          <p:cNvSpPr>
            <a:spLocks noGrp="1"/>
          </p:cNvSpPr>
          <p:nvPr/>
        </p:nvSpPr>
        <p:spPr>
          <a:xfrm>
            <a:off x="457200" y="5343525"/>
            <a:ext cx="11144250" cy="42862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Continuous monitoring paired with explainable attribution: new transactions or revised wallet labels will update the investigation and trigger relevant alerts.</a:t>
            </a:r>
          </a:p>
        </p:txBody>
      </p:sp>
      <p:sp>
        <p:nvSpPr>
          <p:cNvPr id="50022" name="AEGIS_19">
            <a:extLst>
              <a:ext uri="{FF2B5EF4-FFF2-40B4-BE49-F238E27FC236}">
                <a16:creationId xmlns:a16="http://schemas.microsoft.com/office/drawing/2014/main" id="{98A1B602-616E-469C-8D14-56EB3EAB996A}"/>
              </a:ext>
            </a:extLst>
          </p:cNvPr>
          <p:cNvSpPr>
            <a:spLocks noGrp="1"/>
          </p:cNvSpPr>
          <p:nvPr/>
        </p:nvSpPr>
        <p:spPr>
          <a:xfrm>
            <a:off x="457200" y="5810250"/>
            <a:ext cx="11144250" cy="4572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Every VASP lead will show why it was identified, which links are observed or inferred, and where tracing remains unresolved. Versioned findings will preserve the basis of earlier conclusions.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48C054ED-B36A-4557-9DC6-267E4D869E2B}"/>
              </a:ext>
            </a:extLst>
          </p:cNvPr>
          <p:cNvSpPr>
            <a:spLocks noGrp="1"/>
          </p:cNvSpPr>
          <p:nvPr/>
        </p:nvSpPr>
        <p:spPr>
          <a:xfrm>
            <a:off x="609600" y="1438275"/>
            <a:ext cx="9385300" cy="838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Technologies to be used (e.g. programming languages, frameworks, hardware)</a:t>
            </a:r>
          </a:p>
        </p:txBody>
      </p:sp>
      <p:sp>
        <p:nvSpPr>
          <p:cNvPr id="50001" name="AEGIS_20">
            <a:extLst>
              <a:ext uri="{FF2B5EF4-FFF2-40B4-BE49-F238E27FC236}">
                <a16:creationId xmlns:a16="http://schemas.microsoft.com/office/drawing/2014/main" id="{6C690D40-DF14-4E4B-8819-A04CDEF79C5E}"/>
              </a:ext>
            </a:extLst>
          </p:cNvPr>
          <p:cNvSpPr>
            <a:spLocks noGrp="1"/>
          </p:cNvSpPr>
          <p:nvPr/>
        </p:nvSpPr>
        <p:spPr>
          <a:xfrm>
            <a:off x="1047750" y="2343150"/>
            <a:ext cx="10382250" cy="581025"/>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React investigator dashboard; FastAPI services; queued tracing and monitoring workers; chain-specific data adapters; incremental transaction indexing; persistent case storage; and a versioned VASP-label registry.</a:t>
            </a:r>
          </a:p>
        </p:txBody>
      </p:sp>
      <p:sp>
        <p:nvSpPr>
          <p:cNvPr id="50002" name="AEGIS_PROMPT_1">
            <a:extLst>
              <a:ext uri="{FF2B5EF4-FFF2-40B4-BE49-F238E27FC236}">
                <a16:creationId xmlns:a16="http://schemas.microsoft.com/office/drawing/2014/main" id="{C49D2F2F-5999-47CE-A710-1B9FB7B8D542}"/>
              </a:ext>
            </a:extLst>
          </p:cNvPr>
          <p:cNvSpPr>
            <a:spLocks noGrp="1"/>
          </p:cNvSpPr>
          <p:nvPr/>
        </p:nvSpPr>
        <p:spPr>
          <a:xfrm>
            <a:off x="609600" y="2971800"/>
            <a:ext cx="9385300" cy="838200"/>
          </a:xfrm>
          <a:prstGeom prst="rect">
            <a:avLst/>
          </a:prstGeom>
          <a:noFill/>
          <a:ln w="0">
            <a:noFill/>
          </a:ln>
        </p:spPr>
        <p:txBody>
          <a:bodyPr wrap="square" lIns="91440" tIns="0" rIns="91440" bIns="0">
            <a:noAutofit/>
          </a:bodyPr>
          <a:lstStyle/>
          <a:p>
            <a:pPr marL="342900" indent="-342900" algn="just">
              <a:buFont typeface="Arial" panose="020B0604020202020204" pitchFamily="34" charset="0"/>
              <a:buChar char="•"/>
            </a:pPr>
            <a:r>
              <a:rPr lang="en-US" sz="2800" dirty="0">
                <a:latin typeface="Arial" pitchFamily="34" charset="0"/>
                <a:cs typeface="Arial" pitchFamily="34" charset="0"/>
              </a:rPr>
              <a:t>Methodology and process for implementation (Flow Charts/Images/ working prototype)</a:t>
            </a:r>
          </a:p>
        </p:txBody>
      </p:sp>
      <p:sp>
        <p:nvSpPr>
          <p:cNvPr id="50003" name="AEGIS_21">
            <a:extLst>
              <a:ext uri="{FF2B5EF4-FFF2-40B4-BE49-F238E27FC236}">
                <a16:creationId xmlns:a16="http://schemas.microsoft.com/office/drawing/2014/main" id="{8220E3F3-51BE-45C3-92ED-A5FF99C3A653}"/>
              </a:ext>
            </a:extLst>
          </p:cNvPr>
          <p:cNvSpPr>
            <a:spLocks noGrp="1"/>
          </p:cNvSpPr>
          <p:nvPr/>
        </p:nvSpPr>
        <p:spPr>
          <a:xfrm>
            <a:off x="1047750" y="3848100"/>
            <a:ext cx="102870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Implementation Pipeline</a:t>
            </a:r>
          </a:p>
        </p:txBody>
      </p:sp>
      <p:sp>
        <p:nvSpPr>
          <p:cNvPr id="50004" name="AEGIS_NODE_22">
            <a:extLst>
              <a:ext uri="{FF2B5EF4-FFF2-40B4-BE49-F238E27FC236}">
                <a16:creationId xmlns:a16="http://schemas.microsoft.com/office/drawing/2014/main" id="{31601F1F-9A77-45F5-883C-202313150BDE}"/>
              </a:ext>
            </a:extLst>
          </p:cNvPr>
          <p:cNvSpPr>
            <a:spLocks noGrp="1"/>
          </p:cNvSpPr>
          <p:nvPr/>
        </p:nvSpPr>
        <p:spPr>
          <a:xfrm>
            <a:off x="1047750"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05" name="AEGIS_23">
            <a:extLst>
              <a:ext uri="{FF2B5EF4-FFF2-40B4-BE49-F238E27FC236}">
                <a16:creationId xmlns:a16="http://schemas.microsoft.com/office/drawing/2014/main" id="{4243843C-51E2-4AFC-9CE5-0ECF4C37C7C6}"/>
              </a:ext>
            </a:extLst>
          </p:cNvPr>
          <p:cNvSpPr>
            <a:spLocks noGrp="1"/>
          </p:cNvSpPr>
          <p:nvPr/>
        </p:nvSpPr>
        <p:spPr>
          <a:xfrm>
            <a:off x="1104900"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Chain adapters</a:t>
            </a:r>
          </a:p>
        </p:txBody>
      </p:sp>
      <p:sp>
        <p:nvSpPr>
          <p:cNvPr id="50006" name="AEGIS_24">
            <a:extLst>
              <a:ext uri="{FF2B5EF4-FFF2-40B4-BE49-F238E27FC236}">
                <a16:creationId xmlns:a16="http://schemas.microsoft.com/office/drawing/2014/main" id="{2929ED79-EC2E-4565-B337-EE00A6C312BD}"/>
              </a:ext>
            </a:extLst>
          </p:cNvPr>
          <p:cNvSpPr>
            <a:spLocks noGrp="1"/>
          </p:cNvSpPr>
          <p:nvPr/>
        </p:nvSpPr>
        <p:spPr>
          <a:xfrm>
            <a:off x="1104900"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Bitcoin, EVM/TRON</a:t>
            </a:r>
          </a:p>
          <a:p>
            <a:pPr>
              <a:defRPr sz="1425" b="0">
                <a:solidFill>
                  <a:srgbClr val="000000"/>
                </a:solidFill>
                <a:latin typeface="Arial"/>
                <a:ea typeface="Arial"/>
                <a:cs typeface="Arial"/>
              </a:defRPr>
            </a:pPr>
            <a:r>
              <a:rPr sz="1425" b="0">
                <a:solidFill>
                  <a:srgbClr val="000000"/>
                </a:solidFill>
                <a:latin typeface="Arial"/>
                <a:ea typeface="Arial"/>
                <a:cs typeface="Arial"/>
              </a:rPr>
              <a:t>Supported bridges</a:t>
            </a:r>
          </a:p>
        </p:txBody>
      </p:sp>
      <p:sp>
        <p:nvSpPr>
          <p:cNvPr id="50007" name="AEGIS_NODE_25">
            <a:extLst>
              <a:ext uri="{FF2B5EF4-FFF2-40B4-BE49-F238E27FC236}">
                <a16:creationId xmlns:a16="http://schemas.microsoft.com/office/drawing/2014/main" id="{DEBA0F7F-AD36-4A43-96B9-4D79EE7267EE}"/>
              </a:ext>
            </a:extLst>
          </p:cNvPr>
          <p:cNvSpPr>
            <a:spLocks noGrp="1"/>
          </p:cNvSpPr>
          <p:nvPr/>
        </p:nvSpPr>
        <p:spPr>
          <a:xfrm>
            <a:off x="3724275"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08" name="AEGIS_26">
            <a:extLst>
              <a:ext uri="{FF2B5EF4-FFF2-40B4-BE49-F238E27FC236}">
                <a16:creationId xmlns:a16="http://schemas.microsoft.com/office/drawing/2014/main" id="{E39F12B4-9F65-4D08-90C1-0123DB4F8585}"/>
              </a:ext>
            </a:extLst>
          </p:cNvPr>
          <p:cNvSpPr>
            <a:spLocks noGrp="1"/>
          </p:cNvSpPr>
          <p:nvPr/>
        </p:nvSpPr>
        <p:spPr>
          <a:xfrm>
            <a:off x="3781425"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Tracing engine</a:t>
            </a:r>
          </a:p>
        </p:txBody>
      </p:sp>
      <p:sp>
        <p:nvSpPr>
          <p:cNvPr id="50009" name="AEGIS_27">
            <a:extLst>
              <a:ext uri="{FF2B5EF4-FFF2-40B4-BE49-F238E27FC236}">
                <a16:creationId xmlns:a16="http://schemas.microsoft.com/office/drawing/2014/main" id="{0C2942B8-DB44-4B90-A3BC-90973C9A181C}"/>
              </a:ext>
            </a:extLst>
          </p:cNvPr>
          <p:cNvSpPr>
            <a:spLocks noGrp="1"/>
          </p:cNvSpPr>
          <p:nvPr/>
        </p:nvSpPr>
        <p:spPr>
          <a:xfrm>
            <a:off x="3781425"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Spend links and</a:t>
            </a:r>
          </a:p>
          <a:p>
            <a:pPr>
              <a:defRPr sz="1425" b="0">
                <a:solidFill>
                  <a:srgbClr val="000000"/>
                </a:solidFill>
                <a:latin typeface="Arial"/>
                <a:ea typeface="Arial"/>
                <a:cs typeface="Arial"/>
              </a:defRPr>
            </a:pPr>
            <a:r>
              <a:rPr sz="1425" b="0">
                <a:solidFill>
                  <a:srgbClr val="000000"/>
                </a:solidFill>
                <a:latin typeface="Arial"/>
                <a:ea typeface="Arial"/>
                <a:cs typeface="Arial"/>
              </a:rPr>
              <a:t>transfer events</a:t>
            </a:r>
          </a:p>
        </p:txBody>
      </p:sp>
      <p:sp>
        <p:nvSpPr>
          <p:cNvPr id="50010" name="AEGIS_NODE_28">
            <a:extLst>
              <a:ext uri="{FF2B5EF4-FFF2-40B4-BE49-F238E27FC236}">
                <a16:creationId xmlns:a16="http://schemas.microsoft.com/office/drawing/2014/main" id="{F1A1071A-0D36-4D71-89AE-F926B05EB9D3}"/>
              </a:ext>
            </a:extLst>
          </p:cNvPr>
          <p:cNvSpPr>
            <a:spLocks noGrp="1"/>
          </p:cNvSpPr>
          <p:nvPr/>
        </p:nvSpPr>
        <p:spPr>
          <a:xfrm>
            <a:off x="6400800"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11" name="AEGIS_29">
            <a:extLst>
              <a:ext uri="{FF2B5EF4-FFF2-40B4-BE49-F238E27FC236}">
                <a16:creationId xmlns:a16="http://schemas.microsoft.com/office/drawing/2014/main" id="{8FCF06A6-E7AD-41C2-ACA9-79F45500C493}"/>
              </a:ext>
            </a:extLst>
          </p:cNvPr>
          <p:cNvSpPr>
            <a:spLocks noGrp="1"/>
          </p:cNvSpPr>
          <p:nvPr/>
        </p:nvSpPr>
        <p:spPr>
          <a:xfrm>
            <a:off x="6457950"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VASP matching</a:t>
            </a:r>
          </a:p>
        </p:txBody>
      </p:sp>
      <p:sp>
        <p:nvSpPr>
          <p:cNvPr id="50012" name="AEGIS_30">
            <a:extLst>
              <a:ext uri="{FF2B5EF4-FFF2-40B4-BE49-F238E27FC236}">
                <a16:creationId xmlns:a16="http://schemas.microsoft.com/office/drawing/2014/main" id="{2B7CFDC0-C4B7-4988-9302-4A1743018221}"/>
              </a:ext>
            </a:extLst>
          </p:cNvPr>
          <p:cNvSpPr>
            <a:spLocks noGrp="1"/>
          </p:cNvSpPr>
          <p:nvPr/>
        </p:nvSpPr>
        <p:spPr>
          <a:xfrm>
            <a:off x="6457950"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Sourced labels and</a:t>
            </a:r>
          </a:p>
          <a:p>
            <a:pPr>
              <a:defRPr sz="1425" b="0">
                <a:solidFill>
                  <a:srgbClr val="000000"/>
                </a:solidFill>
                <a:latin typeface="Arial"/>
                <a:ea typeface="Arial"/>
                <a:cs typeface="Arial"/>
              </a:defRPr>
            </a:pPr>
            <a:r>
              <a:rPr sz="1425" b="0">
                <a:solidFill>
                  <a:srgbClr val="000000"/>
                </a:solidFill>
                <a:latin typeface="Arial"/>
                <a:ea typeface="Arial"/>
                <a:cs typeface="Arial"/>
              </a:rPr>
              <a:t>cautious clustering</a:t>
            </a:r>
          </a:p>
        </p:txBody>
      </p:sp>
      <p:sp>
        <p:nvSpPr>
          <p:cNvPr id="50013" name="AEGIS_NODE_31">
            <a:extLst>
              <a:ext uri="{FF2B5EF4-FFF2-40B4-BE49-F238E27FC236}">
                <a16:creationId xmlns:a16="http://schemas.microsoft.com/office/drawing/2014/main" id="{005FD59A-6AF7-48FE-90B8-B329345954EF}"/>
              </a:ext>
            </a:extLst>
          </p:cNvPr>
          <p:cNvSpPr>
            <a:spLocks noGrp="1"/>
          </p:cNvSpPr>
          <p:nvPr/>
        </p:nvSpPr>
        <p:spPr>
          <a:xfrm>
            <a:off x="9077325" y="4105275"/>
            <a:ext cx="2324100" cy="828675"/>
          </a:xfrm>
          <a:prstGeom prst="rect">
            <a:avLst/>
          </a:prstGeom>
          <a:solidFill>
            <a:srgbClr val="FFFFFF"/>
          </a:solidFill>
          <a:ln w="16193">
            <a:solidFill>
              <a:srgbClr val="1F497D"/>
            </a:solidFill>
          </a:ln>
        </p:spPr>
        <p:txBody>
          <a:bodyPr lIns="85725" tIns="66675" rIns="85725" bIns="66675" anchor="ctr"/>
          <a:lstStyle/>
          <a:p>
            <a:r>
              <a:t/>
            </a:r>
          </a:p>
        </p:txBody>
      </p:sp>
      <p:sp>
        <p:nvSpPr>
          <p:cNvPr id="50014" name="AEGIS_32">
            <a:extLst>
              <a:ext uri="{FF2B5EF4-FFF2-40B4-BE49-F238E27FC236}">
                <a16:creationId xmlns:a16="http://schemas.microsoft.com/office/drawing/2014/main" id="{E37BEB4A-0DFE-4E48-8A6A-43EBE421A97D}"/>
              </a:ext>
            </a:extLst>
          </p:cNvPr>
          <p:cNvSpPr>
            <a:spLocks noGrp="1"/>
          </p:cNvSpPr>
          <p:nvPr/>
        </p:nvSpPr>
        <p:spPr>
          <a:xfrm>
            <a:off x="9134475" y="418147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Case workspace</a:t>
            </a:r>
          </a:p>
        </p:txBody>
      </p:sp>
      <p:sp>
        <p:nvSpPr>
          <p:cNvPr id="50015" name="AEGIS_33">
            <a:extLst>
              <a:ext uri="{FF2B5EF4-FFF2-40B4-BE49-F238E27FC236}">
                <a16:creationId xmlns:a16="http://schemas.microsoft.com/office/drawing/2014/main" id="{F258D200-B0AB-43EE-A6BA-8F555803FFE9}"/>
              </a:ext>
            </a:extLst>
          </p:cNvPr>
          <p:cNvSpPr>
            <a:spLocks noGrp="1"/>
          </p:cNvSpPr>
          <p:nvPr/>
        </p:nvSpPr>
        <p:spPr>
          <a:xfrm>
            <a:off x="9134475" y="4419600"/>
            <a:ext cx="2209800" cy="4953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Review candidates</a:t>
            </a:r>
          </a:p>
          <a:p>
            <a:pPr>
              <a:defRPr sz="1425" b="0">
                <a:solidFill>
                  <a:srgbClr val="000000"/>
                </a:solidFill>
                <a:latin typeface="Arial"/>
                <a:ea typeface="Arial"/>
                <a:cs typeface="Arial"/>
              </a:defRPr>
            </a:pPr>
            <a:r>
              <a:rPr sz="1425" b="0">
                <a:solidFill>
                  <a:srgbClr val="000000"/>
                </a:solidFill>
                <a:latin typeface="Arial"/>
                <a:ea typeface="Arial"/>
                <a:cs typeface="Arial"/>
              </a:rPr>
              <a:t>Monitor and report</a:t>
            </a:r>
          </a:p>
        </p:txBody>
      </p:sp>
      <p:cxnSp>
        <p:nvCxnSpPr>
          <p:cNvPr id="50016" name="AEGIS_LINK_34"/>
          <p:cNvCxnSpPr>
            <a:stCxn id="50004" idx="3"/>
            <a:endCxn id="50007" idx="1"/>
          </p:cNvCxnSpPr>
          <p:nvPr/>
        </p:nvCxnSpPr>
        <p:spPr>
          <a:xfrm>
            <a:off x="3371850" y="4519613"/>
            <a:ext cx="352425" cy="0"/>
          </a:xfrm>
          <a:prstGeom prst="straightConnector1">
            <a:avLst/>
          </a:prstGeom>
          <a:ln w="23813">
            <a:solidFill>
              <a:srgbClr val="1F497D"/>
            </a:solidFill>
            <a:prstDash val="solid"/>
            <a:tailEnd type="triangle" w="med" len="med"/>
          </a:ln>
        </p:spPr>
      </p:cxnSp>
      <p:cxnSp>
        <p:nvCxnSpPr>
          <p:cNvPr id="50017" name="AEGIS_LINK_35"/>
          <p:cNvCxnSpPr>
            <a:stCxn id="50007" idx="3"/>
            <a:endCxn id="50010" idx="1"/>
          </p:cNvCxnSpPr>
          <p:nvPr/>
        </p:nvCxnSpPr>
        <p:spPr>
          <a:xfrm>
            <a:off x="6048375" y="4519613"/>
            <a:ext cx="352425" cy="0"/>
          </a:xfrm>
          <a:prstGeom prst="straightConnector1">
            <a:avLst/>
          </a:prstGeom>
          <a:ln w="23813">
            <a:solidFill>
              <a:srgbClr val="1F497D"/>
            </a:solidFill>
            <a:prstDash val="solid"/>
            <a:tailEnd type="triangle" w="med" len="med"/>
          </a:ln>
        </p:spPr>
      </p:cxnSp>
      <p:cxnSp>
        <p:nvCxnSpPr>
          <p:cNvPr id="50018" name="AEGIS_LINK_36"/>
          <p:cNvCxnSpPr>
            <a:stCxn id="50010" idx="3"/>
            <a:endCxn id="50013" idx="1"/>
          </p:cNvCxnSpPr>
          <p:nvPr/>
        </p:nvCxnSpPr>
        <p:spPr>
          <a:xfrm>
            <a:off x="8724900" y="4519613"/>
            <a:ext cx="352425" cy="0"/>
          </a:xfrm>
          <a:prstGeom prst="straightConnector1">
            <a:avLst/>
          </a:prstGeom>
          <a:ln w="23813">
            <a:solidFill>
              <a:srgbClr val="1F497D"/>
            </a:solidFill>
            <a:prstDash val="solid"/>
            <a:tailEnd type="triangle" w="med" len="med"/>
          </a:ln>
        </p:spPr>
      </p:cxnSp>
      <p:sp>
        <p:nvSpPr>
          <p:cNvPr id="50019" name="AEGIS_37">
            <a:extLst>
              <a:ext uri="{FF2B5EF4-FFF2-40B4-BE49-F238E27FC236}">
                <a16:creationId xmlns:a16="http://schemas.microsoft.com/office/drawing/2014/main" id="{9170F412-5482-48E9-8D7A-13284CC950FA}"/>
              </a:ext>
            </a:extLst>
          </p:cNvPr>
          <p:cNvSpPr>
            <a:spLocks noGrp="1"/>
          </p:cNvSpPr>
          <p:nvPr/>
        </p:nvSpPr>
        <p:spPr>
          <a:xfrm>
            <a:off x="1047750"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Time-consistent paths</a:t>
            </a:r>
          </a:p>
          <a:p>
            <a:pPr>
              <a:defRPr sz="1425" b="0">
                <a:solidFill>
                  <a:srgbClr val="000000"/>
                </a:solidFill>
                <a:latin typeface="Arial"/>
                <a:ea typeface="Arial"/>
                <a:cs typeface="Arial"/>
              </a:defRPr>
            </a:pPr>
            <a:r>
              <a:rPr sz="1425" b="0">
                <a:solidFill>
                  <a:srgbClr val="000000"/>
                </a:solidFill>
                <a:latin typeface="Arial"/>
                <a:ea typeface="Arial"/>
                <a:cs typeface="Arial"/>
              </a:rPr>
              <a:t>Explicit gaps at mixing</a:t>
            </a:r>
          </a:p>
          <a:p>
            <a:pPr>
              <a:defRPr sz="1425" b="0">
                <a:solidFill>
                  <a:srgbClr val="000000"/>
                </a:solidFill>
                <a:latin typeface="Arial"/>
                <a:ea typeface="Arial"/>
                <a:cs typeface="Arial"/>
              </a:defRPr>
            </a:pPr>
            <a:r>
              <a:rPr sz="1425" b="0">
                <a:solidFill>
                  <a:srgbClr val="000000"/>
                </a:solidFill>
                <a:latin typeface="Arial"/>
                <a:ea typeface="Arial"/>
                <a:cs typeface="Arial"/>
              </a:rPr>
              <a:t>or unsupported bridges</a:t>
            </a:r>
          </a:p>
        </p:txBody>
      </p:sp>
      <p:sp>
        <p:nvSpPr>
          <p:cNvPr id="50020" name="AEGIS_38">
            <a:extLst>
              <a:ext uri="{FF2B5EF4-FFF2-40B4-BE49-F238E27FC236}">
                <a16:creationId xmlns:a16="http://schemas.microsoft.com/office/drawing/2014/main" id="{1218E2D5-6193-404B-B3B5-04F5984B359A}"/>
              </a:ext>
            </a:extLst>
          </p:cNvPr>
          <p:cNvSpPr>
            <a:spLocks noGrp="1"/>
          </p:cNvSpPr>
          <p:nvPr/>
        </p:nvSpPr>
        <p:spPr>
          <a:xfrm>
            <a:off x="3724275"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Explainable rules and</a:t>
            </a:r>
          </a:p>
          <a:p>
            <a:pPr>
              <a:defRPr sz="1425" b="0">
                <a:solidFill>
                  <a:srgbClr val="000000"/>
                </a:solidFill>
                <a:latin typeface="Arial"/>
                <a:ea typeface="Arial"/>
                <a:cs typeface="Arial"/>
              </a:defRPr>
            </a:pPr>
            <a:r>
              <a:rPr sz="1425" b="0">
                <a:solidFill>
                  <a:srgbClr val="000000"/>
                </a:solidFill>
                <a:latin typeface="Arial"/>
                <a:ea typeface="Arial"/>
                <a:cs typeface="Arial"/>
              </a:rPr>
              <a:t>evaluated ML will flag</a:t>
            </a:r>
          </a:p>
          <a:p>
            <a:pPr>
              <a:defRPr sz="1425" b="0">
                <a:solidFill>
                  <a:srgbClr val="000000"/>
                </a:solidFill>
                <a:latin typeface="Arial"/>
                <a:ea typeface="Arial"/>
                <a:cs typeface="Arial"/>
              </a:defRPr>
            </a:pPr>
            <a:r>
              <a:rPr sz="1425" b="0">
                <a:solidFill>
                  <a:srgbClr val="000000"/>
                </a:solidFill>
                <a:latin typeface="Arial"/>
                <a:ea typeface="Arial"/>
                <a:cs typeface="Arial"/>
              </a:rPr>
              <a:t>suspect flow patterns</a:t>
            </a:r>
          </a:p>
        </p:txBody>
      </p:sp>
      <p:sp>
        <p:nvSpPr>
          <p:cNvPr id="50021" name="AEGIS_NODE_39">
            <a:extLst>
              <a:ext uri="{FF2B5EF4-FFF2-40B4-BE49-F238E27FC236}">
                <a16:creationId xmlns:a16="http://schemas.microsoft.com/office/drawing/2014/main" id="{D71E3B7A-F8CF-4555-A4E5-889FA8BD1E4D}"/>
              </a:ext>
            </a:extLst>
          </p:cNvPr>
          <p:cNvSpPr>
            <a:spLocks noGrp="1"/>
          </p:cNvSpPr>
          <p:nvPr/>
        </p:nvSpPr>
        <p:spPr>
          <a:xfrm>
            <a:off x="6400800" y="5181600"/>
            <a:ext cx="2324100" cy="723900"/>
          </a:xfrm>
          <a:prstGeom prst="rect">
            <a:avLst/>
          </a:prstGeom>
          <a:solidFill>
            <a:srgbClr val="FFFFFF"/>
          </a:solidFill>
          <a:ln w="16193">
            <a:solidFill>
              <a:srgbClr val="1F497D"/>
            </a:solidFill>
          </a:ln>
        </p:spPr>
        <p:txBody>
          <a:bodyPr lIns="85725" tIns="66675" rIns="85725" bIns="66675" anchor="ctr"/>
          <a:lstStyle/>
          <a:p>
            <a:r>
              <a:t/>
            </a:r>
          </a:p>
        </p:txBody>
      </p:sp>
      <p:sp>
        <p:nvSpPr>
          <p:cNvPr id="50022" name="AEGIS_40">
            <a:extLst>
              <a:ext uri="{FF2B5EF4-FFF2-40B4-BE49-F238E27FC236}">
                <a16:creationId xmlns:a16="http://schemas.microsoft.com/office/drawing/2014/main" id="{47B059DD-F97B-4477-B8E0-DEE21F2C8BC1}"/>
              </a:ext>
            </a:extLst>
          </p:cNvPr>
          <p:cNvSpPr>
            <a:spLocks noGrp="1"/>
          </p:cNvSpPr>
          <p:nvPr/>
        </p:nvSpPr>
        <p:spPr>
          <a:xfrm>
            <a:off x="6457950" y="5257800"/>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Label registry</a:t>
            </a:r>
          </a:p>
        </p:txBody>
      </p:sp>
      <p:sp>
        <p:nvSpPr>
          <p:cNvPr id="50023" name="AEGIS_41">
            <a:extLst>
              <a:ext uri="{FF2B5EF4-FFF2-40B4-BE49-F238E27FC236}">
                <a16:creationId xmlns:a16="http://schemas.microsoft.com/office/drawing/2014/main" id="{9444CDAB-436C-4CA0-8870-67D0F1D83C13}"/>
              </a:ext>
            </a:extLst>
          </p:cNvPr>
          <p:cNvSpPr>
            <a:spLocks noGrp="1"/>
          </p:cNvSpPr>
          <p:nvPr/>
        </p:nvSpPr>
        <p:spPr>
          <a:xfrm>
            <a:off x="6457950" y="5495925"/>
            <a:ext cx="2209800" cy="39052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Source provenance</a:t>
            </a:r>
          </a:p>
          <a:p>
            <a:pPr>
              <a:defRPr sz="1425" b="0">
                <a:solidFill>
                  <a:srgbClr val="000000"/>
                </a:solidFill>
                <a:latin typeface="Arial"/>
                <a:ea typeface="Arial"/>
                <a:cs typeface="Arial"/>
              </a:defRPr>
            </a:pPr>
            <a:r>
              <a:rPr sz="1425" b="0">
                <a:solidFill>
                  <a:srgbClr val="000000"/>
                </a:solidFill>
                <a:latin typeface="Arial"/>
                <a:ea typeface="Arial"/>
                <a:cs typeface="Arial"/>
              </a:rPr>
              <a:t>Review date</a:t>
            </a:r>
          </a:p>
        </p:txBody>
      </p:sp>
      <p:cxnSp>
        <p:nvCxnSpPr>
          <p:cNvPr id="50024" name="AEGIS_LINK_42"/>
          <p:cNvCxnSpPr>
            <a:stCxn id="50021" idx="0"/>
            <a:endCxn id="50010" idx="2"/>
          </p:cNvCxnSpPr>
          <p:nvPr/>
        </p:nvCxnSpPr>
        <p:spPr>
          <a:xfrm flipV="1">
            <a:off x="7562850" y="4933950"/>
            <a:ext cx="0" cy="247650"/>
          </a:xfrm>
          <a:prstGeom prst="straightConnector1">
            <a:avLst/>
          </a:prstGeom>
          <a:ln w="23813">
            <a:solidFill>
              <a:srgbClr val="1F497D"/>
            </a:solidFill>
            <a:prstDash val="solid"/>
            <a:tailEnd type="triangle" w="med" len="med"/>
          </a:ln>
        </p:spPr>
      </p:cxnSp>
      <p:sp>
        <p:nvSpPr>
          <p:cNvPr id="50025" name="AEGIS_43">
            <a:extLst>
              <a:ext uri="{FF2B5EF4-FFF2-40B4-BE49-F238E27FC236}">
                <a16:creationId xmlns:a16="http://schemas.microsoft.com/office/drawing/2014/main" id="{C19FFB00-EB02-4B44-BDDA-A1454F2D0215}"/>
              </a:ext>
            </a:extLst>
          </p:cNvPr>
          <p:cNvSpPr>
            <a:spLocks noGrp="1"/>
          </p:cNvSpPr>
          <p:nvPr/>
        </p:nvSpPr>
        <p:spPr>
          <a:xfrm>
            <a:off x="9077325" y="5181600"/>
            <a:ext cx="2409825" cy="7143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Role-based access</a:t>
            </a:r>
          </a:p>
          <a:p>
            <a:pPr>
              <a:defRPr sz="1425" b="0">
                <a:solidFill>
                  <a:srgbClr val="000000"/>
                </a:solidFill>
                <a:latin typeface="Arial"/>
                <a:ea typeface="Arial"/>
                <a:cs typeface="Arial"/>
              </a:defRPr>
            </a:pPr>
            <a:r>
              <a:rPr sz="1425" b="0">
                <a:solidFill>
                  <a:srgbClr val="000000"/>
                </a:solidFill>
                <a:latin typeface="Arial"/>
                <a:ea typeface="Arial"/>
                <a:cs typeface="Arial"/>
              </a:rPr>
              <a:t>Audit trail</a:t>
            </a:r>
          </a:p>
          <a:p>
            <a:pPr>
              <a:defRPr sz="1425" b="0">
                <a:solidFill>
                  <a:srgbClr val="000000"/>
                </a:solidFill>
                <a:latin typeface="Arial"/>
                <a:ea typeface="Arial"/>
                <a:cs typeface="Arial"/>
              </a:defRPr>
            </a:pPr>
            <a:r>
              <a:rPr sz="1425" b="0">
                <a:solidFill>
                  <a:srgbClr val="000000"/>
                </a:solidFill>
                <a:latin typeface="Arial"/>
                <a:ea typeface="Arial"/>
                <a:cs typeface="Arial"/>
              </a:rPr>
              <a:t>Approved LEA APIs</a:t>
            </a:r>
          </a:p>
        </p:txBody>
      </p:sp>
      <p:sp>
        <p:nvSpPr>
          <p:cNvPr id="50026" name="AEGIS_44">
            <a:extLst>
              <a:ext uri="{FF2B5EF4-FFF2-40B4-BE49-F238E27FC236}">
                <a16:creationId xmlns:a16="http://schemas.microsoft.com/office/drawing/2014/main" id="{34541233-7C45-4DB5-B760-5E8D733B2BEC}"/>
              </a:ext>
            </a:extLst>
          </p:cNvPr>
          <p:cNvSpPr>
            <a:spLocks noGrp="1"/>
          </p:cNvSpPr>
          <p:nvPr/>
        </p:nvSpPr>
        <p:spPr>
          <a:xfrm>
            <a:off x="1047750" y="6038850"/>
            <a:ext cx="10382250" cy="25717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Findings will distinguish observed transactions, inferred links and unresolved attribution.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134D876D-773D-4AEC-A1C1-632ABDF80435}"/>
              </a:ext>
            </a:extLst>
          </p:cNvPr>
          <p:cNvSpPr>
            <a:spLocks noGrp="1"/>
          </p:cNvSpPr>
          <p:nvPr/>
        </p:nvSpPr>
        <p:spPr>
          <a:xfrm>
            <a:off x="609600" y="1495425"/>
            <a:ext cx="9385300" cy="47625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01" name="AEGIS_NODE_45">
            <a:extLst>
              <a:ext uri="{FF2B5EF4-FFF2-40B4-BE49-F238E27FC236}">
                <a16:creationId xmlns:a16="http://schemas.microsoft.com/office/drawing/2014/main" id="{A1568293-CA93-4501-9E86-2C7FB90AEEBE}"/>
              </a:ext>
            </a:extLst>
          </p:cNvPr>
          <p:cNvSpPr>
            <a:spLocks noGrp="1"/>
          </p:cNvSpPr>
          <p:nvPr/>
        </p:nvSpPr>
        <p:spPr>
          <a:xfrm>
            <a:off x="1047750"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2" name="AEGIS_46">
            <a:extLst>
              <a:ext uri="{FF2B5EF4-FFF2-40B4-BE49-F238E27FC236}">
                <a16:creationId xmlns:a16="http://schemas.microsoft.com/office/drawing/2014/main" id="{D1584F4C-A0FE-4523-ACFE-0A0B9E403A9F}"/>
              </a:ext>
            </a:extLst>
          </p:cNvPr>
          <p:cNvSpPr>
            <a:spLocks noGrp="1"/>
          </p:cNvSpPr>
          <p:nvPr/>
        </p:nvSpPr>
        <p:spPr>
          <a:xfrm>
            <a:off x="1104900"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1. Validate</a:t>
            </a:r>
          </a:p>
        </p:txBody>
      </p:sp>
      <p:sp>
        <p:nvSpPr>
          <p:cNvPr id="50003" name="AEGIS_47">
            <a:extLst>
              <a:ext uri="{FF2B5EF4-FFF2-40B4-BE49-F238E27FC236}">
                <a16:creationId xmlns:a16="http://schemas.microsoft.com/office/drawing/2014/main" id="{59E1DC42-A7FC-4649-9F7E-53D5EC93A614}"/>
              </a:ext>
            </a:extLst>
          </p:cNvPr>
          <p:cNvSpPr>
            <a:spLocks noGrp="1"/>
          </p:cNvSpPr>
          <p:nvPr/>
        </p:nvSpPr>
        <p:spPr>
          <a:xfrm>
            <a:off x="1104900"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Bitcoin attribution</a:t>
            </a:r>
          </a:p>
        </p:txBody>
      </p:sp>
      <p:sp>
        <p:nvSpPr>
          <p:cNvPr id="50004" name="AEGIS_NODE_48">
            <a:extLst>
              <a:ext uri="{FF2B5EF4-FFF2-40B4-BE49-F238E27FC236}">
                <a16:creationId xmlns:a16="http://schemas.microsoft.com/office/drawing/2014/main" id="{86B2DA0F-CD11-48B4-BBC6-DC05668405DE}"/>
              </a:ext>
            </a:extLst>
          </p:cNvPr>
          <p:cNvSpPr>
            <a:spLocks noGrp="1"/>
          </p:cNvSpPr>
          <p:nvPr/>
        </p:nvSpPr>
        <p:spPr>
          <a:xfrm>
            <a:off x="3724275"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5" name="AEGIS_49">
            <a:extLst>
              <a:ext uri="{FF2B5EF4-FFF2-40B4-BE49-F238E27FC236}">
                <a16:creationId xmlns:a16="http://schemas.microsoft.com/office/drawing/2014/main" id="{75FCA558-6DE3-4032-9B52-DE6F2AB8E129}"/>
              </a:ext>
            </a:extLst>
          </p:cNvPr>
          <p:cNvSpPr>
            <a:spLocks noGrp="1"/>
          </p:cNvSpPr>
          <p:nvPr/>
        </p:nvSpPr>
        <p:spPr>
          <a:xfrm>
            <a:off x="3781425"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2. Monitor</a:t>
            </a:r>
          </a:p>
        </p:txBody>
      </p:sp>
      <p:sp>
        <p:nvSpPr>
          <p:cNvPr id="50006" name="AEGIS_50">
            <a:extLst>
              <a:ext uri="{FF2B5EF4-FFF2-40B4-BE49-F238E27FC236}">
                <a16:creationId xmlns:a16="http://schemas.microsoft.com/office/drawing/2014/main" id="{59552649-EE83-497D-BF93-2490E91F9108}"/>
              </a:ext>
            </a:extLst>
          </p:cNvPr>
          <p:cNvSpPr>
            <a:spLocks noGrp="1"/>
          </p:cNvSpPr>
          <p:nvPr/>
        </p:nvSpPr>
        <p:spPr>
          <a:xfrm>
            <a:off x="3781425"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Movement alerts</a:t>
            </a:r>
          </a:p>
        </p:txBody>
      </p:sp>
      <p:sp>
        <p:nvSpPr>
          <p:cNvPr id="50007" name="AEGIS_NODE_51">
            <a:extLst>
              <a:ext uri="{FF2B5EF4-FFF2-40B4-BE49-F238E27FC236}">
                <a16:creationId xmlns:a16="http://schemas.microsoft.com/office/drawing/2014/main" id="{3668A6D5-4DED-4121-BA28-F5D15A184264}"/>
              </a:ext>
            </a:extLst>
          </p:cNvPr>
          <p:cNvSpPr>
            <a:spLocks noGrp="1"/>
          </p:cNvSpPr>
          <p:nvPr/>
        </p:nvSpPr>
        <p:spPr>
          <a:xfrm>
            <a:off x="6400800"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08" name="AEGIS_52">
            <a:extLst>
              <a:ext uri="{FF2B5EF4-FFF2-40B4-BE49-F238E27FC236}">
                <a16:creationId xmlns:a16="http://schemas.microsoft.com/office/drawing/2014/main" id="{EADB9D1B-94F5-450F-B8F9-A72EAFF51FFC}"/>
              </a:ext>
            </a:extLst>
          </p:cNvPr>
          <p:cNvSpPr>
            <a:spLocks noGrp="1"/>
          </p:cNvSpPr>
          <p:nvPr/>
        </p:nvSpPr>
        <p:spPr>
          <a:xfrm>
            <a:off x="6457950"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3. Extend</a:t>
            </a:r>
          </a:p>
        </p:txBody>
      </p:sp>
      <p:sp>
        <p:nvSpPr>
          <p:cNvPr id="50009" name="AEGIS_53">
            <a:extLst>
              <a:ext uri="{FF2B5EF4-FFF2-40B4-BE49-F238E27FC236}">
                <a16:creationId xmlns:a16="http://schemas.microsoft.com/office/drawing/2014/main" id="{55CC0C86-AF6F-4F42-A821-2DA84FE7BE22}"/>
              </a:ext>
            </a:extLst>
          </p:cNvPr>
          <p:cNvSpPr>
            <a:spLocks noGrp="1"/>
          </p:cNvSpPr>
          <p:nvPr/>
        </p:nvSpPr>
        <p:spPr>
          <a:xfrm>
            <a:off x="6457950"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EVM/TRON, bridges</a:t>
            </a:r>
          </a:p>
        </p:txBody>
      </p:sp>
      <p:sp>
        <p:nvSpPr>
          <p:cNvPr id="50010" name="AEGIS_NODE_54">
            <a:extLst>
              <a:ext uri="{FF2B5EF4-FFF2-40B4-BE49-F238E27FC236}">
                <a16:creationId xmlns:a16="http://schemas.microsoft.com/office/drawing/2014/main" id="{F02012F0-AE54-4DD1-9800-8D516BBB4C5B}"/>
              </a:ext>
            </a:extLst>
          </p:cNvPr>
          <p:cNvSpPr>
            <a:spLocks noGrp="1"/>
          </p:cNvSpPr>
          <p:nvPr/>
        </p:nvSpPr>
        <p:spPr>
          <a:xfrm>
            <a:off x="9077325" y="2066925"/>
            <a:ext cx="2324100" cy="657225"/>
          </a:xfrm>
          <a:prstGeom prst="rect">
            <a:avLst/>
          </a:prstGeom>
          <a:solidFill>
            <a:srgbClr val="FFFFFF"/>
          </a:solidFill>
          <a:ln w="16193">
            <a:solidFill>
              <a:srgbClr val="1F497D"/>
            </a:solidFill>
          </a:ln>
        </p:spPr>
        <p:txBody>
          <a:bodyPr lIns="85725" tIns="66675" rIns="85725" bIns="66675" anchor="ctr"/>
          <a:lstStyle/>
          <a:p>
            <a:r>
              <a:t/>
            </a:r>
          </a:p>
        </p:txBody>
      </p:sp>
      <p:sp>
        <p:nvSpPr>
          <p:cNvPr id="50011" name="AEGIS_55">
            <a:extLst>
              <a:ext uri="{FF2B5EF4-FFF2-40B4-BE49-F238E27FC236}">
                <a16:creationId xmlns:a16="http://schemas.microsoft.com/office/drawing/2014/main" id="{C09A4DC1-82A0-4A22-B8CA-FF4F37AFC04F}"/>
              </a:ext>
            </a:extLst>
          </p:cNvPr>
          <p:cNvSpPr>
            <a:spLocks noGrp="1"/>
          </p:cNvSpPr>
          <p:nvPr/>
        </p:nvSpPr>
        <p:spPr>
          <a:xfrm>
            <a:off x="9134475" y="2143125"/>
            <a:ext cx="2209800" cy="238125"/>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4. Integrate</a:t>
            </a:r>
          </a:p>
        </p:txBody>
      </p:sp>
      <p:sp>
        <p:nvSpPr>
          <p:cNvPr id="50012" name="AEGIS_56">
            <a:extLst>
              <a:ext uri="{FF2B5EF4-FFF2-40B4-BE49-F238E27FC236}">
                <a16:creationId xmlns:a16="http://schemas.microsoft.com/office/drawing/2014/main" id="{ABA39792-E08C-4722-8841-D3581F9C03C3}"/>
              </a:ext>
            </a:extLst>
          </p:cNvPr>
          <p:cNvSpPr>
            <a:spLocks noGrp="1"/>
          </p:cNvSpPr>
          <p:nvPr/>
        </p:nvSpPr>
        <p:spPr>
          <a:xfrm>
            <a:off x="9134475" y="2381250"/>
            <a:ext cx="2209800" cy="32385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Approved LEA access</a:t>
            </a:r>
          </a:p>
        </p:txBody>
      </p:sp>
      <p:cxnSp>
        <p:nvCxnSpPr>
          <p:cNvPr id="50013" name="AEGIS_LINK_57"/>
          <p:cNvCxnSpPr>
            <a:stCxn id="50001" idx="3"/>
            <a:endCxn id="50004" idx="1"/>
          </p:cNvCxnSpPr>
          <p:nvPr/>
        </p:nvCxnSpPr>
        <p:spPr>
          <a:xfrm>
            <a:off x="3371850" y="2395538"/>
            <a:ext cx="352425" cy="0"/>
          </a:xfrm>
          <a:prstGeom prst="straightConnector1">
            <a:avLst/>
          </a:prstGeom>
          <a:ln w="23813">
            <a:solidFill>
              <a:srgbClr val="1F497D"/>
            </a:solidFill>
            <a:prstDash val="solid"/>
            <a:tailEnd type="triangle" w="med" len="med"/>
          </a:ln>
        </p:spPr>
      </p:cxnSp>
      <p:cxnSp>
        <p:nvCxnSpPr>
          <p:cNvPr id="50014" name="AEGIS_LINK_58"/>
          <p:cNvCxnSpPr>
            <a:stCxn id="50004" idx="3"/>
            <a:endCxn id="50007" idx="1"/>
          </p:cNvCxnSpPr>
          <p:nvPr/>
        </p:nvCxnSpPr>
        <p:spPr>
          <a:xfrm>
            <a:off x="6048375" y="2395538"/>
            <a:ext cx="352425" cy="0"/>
          </a:xfrm>
          <a:prstGeom prst="straightConnector1">
            <a:avLst/>
          </a:prstGeom>
          <a:ln w="23813">
            <a:solidFill>
              <a:srgbClr val="1F497D"/>
            </a:solidFill>
            <a:prstDash val="solid"/>
            <a:tailEnd type="triangle" w="med" len="med"/>
          </a:ln>
        </p:spPr>
      </p:cxnSp>
      <p:cxnSp>
        <p:nvCxnSpPr>
          <p:cNvPr id="50015" name="AEGIS_LINK_59"/>
          <p:cNvCxnSpPr>
            <a:stCxn id="50007" idx="3"/>
            <a:endCxn id="50010" idx="1"/>
          </p:cNvCxnSpPr>
          <p:nvPr/>
        </p:nvCxnSpPr>
        <p:spPr>
          <a:xfrm>
            <a:off x="8724900" y="2395538"/>
            <a:ext cx="352425" cy="0"/>
          </a:xfrm>
          <a:prstGeom prst="straightConnector1">
            <a:avLst/>
          </a:prstGeom>
          <a:ln w="23813">
            <a:solidFill>
              <a:srgbClr val="1F497D"/>
            </a:solidFill>
            <a:prstDash val="solid"/>
            <a:tailEnd type="triangle" w="med" len="med"/>
          </a:ln>
        </p:spPr>
      </p:cxnSp>
      <p:sp>
        <p:nvSpPr>
          <p:cNvPr id="50016" name="AEGIS_60">
            <a:extLst>
              <a:ext uri="{FF2B5EF4-FFF2-40B4-BE49-F238E27FC236}">
                <a16:creationId xmlns:a16="http://schemas.microsoft.com/office/drawing/2014/main" id="{8F3C5A2C-8CA9-4ECC-8E7F-DEB10648E970}"/>
              </a:ext>
            </a:extLst>
          </p:cNvPr>
          <p:cNvSpPr>
            <a:spLocks noGrp="1"/>
          </p:cNvSpPr>
          <p:nvPr/>
        </p:nvSpPr>
        <p:spPr>
          <a:xfrm>
            <a:off x="1047750" y="2952750"/>
            <a:ext cx="10287000" cy="504825"/>
          </a:xfrm>
          <a:prstGeom prst="rect">
            <a:avLst/>
          </a:prstGeom>
          <a:noFill/>
          <a:ln w="0">
            <a:noFill/>
          </a:ln>
        </p:spPr>
        <p:txBody>
          <a:bodyPr wrap="square" lIns="0" tIns="0" rIns="0" bIns="0">
            <a:noAutofit/>
          </a:bodyPr>
          <a:lstStyle/>
          <a:p>
            <a:pPr>
              <a:defRPr sz="1725" b="0">
                <a:solidFill>
                  <a:srgbClr val="000000"/>
                </a:solidFill>
                <a:latin typeface="Arial"/>
                <a:ea typeface="Arial"/>
                <a:cs typeface="Arial"/>
              </a:defRPr>
            </a:pPr>
            <a:r>
              <a:rPr sz="1725" b="0">
                <a:solidFill>
                  <a:srgbClr val="000000"/>
                </a:solidFill>
                <a:latin typeface="Arial"/>
                <a:ea typeface="Arial"/>
                <a:cs typeface="Arial"/>
              </a:rPr>
              <a:t>Label supply: reviewed public disclosures and authorized VASP data, with source history.</a:t>
            </a:r>
          </a:p>
        </p:txBody>
      </p:sp>
      <p:sp>
        <p:nvSpPr>
          <p:cNvPr id="50017" name="AEGIS_PROMPT_1">
            <a:extLst>
              <a:ext uri="{FF2B5EF4-FFF2-40B4-BE49-F238E27FC236}">
                <a16:creationId xmlns:a16="http://schemas.microsoft.com/office/drawing/2014/main" id="{D9F76D69-1E9C-4882-A34A-F6839F68924E}"/>
              </a:ext>
            </a:extLst>
          </p:cNvPr>
          <p:cNvSpPr>
            <a:spLocks noGrp="1"/>
          </p:cNvSpPr>
          <p:nvPr/>
        </p:nvSpPr>
        <p:spPr>
          <a:xfrm>
            <a:off x="609600" y="3457575"/>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p:txBody>
      </p:sp>
      <p:sp>
        <p:nvSpPr>
          <p:cNvPr id="50018" name="AEGIS_61">
            <a:extLst>
              <a:ext uri="{FF2B5EF4-FFF2-40B4-BE49-F238E27FC236}">
                <a16:creationId xmlns:a16="http://schemas.microsoft.com/office/drawing/2014/main" id="{A84D157B-45D4-41A4-BA8A-340156DFA9CE}"/>
              </a:ext>
            </a:extLst>
          </p:cNvPr>
          <p:cNvSpPr>
            <a:spLocks noGrp="1"/>
          </p:cNvSpPr>
          <p:nvPr/>
        </p:nvSpPr>
        <p:spPr>
          <a:xfrm>
            <a:off x="1047750" y="39624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Uncertain labels and flows</a:t>
            </a:r>
          </a:p>
        </p:txBody>
      </p:sp>
      <p:sp>
        <p:nvSpPr>
          <p:cNvPr id="50019" name="AEGIS_62">
            <a:extLst>
              <a:ext uri="{FF2B5EF4-FFF2-40B4-BE49-F238E27FC236}">
                <a16:creationId xmlns:a16="http://schemas.microsoft.com/office/drawing/2014/main" id="{D4A0FFB5-95A2-4272-A791-D7F8899431A1}"/>
              </a:ext>
            </a:extLst>
          </p:cNvPr>
          <p:cNvSpPr>
            <a:spLocks noGrp="1"/>
          </p:cNvSpPr>
          <p:nvPr/>
        </p:nvSpPr>
        <p:spPr>
          <a:xfrm>
            <a:off x="1047750" y="42672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Provider limits and large histories</a:t>
            </a:r>
          </a:p>
        </p:txBody>
      </p:sp>
      <p:sp>
        <p:nvSpPr>
          <p:cNvPr id="50020" name="AEGIS_63">
            <a:extLst>
              <a:ext uri="{FF2B5EF4-FFF2-40B4-BE49-F238E27FC236}">
                <a16:creationId xmlns:a16="http://schemas.microsoft.com/office/drawing/2014/main" id="{9CBDCB9B-676F-4C44-9B14-A122A84AFDA7}"/>
              </a:ext>
            </a:extLst>
          </p:cNvPr>
          <p:cNvSpPr>
            <a:spLocks noGrp="1"/>
          </p:cNvSpPr>
          <p:nvPr/>
        </p:nvSpPr>
        <p:spPr>
          <a:xfrm>
            <a:off x="1047750" y="4572000"/>
            <a:ext cx="10287000" cy="266700"/>
          </a:xfrm>
          <a:prstGeom prst="rect">
            <a:avLst/>
          </a:prstGeom>
          <a:noFill/>
          <a:ln w="0">
            <a:noFill/>
          </a:ln>
        </p:spPr>
        <p:txBody>
          <a:bodyPr wrap="square" lIns="0" tIns="0" rIns="0" bIns="0">
            <a:noAutofit/>
          </a:bodyPr>
          <a:lstStyle/>
          <a:p>
            <a:pPr>
              <a:defRPr sz="1650" b="0">
                <a:solidFill>
                  <a:srgbClr val="000000"/>
                </a:solidFill>
                <a:latin typeface="Arial"/>
                <a:ea typeface="Arial"/>
                <a:cs typeface="Arial"/>
              </a:defRPr>
            </a:pPr>
            <a:r>
              <a:rPr sz="1650" b="0">
                <a:solidFill>
                  <a:srgbClr val="000000"/>
                </a:solidFill>
                <a:latin typeface="Arial"/>
                <a:ea typeface="Arial"/>
                <a:cs typeface="Arial"/>
              </a:rPr>
              <a:t>Sensitive cases and restricted access</a:t>
            </a:r>
          </a:p>
        </p:txBody>
      </p:sp>
      <p:sp>
        <p:nvSpPr>
          <p:cNvPr id="50021" name="AEGIS_PROMPT_2">
            <a:extLst>
              <a:ext uri="{FF2B5EF4-FFF2-40B4-BE49-F238E27FC236}">
                <a16:creationId xmlns:a16="http://schemas.microsoft.com/office/drawing/2014/main" id="{1E00F1BC-DB4F-4356-B310-A982AAB4D73D}"/>
              </a:ext>
            </a:extLst>
          </p:cNvPr>
          <p:cNvSpPr>
            <a:spLocks noGrp="1"/>
          </p:cNvSpPr>
          <p:nvPr/>
        </p:nvSpPr>
        <p:spPr>
          <a:xfrm>
            <a:off x="609600" y="4943475"/>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22" name="AEGIS_64">
            <a:extLst>
              <a:ext uri="{FF2B5EF4-FFF2-40B4-BE49-F238E27FC236}">
                <a16:creationId xmlns:a16="http://schemas.microsoft.com/office/drawing/2014/main" id="{672B32CA-2786-4FFF-88F6-5B75A704E43D}"/>
              </a:ext>
            </a:extLst>
          </p:cNvPr>
          <p:cNvSpPr>
            <a:spLocks noGrp="1"/>
          </p:cNvSpPr>
          <p:nvPr/>
        </p:nvSpPr>
        <p:spPr>
          <a:xfrm>
            <a:off x="1047750" y="5448300"/>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Version label sources, review clusters and show unresolved paths.</a:t>
            </a:r>
          </a:p>
        </p:txBody>
      </p:sp>
      <p:sp>
        <p:nvSpPr>
          <p:cNvPr id="50023" name="AEGIS_65">
            <a:extLst>
              <a:ext uri="{FF2B5EF4-FFF2-40B4-BE49-F238E27FC236}">
                <a16:creationId xmlns:a16="http://schemas.microsoft.com/office/drawing/2014/main" id="{697196E2-D901-40C5-81C7-943EA3A8E70B}"/>
              </a:ext>
            </a:extLst>
          </p:cNvPr>
          <p:cNvSpPr>
            <a:spLocks noGrp="1"/>
          </p:cNvSpPr>
          <p:nvPr/>
        </p:nvSpPr>
        <p:spPr>
          <a:xfrm>
            <a:off x="1047750" y="5667375"/>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Index incrementally, cache queries and bound graph traversal.</a:t>
            </a:r>
          </a:p>
        </p:txBody>
      </p:sp>
      <p:sp>
        <p:nvSpPr>
          <p:cNvPr id="50024" name="AEGIS_66">
            <a:extLst>
              <a:ext uri="{FF2B5EF4-FFF2-40B4-BE49-F238E27FC236}">
                <a16:creationId xmlns:a16="http://schemas.microsoft.com/office/drawing/2014/main" id="{343188E3-8A79-48AD-A708-470B6F7C62A1}"/>
              </a:ext>
            </a:extLst>
          </p:cNvPr>
          <p:cNvSpPr>
            <a:spLocks noGrp="1"/>
          </p:cNvSpPr>
          <p:nvPr/>
        </p:nvSpPr>
        <p:spPr>
          <a:xfrm>
            <a:off x="1047750" y="5886450"/>
            <a:ext cx="10287000" cy="20955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Role-based permissions, audit logs and approved NCRP/SAHYOG APIs.</a:t>
            </a:r>
          </a:p>
        </p:txBody>
      </p:sp>
      <p:sp>
        <p:nvSpPr>
          <p:cNvPr id="50025" name="AEGIS_67">
            <a:extLst>
              <a:ext uri="{FF2B5EF4-FFF2-40B4-BE49-F238E27FC236}">
                <a16:creationId xmlns:a16="http://schemas.microsoft.com/office/drawing/2014/main" id="{18408703-FFD8-4CEA-9A73-634BA1EBB85F}"/>
              </a:ext>
            </a:extLst>
          </p:cNvPr>
          <p:cNvSpPr>
            <a:spLocks noGrp="1"/>
          </p:cNvSpPr>
          <p:nvPr/>
        </p:nvSpPr>
        <p:spPr>
          <a:xfrm>
            <a:off x="1047750" y="6115050"/>
            <a:ext cx="1028700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Validation: held-out labelled paths and hard negatives. Measure precision, coverage and alert latency.</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1ADC7AB2-8544-44F4-A447-0A52C0A47763}"/>
              </a:ext>
            </a:extLst>
          </p:cNvPr>
          <p:cNvSpPr>
            <a:spLocks noGrp="1"/>
          </p:cNvSpPr>
          <p:nvPr/>
        </p:nvSpPr>
        <p:spPr>
          <a:xfrm>
            <a:off x="609600" y="1485900"/>
            <a:ext cx="9385300" cy="457200"/>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 on the target audience</a:t>
            </a:r>
          </a:p>
        </p:txBody>
      </p:sp>
      <p:sp>
        <p:nvSpPr>
          <p:cNvPr id="50001" name="AEGIS_68">
            <a:extLst>
              <a:ext uri="{FF2B5EF4-FFF2-40B4-BE49-F238E27FC236}">
                <a16:creationId xmlns:a16="http://schemas.microsoft.com/office/drawing/2014/main" id="{27879B30-DAC0-478D-8DCD-4ED21F2BAB22}"/>
              </a:ext>
            </a:extLst>
          </p:cNvPr>
          <p:cNvSpPr>
            <a:spLocks noGrp="1"/>
          </p:cNvSpPr>
          <p:nvPr/>
        </p:nvSpPr>
        <p:spPr>
          <a:xfrm>
            <a:off x="1047750" y="2000250"/>
            <a:ext cx="10287000" cy="276225"/>
          </a:xfrm>
          <a:prstGeom prst="rect">
            <a:avLst/>
          </a:prstGeom>
          <a:noFill/>
          <a:ln w="0">
            <a:noFill/>
          </a:ln>
        </p:spPr>
        <p:txBody>
          <a:bodyPr wrap="square" lIns="0" tIns="0" rIns="0" bIns="0">
            <a:noAutofit/>
          </a:bodyPr>
          <a:lstStyle/>
          <a:p>
            <a:pPr>
              <a:defRPr sz="1725" b="0">
                <a:solidFill>
                  <a:srgbClr val="000000"/>
                </a:solidFill>
                <a:latin typeface="Arial"/>
                <a:ea typeface="Arial"/>
                <a:cs typeface="Arial"/>
              </a:defRPr>
            </a:pPr>
            <a:r>
              <a:rPr sz="1725" b="0">
                <a:solidFill>
                  <a:srgbClr val="000000"/>
                </a:solidFill>
                <a:latin typeface="Arial"/>
                <a:ea typeface="Arial"/>
                <a:cs typeface="Arial"/>
              </a:rPr>
              <a:t>Investigators will receive a prioritized receiving-VASP lead with a reviewable fund trail.</a:t>
            </a:r>
          </a:p>
        </p:txBody>
      </p:sp>
      <p:sp>
        <p:nvSpPr>
          <p:cNvPr id="50002" name="AEGIS_69">
            <a:extLst>
              <a:ext uri="{FF2B5EF4-FFF2-40B4-BE49-F238E27FC236}">
                <a16:creationId xmlns:a16="http://schemas.microsoft.com/office/drawing/2014/main" id="{84AAAC7A-D50E-4238-BF9E-91BEBAD38D55}"/>
              </a:ext>
            </a:extLst>
          </p:cNvPr>
          <p:cNvSpPr>
            <a:spLocks noGrp="1"/>
          </p:cNvSpPr>
          <p:nvPr/>
        </p:nvSpPr>
        <p:spPr>
          <a:xfrm>
            <a:off x="1047750" y="2305050"/>
            <a:ext cx="102870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Illustrative investigation</a:t>
            </a:r>
          </a:p>
        </p:txBody>
      </p:sp>
      <p:sp>
        <p:nvSpPr>
          <p:cNvPr id="50003" name="AEGIS_NODE_70">
            <a:extLst>
              <a:ext uri="{FF2B5EF4-FFF2-40B4-BE49-F238E27FC236}">
                <a16:creationId xmlns:a16="http://schemas.microsoft.com/office/drawing/2014/main" id="{C5DA3004-F97A-4385-88AC-4CBEF0C0AE8B}"/>
              </a:ext>
            </a:extLst>
          </p:cNvPr>
          <p:cNvSpPr>
            <a:spLocks noGrp="1"/>
          </p:cNvSpPr>
          <p:nvPr/>
        </p:nvSpPr>
        <p:spPr>
          <a:xfrm>
            <a:off x="1047750" y="2724150"/>
            <a:ext cx="2324100" cy="590550"/>
          </a:xfrm>
          <a:prstGeom prst="rect">
            <a:avLst/>
          </a:prstGeom>
          <a:solidFill>
            <a:srgbClr val="FFFFFF"/>
          </a:solidFill>
          <a:ln w="16193">
            <a:solidFill>
              <a:srgbClr val="1F497D"/>
            </a:solidFill>
          </a:ln>
        </p:spPr>
        <p:txBody>
          <a:bodyPr lIns="85725" tIns="66675" rIns="85725" bIns="66675" anchor="ctr"/>
          <a:lstStyle/>
          <a:p>
            <a:r>
              <a:t/>
            </a:r>
          </a:p>
        </p:txBody>
      </p:sp>
      <p:sp>
        <p:nvSpPr>
          <p:cNvPr id="50004" name="AEGIS_71">
            <a:extLst>
              <a:ext uri="{FF2B5EF4-FFF2-40B4-BE49-F238E27FC236}">
                <a16:creationId xmlns:a16="http://schemas.microsoft.com/office/drawing/2014/main" id="{E4E4C201-6A0C-413C-9441-C8223B5537A5}"/>
              </a:ext>
            </a:extLst>
          </p:cNvPr>
          <p:cNvSpPr>
            <a:spLocks noGrp="1"/>
          </p:cNvSpPr>
          <p:nvPr/>
        </p:nvSpPr>
        <p:spPr>
          <a:xfrm>
            <a:off x="1104900" y="2800350"/>
            <a:ext cx="2209800" cy="238125"/>
          </a:xfrm>
          <a:prstGeom prst="rect">
            <a:avLst/>
          </a:prstGeom>
          <a:noFill/>
          <a:ln w="0">
            <a:noFill/>
          </a:ln>
        </p:spPr>
        <p:txBody>
          <a:bodyPr wrap="square" lIns="0" tIns="0" rIns="0" bIns="0">
            <a:noAutofit/>
          </a:bodyPr>
          <a:lstStyle/>
          <a:p>
            <a:pPr>
              <a:defRPr sz="1425" b="1">
                <a:solidFill>
                  <a:srgbClr val="000000"/>
                </a:solidFill>
                <a:latin typeface="Arial"/>
                <a:ea typeface="Arial"/>
                <a:cs typeface="Arial"/>
              </a:defRPr>
            </a:pPr>
            <a:r>
              <a:rPr sz="1425" b="1">
                <a:solidFill>
                  <a:srgbClr val="000000"/>
                </a:solidFill>
                <a:latin typeface="Arial"/>
                <a:ea typeface="Arial"/>
                <a:cs typeface="Arial"/>
              </a:rPr>
              <a:t>Wallet A</a:t>
            </a:r>
          </a:p>
        </p:txBody>
      </p:sp>
      <p:sp>
        <p:nvSpPr>
          <p:cNvPr id="50005" name="AEGIS_72">
            <a:extLst>
              <a:ext uri="{FF2B5EF4-FFF2-40B4-BE49-F238E27FC236}">
                <a16:creationId xmlns:a16="http://schemas.microsoft.com/office/drawing/2014/main" id="{1E2E7A00-E95A-4B3F-AF4A-DAD844EC01E8}"/>
              </a:ext>
            </a:extLst>
          </p:cNvPr>
          <p:cNvSpPr>
            <a:spLocks noGrp="1"/>
          </p:cNvSpPr>
          <p:nvPr/>
        </p:nvSpPr>
        <p:spPr>
          <a:xfrm>
            <a:off x="1104900" y="3038475"/>
            <a:ext cx="2209800" cy="257175"/>
          </a:xfrm>
          <a:prstGeom prst="rect">
            <a:avLst/>
          </a:prstGeom>
          <a:noFill/>
          <a:ln w="0">
            <a:noFill/>
          </a:ln>
        </p:spPr>
        <p:txBody>
          <a:bodyPr wrap="square" lIns="0" tIns="0" rIns="0" bIns="0">
            <a:noAutofit/>
          </a:bodyPr>
          <a:lstStyle/>
          <a:p>
            <a:pPr>
              <a:defRPr sz="1350" b="0">
                <a:solidFill>
                  <a:srgbClr val="000000"/>
                </a:solidFill>
                <a:latin typeface="Arial"/>
                <a:ea typeface="Arial"/>
                <a:cs typeface="Arial"/>
              </a:defRPr>
            </a:pPr>
            <a:r>
              <a:rPr sz="1350" b="0">
                <a:solidFill>
                  <a:srgbClr val="000000"/>
                </a:solidFill>
                <a:latin typeface="Arial"/>
                <a:ea typeface="Arial"/>
                <a:cs typeface="Arial"/>
              </a:rPr>
              <a:t>Reported address</a:t>
            </a:r>
          </a:p>
        </p:txBody>
      </p:sp>
      <p:sp>
        <p:nvSpPr>
          <p:cNvPr id="50006" name="AEGIS_NODE_73">
            <a:extLst>
              <a:ext uri="{FF2B5EF4-FFF2-40B4-BE49-F238E27FC236}">
                <a16:creationId xmlns:a16="http://schemas.microsoft.com/office/drawing/2014/main" id="{43D0CA15-115B-413F-9001-15F5F387265F}"/>
              </a:ext>
            </a:extLst>
          </p:cNvPr>
          <p:cNvSpPr>
            <a:spLocks noGrp="1"/>
          </p:cNvSpPr>
          <p:nvPr/>
        </p:nvSpPr>
        <p:spPr>
          <a:xfrm>
            <a:off x="3724275" y="2724150"/>
            <a:ext cx="2324100" cy="590550"/>
          </a:xfrm>
          <a:prstGeom prst="rect">
            <a:avLst/>
          </a:prstGeom>
          <a:solidFill>
            <a:srgbClr val="FFFFFF"/>
          </a:solidFill>
          <a:ln w="16193">
            <a:solidFill>
              <a:srgbClr val="1F497D"/>
            </a:solidFill>
          </a:ln>
        </p:spPr>
        <p:txBody>
          <a:bodyPr lIns="85725" tIns="66675" rIns="85725" bIns="66675" anchor="ctr"/>
          <a:lstStyle/>
          <a:p>
            <a:r>
              <a:t/>
            </a:r>
          </a:p>
        </p:txBody>
      </p:sp>
      <p:sp>
        <p:nvSpPr>
          <p:cNvPr id="50007" name="AEGIS_74">
            <a:extLst>
              <a:ext uri="{FF2B5EF4-FFF2-40B4-BE49-F238E27FC236}">
                <a16:creationId xmlns:a16="http://schemas.microsoft.com/office/drawing/2014/main" id="{BC9F3646-7397-4AF1-B507-387A86560967}"/>
              </a:ext>
            </a:extLst>
          </p:cNvPr>
          <p:cNvSpPr>
            <a:spLocks noGrp="1"/>
          </p:cNvSpPr>
          <p:nvPr/>
        </p:nvSpPr>
        <p:spPr>
          <a:xfrm>
            <a:off x="3781425" y="2800350"/>
            <a:ext cx="2209800" cy="238125"/>
          </a:xfrm>
          <a:prstGeom prst="rect">
            <a:avLst/>
          </a:prstGeom>
          <a:noFill/>
          <a:ln w="0">
            <a:noFill/>
          </a:ln>
        </p:spPr>
        <p:txBody>
          <a:bodyPr wrap="square" lIns="0" tIns="0" rIns="0" bIns="0">
            <a:noAutofit/>
          </a:bodyPr>
          <a:lstStyle/>
          <a:p>
            <a:pPr>
              <a:defRPr sz="1425" b="1">
                <a:solidFill>
                  <a:srgbClr val="000000"/>
                </a:solidFill>
                <a:latin typeface="Arial"/>
                <a:ea typeface="Arial"/>
                <a:cs typeface="Arial"/>
              </a:defRPr>
            </a:pPr>
            <a:r>
              <a:rPr sz="1425" b="1">
                <a:solidFill>
                  <a:srgbClr val="000000"/>
                </a:solidFill>
                <a:latin typeface="Arial"/>
                <a:ea typeface="Arial"/>
                <a:cs typeface="Arial"/>
              </a:rPr>
              <a:t>Wallet B</a:t>
            </a:r>
          </a:p>
        </p:txBody>
      </p:sp>
      <p:sp>
        <p:nvSpPr>
          <p:cNvPr id="50008" name="AEGIS_75">
            <a:extLst>
              <a:ext uri="{FF2B5EF4-FFF2-40B4-BE49-F238E27FC236}">
                <a16:creationId xmlns:a16="http://schemas.microsoft.com/office/drawing/2014/main" id="{EFE455AD-AB0C-4D29-8179-261B7649D91C}"/>
              </a:ext>
            </a:extLst>
          </p:cNvPr>
          <p:cNvSpPr>
            <a:spLocks noGrp="1"/>
          </p:cNvSpPr>
          <p:nvPr/>
        </p:nvSpPr>
        <p:spPr>
          <a:xfrm>
            <a:off x="3781425" y="3038475"/>
            <a:ext cx="2209800" cy="257175"/>
          </a:xfrm>
          <a:prstGeom prst="rect">
            <a:avLst/>
          </a:prstGeom>
          <a:noFill/>
          <a:ln w="0">
            <a:noFill/>
          </a:ln>
        </p:spPr>
        <p:txBody>
          <a:bodyPr wrap="square" lIns="0" tIns="0" rIns="0" bIns="0">
            <a:noAutofit/>
          </a:bodyPr>
          <a:lstStyle/>
          <a:p>
            <a:pPr>
              <a:defRPr sz="1350" b="0">
                <a:solidFill>
                  <a:srgbClr val="000000"/>
                </a:solidFill>
                <a:latin typeface="Arial"/>
                <a:ea typeface="Arial"/>
                <a:cs typeface="Arial"/>
              </a:defRPr>
            </a:pPr>
            <a:r>
              <a:rPr sz="1350" b="0">
                <a:solidFill>
                  <a:srgbClr val="000000"/>
                </a:solidFill>
                <a:latin typeface="Arial"/>
                <a:ea typeface="Arial"/>
                <a:cs typeface="Arial"/>
              </a:rPr>
              <a:t>Intermediary</a:t>
            </a:r>
          </a:p>
        </p:txBody>
      </p:sp>
      <p:sp>
        <p:nvSpPr>
          <p:cNvPr id="50009" name="AEGIS_NODE_76">
            <a:extLst>
              <a:ext uri="{FF2B5EF4-FFF2-40B4-BE49-F238E27FC236}">
                <a16:creationId xmlns:a16="http://schemas.microsoft.com/office/drawing/2014/main" id="{614744BE-8934-4548-BEB6-61D770A806A1}"/>
              </a:ext>
            </a:extLst>
          </p:cNvPr>
          <p:cNvSpPr>
            <a:spLocks noGrp="1"/>
          </p:cNvSpPr>
          <p:nvPr/>
        </p:nvSpPr>
        <p:spPr>
          <a:xfrm>
            <a:off x="6400800" y="2724150"/>
            <a:ext cx="2324100" cy="590550"/>
          </a:xfrm>
          <a:prstGeom prst="rect">
            <a:avLst/>
          </a:prstGeom>
          <a:solidFill>
            <a:srgbClr val="FFFFFF"/>
          </a:solidFill>
          <a:ln w="16193">
            <a:solidFill>
              <a:srgbClr val="1F497D"/>
            </a:solidFill>
          </a:ln>
        </p:spPr>
        <p:txBody>
          <a:bodyPr lIns="85725" tIns="66675" rIns="85725" bIns="66675" anchor="ctr"/>
          <a:lstStyle/>
          <a:p>
            <a:r>
              <a:t/>
            </a:r>
          </a:p>
        </p:txBody>
      </p:sp>
      <p:sp>
        <p:nvSpPr>
          <p:cNvPr id="50010" name="AEGIS_77">
            <a:extLst>
              <a:ext uri="{FF2B5EF4-FFF2-40B4-BE49-F238E27FC236}">
                <a16:creationId xmlns:a16="http://schemas.microsoft.com/office/drawing/2014/main" id="{EA7A12F6-2B45-4A13-B609-BEBEAB10CCF8}"/>
              </a:ext>
            </a:extLst>
          </p:cNvPr>
          <p:cNvSpPr>
            <a:spLocks noGrp="1"/>
          </p:cNvSpPr>
          <p:nvPr/>
        </p:nvSpPr>
        <p:spPr>
          <a:xfrm>
            <a:off x="6457950" y="2800350"/>
            <a:ext cx="2209800" cy="238125"/>
          </a:xfrm>
          <a:prstGeom prst="rect">
            <a:avLst/>
          </a:prstGeom>
          <a:noFill/>
          <a:ln w="0">
            <a:noFill/>
          </a:ln>
        </p:spPr>
        <p:txBody>
          <a:bodyPr wrap="square" lIns="0" tIns="0" rIns="0" bIns="0">
            <a:noAutofit/>
          </a:bodyPr>
          <a:lstStyle/>
          <a:p>
            <a:pPr>
              <a:defRPr sz="1425" b="1">
                <a:solidFill>
                  <a:srgbClr val="000000"/>
                </a:solidFill>
                <a:latin typeface="Arial"/>
                <a:ea typeface="Arial"/>
                <a:cs typeface="Arial"/>
              </a:defRPr>
            </a:pPr>
            <a:r>
              <a:rPr sz="1425" b="1">
                <a:solidFill>
                  <a:srgbClr val="000000"/>
                </a:solidFill>
                <a:latin typeface="Arial"/>
                <a:ea typeface="Arial"/>
                <a:cs typeface="Arial"/>
              </a:rPr>
              <a:t>Deposit address</a:t>
            </a:r>
          </a:p>
        </p:txBody>
      </p:sp>
      <p:sp>
        <p:nvSpPr>
          <p:cNvPr id="50011" name="AEGIS_78">
            <a:extLst>
              <a:ext uri="{FF2B5EF4-FFF2-40B4-BE49-F238E27FC236}">
                <a16:creationId xmlns:a16="http://schemas.microsoft.com/office/drawing/2014/main" id="{A2FF6814-4574-4898-B3F8-997B5FE377E8}"/>
              </a:ext>
            </a:extLst>
          </p:cNvPr>
          <p:cNvSpPr>
            <a:spLocks noGrp="1"/>
          </p:cNvSpPr>
          <p:nvPr/>
        </p:nvSpPr>
        <p:spPr>
          <a:xfrm>
            <a:off x="6457950" y="3038475"/>
            <a:ext cx="2209800" cy="257175"/>
          </a:xfrm>
          <a:prstGeom prst="rect">
            <a:avLst/>
          </a:prstGeom>
          <a:noFill/>
          <a:ln w="0">
            <a:noFill/>
          </a:ln>
        </p:spPr>
        <p:txBody>
          <a:bodyPr wrap="square" lIns="0" tIns="0" rIns="0" bIns="0">
            <a:noAutofit/>
          </a:bodyPr>
          <a:lstStyle/>
          <a:p>
            <a:pPr>
              <a:defRPr sz="1350" b="0">
                <a:solidFill>
                  <a:srgbClr val="000000"/>
                </a:solidFill>
                <a:latin typeface="Arial"/>
                <a:ea typeface="Arial"/>
                <a:cs typeface="Arial"/>
              </a:defRPr>
            </a:pPr>
            <a:r>
              <a:rPr sz="1350" b="0">
                <a:solidFill>
                  <a:srgbClr val="000000"/>
                </a:solidFill>
                <a:latin typeface="Arial"/>
                <a:ea typeface="Arial"/>
                <a:cs typeface="Arial"/>
              </a:rPr>
              <a:t>Sourced VASP label</a:t>
            </a:r>
          </a:p>
        </p:txBody>
      </p:sp>
      <p:sp>
        <p:nvSpPr>
          <p:cNvPr id="50012" name="AEGIS_NODE_79">
            <a:extLst>
              <a:ext uri="{FF2B5EF4-FFF2-40B4-BE49-F238E27FC236}">
                <a16:creationId xmlns:a16="http://schemas.microsoft.com/office/drawing/2014/main" id="{1A6A4403-6F63-430B-ADFD-EEA214E4AF57}"/>
              </a:ext>
            </a:extLst>
          </p:cNvPr>
          <p:cNvSpPr>
            <a:spLocks noGrp="1"/>
          </p:cNvSpPr>
          <p:nvPr/>
        </p:nvSpPr>
        <p:spPr>
          <a:xfrm>
            <a:off x="9077325" y="2724150"/>
            <a:ext cx="2324100" cy="590550"/>
          </a:xfrm>
          <a:prstGeom prst="rect">
            <a:avLst/>
          </a:prstGeom>
          <a:solidFill>
            <a:srgbClr val="FFFFFF"/>
          </a:solidFill>
          <a:ln w="16193">
            <a:solidFill>
              <a:srgbClr val="1F497D"/>
            </a:solidFill>
          </a:ln>
        </p:spPr>
        <p:txBody>
          <a:bodyPr lIns="85725" tIns="66675" rIns="85725" bIns="66675" anchor="ctr"/>
          <a:lstStyle/>
          <a:p>
            <a:r>
              <a:t/>
            </a:r>
          </a:p>
        </p:txBody>
      </p:sp>
      <p:sp>
        <p:nvSpPr>
          <p:cNvPr id="50013" name="AEGIS_80">
            <a:extLst>
              <a:ext uri="{FF2B5EF4-FFF2-40B4-BE49-F238E27FC236}">
                <a16:creationId xmlns:a16="http://schemas.microsoft.com/office/drawing/2014/main" id="{D7B44EA1-4F34-4D09-8819-BBFAB10B2281}"/>
              </a:ext>
            </a:extLst>
          </p:cNvPr>
          <p:cNvSpPr>
            <a:spLocks noGrp="1"/>
          </p:cNvSpPr>
          <p:nvPr/>
        </p:nvSpPr>
        <p:spPr>
          <a:xfrm>
            <a:off x="9134475" y="2800350"/>
            <a:ext cx="2209800" cy="238125"/>
          </a:xfrm>
          <a:prstGeom prst="rect">
            <a:avLst/>
          </a:prstGeom>
          <a:noFill/>
          <a:ln w="0">
            <a:noFill/>
          </a:ln>
        </p:spPr>
        <p:txBody>
          <a:bodyPr wrap="square" lIns="0" tIns="0" rIns="0" bIns="0">
            <a:noAutofit/>
          </a:bodyPr>
          <a:lstStyle/>
          <a:p>
            <a:pPr>
              <a:defRPr sz="1425" b="1">
                <a:solidFill>
                  <a:srgbClr val="000000"/>
                </a:solidFill>
                <a:latin typeface="Arial"/>
                <a:ea typeface="Arial"/>
                <a:cs typeface="Arial"/>
              </a:defRPr>
            </a:pPr>
            <a:r>
              <a:rPr sz="1425" b="1">
                <a:solidFill>
                  <a:srgbClr val="000000"/>
                </a:solidFill>
                <a:latin typeface="Arial"/>
                <a:ea typeface="Arial"/>
                <a:cs typeface="Arial"/>
              </a:rPr>
              <a:t>VASP X</a:t>
            </a:r>
          </a:p>
        </p:txBody>
      </p:sp>
      <p:sp>
        <p:nvSpPr>
          <p:cNvPr id="50014" name="AEGIS_81">
            <a:extLst>
              <a:ext uri="{FF2B5EF4-FFF2-40B4-BE49-F238E27FC236}">
                <a16:creationId xmlns:a16="http://schemas.microsoft.com/office/drawing/2014/main" id="{2201D1D1-7B4D-46D4-B782-B84C9626D8B3}"/>
              </a:ext>
            </a:extLst>
          </p:cNvPr>
          <p:cNvSpPr>
            <a:spLocks noGrp="1"/>
          </p:cNvSpPr>
          <p:nvPr/>
        </p:nvSpPr>
        <p:spPr>
          <a:xfrm>
            <a:off x="9134475" y="3038475"/>
            <a:ext cx="2209800" cy="257175"/>
          </a:xfrm>
          <a:prstGeom prst="rect">
            <a:avLst/>
          </a:prstGeom>
          <a:noFill/>
          <a:ln w="0">
            <a:noFill/>
          </a:ln>
        </p:spPr>
        <p:txBody>
          <a:bodyPr wrap="square" lIns="0" tIns="0" rIns="0" bIns="0">
            <a:noAutofit/>
          </a:bodyPr>
          <a:lstStyle/>
          <a:p>
            <a:pPr>
              <a:defRPr sz="1350" b="0">
                <a:solidFill>
                  <a:srgbClr val="000000"/>
                </a:solidFill>
                <a:latin typeface="Arial"/>
                <a:ea typeface="Arial"/>
                <a:cs typeface="Arial"/>
              </a:defRPr>
            </a:pPr>
            <a:r>
              <a:rPr sz="1350" b="0">
                <a:solidFill>
                  <a:srgbClr val="000000"/>
                </a:solidFill>
                <a:latin typeface="Arial"/>
                <a:ea typeface="Arial"/>
                <a:cs typeface="Arial"/>
              </a:rPr>
              <a:t>Receiving candidate</a:t>
            </a:r>
          </a:p>
        </p:txBody>
      </p:sp>
      <p:cxnSp>
        <p:nvCxnSpPr>
          <p:cNvPr id="50015" name="AEGIS_LINK_82"/>
          <p:cNvCxnSpPr>
            <a:stCxn id="50003" idx="3"/>
            <a:endCxn id="50006" idx="1"/>
          </p:cNvCxnSpPr>
          <p:nvPr/>
        </p:nvCxnSpPr>
        <p:spPr>
          <a:xfrm>
            <a:off x="3371850" y="3019425"/>
            <a:ext cx="352425" cy="0"/>
          </a:xfrm>
          <a:prstGeom prst="straightConnector1">
            <a:avLst/>
          </a:prstGeom>
          <a:ln w="23813">
            <a:solidFill>
              <a:srgbClr val="1F497D"/>
            </a:solidFill>
            <a:prstDash val="solid"/>
            <a:tailEnd type="triangle" w="med" len="med"/>
          </a:ln>
        </p:spPr>
      </p:cxnSp>
      <p:cxnSp>
        <p:nvCxnSpPr>
          <p:cNvPr id="50016" name="AEGIS_LINK_83"/>
          <p:cNvCxnSpPr>
            <a:stCxn id="50006" idx="3"/>
            <a:endCxn id="50009" idx="1"/>
          </p:cNvCxnSpPr>
          <p:nvPr/>
        </p:nvCxnSpPr>
        <p:spPr>
          <a:xfrm>
            <a:off x="6048375" y="3019425"/>
            <a:ext cx="352425" cy="0"/>
          </a:xfrm>
          <a:prstGeom prst="straightConnector1">
            <a:avLst/>
          </a:prstGeom>
          <a:ln w="23813">
            <a:solidFill>
              <a:srgbClr val="1F497D"/>
            </a:solidFill>
            <a:prstDash val="solid"/>
            <a:tailEnd type="triangle" w="med" len="med"/>
          </a:ln>
        </p:spPr>
      </p:cxnSp>
      <p:cxnSp>
        <p:nvCxnSpPr>
          <p:cNvPr id="50017" name="AEGIS_LINK_84"/>
          <p:cNvCxnSpPr>
            <a:stCxn id="50009" idx="3"/>
            <a:endCxn id="50012" idx="1"/>
          </p:cNvCxnSpPr>
          <p:nvPr/>
        </p:nvCxnSpPr>
        <p:spPr>
          <a:xfrm>
            <a:off x="8724900" y="3019425"/>
            <a:ext cx="352425" cy="0"/>
          </a:xfrm>
          <a:prstGeom prst="straightConnector1">
            <a:avLst/>
          </a:prstGeom>
          <a:ln w="23813">
            <a:solidFill>
              <a:srgbClr val="1F497D"/>
            </a:solidFill>
            <a:prstDash val="dash"/>
            <a:tailEnd type="triangle" w="med" len="med"/>
          </a:ln>
        </p:spPr>
      </p:cxnSp>
      <p:sp>
        <p:nvSpPr>
          <p:cNvPr id="50018" name="AEGIS_85">
            <a:extLst>
              <a:ext uri="{FF2B5EF4-FFF2-40B4-BE49-F238E27FC236}">
                <a16:creationId xmlns:a16="http://schemas.microsoft.com/office/drawing/2014/main" id="{8ECFB797-9212-458C-B7CD-AA1E37A604CD}"/>
              </a:ext>
            </a:extLst>
          </p:cNvPr>
          <p:cNvSpPr>
            <a:spLocks noGrp="1"/>
          </p:cNvSpPr>
          <p:nvPr/>
        </p:nvSpPr>
        <p:spPr>
          <a:xfrm>
            <a:off x="3000375" y="2524125"/>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Transaction 1</a:t>
            </a:r>
          </a:p>
        </p:txBody>
      </p:sp>
      <p:sp>
        <p:nvSpPr>
          <p:cNvPr id="50019" name="AEGIS_86">
            <a:extLst>
              <a:ext uri="{FF2B5EF4-FFF2-40B4-BE49-F238E27FC236}">
                <a16:creationId xmlns:a16="http://schemas.microsoft.com/office/drawing/2014/main" id="{9AE8C2F1-418E-4AE9-8557-A7CBD61EC02C}"/>
              </a:ext>
            </a:extLst>
          </p:cNvPr>
          <p:cNvSpPr>
            <a:spLocks noGrp="1"/>
          </p:cNvSpPr>
          <p:nvPr/>
        </p:nvSpPr>
        <p:spPr>
          <a:xfrm>
            <a:off x="5676900" y="2524125"/>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Transaction 2</a:t>
            </a:r>
          </a:p>
        </p:txBody>
      </p:sp>
      <p:sp>
        <p:nvSpPr>
          <p:cNvPr id="50020" name="AEGIS_87">
            <a:extLst>
              <a:ext uri="{FF2B5EF4-FFF2-40B4-BE49-F238E27FC236}">
                <a16:creationId xmlns:a16="http://schemas.microsoft.com/office/drawing/2014/main" id="{F28420F9-B9E8-4BB4-992C-5825329A0B4F}"/>
              </a:ext>
            </a:extLst>
          </p:cNvPr>
          <p:cNvSpPr>
            <a:spLocks noGrp="1"/>
          </p:cNvSpPr>
          <p:nvPr/>
        </p:nvSpPr>
        <p:spPr>
          <a:xfrm>
            <a:off x="8505825" y="2524125"/>
            <a:ext cx="1428750" cy="20002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Attribution</a:t>
            </a:r>
          </a:p>
        </p:txBody>
      </p:sp>
      <p:sp>
        <p:nvSpPr>
          <p:cNvPr id="50021" name="AEGIS_88">
            <a:extLst>
              <a:ext uri="{FF2B5EF4-FFF2-40B4-BE49-F238E27FC236}">
                <a16:creationId xmlns:a16="http://schemas.microsoft.com/office/drawing/2014/main" id="{296378F0-7CB7-4DCD-822E-B63C7F4AB638}"/>
              </a:ext>
            </a:extLst>
          </p:cNvPr>
          <p:cNvSpPr>
            <a:spLocks noGrp="1"/>
          </p:cNvSpPr>
          <p:nvPr/>
        </p:nvSpPr>
        <p:spPr>
          <a:xfrm>
            <a:off x="1047750" y="3409950"/>
            <a:ext cx="12382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Finding</a:t>
            </a:r>
          </a:p>
        </p:txBody>
      </p:sp>
      <p:sp>
        <p:nvSpPr>
          <p:cNvPr id="50022" name="AEGIS_89">
            <a:extLst>
              <a:ext uri="{FF2B5EF4-FFF2-40B4-BE49-F238E27FC236}">
                <a16:creationId xmlns:a16="http://schemas.microsoft.com/office/drawing/2014/main" id="{160058CD-699D-4308-A369-AA783B8CFBCA}"/>
              </a:ext>
            </a:extLst>
          </p:cNvPr>
          <p:cNvSpPr>
            <a:spLocks noGrp="1"/>
          </p:cNvSpPr>
          <p:nvPr/>
        </p:nvSpPr>
        <p:spPr>
          <a:xfrm>
            <a:off x="2371725" y="3409950"/>
            <a:ext cx="9191625" cy="23812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Two-hop path, transaction IDs, amounts, timestamps and label source.</a:t>
            </a:r>
          </a:p>
        </p:txBody>
      </p:sp>
      <p:sp>
        <p:nvSpPr>
          <p:cNvPr id="50023" name="AEGIS_90">
            <a:extLst>
              <a:ext uri="{FF2B5EF4-FFF2-40B4-BE49-F238E27FC236}">
                <a16:creationId xmlns:a16="http://schemas.microsoft.com/office/drawing/2014/main" id="{78C23557-3049-43B6-8A82-F63E7655754D}"/>
              </a:ext>
            </a:extLst>
          </p:cNvPr>
          <p:cNvSpPr>
            <a:spLocks noGrp="1"/>
          </p:cNvSpPr>
          <p:nvPr/>
        </p:nvSpPr>
        <p:spPr>
          <a:xfrm>
            <a:off x="1047750" y="3714750"/>
            <a:ext cx="1238250" cy="238125"/>
          </a:xfrm>
          <a:prstGeom prst="rect">
            <a:avLst/>
          </a:prstGeom>
          <a:noFill/>
          <a:ln w="0">
            <a:noFill/>
          </a:ln>
        </p:spPr>
        <p:txBody>
          <a:bodyPr wrap="square" lIns="0" tIns="0" rIns="0" bIns="0">
            <a:noAutofit/>
          </a:bodyPr>
          <a:lstStyle/>
          <a:p>
            <a:pPr>
              <a:defRPr sz="1575" b="1">
                <a:solidFill>
                  <a:srgbClr val="000000"/>
                </a:solidFill>
                <a:latin typeface="Arial"/>
                <a:ea typeface="Arial"/>
                <a:cs typeface="Arial"/>
              </a:defRPr>
            </a:pPr>
            <a:r>
              <a:rPr sz="1575" b="1">
                <a:solidFill>
                  <a:srgbClr val="000000"/>
                </a:solidFill>
                <a:latin typeface="Arial"/>
                <a:ea typeface="Arial"/>
                <a:cs typeface="Arial"/>
              </a:rPr>
              <a:t>Next action</a:t>
            </a:r>
          </a:p>
        </p:txBody>
      </p:sp>
      <p:sp>
        <p:nvSpPr>
          <p:cNvPr id="50024" name="AEGIS_91">
            <a:extLst>
              <a:ext uri="{FF2B5EF4-FFF2-40B4-BE49-F238E27FC236}">
                <a16:creationId xmlns:a16="http://schemas.microsoft.com/office/drawing/2014/main" id="{9CB95F1D-057C-4B63-B90C-4D15DD1A387B}"/>
              </a:ext>
            </a:extLst>
          </p:cNvPr>
          <p:cNvSpPr>
            <a:spLocks noGrp="1"/>
          </p:cNvSpPr>
          <p:nvPr/>
        </p:nvSpPr>
        <p:spPr>
          <a:xfrm>
            <a:off x="2371725" y="3714750"/>
            <a:ext cx="9191625" cy="238125"/>
          </a:xfrm>
          <a:prstGeom prst="rect">
            <a:avLst/>
          </a:prstGeom>
          <a:noFill/>
          <a:ln w="0">
            <a:noFill/>
          </a:ln>
        </p:spPr>
        <p:txBody>
          <a:bodyPr wrap="square" lIns="0" tIns="0" rIns="0" bIns="0">
            <a:noAutofit/>
          </a:bodyPr>
          <a:lstStyle/>
          <a:p>
            <a:pPr>
              <a:defRPr sz="1575" b="0">
                <a:solidFill>
                  <a:srgbClr val="000000"/>
                </a:solidFill>
                <a:latin typeface="Arial"/>
                <a:ea typeface="Arial"/>
                <a:cs typeface="Arial"/>
              </a:defRPr>
            </a:pPr>
            <a:r>
              <a:rPr sz="1575" b="0">
                <a:solidFill>
                  <a:srgbClr val="000000"/>
                </a:solidFill>
                <a:latin typeface="Arial"/>
                <a:ea typeface="Arial"/>
                <a:cs typeface="Arial"/>
              </a:rPr>
              <a:t>Investigator reviews the lead and prepares a VASP preservation request.</a:t>
            </a:r>
          </a:p>
        </p:txBody>
      </p:sp>
      <p:sp>
        <p:nvSpPr>
          <p:cNvPr id="50025" name="AEGIS_92">
            <a:extLst>
              <a:ext uri="{FF2B5EF4-FFF2-40B4-BE49-F238E27FC236}">
                <a16:creationId xmlns:a16="http://schemas.microsoft.com/office/drawing/2014/main" id="{F2082BA7-837E-4EF2-A53C-B5C84E0C36BF}"/>
              </a:ext>
            </a:extLst>
          </p:cNvPr>
          <p:cNvSpPr>
            <a:spLocks noGrp="1"/>
          </p:cNvSpPr>
          <p:nvPr/>
        </p:nvSpPr>
        <p:spPr>
          <a:xfrm>
            <a:off x="1047750" y="4010025"/>
            <a:ext cx="10477500" cy="228600"/>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a:solidFill>
                  <a:srgbClr val="000000"/>
                </a:solidFill>
                <a:latin typeface="Arial"/>
                <a:ea typeface="Arial"/>
                <a:cs typeface="Arial"/>
              </a:rPr>
              <a:t>Fictional illustration. Transaction paths alone do not prove exact fund continuity or wrongdoing.</a:t>
            </a:r>
          </a:p>
        </p:txBody>
      </p:sp>
      <p:sp>
        <p:nvSpPr>
          <p:cNvPr id="50026" name="AEGIS_PROMPT_1">
            <a:extLst>
              <a:ext uri="{FF2B5EF4-FFF2-40B4-BE49-F238E27FC236}">
                <a16:creationId xmlns:a16="http://schemas.microsoft.com/office/drawing/2014/main" id="{B7A554B2-7EA8-48F0-AA76-C8B06CD2B62D}"/>
              </a:ext>
            </a:extLst>
          </p:cNvPr>
          <p:cNvSpPr>
            <a:spLocks noGrp="1"/>
          </p:cNvSpPr>
          <p:nvPr/>
        </p:nvSpPr>
        <p:spPr>
          <a:xfrm>
            <a:off x="609600" y="4257675"/>
            <a:ext cx="9385300" cy="847725"/>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Benefits of the solution (social, economic, environmental, etc.)</a:t>
            </a:r>
          </a:p>
        </p:txBody>
      </p:sp>
      <p:sp>
        <p:nvSpPr>
          <p:cNvPr id="50027" name="AEGIS_93">
            <a:extLst>
              <a:ext uri="{FF2B5EF4-FFF2-40B4-BE49-F238E27FC236}">
                <a16:creationId xmlns:a16="http://schemas.microsoft.com/office/drawing/2014/main" id="{6F2AA7DE-5071-4000-A0C9-AB8BE40CA5E9}"/>
              </a:ext>
            </a:extLst>
          </p:cNvPr>
          <p:cNvSpPr>
            <a:spLocks noGrp="1"/>
          </p:cNvSpPr>
          <p:nvPr/>
        </p:nvSpPr>
        <p:spPr>
          <a:xfrm>
            <a:off x="1047750" y="51435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Social</a:t>
            </a:r>
          </a:p>
        </p:txBody>
      </p:sp>
      <p:sp>
        <p:nvSpPr>
          <p:cNvPr id="50028" name="AEGIS_94">
            <a:extLst>
              <a:ext uri="{FF2B5EF4-FFF2-40B4-BE49-F238E27FC236}">
                <a16:creationId xmlns:a16="http://schemas.microsoft.com/office/drawing/2014/main" id="{FAD9D8E0-8D85-44EC-99E9-1ED186E5309B}"/>
              </a:ext>
            </a:extLst>
          </p:cNvPr>
          <p:cNvSpPr>
            <a:spLocks noGrp="1"/>
          </p:cNvSpPr>
          <p:nvPr/>
        </p:nvSpPr>
        <p:spPr>
          <a:xfrm>
            <a:off x="1047750" y="5448300"/>
            <a:ext cx="3333750" cy="86677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Help investigators act sooner on victim reports and identify potential intervention points. Make complex fund trails understandable without requiring specialist blockchain expertise.</a:t>
            </a:r>
          </a:p>
        </p:txBody>
      </p:sp>
      <p:sp>
        <p:nvSpPr>
          <p:cNvPr id="50029" name="AEGIS_95">
            <a:extLst>
              <a:ext uri="{FF2B5EF4-FFF2-40B4-BE49-F238E27FC236}">
                <a16:creationId xmlns:a16="http://schemas.microsoft.com/office/drawing/2014/main" id="{59B1389B-6FAA-4463-A1E5-4F6806CF1516}"/>
              </a:ext>
            </a:extLst>
          </p:cNvPr>
          <p:cNvSpPr>
            <a:spLocks noGrp="1"/>
          </p:cNvSpPr>
          <p:nvPr/>
        </p:nvSpPr>
        <p:spPr>
          <a:xfrm>
            <a:off x="4600575" y="51435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Economic</a:t>
            </a:r>
          </a:p>
        </p:txBody>
      </p:sp>
      <p:sp>
        <p:nvSpPr>
          <p:cNvPr id="50030" name="AEGIS_96">
            <a:extLst>
              <a:ext uri="{FF2B5EF4-FFF2-40B4-BE49-F238E27FC236}">
                <a16:creationId xmlns:a16="http://schemas.microsoft.com/office/drawing/2014/main" id="{66028006-955C-46B0-A7B2-5C0AB7B546B5}"/>
              </a:ext>
            </a:extLst>
          </p:cNvPr>
          <p:cNvSpPr>
            <a:spLocks noGrp="1"/>
          </p:cNvSpPr>
          <p:nvPr/>
        </p:nvSpPr>
        <p:spPr>
          <a:xfrm>
            <a:off x="4600575" y="5448300"/>
            <a:ext cx="3333750" cy="86677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Reduce repeated transaction lookups and manual report preparation. Prioritize actionable leads so investigators can focus limited time on review and response.</a:t>
            </a:r>
          </a:p>
        </p:txBody>
      </p:sp>
      <p:sp>
        <p:nvSpPr>
          <p:cNvPr id="50031" name="AEGIS_97">
            <a:extLst>
              <a:ext uri="{FF2B5EF4-FFF2-40B4-BE49-F238E27FC236}">
                <a16:creationId xmlns:a16="http://schemas.microsoft.com/office/drawing/2014/main" id="{C200D663-2210-49C6-BFAE-4CB24856D0C6}"/>
              </a:ext>
            </a:extLst>
          </p:cNvPr>
          <p:cNvSpPr>
            <a:spLocks noGrp="1"/>
          </p:cNvSpPr>
          <p:nvPr/>
        </p:nvSpPr>
        <p:spPr>
          <a:xfrm>
            <a:off x="8248650" y="5143500"/>
            <a:ext cx="3238500" cy="257175"/>
          </a:xfrm>
          <a:prstGeom prst="rect">
            <a:avLst/>
          </a:prstGeom>
          <a:noFill/>
          <a:ln w="0">
            <a:noFill/>
          </a:ln>
        </p:spPr>
        <p:txBody>
          <a:bodyPr wrap="square" lIns="0" tIns="0" rIns="0" bIns="0">
            <a:noAutofit/>
          </a:bodyPr>
          <a:lstStyle/>
          <a:p>
            <a:pPr>
              <a:defRPr sz="1650" b="1">
                <a:solidFill>
                  <a:srgbClr val="000000"/>
                </a:solidFill>
                <a:latin typeface="Arial"/>
                <a:ea typeface="Arial"/>
                <a:cs typeface="Arial"/>
              </a:defRPr>
            </a:pPr>
            <a:r>
              <a:rPr sz="1650" b="1">
                <a:solidFill>
                  <a:srgbClr val="000000"/>
                </a:solidFill>
                <a:latin typeface="Arial"/>
                <a:ea typeface="Arial"/>
                <a:cs typeface="Arial"/>
              </a:rPr>
              <a:t>Operational</a:t>
            </a:r>
          </a:p>
        </p:txBody>
      </p:sp>
      <p:sp>
        <p:nvSpPr>
          <p:cNvPr id="50032" name="AEGIS_98">
            <a:extLst>
              <a:ext uri="{FF2B5EF4-FFF2-40B4-BE49-F238E27FC236}">
                <a16:creationId xmlns:a16="http://schemas.microsoft.com/office/drawing/2014/main" id="{A8603B10-7360-454E-B222-ABBCA9C7F0D0}"/>
              </a:ext>
            </a:extLst>
          </p:cNvPr>
          <p:cNvSpPr>
            <a:spLocks noGrp="1"/>
          </p:cNvSpPr>
          <p:nvPr/>
        </p:nvSpPr>
        <p:spPr>
          <a:xfrm>
            <a:off x="8248650" y="5448300"/>
            <a:ext cx="3333750" cy="866775"/>
          </a:xfrm>
          <a:prstGeom prst="rect">
            <a:avLst/>
          </a:prstGeom>
          <a:noFill/>
          <a:ln w="0">
            <a:noFill/>
          </a:ln>
        </p:spPr>
        <p:txBody>
          <a:bodyPr wrap="square" lIns="0" tIns="0" rIns="0" bIns="0">
            <a:noAutofit/>
          </a:bodyPr>
          <a:lstStyle/>
          <a:p>
            <a:pPr>
              <a:defRPr sz="1275" b="0">
                <a:solidFill>
                  <a:srgbClr val="000000"/>
                </a:solidFill>
                <a:latin typeface="Arial"/>
                <a:ea typeface="Arial"/>
                <a:cs typeface="Arial"/>
              </a:defRPr>
            </a:pPr>
            <a:r>
              <a:rPr sz="1275" b="0">
                <a:solidFill>
                  <a:srgbClr val="000000"/>
                </a:solidFill>
                <a:latin typeface="Arial"/>
                <a:ea typeface="Arial"/>
                <a:cs typeface="Arial"/>
              </a:rPr>
              <a:t>Standardize investigation reports and VASP coordination. Preserve transaction references, label sources and analysis history so findings can be reviewed and handed between teams.</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a:t>COLD COFFEE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50000" name="AEGIS_PROMPT_0">
            <a:extLst>
              <a:ext uri="{FF2B5EF4-FFF2-40B4-BE49-F238E27FC236}">
                <a16:creationId xmlns:a16="http://schemas.microsoft.com/office/drawing/2014/main" id="{D6C714D8-37EC-4CEA-96EF-7616C7903C4B}"/>
              </a:ext>
            </a:extLst>
          </p:cNvPr>
          <p:cNvSpPr>
            <a:spLocks noGrp="1"/>
          </p:cNvSpPr>
          <p:nvPr/>
        </p:nvSpPr>
        <p:spPr>
          <a:xfrm>
            <a:off x="609600" y="1714500"/>
            <a:ext cx="9385300" cy="466725"/>
          </a:xfrm>
          <a:prstGeom prst="rect">
            <a:avLst/>
          </a:prstGeom>
          <a:noFill/>
          <a:ln w="0">
            <a:noFill/>
          </a:ln>
        </p:spPr>
        <p:txBody>
          <a:bodyPr wrap="square" lIns="91440" tIns="0" rIns="91440" bIns="0">
            <a:no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50001" name="AEGIS_99">
            <a:extLst>
              <a:ext uri="{FF2B5EF4-FFF2-40B4-BE49-F238E27FC236}">
                <a16:creationId xmlns:a16="http://schemas.microsoft.com/office/drawing/2014/main" id="{C2A3328B-CDCD-4F8F-8410-5CDB3A57C1C5}"/>
              </a:ext>
            </a:extLst>
          </p:cNvPr>
          <p:cNvSpPr>
            <a:spLocks noGrp="1"/>
          </p:cNvSpPr>
          <p:nvPr/>
        </p:nvSpPr>
        <p:spPr>
          <a:xfrm>
            <a:off x="1047750" y="24098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Address clustering</a:t>
            </a:r>
          </a:p>
        </p:txBody>
      </p:sp>
      <p:sp>
        <p:nvSpPr>
          <p:cNvPr id="50002" name="AEGIS_100">
            <a:extLst>
              <a:ext uri="{FF2B5EF4-FFF2-40B4-BE49-F238E27FC236}">
                <a16:creationId xmlns:a16="http://schemas.microsoft.com/office/drawing/2014/main" id="{2FBECE48-1162-4CE6-9693-C86ED2C759A5}"/>
              </a:ext>
            </a:extLst>
          </p:cNvPr>
          <p:cNvSpPr>
            <a:spLocks noGrp="1"/>
          </p:cNvSpPr>
          <p:nvPr/>
        </p:nvSpPr>
        <p:spPr>
          <a:xfrm>
            <a:off x="3190875" y="24098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Meiklejohn et al. (2013), A Fistful of Bitcoins: Characterizing Payments Among Men with No Names.</a:t>
            </a:r>
          </a:p>
        </p:txBody>
      </p:sp>
      <p:sp>
        <p:nvSpPr>
          <p:cNvPr id="50003" name="AEGIS_101">
            <a:extLst>
              <a:ext uri="{FF2B5EF4-FFF2-40B4-BE49-F238E27FC236}">
                <a16:creationId xmlns:a16="http://schemas.microsoft.com/office/drawing/2014/main" id="{20F00571-6C0D-4C48-8FC8-C5E4DF2F256B}"/>
              </a:ext>
            </a:extLst>
          </p:cNvPr>
          <p:cNvSpPr>
            <a:spLocks noGrp="1"/>
          </p:cNvSpPr>
          <p:nvPr/>
        </p:nvSpPr>
        <p:spPr>
          <a:xfrm>
            <a:off x="3190875" y="28194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1"/>
              </a:rPr>
              <a:t>ACM IMC paper</a:t>
            </a:r>
          </a:p>
        </p:txBody>
      </p:sp>
      <p:sp>
        <p:nvSpPr>
          <p:cNvPr id="50004" name="AEGIS_102">
            <a:extLst>
              <a:ext uri="{FF2B5EF4-FFF2-40B4-BE49-F238E27FC236}">
                <a16:creationId xmlns:a16="http://schemas.microsoft.com/office/drawing/2014/main" id="{265C5486-CA12-4E4A-AFA6-9B4AD44E7891}"/>
              </a:ext>
            </a:extLst>
          </p:cNvPr>
          <p:cNvSpPr>
            <a:spLocks noGrp="1"/>
          </p:cNvSpPr>
          <p:nvPr/>
        </p:nvSpPr>
        <p:spPr>
          <a:xfrm>
            <a:off x="1047750" y="30384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ML-assisted analysis</a:t>
            </a:r>
          </a:p>
        </p:txBody>
      </p:sp>
      <p:sp>
        <p:nvSpPr>
          <p:cNvPr id="50005" name="AEGIS_103">
            <a:extLst>
              <a:ext uri="{FF2B5EF4-FFF2-40B4-BE49-F238E27FC236}">
                <a16:creationId xmlns:a16="http://schemas.microsoft.com/office/drawing/2014/main" id="{C4F3AA63-AD4E-429A-8BDF-FC851A1DD4F5}"/>
              </a:ext>
            </a:extLst>
          </p:cNvPr>
          <p:cNvSpPr>
            <a:spLocks noGrp="1"/>
          </p:cNvSpPr>
          <p:nvPr/>
        </p:nvSpPr>
        <p:spPr>
          <a:xfrm>
            <a:off x="3190875" y="30384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Weber et al. (2019), Anti-Money Laundering in Bitcoin: Experimenting with Graph Convolutional Networks for Financial Forensics.</a:t>
            </a:r>
          </a:p>
        </p:txBody>
      </p:sp>
      <p:sp>
        <p:nvSpPr>
          <p:cNvPr id="50006" name="AEGIS_104">
            <a:extLst>
              <a:ext uri="{FF2B5EF4-FFF2-40B4-BE49-F238E27FC236}">
                <a16:creationId xmlns:a16="http://schemas.microsoft.com/office/drawing/2014/main" id="{C974880E-6925-46DA-8649-A225182D5A62}"/>
              </a:ext>
            </a:extLst>
          </p:cNvPr>
          <p:cNvSpPr>
            <a:spLocks noGrp="1"/>
          </p:cNvSpPr>
          <p:nvPr/>
        </p:nvSpPr>
        <p:spPr>
          <a:xfrm>
            <a:off x="3190875" y="34480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2"/>
              </a:rPr>
              <a:t>arXiv:1908.02591</a:t>
            </a:r>
          </a:p>
        </p:txBody>
      </p:sp>
      <p:sp>
        <p:nvSpPr>
          <p:cNvPr id="50007" name="AEGIS_105">
            <a:extLst>
              <a:ext uri="{FF2B5EF4-FFF2-40B4-BE49-F238E27FC236}">
                <a16:creationId xmlns:a16="http://schemas.microsoft.com/office/drawing/2014/main" id="{9A66D66D-1413-4DF5-A9A0-7311574E28B6}"/>
              </a:ext>
            </a:extLst>
          </p:cNvPr>
          <p:cNvSpPr>
            <a:spLocks noGrp="1"/>
          </p:cNvSpPr>
          <p:nvPr/>
        </p:nvSpPr>
        <p:spPr>
          <a:xfrm>
            <a:off x="1047750" y="36671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Blockchain data</a:t>
            </a:r>
          </a:p>
        </p:txBody>
      </p:sp>
      <p:sp>
        <p:nvSpPr>
          <p:cNvPr id="50008" name="AEGIS_106">
            <a:extLst>
              <a:ext uri="{FF2B5EF4-FFF2-40B4-BE49-F238E27FC236}">
                <a16:creationId xmlns:a16="http://schemas.microsoft.com/office/drawing/2014/main" id="{3A13E926-267E-4080-B0C9-DB17C1F4BD7A}"/>
              </a:ext>
            </a:extLst>
          </p:cNvPr>
          <p:cNvSpPr>
            <a:spLocks noGrp="1"/>
          </p:cNvSpPr>
          <p:nvPr/>
        </p:nvSpPr>
        <p:spPr>
          <a:xfrm>
            <a:off x="3190875" y="36671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Blockstream Esplora: address and transaction API documentation.</a:t>
            </a:r>
          </a:p>
        </p:txBody>
      </p:sp>
      <p:sp>
        <p:nvSpPr>
          <p:cNvPr id="50009" name="AEGIS_107">
            <a:extLst>
              <a:ext uri="{FF2B5EF4-FFF2-40B4-BE49-F238E27FC236}">
                <a16:creationId xmlns:a16="http://schemas.microsoft.com/office/drawing/2014/main" id="{66EE76B0-3434-4D25-851D-7B73A34A8642}"/>
              </a:ext>
            </a:extLst>
          </p:cNvPr>
          <p:cNvSpPr>
            <a:spLocks noGrp="1"/>
          </p:cNvSpPr>
          <p:nvPr/>
        </p:nvSpPr>
        <p:spPr>
          <a:xfrm>
            <a:off x="3190875" y="40767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3"/>
              </a:rPr>
              <a:t>Official API documentation</a:t>
            </a:r>
          </a:p>
        </p:txBody>
      </p:sp>
      <p:sp>
        <p:nvSpPr>
          <p:cNvPr id="50010" name="AEGIS_108">
            <a:extLst>
              <a:ext uri="{FF2B5EF4-FFF2-40B4-BE49-F238E27FC236}">
                <a16:creationId xmlns:a16="http://schemas.microsoft.com/office/drawing/2014/main" id="{6F6538D2-F0B6-4C50-BAA6-810F737B90CE}"/>
              </a:ext>
            </a:extLst>
          </p:cNvPr>
          <p:cNvSpPr>
            <a:spLocks noGrp="1"/>
          </p:cNvSpPr>
          <p:nvPr/>
        </p:nvSpPr>
        <p:spPr>
          <a:xfrm>
            <a:off x="1047750" y="42957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Attribution sources</a:t>
            </a:r>
          </a:p>
        </p:txBody>
      </p:sp>
      <p:sp>
        <p:nvSpPr>
          <p:cNvPr id="50011" name="AEGIS_109">
            <a:extLst>
              <a:ext uri="{FF2B5EF4-FFF2-40B4-BE49-F238E27FC236}">
                <a16:creationId xmlns:a16="http://schemas.microsoft.com/office/drawing/2014/main" id="{D7ACCE4F-A104-4783-803E-58A950152BF5}"/>
              </a:ext>
            </a:extLst>
          </p:cNvPr>
          <p:cNvSpPr>
            <a:spLocks noGrp="1"/>
          </p:cNvSpPr>
          <p:nvPr/>
        </p:nvSpPr>
        <p:spPr>
          <a:xfrm>
            <a:off x="3190875" y="42957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Binance, Our Commitment to Transparency (2022): published wallet disclosures.</a:t>
            </a:r>
          </a:p>
        </p:txBody>
      </p:sp>
      <p:sp>
        <p:nvSpPr>
          <p:cNvPr id="50012" name="AEGIS_110">
            <a:extLst>
              <a:ext uri="{FF2B5EF4-FFF2-40B4-BE49-F238E27FC236}">
                <a16:creationId xmlns:a16="http://schemas.microsoft.com/office/drawing/2014/main" id="{F027A0ED-BFB8-45CD-8E09-9FF4C188B83F}"/>
              </a:ext>
            </a:extLst>
          </p:cNvPr>
          <p:cNvSpPr>
            <a:spLocks noGrp="1"/>
          </p:cNvSpPr>
          <p:nvPr/>
        </p:nvSpPr>
        <p:spPr>
          <a:xfrm>
            <a:off x="3190875" y="47053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4"/>
              </a:rPr>
              <a:t>Historical disclosure; not a deposit-account registry</a:t>
            </a:r>
          </a:p>
        </p:txBody>
      </p:sp>
      <p:sp>
        <p:nvSpPr>
          <p:cNvPr id="50013" name="AEGIS_111">
            <a:extLst>
              <a:ext uri="{FF2B5EF4-FFF2-40B4-BE49-F238E27FC236}">
                <a16:creationId xmlns:a16="http://schemas.microsoft.com/office/drawing/2014/main" id="{F70A8E24-7A36-4046-A334-B6002C4DB027}"/>
              </a:ext>
            </a:extLst>
          </p:cNvPr>
          <p:cNvSpPr>
            <a:spLocks noGrp="1"/>
          </p:cNvSpPr>
          <p:nvPr/>
        </p:nvSpPr>
        <p:spPr>
          <a:xfrm>
            <a:off x="1047750" y="492442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AML context</a:t>
            </a:r>
          </a:p>
        </p:txBody>
      </p:sp>
      <p:sp>
        <p:nvSpPr>
          <p:cNvPr id="50014" name="AEGIS_112">
            <a:extLst>
              <a:ext uri="{FF2B5EF4-FFF2-40B4-BE49-F238E27FC236}">
                <a16:creationId xmlns:a16="http://schemas.microsoft.com/office/drawing/2014/main" id="{780519A5-0600-45C9-8BF8-4DBC8C0F1F53}"/>
              </a:ext>
            </a:extLst>
          </p:cNvPr>
          <p:cNvSpPr>
            <a:spLocks noGrp="1"/>
          </p:cNvSpPr>
          <p:nvPr/>
        </p:nvSpPr>
        <p:spPr>
          <a:xfrm>
            <a:off x="3190875" y="492442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FATF (2021), Updated Guidance for a Risk-Based Approach to Virtual Assets and VASPs.</a:t>
            </a:r>
          </a:p>
        </p:txBody>
      </p:sp>
      <p:sp>
        <p:nvSpPr>
          <p:cNvPr id="50015" name="AEGIS_113">
            <a:extLst>
              <a:ext uri="{FF2B5EF4-FFF2-40B4-BE49-F238E27FC236}">
                <a16:creationId xmlns:a16="http://schemas.microsoft.com/office/drawing/2014/main" id="{AC540E73-2FF9-42E8-8859-3F1D9B6998F6}"/>
              </a:ext>
            </a:extLst>
          </p:cNvPr>
          <p:cNvSpPr>
            <a:spLocks noGrp="1"/>
          </p:cNvSpPr>
          <p:nvPr/>
        </p:nvSpPr>
        <p:spPr>
          <a:xfrm>
            <a:off x="3190875" y="533400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5"/>
              </a:rPr>
              <a:t>FATF guidance</a:t>
            </a:r>
          </a:p>
        </p:txBody>
      </p:sp>
      <p:sp>
        <p:nvSpPr>
          <p:cNvPr id="50016" name="AEGIS_114">
            <a:extLst>
              <a:ext uri="{FF2B5EF4-FFF2-40B4-BE49-F238E27FC236}">
                <a16:creationId xmlns:a16="http://schemas.microsoft.com/office/drawing/2014/main" id="{2FEEED3C-864E-4B49-A290-F996515DEF48}"/>
              </a:ext>
            </a:extLst>
          </p:cNvPr>
          <p:cNvSpPr>
            <a:spLocks noGrp="1"/>
          </p:cNvSpPr>
          <p:nvPr/>
        </p:nvSpPr>
        <p:spPr>
          <a:xfrm>
            <a:off x="1047750" y="5553075"/>
            <a:ext cx="2009775" cy="457200"/>
          </a:xfrm>
          <a:prstGeom prst="rect">
            <a:avLst/>
          </a:prstGeom>
          <a:noFill/>
          <a:ln w="0">
            <a:noFill/>
          </a:ln>
        </p:spPr>
        <p:txBody>
          <a:bodyPr wrap="square" lIns="0" tIns="0" rIns="0" bIns="0">
            <a:noAutofit/>
          </a:bodyPr>
          <a:lstStyle/>
          <a:p>
            <a:pPr>
              <a:defRPr sz="1500" b="1">
                <a:solidFill>
                  <a:srgbClr val="000000"/>
                </a:solidFill>
                <a:latin typeface="Arial"/>
                <a:ea typeface="Arial"/>
                <a:cs typeface="Arial"/>
              </a:defRPr>
            </a:pPr>
            <a:r>
              <a:rPr sz="1500" b="1">
                <a:solidFill>
                  <a:srgbClr val="000000"/>
                </a:solidFill>
                <a:latin typeface="Arial"/>
                <a:ea typeface="Arial"/>
                <a:cs typeface="Arial"/>
              </a:rPr>
              <a:t>Evidence handling</a:t>
            </a:r>
          </a:p>
        </p:txBody>
      </p:sp>
      <p:sp>
        <p:nvSpPr>
          <p:cNvPr id="50017" name="AEGIS_115">
            <a:extLst>
              <a:ext uri="{FF2B5EF4-FFF2-40B4-BE49-F238E27FC236}">
                <a16:creationId xmlns:a16="http://schemas.microsoft.com/office/drawing/2014/main" id="{04775C77-BE4E-46F1-BA1B-064EEAA9C044}"/>
              </a:ext>
            </a:extLst>
          </p:cNvPr>
          <p:cNvSpPr>
            <a:spLocks noGrp="1"/>
          </p:cNvSpPr>
          <p:nvPr/>
        </p:nvSpPr>
        <p:spPr>
          <a:xfrm>
            <a:off x="3190875" y="5553075"/>
            <a:ext cx="8286750" cy="419100"/>
          </a:xfrm>
          <a:prstGeom prst="rect">
            <a:avLst/>
          </a:prstGeom>
          <a:noFill/>
          <a:ln w="0">
            <a:noFill/>
          </a:ln>
        </p:spPr>
        <p:txBody>
          <a:bodyPr wrap="square" lIns="0" tIns="0" rIns="0" bIns="0">
            <a:noAutofit/>
          </a:bodyPr>
          <a:lstStyle/>
          <a:p>
            <a:pPr>
              <a:defRPr sz="1500" b="0">
                <a:solidFill>
                  <a:srgbClr val="000000"/>
                </a:solidFill>
                <a:latin typeface="Arial"/>
                <a:ea typeface="Arial"/>
                <a:cs typeface="Arial"/>
              </a:defRPr>
            </a:pPr>
            <a:r>
              <a:rPr sz="1500" b="0">
                <a:solidFill>
                  <a:srgbClr val="000000"/>
                </a:solidFill>
                <a:latin typeface="Arial"/>
                <a:ea typeface="Arial"/>
                <a:cs typeface="Arial"/>
              </a:rPr>
              <a:t>NIST SP 800-86 (2006), Guide to Integrating Forensic Techniques into Incident Response.</a:t>
            </a:r>
          </a:p>
        </p:txBody>
      </p:sp>
      <p:sp>
        <p:nvSpPr>
          <p:cNvPr id="50018" name="AEGIS_116">
            <a:extLst>
              <a:ext uri="{FF2B5EF4-FFF2-40B4-BE49-F238E27FC236}">
                <a16:creationId xmlns:a16="http://schemas.microsoft.com/office/drawing/2014/main" id="{1116276F-58DD-45FB-AC8D-331B7A61498C}"/>
              </a:ext>
            </a:extLst>
          </p:cNvPr>
          <p:cNvSpPr>
            <a:spLocks noGrp="1"/>
          </p:cNvSpPr>
          <p:nvPr/>
        </p:nvSpPr>
        <p:spPr>
          <a:xfrm>
            <a:off x="3190875" y="5962650"/>
            <a:ext cx="8286750" cy="219075"/>
          </a:xfrm>
          <a:prstGeom prst="rect">
            <a:avLst/>
          </a:prstGeom>
          <a:noFill/>
          <a:ln w="0">
            <a:noFill/>
          </a:ln>
        </p:spPr>
        <p:txBody>
          <a:bodyPr wrap="square" lIns="0" tIns="0" rIns="0" bIns="0">
            <a:noAutofit/>
          </a:bodyPr>
          <a:lstStyle/>
          <a:p>
            <a:pPr>
              <a:defRPr sz="1425" b="0">
                <a:solidFill>
                  <a:srgbClr val="000000"/>
                </a:solidFill>
                <a:latin typeface="Arial"/>
                <a:ea typeface="Arial"/>
                <a:cs typeface="Arial"/>
              </a:defRPr>
            </a:pPr>
            <a:r>
              <a:rPr sz="1425" b="0" u="sng">
                <a:solidFill>
                  <a:srgbClr val="0000FF"/>
                </a:solidFill>
                <a:latin typeface="Arial"/>
                <a:ea typeface="Arial"/>
                <a:cs typeface="Arial"/>
                <a:hlinkClick r:id="aegis6"/>
              </a:rPr>
              <a:t>NIST guidance; not a guarantee of legal admissibility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