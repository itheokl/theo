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e76091e86f4b95" /><Relationship Type="http://schemas.openxmlformats.org/officeDocument/2006/relationships/extended-properties" Target="/docProps/app.xml" Id="R4f854c1fa8dc4726" /><Relationship Type="http://schemas.openxmlformats.org/officeDocument/2006/relationships/officeDocument" Target="/ppt/presentation.xml" Id="R0313d0a98c53482d" /></Relationships>
</file>

<file path=ppt/presentation.xml><?xml version="1.0" encoding="utf-8"?>
<p:presentation xmlns:p="http://schemas.openxmlformats.org/presentationml/2006/main">
  <p:sldMasterIdLst>
    <p:sldMasterId xmlns:r="http://schemas.openxmlformats.org/officeDocument/2006/relationships" id="2147483648" r:id="R60eec53d83b84566"/>
  </p:sldMasterIdLst>
  <p:notesMasterIdLst>
    <p:notesMasterId xmlns:r="http://schemas.openxmlformats.org/officeDocument/2006/relationships" r:id="R05a8abc31ccd4b3c"/>
  </p:notesMasterIdLst>
  <p:sldIdLst>
    <p:sldId xmlns:r="http://schemas.openxmlformats.org/officeDocument/2006/relationships" id="256" r:id="R31b98265b8f946dd"/>
    <p:sldId xmlns:r="http://schemas.openxmlformats.org/officeDocument/2006/relationships" id="257" r:id="R3c9301de964a4f8c"/>
    <p:sldId xmlns:r="http://schemas.openxmlformats.org/officeDocument/2006/relationships" id="258" r:id="R8a5eaf5af9c04c00"/>
    <p:sldId xmlns:r="http://schemas.openxmlformats.org/officeDocument/2006/relationships" id="259" r:id="R92f5e30795174dea"/>
    <p:sldId xmlns:r="http://schemas.openxmlformats.org/officeDocument/2006/relationships" id="260" r:id="R4be4988c95004b71"/>
    <p:sldId xmlns:r="http://schemas.openxmlformats.org/officeDocument/2006/relationships" id="261" r:id="Rb3e241a5e44e41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2cd6f3535e64fd6" /><Relationship Type="http://schemas.openxmlformats.org/officeDocument/2006/relationships/slideMaster" Target="/ppt/slideMasters/slideMaster1.xml" Id="R60eec53d83b84566" /><Relationship Type="http://schemas.openxmlformats.org/officeDocument/2006/relationships/notesMaster" Target="/ppt/notesMasters/notesMaster1.xml" Id="R05a8abc31ccd4b3c" /><Relationship Type="http://schemas.openxmlformats.org/officeDocument/2006/relationships/presProps" Target="/ppt/presProps.xml" Id="Re1c824194bd34d66" /><Relationship Type="http://schemas.openxmlformats.org/officeDocument/2006/relationships/viewProps" Target="/ppt/viewProps.xml" Id="Rd3df6c81a8ba4477" /><Relationship Type="http://schemas.openxmlformats.org/officeDocument/2006/relationships/tableStyles" Target="/ppt/tableStyles.xml" Id="R7c71563b039649fb" /><Relationship Type="http://schemas.openxmlformats.org/officeDocument/2006/relationships/slide" Target="/ppt/slides/slide1.xml" Id="R31b98265b8f946dd" /><Relationship Type="http://schemas.openxmlformats.org/officeDocument/2006/relationships/slide" Target="/ppt/slides/slide2.xml" Id="R3c9301de964a4f8c" /><Relationship Type="http://schemas.openxmlformats.org/officeDocument/2006/relationships/slide" Target="/ppt/slides/slide3.xml" Id="R8a5eaf5af9c04c00" /><Relationship Type="http://schemas.openxmlformats.org/officeDocument/2006/relationships/slide" Target="/ppt/slides/slide4.xml" Id="R92f5e30795174dea" /><Relationship Type="http://schemas.openxmlformats.org/officeDocument/2006/relationships/slide" Target="/ppt/slides/slide5.xml" Id="R4be4988c95004b71" /><Relationship Type="http://schemas.openxmlformats.org/officeDocument/2006/relationships/slide" Target="/ppt/slides/slide6.xml" Id="Rb3e241a5e44e41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8dbf06e37a4e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c81c3c78354aa2" /><Relationship Type="http://schemas.openxmlformats.org/officeDocument/2006/relationships/notesMaster" Target="/ppt/notesMasters/notesMaster1.xml" Id="R3a6beeea362e43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3ec91418da4170" /><Relationship Type="http://schemas.openxmlformats.org/officeDocument/2006/relationships/notesMaster" Target="/ppt/notesMasters/notesMaster1.xml" Id="R4d9eb0ede7e645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1c9624fb69469e" /><Relationship Type="http://schemas.openxmlformats.org/officeDocument/2006/relationships/notesMaster" Target="/ppt/notesMasters/notesMaster1.xml" Id="R6dbe377f18e24a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2313fe52924164" /><Relationship Type="http://schemas.openxmlformats.org/officeDocument/2006/relationships/notesMaster" Target="/ppt/notesMasters/notesMaster1.xml" Id="Re0a4f4e6e14242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cede6fedbc4cef" /><Relationship Type="http://schemas.openxmlformats.org/officeDocument/2006/relationships/notesMaster" Target="/ppt/notesMasters/notesMaster1.xml" Id="R53f158b52ded46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45e635b2784dfa" /><Relationship Type="http://schemas.openxmlformats.org/officeDocument/2006/relationships/notesMaster" Target="/ppt/notesMasters/notesMaster1.xml" Id="Re82b6d16b17644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 is intentionally left for the team to complete before submission. Problem statement title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end product, not achieved performance. A supported receiving VASP is a candidate backed by address-label evidence along a time-consistent outgoing path. A label is not proof of customer identity or complicity. The package contains transaction IDs, amounts, timestamps, label provenance, confidence rationale, uncertainty and recommended investigator review. Real-time monitoring depends on provider/index updates. Requests remain subject to authorized investigator action and applicable procedures.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architecture. Bitcoin tracing follows UTXO spend relationships, while EVM/TRON adapters follow transfer events. Transactions involving multiple inputs/outputs require explicit allocation assumptions: a graph path alone does not prove exact victim-fund continuity. Bridge correlation requires supported event identifiers and mappings. Collaborative transactions and mixing can invalidate naive clustering. Source labels and heuristic expansions must remain distinct. Candidate ranking should explain evidence strength rather than invent calibrated probabilities. AI/ML is planned and requires evaluation before operational use. NCRP/SAHYOG integration depends on approved interfaces and authorization. Method references: Meiklejohn et al. https://conferences.sigcomm.org/imc/2013/papers/imc182-meiklejohnA.pdf ; Weber et al. https://arxiv.org/abs/1908.02591 ; Esplora https://github.com/Blockstream/esplora/blob/master/API.md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phased delivery, not a statement of current maturity. Data supply is a dependency: public disclosures alone are not a comprehensive exchange-deposit registry. Authorized partner data may require agreements and licensing. Held-out evaluation should prevent overlap with registry construction and include withdrawals, change outputs, collaborative transactions and unlabelled addresses as hard cases. Measure attribution precision, coverage, false positives and p95 alert latency under declared load. Agency deployment needs privacy controls, encrypted storage/transport, retention policy, audit review and approved integration access. Source: Binance historical disclosure https://www.binance.com/en-IN/blog/community/2895840147147652626 ; NIST SP 800-86 https://csrc.nist.gov/pubs/sp/800/86/final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Fictional proposed-use illustration only, not evidence from a demonstrated fraud case. Wallet A transfers to B, which later transfers to an address sourced to hypothetical VASP X. Solid arrows denote the illustrated transactions, and the dashed arrow denotes attribution rather than another transfer. Exact victim-fund attribution may remain uncertain because of mixing, unrelated balances or multi-input/output transactions. The investigator must review allocation assumptions and source reliability. The platform supports coordination and preservation requests but cannot independently freeze funds or guarantee recovery. Expected benefits must be evaluated during pilots.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Meiklejohn et al. (2013), A Fistful of Bitcoins: Characterizing Payments Among Men with No Names.</a:t>
            </a:r>
            <a:endParaRPr/>
          </a:p>
          <a:p xmlns:a="http://schemas.openxmlformats.org/drawingml/2006/main">
            <a:pPr>
              <a:spcBef>
                <a:spcPct val="0"/>
              </a:spcBef>
              <a:buNone/>
            </a:pPr>
            <a:r>
              <a:t>https://conferences.sigcomm.org/imc/2013/papers/imc182-meiklejohnA.pdf</a:t>
            </a:r>
            <a:endParaRPr/>
          </a:p>
          <a:p xmlns:a="http://schemas.openxmlformats.org/drawingml/2006/main">
            <a:pPr>
              <a:spcBef>
                <a:spcPct val="0"/>
              </a:spcBef>
              <a:buNone/>
            </a:pPr>
            <a:r>
              <a:t/>
            </a:r>
            <a:endParaRPr/>
          </a:p>
          <a:p xmlns:a="http://schemas.openxmlformats.org/drawingml/2006/main">
            <a:pPr>
              <a:spcBef>
                <a:spcPct val="0"/>
              </a:spcBef>
              <a:buNone/>
            </a:pPr>
            <a:r>
              <a:t>Weber et al. (2019), Anti-Money Laundering in Bitcoin: Experimenting with Graph Convolutional Networks for Financial Forensics.</a:t>
            </a:r>
            <a:endParaRPr/>
          </a:p>
          <a:p xmlns:a="http://schemas.openxmlformats.org/drawingml/2006/main">
            <a:pPr>
              <a:spcBef>
                <a:spcPct val="0"/>
              </a:spcBef>
              <a:buNone/>
            </a:pPr>
            <a:r>
              <a:t>https://arxiv.org/abs/1908.02591</a:t>
            </a:r>
            <a:endParaRPr/>
          </a:p>
          <a:p xmlns:a="http://schemas.openxmlformats.org/drawingml/2006/main">
            <a:pPr>
              <a:spcBef>
                <a:spcPct val="0"/>
              </a:spcBef>
              <a:buNone/>
            </a:pPr>
            <a:r>
              <a:t/>
            </a:r>
            <a:endParaRPr/>
          </a:p>
          <a:p xmlns:a="http://schemas.openxmlformats.org/drawingml/2006/main">
            <a:pPr>
              <a:spcBef>
                <a:spcPct val="0"/>
              </a:spcBef>
              <a:buNone/>
            </a:pPr>
            <a:r>
              <a:t>Blockstream Esplora: address and transaction API documentation.</a:t>
            </a:r>
            <a:endParaRPr/>
          </a:p>
          <a:p xmlns:a="http://schemas.openxmlformats.org/drawingml/2006/main">
            <a:pPr>
              <a:spcBef>
                <a:spcPct val="0"/>
              </a:spcBef>
              <a:buNone/>
            </a:pPr>
            <a:r>
              <a:t>https://github.com/Blockstream/esplora/blob/master/API.md</a:t>
            </a:r>
            <a:endParaRPr/>
          </a:p>
          <a:p xmlns:a="http://schemas.openxmlformats.org/drawingml/2006/main">
            <a:pPr>
              <a:spcBef>
                <a:spcPct val="0"/>
              </a:spcBef>
              <a:buNone/>
            </a:pPr>
            <a:r>
              <a:t/>
            </a:r>
            <a:endParaRPr/>
          </a:p>
          <a:p xmlns:a="http://schemas.openxmlformats.org/drawingml/2006/main">
            <a:pPr>
              <a:spcBef>
                <a:spcPct val="0"/>
              </a:spcBef>
              <a:buNone/>
            </a:pPr>
            <a:r>
              <a:t>Binance, Our Commitment to Transparency (2022): published wallet disclosures.</a:t>
            </a:r>
            <a:endParaRPr/>
          </a:p>
          <a:p xmlns:a="http://schemas.openxmlformats.org/drawingml/2006/main">
            <a:pPr>
              <a:spcBef>
                <a:spcPct val="0"/>
              </a:spcBef>
              <a:buNone/>
            </a:pPr>
            <a:r>
              <a:t>https://www.binance.com/en-IN/blog/community/2895840147147652626</a:t>
            </a:r>
            <a:endParaRPr/>
          </a:p>
          <a:p xmlns:a="http://schemas.openxmlformats.org/drawingml/2006/main">
            <a:pPr>
              <a:spcBef>
                <a:spcPct val="0"/>
              </a:spcBef>
              <a:buNone/>
            </a:pPr>
            <a:r>
              <a:t/>
            </a:r>
            <a:endParaRPr/>
          </a:p>
          <a:p xmlns:a="http://schemas.openxmlformats.org/drawingml/2006/main">
            <a:pPr>
              <a:spcBef>
                <a:spcPct val="0"/>
              </a:spcBef>
              <a:buNone/>
            </a:pPr>
            <a:r>
              <a:t>FATF (2021), Updated Guidance for a Risk-Based Approach to Virtual Assets and VASPs.</a:t>
            </a:r>
            <a:endParaRPr/>
          </a:p>
          <a:p xmlns:a="http://schemas.openxmlformats.org/drawingml/2006/main">
            <a:pPr>
              <a:spcBef>
                <a:spcPct val="0"/>
              </a:spcBef>
              <a:buNone/>
            </a:pPr>
            <a:r>
              <a:t>https://www.fatf-gafi.org/en/publications/Fatfrecommendations/Guidance-rba-virtual-assets-2021.html</a:t>
            </a:r>
            <a:endParaRPr/>
          </a:p>
          <a:p xmlns:a="http://schemas.openxmlformats.org/drawingml/2006/main">
            <a:pPr>
              <a:spcBef>
                <a:spcPct val="0"/>
              </a:spcBef>
              <a:buNone/>
            </a:pPr>
            <a:r>
              <a:t/>
            </a:r>
            <a:endParaRPr/>
          </a:p>
          <a:p xmlns:a="http://schemas.openxmlformats.org/drawingml/2006/main">
            <a:pPr>
              <a:spcBef>
                <a:spcPct val="0"/>
              </a:spcBef>
              <a:buNone/>
            </a:pPr>
            <a:r>
              <a:t>NIST SP 800-86 (2006), Guide to Integrating Forensic Techniques into Incident Response.</a:t>
            </a:r>
            <a:endParaRPr/>
          </a:p>
          <a:p xmlns:a="http://schemas.openxmlformats.org/drawingml/2006/main">
            <a:pPr>
              <a:spcBef>
                <a:spcPct val="0"/>
              </a:spcBef>
              <a:buNone/>
            </a:pPr>
            <a:r>
              <a:t>https://csrc.nist.gov/pubs/sp/800/86/final</a:t>
            </a:r>
            <a:endParaRPr/>
          </a:p>
          <a:p xmlns:a="http://schemas.openxmlformats.org/drawingml/2006/main">
            <a:pPr>
              <a:spcBef>
                <a:spcPct val="0"/>
              </a:spcBef>
              <a:buNone/>
            </a:pPr>
            <a:r>
              <a:t/>
            </a:r>
            <a:endParaRPr/>
          </a:p>
          <a:p xmlns:a="http://schemas.openxmlformats.org/drawingml/2006/main">
            <a:pPr>
              <a:spcBef>
                <a:spcPct val="0"/>
              </a:spcBef>
              <a:buNone/>
            </a:pPr>
            <a:r>
              <a:t>Sources checked 10 September 2026. Research supports proposed methods, not product accuracy claims. Historical reserve disclosures do not establish customer deposit-account ownership.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5ba011c61c47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8dcea5522f439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408dcc85fca49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ef1079d3bd46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3415bd084a4d8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6b840eb62949a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717c52b8d0946a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ad6f9590f94402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18c917eb711451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49c7b41e8d543e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c16f73a99764d4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F767A7-A571-4E2D-A15E-ECB7D2D49D70}"/>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AA07DF1A-EBDB-416B-89CF-0D4C2612386E}"/>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881BBBC1-D54E-49C1-8EBA-3F2424DB15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24D02823-E05A-4E5F-B4FF-4705A3385E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646A347-1A17-4A7E-852F-CE5457C206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92BF4D-D65C-4EC6-860B-70740D1B351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0BA957E-9C8A-4738-BB51-D4BD6B3AE1F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8CDB964-784A-4CF9-B732-B69F8A0E53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5BBCDCFF-9082-43EF-B62E-9BEBC3E745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5A319D4-5B05-4FF7-B803-19D00B4FD1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D8BDCC-F02E-4721-B27C-80E3E95F9D26}"/>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3471E42-5806-40AD-8072-A38EDBBF88D9}"/>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3FE3674B-2CBC-48B9-937C-774D30A7BF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A4BC1F53-799F-49D7-8D8E-8CB4D864D4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8CC77AF4-A957-40B7-B9BD-C8FD07861B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1F0742-2880-4287-A634-A46240A41E7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D55C406-1C5F-4DB8-AC0F-9F3ECD505BE1}"/>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928E694-49DB-43D6-A5E3-38BE87250432}"/>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78C747BA-42D3-45ED-B136-B79D3888D3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CEA6CD2F-8FDE-4E47-AED1-1A9FDB3668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C2D658A5-EA61-4930-9ED2-4F2F7C7B1C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AF8FB1-9F58-4407-998C-C7EC157BF65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383BCF6-0966-41A0-B4CE-E7A2C8CA8A66}"/>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8D3516C-3C3F-4D1E-9AC5-51A1E7E48701}"/>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F954CFC4-884E-49F1-919C-B96B2BB68EC7}"/>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0056341-723D-4E90-AA2A-AFBF08408099}"/>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07A221A0-059D-4CD2-9197-BF3FB8424F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511E1AEA-51DB-4B25-BC0B-699BE9FC5E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C4512172-1927-4F2C-85C5-F04E67265E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247FFF-0339-404D-9F69-FFBA3B4617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6AFA2344-C629-4F31-A70D-717E915D25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AE9551F-7FE9-4DE6-8272-AF0D3655CE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2CCDA9F1-907D-4152-87E4-14C19FDEB7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6DC9845A-323D-41AC-9DBA-0B9F4B8CDE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75BE088C-5778-471C-B04D-5BEF0F0199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D2C3B5A5-916D-4F7C-BB3E-4A7ADDAEAA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0B8F7E1-45BD-45ED-9C16-DB6B4134F0E0}"/>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0EC29F3-8568-4BA0-9636-184A7AFF9576}"/>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61C655F4-C861-4A0D-BD55-89E1BCAB119E}"/>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E6770E33-7C71-485D-B2DE-9C4C7C3C2B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C5E8D642-19A2-4C5D-8029-5BDC2069F8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03A6878-D9B0-4D1A-9618-3BB4A9C284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4EF4FC-D837-4B1E-9930-322BA22A37CD}"/>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E175DCE-8E76-4350-BF0B-D4305809BC8A}"/>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A4600688-EBA9-4846-A951-D08C76433520}"/>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4366C9B5-70B8-4725-8FC2-09C3828F23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767ABCBB-499D-44A9-8BB0-AD7515CDCC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88CD4F5F-A763-4488-B5A6-EDE7D85F06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15B4C2A-6E90-4ABD-8D8B-97952F17368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7DDFA12-AEA2-4151-BFC8-C0671DEB8C6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8BACFA3-7029-4B2D-8F4D-FBF65F9585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FEA3DA21-2434-40AA-BD72-10522041B1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527041E-60EE-4D18-A50C-D9DD5981A2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30529A6-60EC-49CE-8C94-D6E7CA5DB064}"/>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662EB7D-5B20-46EE-AFCC-38ACD846E253}"/>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E453789-45CB-4246-9462-60F2BC635BD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6ED84393-0719-43B3-BA70-7542722C5F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06BA54C-2A26-46C2-B3D6-28C28C89FF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cca03ff0564d41" /><Relationship Type="http://schemas.openxmlformats.org/officeDocument/2006/relationships/slideLayout" Target="/ppt/slideLayouts/slideLayout1.xml" Id="R9a5c1fb25d92467e" /><Relationship Type="http://schemas.openxmlformats.org/officeDocument/2006/relationships/slideLayout" Target="/ppt/slideLayouts/slideLayout2.xml" Id="R1467da90a2a1479a" /><Relationship Type="http://schemas.openxmlformats.org/officeDocument/2006/relationships/slideLayout" Target="/ppt/slideLayouts/slideLayout3.xml" Id="Reb0dedabd9b540db" /><Relationship Type="http://schemas.openxmlformats.org/officeDocument/2006/relationships/slideLayout" Target="/ppt/slideLayouts/slideLayout4.xml" Id="Rc9013a1daeef4443" /><Relationship Type="http://schemas.openxmlformats.org/officeDocument/2006/relationships/slideLayout" Target="/ppt/slideLayouts/slideLayout5.xml" Id="Rb5f68c16439c4340" /><Relationship Type="http://schemas.openxmlformats.org/officeDocument/2006/relationships/slideLayout" Target="/ppt/slideLayouts/slideLayout6.xml" Id="Rd3a724eae4574a20" /><Relationship Type="http://schemas.openxmlformats.org/officeDocument/2006/relationships/slideLayout" Target="/ppt/slideLayouts/slideLayout7.xml" Id="Rddfbc3d43e684163" /><Relationship Type="http://schemas.openxmlformats.org/officeDocument/2006/relationships/slideLayout" Target="/ppt/slideLayouts/slideLayout8.xml" Id="R28f55a5d2c4a442a" /><Relationship Type="http://schemas.openxmlformats.org/officeDocument/2006/relationships/slideLayout" Target="/ppt/slideLayouts/slideLayout9.xml" Id="Rfffc2bb42c984ee6" /><Relationship Type="http://schemas.openxmlformats.org/officeDocument/2006/relationships/slideLayout" Target="/ppt/slideLayouts/slideLayout10.xml" Id="R96e71a62a08a47ce" /><Relationship Type="http://schemas.openxmlformats.org/officeDocument/2006/relationships/slideLayout" Target="/ppt/slideLayouts/slideLayout11.xml" Id="R1902d10af84347e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7F5FA883-B4C3-4B23-9C47-91C74BD1B0D2}"/>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65B21BA4-E432-4D39-A253-48096986723D}"/>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E980FBF-EDE0-47B7-92A6-D7DC871AA0DA}"/>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4B7A727-C776-4140-9F64-4C606C792347}"/>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976870E1-F380-4D1A-BE47-7ECEEF31026B}"/>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5c1fb25d92467e"/>
    <p:sldLayoutId xmlns:r="http://schemas.openxmlformats.org/officeDocument/2006/relationships" id="2147483650" r:id="R1467da90a2a1479a"/>
    <p:sldLayoutId xmlns:r="http://schemas.openxmlformats.org/officeDocument/2006/relationships" id="2147483651" r:id="Reb0dedabd9b540db"/>
    <p:sldLayoutId xmlns:r="http://schemas.openxmlformats.org/officeDocument/2006/relationships" id="2147483652" r:id="Rc9013a1daeef4443"/>
    <p:sldLayoutId xmlns:r="http://schemas.openxmlformats.org/officeDocument/2006/relationships" id="2147483653" r:id="Rb5f68c16439c4340"/>
    <p:sldLayoutId xmlns:r="http://schemas.openxmlformats.org/officeDocument/2006/relationships" id="2147483654" r:id="Rd3a724eae4574a20"/>
    <p:sldLayoutId xmlns:r="http://schemas.openxmlformats.org/officeDocument/2006/relationships" id="2147483655" r:id="Rddfbc3d43e684163"/>
    <p:sldLayoutId xmlns:r="http://schemas.openxmlformats.org/officeDocument/2006/relationships" id="2147483656" r:id="R28f55a5d2c4a442a"/>
    <p:sldLayoutId xmlns:r="http://schemas.openxmlformats.org/officeDocument/2006/relationships" id="2147483657" r:id="Rfffc2bb42c984ee6"/>
    <p:sldLayoutId xmlns:r="http://schemas.openxmlformats.org/officeDocument/2006/relationships" id="2147483658" r:id="R96e71a62a08a47ce"/>
    <p:sldLayoutId xmlns:r="http://schemas.openxmlformats.org/officeDocument/2006/relationships" id="2147483659" r:id="R1902d10af84347e8"/>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564f89ecd64602" /><Relationship Type="http://schemas.openxmlformats.org/officeDocument/2006/relationships/image" Target="/ppt/media/image.png" Id="Rfa7463a054774a66" /><Relationship Type="http://schemas.openxmlformats.org/officeDocument/2006/relationships/image" Target="/ppt/media/image2.png" Id="R0fa790b54e7b486f" /><Relationship Type="http://schemas.openxmlformats.org/officeDocument/2006/relationships/notesSlide" Target="/ppt/notesSlides/notesSlide1.xml" Id="R19d531c9244f4e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257a3eeee7849b0" /><Relationship Type="http://schemas.openxmlformats.org/officeDocument/2006/relationships/image" Target="/ppt/media/image3.png" Id="R0edfa2f43d6042c2" /><Relationship Type="http://schemas.openxmlformats.org/officeDocument/2006/relationships/notesSlide" Target="/ppt/notesSlides/notesSlide2.xml" Id="R0861f891dae14a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4f00442c9cd4b2a" /><Relationship Type="http://schemas.openxmlformats.org/officeDocument/2006/relationships/image" Target="/ppt/media/image4.png" Id="Rf0727103630948f3" /><Relationship Type="http://schemas.openxmlformats.org/officeDocument/2006/relationships/notesSlide" Target="/ppt/notesSlides/notesSlide3.xml" Id="R643728eb5f134f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297a9fad28641da" /><Relationship Type="http://schemas.openxmlformats.org/officeDocument/2006/relationships/image" Target="/ppt/media/image5.png" Id="Rf07deebc4f874fc5" /><Relationship Type="http://schemas.openxmlformats.org/officeDocument/2006/relationships/notesSlide" Target="/ppt/notesSlides/notesSlide4.xml" Id="R8ac6cc8030974a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02f976c85684cdc" /><Relationship Type="http://schemas.openxmlformats.org/officeDocument/2006/relationships/image" Target="/ppt/media/image6.png" Id="Rdddcd2d4c9244b37" /><Relationship Type="http://schemas.openxmlformats.org/officeDocument/2006/relationships/notesSlide" Target="/ppt/notesSlides/notesSlide5.xml" Id="R3efa238ef9f541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8905f532243499d" /><Relationship Type="http://schemas.openxmlformats.org/officeDocument/2006/relationships/hyperlink" Target="https://conferences.sigcomm.org/imc/2013/papers/imc182-meiklejohnA.pdf" TargetMode="External" Id="R8ef46b5310f9469e" /><Relationship Type="http://schemas.openxmlformats.org/officeDocument/2006/relationships/hyperlink" Target="https://arxiv.org/abs/1908.02591" TargetMode="External" Id="R932fcbac8f12474f" /><Relationship Type="http://schemas.openxmlformats.org/officeDocument/2006/relationships/hyperlink" Target="https://github.com/Blockstream/esplora/blob/master/API.md" TargetMode="External" Id="Rbc3956b799314d8a" /><Relationship Type="http://schemas.openxmlformats.org/officeDocument/2006/relationships/hyperlink" Target="https://www.binance.com/en-IN/blog/community/2895840147147652626" TargetMode="External" Id="Rf7bc9ae49b624e72" /><Relationship Type="http://schemas.openxmlformats.org/officeDocument/2006/relationships/hyperlink" Target="https://www.fatf-gafi.org/en/publications/Fatfrecommendations/Guidance-rba-virtual-assets-2021.html" TargetMode="External" Id="R178084c31a374cab" /><Relationship Type="http://schemas.openxmlformats.org/officeDocument/2006/relationships/hyperlink" Target="https://csrc.nist.gov/pubs/sp/800/86/final" TargetMode="External" Id="R522a5d23b00b4eb8" /><Relationship Type="http://schemas.openxmlformats.org/officeDocument/2006/relationships/image" Target="/ppt/media/image7.png" Id="R926a1bf4c14e4339" /><Relationship Type="http://schemas.openxmlformats.org/officeDocument/2006/relationships/notesSlide" Target="/ppt/notesSlides/notesSlide6.xml" Id="Raaea0da5b2fb475c"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1"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fa7463a054774a66"/>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EBC9B2A0-6882-4EC7-82DD-4C0C2B62C611}"/>
              </a:ext>
            </a:extLst>
          </p:cNvPr>
          <p:cNvSpPr>
            <a:spLocks xmlns:a="http://schemas.openxmlformats.org/drawingml/2006/main" noGrp="1"/>
          </p:cNvSpPr>
          <p:nvPr>
            <p:ph type="subTitle" idx="1"/>
          </p:nvPr>
        </p:nvSpPr>
        <p:spPr>
          <a:xfrm xmlns:a="http://schemas.openxmlformats.org/drawingml/2006/main">
            <a:off x="1238250" y="1143000"/>
            <a:ext cx="8534400" cy="609600"/>
          </a:xfr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777777"/>
                </a:solidFill>
                <a:latin typeface="Times New Roman"/>
                <a:ea typeface="Times New Roman"/>
                <a:cs typeface="Times New Roman"/>
              </a:defRPr>
            </a:pPr>
            <a:r>
              <a:rPr sz="2850" b="1">
                <a:solidFill>
                  <a:srgbClr val="777777"/>
                </a:solidFill>
                <a:latin typeface="Times New Roman"/>
                <a:ea typeface="Times New Roman"/>
                <a:cs typeface="Times New Roman"/>
              </a:rPr>
              <a:t>TITLE PAGE</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50E5E925-ED22-4F68-BBE5-974527ADBA47}"/>
              </a:ext>
            </a:extLst>
          </p:cNvPr>
          <p:cNvSpPr>
            <a:spLocks xmlns:a="http://schemas.openxmlformats.org/drawingml/2006/main" noGrp="1"/>
          </p:cNvSpPr>
          <p:nvPr>
            <p:ph type="ctrTitle" idx="0"/>
          </p:nvPr>
        </p:nvSpPr>
        <p:spPr>
          <a:xfrm xmlns:a="http://schemas.openxmlformats.org/drawingml/2006/main">
            <a:off x="323850" y="190500"/>
            <a:ext cx="9353550" cy="781050"/>
          </a:xfr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F497D"/>
                </a:solidFill>
                <a:latin typeface="Arial"/>
                <a:ea typeface="Arial"/>
                <a:cs typeface="Arial"/>
              </a:defRPr>
            </a:pPr>
            <a:r>
              <a:rPr sz="3450" b="1">
                <a:solidFill>
                  <a:srgbClr val="1F497D"/>
                </a:solidFill>
                <a:latin typeface="Arial"/>
                <a:ea typeface="Arial"/>
                <a:cs typeface="Arial"/>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0DEB99E2-1C43-41EC-A1FE-4D60CCE4E048}"/>
              </a:ext>
            </a:extLst>
          </p:cNvPr>
          <p:cNvSpPr>
            <a:spLocks xmlns:a="http://schemas.openxmlformats.org/drawingml/2006/main" noGrp="1"/>
          </p:cNvSpPr>
          <p:nvPr/>
        </p:nvSpPr>
        <p:spPr>
          <a:xfrm xmlns:a="http://schemas.openxmlformats.org/drawingml/2006/main">
            <a:off x="331286" y="2076450"/>
            <a:ext cx="5924550" cy="47030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
            </a:r>
            <a:endParaRPr/>
          </a:p>
        </p:txBody>
      </p:sp>
      <p:sp>
        <p:nvSpPr>
          <p:cNvPr id="40" name="">
            <a:extLst xmlns:a="http://schemas.openxmlformats.org/drawingml/2006/main">
              <a:ext uri="{FF2B5EF4-FFF2-40B4-BE49-F238E27FC236}">
                <a16:creationId xmlns:a16="http://schemas.microsoft.com/office/drawing/2014/main" id="{A9B18E34-5A62-4749-8632-CA2D732FA553}"/>
              </a:ext>
            </a:extLst>
          </p:cNvPr>
          <p:cNvSpPr>
            <a:spLocks xmlns:a="http://schemas.openxmlformats.org/drawingml/2006/main" noGrp="1"/>
          </p:cNvSpPr>
          <p:nvPr/>
        </p:nvSpPr>
        <p:spPr>
          <a:xfrm xmlns:a="http://schemas.openxmlformats.org/drawingml/2006/main">
            <a:off x="419100" y="22574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11111"/>
                </a:solidFill>
                <a:latin typeface="Arial"/>
                <a:ea typeface="Arial"/>
                <a:cs typeface="Arial"/>
              </a:defRPr>
            </a:pPr>
            <a:r>
              <a:rPr sz="1950" b="1">
                <a:solidFill>
                  <a:srgbClr val="111111"/>
                </a:solidFill>
                <a:latin typeface="Arial"/>
                <a:ea typeface="Arial"/>
                <a:cs typeface="Arial"/>
              </a:rPr>
              <a:t>Problem Statement ID: SIH26183</a:t>
            </a:r>
          </a:p>
        </p:txBody>
      </p:sp>
      <p:sp>
        <p:nvSpPr>
          <p:cNvPr id="41" name="">
            <a:extLst xmlns:a="http://schemas.openxmlformats.org/drawingml/2006/main">
              <a:ext uri="{FF2B5EF4-FFF2-40B4-BE49-F238E27FC236}">
                <a16:creationId xmlns:a16="http://schemas.microsoft.com/office/drawing/2014/main" id="{7E137E0E-949B-49C2-8A86-C6F7E0C07CC0}"/>
              </a:ext>
            </a:extLst>
          </p:cNvPr>
          <p:cNvSpPr>
            <a:spLocks xmlns:a="http://schemas.openxmlformats.org/drawingml/2006/main" noGrp="1"/>
          </p:cNvSpPr>
          <p:nvPr/>
        </p:nvSpPr>
        <p:spPr>
          <a:xfrm xmlns:a="http://schemas.openxmlformats.org/drawingml/2006/main">
            <a:off x="419100" y="27241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11111"/>
                </a:solidFill>
                <a:latin typeface="Arial"/>
                <a:ea typeface="Arial"/>
                <a:cs typeface="Arial"/>
              </a:defRPr>
            </a:pPr>
            <a:r>
              <a:rPr sz="1950" b="1">
                <a:solidFill>
                  <a:srgbClr val="111111"/>
                </a:solidFill>
                <a:latin typeface="Arial"/>
                <a:ea typeface="Arial"/>
                <a:cs typeface="Arial"/>
              </a:rPr>
              <a:t>Problem Statement Title</a:t>
            </a:r>
          </a:p>
        </p:txBody>
      </p:sp>
      <p:sp>
        <p:nvSpPr>
          <p:cNvPr id="42" name="">
            <a:extLst xmlns:a="http://schemas.openxmlformats.org/drawingml/2006/main">
              <a:ext uri="{FF2B5EF4-FFF2-40B4-BE49-F238E27FC236}">
                <a16:creationId xmlns:a16="http://schemas.microsoft.com/office/drawing/2014/main" id="{55A05076-0D4B-4F3B-BD10-3291F2BDC157}"/>
              </a:ext>
            </a:extLst>
          </p:cNvPr>
          <p:cNvSpPr>
            <a:spLocks xmlns:a="http://schemas.openxmlformats.org/drawingml/2006/main" noGrp="1"/>
          </p:cNvSpPr>
          <p:nvPr/>
        </p:nvSpPr>
        <p:spPr>
          <a:xfrm xmlns:a="http://schemas.openxmlformats.org/drawingml/2006/main">
            <a:off x="419100" y="3105150"/>
            <a:ext cx="61055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111111"/>
                </a:solidFill>
                <a:latin typeface="Arial"/>
                <a:ea typeface="Arial"/>
                <a:cs typeface="Arial"/>
              </a:defRPr>
            </a:pPr>
            <a:r>
              <a:rPr sz="1875" b="0">
                <a:solidFill>
                  <a:srgbClr val="111111"/>
                </a:solidFill>
                <a:latin typeface="Arial"/>
                <a:ea typeface="Arial"/>
                <a:cs typeface="Arial"/>
              </a:rPr>
              <a:t>Real-Time Identification of Fraud-Linked Cryptocurrency Exchanges from Victim-Reported Suspect Wallet Addresses through Automated Blockchain Analytics</a:t>
            </a:r>
          </a:p>
        </p:txBody>
      </p:sp>
      <p:sp>
        <p:nvSpPr>
          <p:cNvPr id="43" name="">
            <a:extLst xmlns:a="http://schemas.openxmlformats.org/drawingml/2006/main">
              <a:ext uri="{FF2B5EF4-FFF2-40B4-BE49-F238E27FC236}">
                <a16:creationId xmlns:a16="http://schemas.microsoft.com/office/drawing/2014/main" id="{7EE23670-E471-4C1F-A3CE-8FA7C93781A9}"/>
              </a:ext>
            </a:extLst>
          </p:cNvPr>
          <p:cNvSpPr>
            <a:spLocks xmlns:a="http://schemas.openxmlformats.org/drawingml/2006/main" noGrp="1"/>
          </p:cNvSpPr>
          <p:nvPr/>
        </p:nvSpPr>
        <p:spPr>
          <a:xfrm xmlns:a="http://schemas.openxmlformats.org/drawingml/2006/main">
            <a:off x="419100" y="46005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Theme: Blockchain &amp; Cybersecurity</a:t>
            </a:r>
          </a:p>
        </p:txBody>
      </p:sp>
      <p:sp>
        <p:nvSpPr>
          <p:cNvPr id="44" name="">
            <a:extLst xmlns:a="http://schemas.openxmlformats.org/drawingml/2006/main">
              <a:ext uri="{FF2B5EF4-FFF2-40B4-BE49-F238E27FC236}">
                <a16:creationId xmlns:a16="http://schemas.microsoft.com/office/drawing/2014/main" id="{2477B7E1-BC27-402C-B80E-B848C87F2C99}"/>
              </a:ext>
            </a:extLst>
          </p:cNvPr>
          <p:cNvSpPr>
            <a:spLocks xmlns:a="http://schemas.openxmlformats.org/drawingml/2006/main" noGrp="1"/>
          </p:cNvSpPr>
          <p:nvPr/>
        </p:nvSpPr>
        <p:spPr>
          <a:xfrm xmlns:a="http://schemas.openxmlformats.org/drawingml/2006/main">
            <a:off x="419100" y="50196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PS Category: Software</a:t>
            </a:r>
          </a:p>
        </p:txBody>
      </p:sp>
      <p:sp>
        <p:nvSpPr>
          <p:cNvPr id="45" name="">
            <a:extLst xmlns:a="http://schemas.openxmlformats.org/drawingml/2006/main">
              <a:ext uri="{FF2B5EF4-FFF2-40B4-BE49-F238E27FC236}">
                <a16:creationId xmlns:a16="http://schemas.microsoft.com/office/drawing/2014/main" id="{29E5C58E-5097-4EC9-B46C-5DDC0BE191EE}"/>
              </a:ext>
            </a:extLst>
          </p:cNvPr>
          <p:cNvSpPr>
            <a:spLocks xmlns:a="http://schemas.openxmlformats.org/drawingml/2006/main" noGrp="1"/>
          </p:cNvSpPr>
          <p:nvPr/>
        </p:nvSpPr>
        <p:spPr>
          <a:xfrm xmlns:a="http://schemas.openxmlformats.org/drawingml/2006/main">
            <a:off x="419100" y="54387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F497D"/>
                </a:solidFill>
                <a:latin typeface="Arial"/>
                <a:ea typeface="Arial"/>
                <a:cs typeface="Arial"/>
              </a:defRPr>
            </a:pPr>
            <a:r>
              <a:rPr sz="1875" b="1">
                <a:solidFill>
                  <a:srgbClr val="1F497D"/>
                </a:solidFill>
                <a:latin typeface="Arial"/>
                <a:ea typeface="Arial"/>
                <a:cs typeface="Arial"/>
              </a:rPr>
              <a:t>Team ID: </a:t>
            </a:r>
            <a:r>
              <a:rPr sz="1875" b="1">
                <a:solidFill>
                  <a:srgbClr val="1F497D"/>
                </a:solidFill>
                <a:latin typeface="Arial"/>
                <a:ea typeface="Arial"/>
                <a:cs typeface="Arial"/>
              </a:rPr>
              <a:t>156766</a:t>
            </a:r>
          </a:p>
        </p:txBody>
      </p:sp>
      <p:sp>
        <p:nvSpPr>
          <p:cNvPr id="46" name="">
            <a:extLst xmlns:a="http://schemas.openxmlformats.org/drawingml/2006/main">
              <a:ext uri="{FF2B5EF4-FFF2-40B4-BE49-F238E27FC236}">
                <a16:creationId xmlns:a16="http://schemas.microsoft.com/office/drawing/2014/main" id="{D8F9E9C3-381D-480D-A0AE-8EB3834518EB}"/>
              </a:ext>
            </a:extLst>
          </p:cNvPr>
          <p:cNvSpPr>
            <a:spLocks xmlns:a="http://schemas.openxmlformats.org/drawingml/2006/main" noGrp="1"/>
          </p:cNvSpPr>
          <p:nvPr/>
        </p:nvSpPr>
        <p:spPr>
          <a:xfrm xmlns:a="http://schemas.openxmlformats.org/drawingml/2006/main">
            <a:off x="419100" y="5857875"/>
            <a:ext cx="619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Team Name (Registered on portal):</a:t>
            </a:r>
          </a:p>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COLD COFFEE</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0fa790b54e7b486f"/>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131680548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915E94DF-84DB-41C3-A888-5C0F4A5F41C6}"/>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78B98809-A4D4-4887-8466-AA0DA3781CC9}"/>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AEGIS FORENSICS</a:t>
            </a:r>
          </a:p>
        </p:txBody>
      </p:sp>
      <p:sp>
        <p:nvSpPr>
          <p:cNvPr id="6" name="Slide Number Placeholder 5">
            <a:extLst xmlns:a="http://schemas.openxmlformats.org/drawingml/2006/main">
              <a:ext uri="{FF2B5EF4-FFF2-40B4-BE49-F238E27FC236}">
                <a16:creationId xmlns:a16="http://schemas.microsoft.com/office/drawing/2014/main" id="{F43CD4B6-0F36-4340-AD2A-FFE9FA1D7872}"/>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FFFFF"/>
                </a:solidFill>
                <a:latin typeface="Arial"/>
                <a:ea typeface="Arial"/>
                <a:cs typeface="Arial"/>
              </a:defRPr>
            </a:pPr>
            <a:fld id="{E2598689-54C9-18A7-3A19-ED76AA08988F}" type="slidenum">
              <a:rPr sz="1275"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17F0B20C-F2DD-47B9-B160-8AE0B0EFE3AC}"/>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5424" name=""/>
          <p:cNvPicPr>
            <a:picLocks xmlns:a="http://schemas.openxmlformats.org/drawingml/2006/main" noChangeAspect="1"/>
          </p:cNvPicPr>
          <p:nvPr/>
        </p:nvPicPr>
        <p:blipFill>
          <a:blip xmlns:r="http://schemas.openxmlformats.org/officeDocument/2006/relationships" xmlns:a="http://schemas.openxmlformats.org/drawingml/2006/main" r:embed="R0edfa2f43d6042c2"/>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5372" name="">
            <a:extLst xmlns:a="http://schemas.openxmlformats.org/drawingml/2006/main">
              <a:ext uri="{FF2B5EF4-FFF2-40B4-BE49-F238E27FC236}">
                <a16:creationId xmlns:a16="http://schemas.microsoft.com/office/drawing/2014/main" id="{89A7ED95-9DE9-4519-8FDA-11EA2CFEB691}"/>
              </a:ext>
            </a:extLst>
          </p:cNvPr>
          <p:cNvSpPr>
            <a:spLocks xmlns:a="http://schemas.openxmlformats.org/drawingml/2006/main" noGrp="1"/>
          </p:cNvSpPr>
          <p:nvPr/>
        </p:nvSpPr>
        <p:spPr>
          <a:xfrm xmlns:a="http://schemas.openxmlformats.org/drawingml/2006/main">
            <a:off x="609600" y="1323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F497D"/>
                </a:solidFill>
                <a:latin typeface="Arial"/>
                <a:ea typeface="Arial"/>
                <a:cs typeface="Arial"/>
              </a:defRPr>
            </a:pPr>
            <a:r>
              <a:rPr sz="2100" b="1">
                <a:solidFill>
                  <a:srgbClr val="1F497D"/>
                </a:solidFill>
                <a:latin typeface="Arial"/>
                <a:ea typeface="Arial"/>
                <a:cs typeface="Arial"/>
              </a:rPr>
              <a:t>Proposed Solution (Describe your Idea/Solution/Prototype)</a:t>
            </a:r>
          </a:p>
        </p:txBody>
      </p:sp>
      <p:sp>
        <p:nvSpPr>
          <p:cNvPr id="15373" name="">
            <a:extLst xmlns:a="http://schemas.openxmlformats.org/drawingml/2006/main">
              <a:ext uri="{FF2B5EF4-FFF2-40B4-BE49-F238E27FC236}">
                <a16:creationId xmlns:a16="http://schemas.microsoft.com/office/drawing/2014/main" id="{805A81D0-606A-4B67-8032-176E60D424E9}"/>
              </a:ext>
            </a:extLst>
          </p:cNvPr>
          <p:cNvSpPr>
            <a:spLocks xmlns:a="http://schemas.openxmlformats.org/drawingml/2006/main" noGrp="1"/>
          </p:cNvSpPr>
          <p:nvPr/>
        </p:nvSpPr>
        <p:spPr>
          <a:xfrm xmlns:a="http://schemas.openxmlformats.org/drawingml/2006/main">
            <a:off x="609600" y="1819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F497D"/>
                </a:solidFill>
                <a:latin typeface="Arial"/>
                <a:ea typeface="Arial"/>
                <a:cs typeface="Arial"/>
              </a:defRPr>
            </a:pPr>
            <a:r>
              <a:rPr sz="1950" b="1">
                <a:solidFill>
                  <a:srgbClr val="1F497D"/>
                </a:solidFill>
                <a:latin typeface="Arial"/>
                <a:ea typeface="Arial"/>
                <a:cs typeface="Arial"/>
              </a:rPr>
              <a:t>Detailed explanation of the proposed solution</a:t>
            </a:r>
          </a:p>
        </p:txBody>
      </p:sp>
      <p:sp>
        <p:nvSpPr>
          <p:cNvPr id="15374" name="Reported wallet">
            <a:extLst xmlns:a="http://schemas.openxmlformats.org/drawingml/2006/main">
              <a:ext uri="{FF2B5EF4-FFF2-40B4-BE49-F238E27FC236}">
                <a16:creationId xmlns:a16="http://schemas.microsoft.com/office/drawing/2014/main" id="{AB52E7CD-C783-4EDA-8CC6-43197ACE906D}"/>
              </a:ext>
            </a:extLst>
          </p:cNvPr>
          <p:cNvSpPr>
            <a:spLocks xmlns:a="http://schemas.openxmlformats.org/drawingml/2006/main" noGrp="1"/>
          </p:cNvSpPr>
          <p:nvPr/>
        </p:nvSpPr>
        <p:spPr>
          <a:xfrm xmlns:a="http://schemas.openxmlformats.org/drawingml/2006/main">
            <a:off x="609600" y="2324100"/>
            <a:ext cx="2362200" cy="11620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5375" name="">
            <a:extLst xmlns:a="http://schemas.openxmlformats.org/drawingml/2006/main">
              <a:ext uri="{FF2B5EF4-FFF2-40B4-BE49-F238E27FC236}">
                <a16:creationId xmlns:a16="http://schemas.microsoft.com/office/drawing/2014/main" id="{4647009B-C8DB-4190-A925-AF2D216BFF1D}"/>
              </a:ext>
            </a:extLst>
          </p:cNvPr>
          <p:cNvSpPr>
            <a:spLocks xmlns:a="http://schemas.openxmlformats.org/drawingml/2006/main" noGrp="1"/>
          </p:cNvSpPr>
          <p:nvPr/>
        </p:nvSpPr>
        <p:spPr>
          <a:xfrm xmlns:a="http://schemas.openxmlformats.org/drawingml/2006/main">
            <a:off x="723900" y="246697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Reported wallet</a:t>
            </a:r>
          </a:p>
        </p:txBody>
      </p:sp>
      <p:sp>
        <p:nvSpPr>
          <p:cNvPr id="15376" name="">
            <a:extLst xmlns:a="http://schemas.openxmlformats.org/drawingml/2006/main">
              <a:ext uri="{FF2B5EF4-FFF2-40B4-BE49-F238E27FC236}">
                <a16:creationId xmlns:a16="http://schemas.microsoft.com/office/drawing/2014/main" id="{771FE9F0-F950-42B4-AFE6-5ED3697501F2}"/>
              </a:ext>
            </a:extLst>
          </p:cNvPr>
          <p:cNvSpPr>
            <a:spLocks xmlns:a="http://schemas.openxmlformats.org/drawingml/2006/main" noGrp="1"/>
          </p:cNvSpPr>
          <p:nvPr/>
        </p:nvSpPr>
        <p:spPr>
          <a:xfrm xmlns:a="http://schemas.openxmlformats.org/drawingml/2006/main">
            <a:off x="723900" y="2809875"/>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Complaint and</a:t>
            </a:r>
          </a:p>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case context</a:t>
            </a:r>
          </a:p>
        </p:txBody>
      </p:sp>
      <p:sp>
        <p:nvSpPr>
          <p:cNvPr id="15377" name="Intermediary hops">
            <a:extLst xmlns:a="http://schemas.openxmlformats.org/drawingml/2006/main">
              <a:ext uri="{FF2B5EF4-FFF2-40B4-BE49-F238E27FC236}">
                <a16:creationId xmlns:a16="http://schemas.microsoft.com/office/drawing/2014/main" id="{DF6591BF-187D-46C1-8DAD-4802E1EBD506}"/>
              </a:ext>
            </a:extLst>
          </p:cNvPr>
          <p:cNvSpPr>
            <a:spLocks xmlns:a="http://schemas.openxmlformats.org/drawingml/2006/main" noGrp="1"/>
          </p:cNvSpPr>
          <p:nvPr/>
        </p:nvSpPr>
        <p:spPr>
          <a:xfrm xmlns:a="http://schemas.openxmlformats.org/drawingml/2006/main">
            <a:off x="3467100" y="2324100"/>
            <a:ext cx="2362200" cy="11620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5378" name="">
            <a:extLst xmlns:a="http://schemas.openxmlformats.org/drawingml/2006/main">
              <a:ext uri="{FF2B5EF4-FFF2-40B4-BE49-F238E27FC236}">
                <a16:creationId xmlns:a16="http://schemas.microsoft.com/office/drawing/2014/main" id="{0A58060E-45F4-4E09-B908-8301C5AFA2B6}"/>
              </a:ext>
            </a:extLst>
          </p:cNvPr>
          <p:cNvSpPr>
            <a:spLocks xmlns:a="http://schemas.openxmlformats.org/drawingml/2006/main" noGrp="1"/>
          </p:cNvSpPr>
          <p:nvPr/>
        </p:nvSpPr>
        <p:spPr>
          <a:xfrm xmlns:a="http://schemas.openxmlformats.org/drawingml/2006/main">
            <a:off x="3581400" y="246697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Intermediary hops</a:t>
            </a:r>
          </a:p>
        </p:txBody>
      </p:sp>
      <p:sp>
        <p:nvSpPr>
          <p:cNvPr id="15379" name="">
            <a:extLst xmlns:a="http://schemas.openxmlformats.org/drawingml/2006/main">
              <a:ext uri="{FF2B5EF4-FFF2-40B4-BE49-F238E27FC236}">
                <a16:creationId xmlns:a16="http://schemas.microsoft.com/office/drawing/2014/main" id="{B12A86B8-9DBD-481F-B4C7-00491807D595}"/>
              </a:ext>
            </a:extLst>
          </p:cNvPr>
          <p:cNvSpPr>
            <a:spLocks xmlns:a="http://schemas.openxmlformats.org/drawingml/2006/main" noGrp="1"/>
          </p:cNvSpPr>
          <p:nvPr/>
        </p:nvSpPr>
        <p:spPr>
          <a:xfrm xmlns:a="http://schemas.openxmlformats.org/drawingml/2006/main">
            <a:off x="3581400" y="2809875"/>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Trace outgoing</a:t>
            </a:r>
          </a:p>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fund movement</a:t>
            </a:r>
          </a:p>
        </p:txBody>
      </p:sp>
      <p:sp>
        <p:nvSpPr>
          <p:cNvPr id="15380" name="Receiving VASP">
            <a:extLst xmlns:a="http://schemas.openxmlformats.org/drawingml/2006/main">
              <a:ext uri="{FF2B5EF4-FFF2-40B4-BE49-F238E27FC236}">
                <a16:creationId xmlns:a16="http://schemas.microsoft.com/office/drawing/2014/main" id="{A2F6A0F9-1DD5-4EE2-BC4C-9F1BE565EB8F}"/>
              </a:ext>
            </a:extLst>
          </p:cNvPr>
          <p:cNvSpPr>
            <a:spLocks xmlns:a="http://schemas.openxmlformats.org/drawingml/2006/main" noGrp="1"/>
          </p:cNvSpPr>
          <p:nvPr/>
        </p:nvSpPr>
        <p:spPr>
          <a:xfrm xmlns:a="http://schemas.openxmlformats.org/drawingml/2006/main">
            <a:off x="6324600" y="2324100"/>
            <a:ext cx="2362200" cy="11620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5381" name="">
            <a:extLst xmlns:a="http://schemas.openxmlformats.org/drawingml/2006/main">
              <a:ext uri="{FF2B5EF4-FFF2-40B4-BE49-F238E27FC236}">
                <a16:creationId xmlns:a16="http://schemas.microsoft.com/office/drawing/2014/main" id="{2EBB01F4-22B3-4DAA-A61B-7C303E46942A}"/>
              </a:ext>
            </a:extLst>
          </p:cNvPr>
          <p:cNvSpPr>
            <a:spLocks xmlns:a="http://schemas.openxmlformats.org/drawingml/2006/main" noGrp="1"/>
          </p:cNvSpPr>
          <p:nvPr/>
        </p:nvSpPr>
        <p:spPr>
          <a:xfrm xmlns:a="http://schemas.openxmlformats.org/drawingml/2006/main">
            <a:off x="6438900" y="246697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Receiving VASP</a:t>
            </a:r>
          </a:p>
        </p:txBody>
      </p:sp>
      <p:sp>
        <p:nvSpPr>
          <p:cNvPr id="15382" name="">
            <a:extLst xmlns:a="http://schemas.openxmlformats.org/drawingml/2006/main">
              <a:ext uri="{FF2B5EF4-FFF2-40B4-BE49-F238E27FC236}">
                <a16:creationId xmlns:a16="http://schemas.microsoft.com/office/drawing/2014/main" id="{6344D51A-1C47-4F77-9171-7745E44A3B24}"/>
              </a:ext>
            </a:extLst>
          </p:cNvPr>
          <p:cNvSpPr>
            <a:spLocks xmlns:a="http://schemas.openxmlformats.org/drawingml/2006/main" noGrp="1"/>
          </p:cNvSpPr>
          <p:nvPr/>
        </p:nvSpPr>
        <p:spPr>
          <a:xfrm xmlns:a="http://schemas.openxmlformats.org/drawingml/2006/main">
            <a:off x="6438900" y="2809875"/>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First supported</a:t>
            </a:r>
          </a:p>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candidate per path</a:t>
            </a:r>
          </a:p>
        </p:txBody>
      </p:sp>
      <p:sp>
        <p:nvSpPr>
          <p:cNvPr id="15383" name="Investigator lead">
            <a:extLst xmlns:a="http://schemas.openxmlformats.org/drawingml/2006/main">
              <a:ext uri="{FF2B5EF4-FFF2-40B4-BE49-F238E27FC236}">
                <a16:creationId xmlns:a16="http://schemas.microsoft.com/office/drawing/2014/main" id="{24B94832-74C9-4E67-B3A6-E572E4338380}"/>
              </a:ext>
            </a:extLst>
          </p:cNvPr>
          <p:cNvSpPr>
            <a:spLocks xmlns:a="http://schemas.openxmlformats.org/drawingml/2006/main" noGrp="1"/>
          </p:cNvSpPr>
          <p:nvPr/>
        </p:nvSpPr>
        <p:spPr>
          <a:xfrm xmlns:a="http://schemas.openxmlformats.org/drawingml/2006/main">
            <a:off x="9182100" y="2324100"/>
            <a:ext cx="2362200" cy="11620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5384" name="">
            <a:extLst xmlns:a="http://schemas.openxmlformats.org/drawingml/2006/main">
              <a:ext uri="{FF2B5EF4-FFF2-40B4-BE49-F238E27FC236}">
                <a16:creationId xmlns:a16="http://schemas.microsoft.com/office/drawing/2014/main" id="{4AE1C863-7756-4B65-A13F-B934F96BC0C6}"/>
              </a:ext>
            </a:extLst>
          </p:cNvPr>
          <p:cNvSpPr>
            <a:spLocks xmlns:a="http://schemas.openxmlformats.org/drawingml/2006/main" noGrp="1"/>
          </p:cNvSpPr>
          <p:nvPr/>
        </p:nvSpPr>
        <p:spPr>
          <a:xfrm xmlns:a="http://schemas.openxmlformats.org/drawingml/2006/main">
            <a:off x="9296400" y="246697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Investigator lead</a:t>
            </a:r>
          </a:p>
        </p:txBody>
      </p:sp>
      <p:sp>
        <p:nvSpPr>
          <p:cNvPr id="15385" name="">
            <a:extLst xmlns:a="http://schemas.openxmlformats.org/drawingml/2006/main">
              <a:ext uri="{FF2B5EF4-FFF2-40B4-BE49-F238E27FC236}">
                <a16:creationId xmlns:a16="http://schemas.microsoft.com/office/drawing/2014/main" id="{C55392B9-ADDF-4736-B21F-7DCF9AE9EBB6}"/>
              </a:ext>
            </a:extLst>
          </p:cNvPr>
          <p:cNvSpPr>
            <a:spLocks xmlns:a="http://schemas.openxmlformats.org/drawingml/2006/main" noGrp="1"/>
          </p:cNvSpPr>
          <p:nvPr/>
        </p:nvSpPr>
        <p:spPr>
          <a:xfrm xmlns:a="http://schemas.openxmlformats.org/drawingml/2006/main">
            <a:off x="9296400" y="2809875"/>
            <a:ext cx="2133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Fund trail, sources</a:t>
            </a:r>
          </a:p>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and next action</a:t>
            </a:r>
          </a:p>
        </p:txBody>
      </p:sp>
      <p:cxnSp>
        <p:nvCxnSpPr>
          <p:cNvPr id="15439" name=""/>
          <p:cNvCxnSpPr>
            <a:stCxn xmlns:a="http://schemas.openxmlformats.org/drawingml/2006/main" id="15374" idx="3"/>
            <a:endCxn xmlns:a="http://schemas.openxmlformats.org/drawingml/2006/main" id="15377" idx="1"/>
          </p:cNvCxnSpPr>
          <p:nvPr/>
        </p:nvCxnSpPr>
        <p:spPr>
          <a:xfrm xmlns:a="http://schemas.openxmlformats.org/drawingml/2006/main">
            <a:off x="2971800" y="290512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5440" name=""/>
          <p:cNvCxnSpPr>
            <a:stCxn xmlns:a="http://schemas.openxmlformats.org/drawingml/2006/main" id="15377" idx="3"/>
            <a:endCxn xmlns:a="http://schemas.openxmlformats.org/drawingml/2006/main" id="15380" idx="1"/>
          </p:cNvCxnSpPr>
          <p:nvPr/>
        </p:nvCxnSpPr>
        <p:spPr>
          <a:xfrm xmlns:a="http://schemas.openxmlformats.org/drawingml/2006/main">
            <a:off x="5829300" y="290512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5441" name=""/>
          <p:cNvCxnSpPr>
            <a:stCxn xmlns:a="http://schemas.openxmlformats.org/drawingml/2006/main" id="15380" idx="3"/>
            <a:endCxn xmlns:a="http://schemas.openxmlformats.org/drawingml/2006/main" id="15383" idx="1"/>
          </p:cNvCxnSpPr>
          <p:nvPr/>
        </p:nvCxnSpPr>
        <p:spPr>
          <a:xfrm xmlns:a="http://schemas.openxmlformats.org/drawingml/2006/main">
            <a:off x="8686800" y="290512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sp>
        <p:nvSpPr>
          <p:cNvPr id="15389" name="">
            <a:extLst xmlns:a="http://schemas.openxmlformats.org/drawingml/2006/main">
              <a:ext uri="{FF2B5EF4-FFF2-40B4-BE49-F238E27FC236}">
                <a16:creationId xmlns:a16="http://schemas.microsoft.com/office/drawing/2014/main" id="{7E8D5951-6C60-4233-84E6-5BCD7096F473}"/>
              </a:ext>
            </a:extLst>
          </p:cNvPr>
          <p:cNvSpPr>
            <a:spLocks xmlns:a="http://schemas.openxmlformats.org/drawingml/2006/main" noGrp="1"/>
          </p:cNvSpPr>
          <p:nvPr/>
        </p:nvSpPr>
        <p:spPr>
          <a:xfrm xmlns:a="http://schemas.openxmlformats.org/drawingml/2006/main">
            <a:off x="609600" y="38195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rPr>
              <a:t>How it addresses the problem</a:t>
            </a:r>
          </a:p>
        </p:txBody>
      </p:sp>
      <p:sp>
        <p:nvSpPr>
          <p:cNvPr id="15390" name="">
            <a:extLst xmlns:a="http://schemas.openxmlformats.org/drawingml/2006/main">
              <a:ext uri="{FF2B5EF4-FFF2-40B4-BE49-F238E27FC236}">
                <a16:creationId xmlns:a16="http://schemas.microsoft.com/office/drawing/2014/main" id="{FDB9BCE7-A8EA-427E-9B83-6A567C534DC9}"/>
              </a:ext>
            </a:extLst>
          </p:cNvPr>
          <p:cNvSpPr>
            <a:spLocks xmlns:a="http://schemas.openxmlformats.org/drawingml/2006/main" noGrp="1"/>
          </p:cNvSpPr>
          <p:nvPr/>
        </p:nvSpPr>
        <p:spPr>
          <a:xfrm xmlns:a="http://schemas.openxmlformats.org/drawingml/2006/main">
            <a:off x="723900" y="4210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12B"/>
                </a:solidFill>
                <a:latin typeface="Arial"/>
                <a:ea typeface="Arial"/>
                <a:cs typeface="Arial"/>
              </a:defRPr>
            </a:pPr>
            <a:r>
              <a:rPr sz="1800" b="0">
                <a:solidFill>
                  <a:srgbClr val="17212B"/>
                </a:solidFill>
                <a:latin typeface="Arial"/>
                <a:ea typeface="Arial"/>
                <a:cs typeface="Arial"/>
              </a:rPr>
              <a:t>Continuous monitoring will alert investigators when funds move or a receiving VASP appears.</a:t>
            </a:r>
          </a:p>
        </p:txBody>
      </p:sp>
      <p:sp>
        <p:nvSpPr>
          <p:cNvPr id="15391" name="">
            <a:extLst xmlns:a="http://schemas.openxmlformats.org/drawingml/2006/main">
              <a:ext uri="{FF2B5EF4-FFF2-40B4-BE49-F238E27FC236}">
                <a16:creationId xmlns:a16="http://schemas.microsoft.com/office/drawing/2014/main" id="{44F1FE8C-861F-4360-85DB-E34F767D532E}"/>
              </a:ext>
            </a:extLst>
          </p:cNvPr>
          <p:cNvSpPr>
            <a:spLocks xmlns:a="http://schemas.openxmlformats.org/drawingml/2006/main" noGrp="1"/>
          </p:cNvSpPr>
          <p:nvPr/>
        </p:nvSpPr>
        <p:spPr>
          <a:xfrm xmlns:a="http://schemas.openxmlformats.org/drawingml/2006/main">
            <a:off x="723900" y="456247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12B"/>
                </a:solidFill>
                <a:latin typeface="Arial"/>
                <a:ea typeface="Arial"/>
                <a:cs typeface="Arial"/>
              </a:defRPr>
            </a:pPr>
            <a:r>
              <a:rPr sz="1800" b="0">
                <a:solidFill>
                  <a:srgbClr val="17212B"/>
                </a:solidFill>
                <a:latin typeface="Arial"/>
                <a:ea typeface="Arial"/>
                <a:cs typeface="Arial"/>
              </a:rPr>
              <a:t>A case report will support review, preservation requests and coordination with the VASP.</a:t>
            </a:r>
          </a:p>
        </p:txBody>
      </p:sp>
      <p:sp>
        <p:nvSpPr>
          <p:cNvPr id="15392" name="">
            <a:extLst xmlns:a="http://schemas.openxmlformats.org/drawingml/2006/main">
              <a:ext uri="{FF2B5EF4-FFF2-40B4-BE49-F238E27FC236}">
                <a16:creationId xmlns:a16="http://schemas.microsoft.com/office/drawing/2014/main" id="{C9C20844-F4D1-42D0-9F0B-543D1657EFAC}"/>
              </a:ext>
            </a:extLst>
          </p:cNvPr>
          <p:cNvSpPr>
            <a:spLocks xmlns:a="http://schemas.openxmlformats.org/drawingml/2006/main" noGrp="1"/>
          </p:cNvSpPr>
          <p:nvPr/>
        </p:nvSpPr>
        <p:spPr>
          <a:xfrm xmlns:a="http://schemas.openxmlformats.org/drawingml/2006/main">
            <a:off x="609600" y="5133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rPr>
              <a:t>Innovation and uniqueness of the solution</a:t>
            </a:r>
          </a:p>
        </p:txBody>
      </p:sp>
      <p:sp>
        <p:nvSpPr>
          <p:cNvPr id="15393" name="">
            <a:extLst xmlns:a="http://schemas.openxmlformats.org/drawingml/2006/main">
              <a:ext uri="{FF2B5EF4-FFF2-40B4-BE49-F238E27FC236}">
                <a16:creationId xmlns:a16="http://schemas.microsoft.com/office/drawing/2014/main" id="{8CD0F492-2FEA-4AB7-B9A9-4582A1FCB52F}"/>
              </a:ext>
            </a:extLst>
          </p:cNvPr>
          <p:cNvSpPr>
            <a:spLocks xmlns:a="http://schemas.openxmlformats.org/drawingml/2006/main" noGrp="1"/>
          </p:cNvSpPr>
          <p:nvPr/>
        </p:nvSpPr>
        <p:spPr>
          <a:xfrm xmlns:a="http://schemas.openxmlformats.org/drawingml/2006/main">
            <a:off x="723900" y="55149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12B"/>
                </a:solidFill>
                <a:latin typeface="Arial"/>
                <a:ea typeface="Arial"/>
                <a:cs typeface="Arial"/>
              </a:defRPr>
            </a:pPr>
            <a:r>
              <a:rPr sz="1800" b="0">
                <a:solidFill>
                  <a:srgbClr val="17212B"/>
                </a:solidFill>
                <a:latin typeface="Arial"/>
                <a:ea typeface="Arial"/>
                <a:cs typeface="Arial"/>
              </a:rPr>
              <a:t>Each lead links the transaction path to attribution sources and an investigative next step.</a:t>
            </a:r>
          </a:p>
        </p:txBody>
      </p:sp>
      <p:sp>
        <p:nvSpPr>
          <p:cNvPr id="15394" name="">
            <a:extLst xmlns:a="http://schemas.openxmlformats.org/drawingml/2006/main">
              <a:ext uri="{FF2B5EF4-FFF2-40B4-BE49-F238E27FC236}">
                <a16:creationId xmlns:a16="http://schemas.microsoft.com/office/drawing/2014/main" id="{AAEB7C35-295C-435D-857B-F56DF992BA7F}"/>
              </a:ext>
            </a:extLst>
          </p:cNvPr>
          <p:cNvSpPr>
            <a:spLocks xmlns:a="http://schemas.openxmlformats.org/drawingml/2006/main" noGrp="1"/>
          </p:cNvSpPr>
          <p:nvPr/>
        </p:nvSpPr>
        <p:spPr>
          <a:xfrm xmlns:a="http://schemas.openxmlformats.org/drawingml/2006/main">
            <a:off x="723900" y="58388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12B"/>
                </a:solidFill>
                <a:latin typeface="Arial"/>
                <a:ea typeface="Arial"/>
                <a:cs typeface="Arial"/>
              </a:defRPr>
            </a:pPr>
            <a:r>
              <a:rPr sz="1800" b="0">
                <a:solidFill>
                  <a:srgbClr val="17212B"/>
                </a:solidFill>
                <a:latin typeface="Arial"/>
                <a:ea typeface="Arial"/>
                <a:cs typeface="Arial"/>
              </a:rPr>
              <a:t>New transactions and revised labels will update findings while preserving earlier analysis.</a:t>
            </a:r>
          </a:p>
        </p:txBody>
      </p:sp>
    </p:spTree>
    <p:extLst>
      <p:ext uri="{BB962C8B-B14F-4D97-AF65-F5344CB8AC3E}">
        <p14:creationId xmlns:p14="http://schemas.microsoft.com/office/powerpoint/2010/main" val="146890082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4659298A-8907-4994-847D-1977F97E960F}"/>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608A6E31-70D7-4C14-BFD9-E3BFC3A647B2}"/>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FFFFF"/>
                </a:solidFill>
                <a:latin typeface="Arial"/>
                <a:ea typeface="Arial"/>
                <a:cs typeface="Arial"/>
              </a:defRPr>
            </a:pPr>
            <a:fld id="{202359C0-8A7A-196E-DD58-8E6569619F09}" type="slidenum">
              <a:rPr sz="1275"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D8A9522A-D5B8-4D95-B350-0BE5E6B12C7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81" name=""/>
          <p:cNvPicPr>
            <a:picLocks xmlns:a="http://schemas.openxmlformats.org/drawingml/2006/main" noChangeAspect="1"/>
          </p:cNvPicPr>
          <p:nvPr/>
        </p:nvPicPr>
        <p:blipFill>
          <a:blip xmlns:r="http://schemas.openxmlformats.org/officeDocument/2006/relationships" xmlns:a="http://schemas.openxmlformats.org/drawingml/2006/main" r:embed="Rf0727103630948f3"/>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9" name="">
            <a:extLst xmlns:a="http://schemas.openxmlformats.org/drawingml/2006/main">
              <a:ext uri="{FF2B5EF4-FFF2-40B4-BE49-F238E27FC236}">
                <a16:creationId xmlns:a16="http://schemas.microsoft.com/office/drawing/2014/main" id="{2E8ED51E-EF61-42D1-9972-449AC9C694A2}"/>
              </a:ext>
            </a:extLst>
          </p:cNvPr>
          <p:cNvSpPr>
            <a:spLocks xmlns:a="http://schemas.openxmlformats.org/drawingml/2006/main" noGrp="1"/>
          </p:cNvSpPr>
          <p:nvPr/>
        </p:nvSpPr>
        <p:spPr>
          <a:xfrm xmlns:a="http://schemas.openxmlformats.org/drawingml/2006/main">
            <a:off x="609600" y="13716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rPr>
              <a:t>Technologies to be used</a:t>
            </a:r>
          </a:p>
        </p:txBody>
      </p:sp>
      <p:sp>
        <p:nvSpPr>
          <p:cNvPr id="17420" name="">
            <a:extLst xmlns:a="http://schemas.openxmlformats.org/drawingml/2006/main">
              <a:ext uri="{FF2B5EF4-FFF2-40B4-BE49-F238E27FC236}">
                <a16:creationId xmlns:a16="http://schemas.microsoft.com/office/drawing/2014/main" id="{FC9917E4-A673-4AEC-ADAA-E5BBC9890D89}"/>
              </a:ext>
            </a:extLst>
          </p:cNvPr>
          <p:cNvSpPr>
            <a:spLocks xmlns:a="http://schemas.openxmlformats.org/drawingml/2006/main" noGrp="1"/>
          </p:cNvSpPr>
          <p:nvPr/>
        </p:nvSpPr>
        <p:spPr>
          <a:xfrm xmlns:a="http://schemas.openxmlformats.org/drawingml/2006/main">
            <a:off x="723900" y="176212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12B"/>
                </a:solidFill>
                <a:latin typeface="Arial"/>
                <a:ea typeface="Arial"/>
                <a:cs typeface="Arial"/>
              </a:defRPr>
            </a:pPr>
            <a:r>
              <a:rPr sz="1800" b="0">
                <a:solidFill>
                  <a:srgbClr val="17212B"/>
                </a:solidFill>
                <a:latin typeface="Arial"/>
                <a:ea typeface="Arial"/>
                <a:cs typeface="Arial"/>
              </a:rPr>
              <a:t>React dashboard and FastAPI services, queued workers, incremental transaction indexing,</a:t>
            </a:r>
          </a:p>
        </p:txBody>
      </p:sp>
      <p:sp>
        <p:nvSpPr>
          <p:cNvPr id="17421" name="">
            <a:extLst xmlns:a="http://schemas.openxmlformats.org/drawingml/2006/main">
              <a:ext uri="{FF2B5EF4-FFF2-40B4-BE49-F238E27FC236}">
                <a16:creationId xmlns:a16="http://schemas.microsoft.com/office/drawing/2014/main" id="{81FA825A-8B48-4B5D-84F7-ADF8B5D8C126}"/>
              </a:ext>
            </a:extLst>
          </p:cNvPr>
          <p:cNvSpPr>
            <a:spLocks xmlns:a="http://schemas.openxmlformats.org/drawingml/2006/main" noGrp="1"/>
          </p:cNvSpPr>
          <p:nvPr/>
        </p:nvSpPr>
        <p:spPr>
          <a:xfrm xmlns:a="http://schemas.openxmlformats.org/drawingml/2006/main">
            <a:off x="723900" y="209550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12B"/>
                </a:solidFill>
                <a:latin typeface="Arial"/>
                <a:ea typeface="Arial"/>
                <a:cs typeface="Arial"/>
              </a:defRPr>
            </a:pPr>
            <a:r>
              <a:rPr sz="1800" b="0">
                <a:solidFill>
                  <a:srgbClr val="17212B"/>
                </a:solidFill>
                <a:latin typeface="Arial"/>
                <a:ea typeface="Arial"/>
                <a:cs typeface="Arial"/>
              </a:rPr>
              <a:t>persistent case storage and a versioned VASP-label registry.</a:t>
            </a:r>
          </a:p>
        </p:txBody>
      </p:sp>
      <p:sp>
        <p:nvSpPr>
          <p:cNvPr id="17422" name="">
            <a:extLst xmlns:a="http://schemas.openxmlformats.org/drawingml/2006/main">
              <a:ext uri="{FF2B5EF4-FFF2-40B4-BE49-F238E27FC236}">
                <a16:creationId xmlns:a16="http://schemas.microsoft.com/office/drawing/2014/main" id="{606C94F5-DE12-42D0-BC92-78E4CB0381E4}"/>
              </a:ext>
            </a:extLst>
          </p:cNvPr>
          <p:cNvSpPr>
            <a:spLocks xmlns:a="http://schemas.openxmlformats.org/drawingml/2006/main" noGrp="1"/>
          </p:cNvSpPr>
          <p:nvPr/>
        </p:nvSpPr>
        <p:spPr>
          <a:xfrm xmlns:a="http://schemas.openxmlformats.org/drawingml/2006/main">
            <a:off x="609600" y="26098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rPr>
              <a:t>Methodology and process for implementation</a:t>
            </a:r>
          </a:p>
        </p:txBody>
      </p:sp>
      <p:sp>
        <p:nvSpPr>
          <p:cNvPr id="17423" name="Chain adapters">
            <a:extLst xmlns:a="http://schemas.openxmlformats.org/drawingml/2006/main">
              <a:ext uri="{FF2B5EF4-FFF2-40B4-BE49-F238E27FC236}">
                <a16:creationId xmlns:a16="http://schemas.microsoft.com/office/drawing/2014/main" id="{7DCE6480-2A67-4BF6-A124-94CB5A022A3F}"/>
              </a:ext>
            </a:extLst>
          </p:cNvPr>
          <p:cNvSpPr>
            <a:spLocks xmlns:a="http://schemas.openxmlformats.org/drawingml/2006/main" noGrp="1"/>
          </p:cNvSpPr>
          <p:nvPr/>
        </p:nvSpPr>
        <p:spPr>
          <a:xfrm xmlns:a="http://schemas.openxmlformats.org/drawingml/2006/main">
            <a:off x="609600" y="3143250"/>
            <a:ext cx="2362200" cy="11811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4" name="">
            <a:extLst xmlns:a="http://schemas.openxmlformats.org/drawingml/2006/main">
              <a:ext uri="{FF2B5EF4-FFF2-40B4-BE49-F238E27FC236}">
                <a16:creationId xmlns:a16="http://schemas.microsoft.com/office/drawing/2014/main" id="{5B478F6A-A7F0-4284-A01A-5DA6F5C7B349}"/>
              </a:ext>
            </a:extLst>
          </p:cNvPr>
          <p:cNvSpPr>
            <a:spLocks xmlns:a="http://schemas.openxmlformats.org/drawingml/2006/main" noGrp="1"/>
          </p:cNvSpPr>
          <p:nvPr/>
        </p:nvSpPr>
        <p:spPr>
          <a:xfrm xmlns:a="http://schemas.openxmlformats.org/drawingml/2006/main">
            <a:off x="723900" y="32861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Chain adapters</a:t>
            </a:r>
          </a:p>
        </p:txBody>
      </p:sp>
      <p:sp>
        <p:nvSpPr>
          <p:cNvPr id="17425" name="">
            <a:extLst xmlns:a="http://schemas.openxmlformats.org/drawingml/2006/main">
              <a:ext uri="{FF2B5EF4-FFF2-40B4-BE49-F238E27FC236}">
                <a16:creationId xmlns:a16="http://schemas.microsoft.com/office/drawing/2014/main" id="{710F3D78-948A-4114-A293-F7ED6F023ECD}"/>
              </a:ext>
            </a:extLst>
          </p:cNvPr>
          <p:cNvSpPr>
            <a:spLocks xmlns:a="http://schemas.openxmlformats.org/drawingml/2006/main" noGrp="1"/>
          </p:cNvSpPr>
          <p:nvPr/>
        </p:nvSpPr>
        <p:spPr>
          <a:xfrm xmlns:a="http://schemas.openxmlformats.org/drawingml/2006/main">
            <a:off x="723900" y="3629025"/>
            <a:ext cx="2133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Bitcoin, EVM/TRON</a:t>
            </a:r>
          </a:p>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Supported bridges</a:t>
            </a:r>
          </a:p>
        </p:txBody>
      </p:sp>
      <p:sp>
        <p:nvSpPr>
          <p:cNvPr id="17426" name="Tracing engine">
            <a:extLst xmlns:a="http://schemas.openxmlformats.org/drawingml/2006/main">
              <a:ext uri="{FF2B5EF4-FFF2-40B4-BE49-F238E27FC236}">
                <a16:creationId xmlns:a16="http://schemas.microsoft.com/office/drawing/2014/main" id="{A3A6B022-9B0C-4374-A76E-152BE837AB19}"/>
              </a:ext>
            </a:extLst>
          </p:cNvPr>
          <p:cNvSpPr>
            <a:spLocks xmlns:a="http://schemas.openxmlformats.org/drawingml/2006/main" noGrp="1"/>
          </p:cNvSpPr>
          <p:nvPr/>
        </p:nvSpPr>
        <p:spPr>
          <a:xfrm xmlns:a="http://schemas.openxmlformats.org/drawingml/2006/main">
            <a:off x="3467100" y="3143250"/>
            <a:ext cx="2362200" cy="11811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7" name="">
            <a:extLst xmlns:a="http://schemas.openxmlformats.org/drawingml/2006/main">
              <a:ext uri="{FF2B5EF4-FFF2-40B4-BE49-F238E27FC236}">
                <a16:creationId xmlns:a16="http://schemas.microsoft.com/office/drawing/2014/main" id="{35888678-3BFD-4B32-8553-E272C863ACFF}"/>
              </a:ext>
            </a:extLst>
          </p:cNvPr>
          <p:cNvSpPr>
            <a:spLocks xmlns:a="http://schemas.openxmlformats.org/drawingml/2006/main" noGrp="1"/>
          </p:cNvSpPr>
          <p:nvPr/>
        </p:nvSpPr>
        <p:spPr>
          <a:xfrm xmlns:a="http://schemas.openxmlformats.org/drawingml/2006/main">
            <a:off x="3581400" y="32861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Tracing engine</a:t>
            </a:r>
          </a:p>
        </p:txBody>
      </p:sp>
      <p:sp>
        <p:nvSpPr>
          <p:cNvPr id="17428" name="">
            <a:extLst xmlns:a="http://schemas.openxmlformats.org/drawingml/2006/main">
              <a:ext uri="{FF2B5EF4-FFF2-40B4-BE49-F238E27FC236}">
                <a16:creationId xmlns:a16="http://schemas.microsoft.com/office/drawing/2014/main" id="{32AC09C5-EEA4-43F1-A01B-4ABBD5807025}"/>
              </a:ext>
            </a:extLst>
          </p:cNvPr>
          <p:cNvSpPr>
            <a:spLocks xmlns:a="http://schemas.openxmlformats.org/drawingml/2006/main" noGrp="1"/>
          </p:cNvSpPr>
          <p:nvPr/>
        </p:nvSpPr>
        <p:spPr>
          <a:xfrm xmlns:a="http://schemas.openxmlformats.org/drawingml/2006/main">
            <a:off x="3581400" y="3629025"/>
            <a:ext cx="2133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Spend links and</a:t>
            </a:r>
          </a:p>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transfer events</a:t>
            </a:r>
          </a:p>
        </p:txBody>
      </p:sp>
      <p:sp>
        <p:nvSpPr>
          <p:cNvPr id="17429" name="VASP matching">
            <a:extLst xmlns:a="http://schemas.openxmlformats.org/drawingml/2006/main">
              <a:ext uri="{FF2B5EF4-FFF2-40B4-BE49-F238E27FC236}">
                <a16:creationId xmlns:a16="http://schemas.microsoft.com/office/drawing/2014/main" id="{C28B437A-B747-4BCF-9AB2-5F2AAB29D269}"/>
              </a:ext>
            </a:extLst>
          </p:cNvPr>
          <p:cNvSpPr>
            <a:spLocks xmlns:a="http://schemas.openxmlformats.org/drawingml/2006/main" noGrp="1"/>
          </p:cNvSpPr>
          <p:nvPr/>
        </p:nvSpPr>
        <p:spPr>
          <a:xfrm xmlns:a="http://schemas.openxmlformats.org/drawingml/2006/main">
            <a:off x="6324600" y="3143250"/>
            <a:ext cx="2362200" cy="11811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0" name="">
            <a:extLst xmlns:a="http://schemas.openxmlformats.org/drawingml/2006/main">
              <a:ext uri="{FF2B5EF4-FFF2-40B4-BE49-F238E27FC236}">
                <a16:creationId xmlns:a16="http://schemas.microsoft.com/office/drawing/2014/main" id="{CB13D2FA-F156-48D2-B203-32AA36DB095E}"/>
              </a:ext>
            </a:extLst>
          </p:cNvPr>
          <p:cNvSpPr>
            <a:spLocks xmlns:a="http://schemas.openxmlformats.org/drawingml/2006/main" noGrp="1"/>
          </p:cNvSpPr>
          <p:nvPr/>
        </p:nvSpPr>
        <p:spPr>
          <a:xfrm xmlns:a="http://schemas.openxmlformats.org/drawingml/2006/main">
            <a:off x="6438900" y="32861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VASP matching</a:t>
            </a:r>
          </a:p>
        </p:txBody>
      </p:sp>
      <p:sp>
        <p:nvSpPr>
          <p:cNvPr id="17431" name="">
            <a:extLst xmlns:a="http://schemas.openxmlformats.org/drawingml/2006/main">
              <a:ext uri="{FF2B5EF4-FFF2-40B4-BE49-F238E27FC236}">
                <a16:creationId xmlns:a16="http://schemas.microsoft.com/office/drawing/2014/main" id="{B8C3855E-06A0-46CE-B7F0-072F912277DA}"/>
              </a:ext>
            </a:extLst>
          </p:cNvPr>
          <p:cNvSpPr>
            <a:spLocks xmlns:a="http://schemas.openxmlformats.org/drawingml/2006/main" noGrp="1"/>
          </p:cNvSpPr>
          <p:nvPr/>
        </p:nvSpPr>
        <p:spPr>
          <a:xfrm xmlns:a="http://schemas.openxmlformats.org/drawingml/2006/main">
            <a:off x="6438900" y="3629025"/>
            <a:ext cx="2133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Sourced labels and</a:t>
            </a:r>
          </a:p>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cautious clustering</a:t>
            </a:r>
          </a:p>
        </p:txBody>
      </p:sp>
      <p:sp>
        <p:nvSpPr>
          <p:cNvPr id="17432" name="Case workspace">
            <a:extLst xmlns:a="http://schemas.openxmlformats.org/drawingml/2006/main">
              <a:ext uri="{FF2B5EF4-FFF2-40B4-BE49-F238E27FC236}">
                <a16:creationId xmlns:a16="http://schemas.microsoft.com/office/drawing/2014/main" id="{BF17A560-3797-47C7-A39D-38F0ED963066}"/>
              </a:ext>
            </a:extLst>
          </p:cNvPr>
          <p:cNvSpPr>
            <a:spLocks xmlns:a="http://schemas.openxmlformats.org/drawingml/2006/main" noGrp="1"/>
          </p:cNvSpPr>
          <p:nvPr/>
        </p:nvSpPr>
        <p:spPr>
          <a:xfrm xmlns:a="http://schemas.openxmlformats.org/drawingml/2006/main">
            <a:off x="9182100" y="3143250"/>
            <a:ext cx="2362200" cy="11811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3" name="">
            <a:extLst xmlns:a="http://schemas.openxmlformats.org/drawingml/2006/main">
              <a:ext uri="{FF2B5EF4-FFF2-40B4-BE49-F238E27FC236}">
                <a16:creationId xmlns:a16="http://schemas.microsoft.com/office/drawing/2014/main" id="{03BFC421-D39B-40AC-9486-24320F9021BF}"/>
              </a:ext>
            </a:extLst>
          </p:cNvPr>
          <p:cNvSpPr>
            <a:spLocks xmlns:a="http://schemas.openxmlformats.org/drawingml/2006/main" noGrp="1"/>
          </p:cNvSpPr>
          <p:nvPr/>
        </p:nvSpPr>
        <p:spPr>
          <a:xfrm xmlns:a="http://schemas.openxmlformats.org/drawingml/2006/main">
            <a:off x="9296400" y="32861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Case workspace</a:t>
            </a:r>
          </a:p>
        </p:txBody>
      </p:sp>
      <p:sp>
        <p:nvSpPr>
          <p:cNvPr id="17434" name="">
            <a:extLst xmlns:a="http://schemas.openxmlformats.org/drawingml/2006/main">
              <a:ext uri="{FF2B5EF4-FFF2-40B4-BE49-F238E27FC236}">
                <a16:creationId xmlns:a16="http://schemas.microsoft.com/office/drawing/2014/main" id="{F66D7661-8831-4384-9083-BD5EE01CDE8F}"/>
              </a:ext>
            </a:extLst>
          </p:cNvPr>
          <p:cNvSpPr>
            <a:spLocks xmlns:a="http://schemas.openxmlformats.org/drawingml/2006/main" noGrp="1"/>
          </p:cNvSpPr>
          <p:nvPr/>
        </p:nvSpPr>
        <p:spPr>
          <a:xfrm xmlns:a="http://schemas.openxmlformats.org/drawingml/2006/main">
            <a:off x="9296400" y="3629025"/>
            <a:ext cx="2133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Review candidates</a:t>
            </a:r>
          </a:p>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Monitor and report</a:t>
            </a:r>
          </a:p>
        </p:txBody>
      </p:sp>
      <p:cxnSp>
        <p:nvCxnSpPr>
          <p:cNvPr id="17498" name=""/>
          <p:cNvCxnSpPr>
            <a:stCxn xmlns:a="http://schemas.openxmlformats.org/drawingml/2006/main" id="17423" idx="3"/>
            <a:endCxn xmlns:a="http://schemas.openxmlformats.org/drawingml/2006/main" id="17426" idx="1"/>
          </p:cNvCxnSpPr>
          <p:nvPr/>
        </p:nvCxnSpPr>
        <p:spPr>
          <a:xfrm xmlns:a="http://schemas.openxmlformats.org/drawingml/2006/main">
            <a:off x="2971800" y="3733800"/>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7499" name=""/>
          <p:cNvCxnSpPr>
            <a:stCxn xmlns:a="http://schemas.openxmlformats.org/drawingml/2006/main" id="17426" idx="3"/>
            <a:endCxn xmlns:a="http://schemas.openxmlformats.org/drawingml/2006/main" id="17429" idx="1"/>
          </p:cNvCxnSpPr>
          <p:nvPr/>
        </p:nvCxnSpPr>
        <p:spPr>
          <a:xfrm xmlns:a="http://schemas.openxmlformats.org/drawingml/2006/main">
            <a:off x="5829300" y="3733800"/>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7500" name=""/>
          <p:cNvCxnSpPr>
            <a:stCxn xmlns:a="http://schemas.openxmlformats.org/drawingml/2006/main" id="17429" idx="3"/>
            <a:endCxn xmlns:a="http://schemas.openxmlformats.org/drawingml/2006/main" id="17432" idx="1"/>
          </p:cNvCxnSpPr>
          <p:nvPr/>
        </p:nvCxnSpPr>
        <p:spPr>
          <a:xfrm xmlns:a="http://schemas.openxmlformats.org/drawingml/2006/main">
            <a:off x="8686800" y="3733800"/>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sp>
        <p:nvSpPr>
          <p:cNvPr id="17438" name="Label registry">
            <a:extLst xmlns:a="http://schemas.openxmlformats.org/drawingml/2006/main">
              <a:ext uri="{FF2B5EF4-FFF2-40B4-BE49-F238E27FC236}">
                <a16:creationId xmlns:a16="http://schemas.microsoft.com/office/drawing/2014/main" id="{773F3708-6E0F-4FC4-B201-6A67E7A5711D}"/>
              </a:ext>
            </a:extLst>
          </p:cNvPr>
          <p:cNvSpPr>
            <a:spLocks xmlns:a="http://schemas.openxmlformats.org/drawingml/2006/main" noGrp="1"/>
          </p:cNvSpPr>
          <p:nvPr/>
        </p:nvSpPr>
        <p:spPr>
          <a:xfrm xmlns:a="http://schemas.openxmlformats.org/drawingml/2006/main">
            <a:off x="6324600" y="4819650"/>
            <a:ext cx="2362200" cy="106680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9" name="">
            <a:extLst xmlns:a="http://schemas.openxmlformats.org/drawingml/2006/main">
              <a:ext uri="{FF2B5EF4-FFF2-40B4-BE49-F238E27FC236}">
                <a16:creationId xmlns:a16="http://schemas.microsoft.com/office/drawing/2014/main" id="{A7099922-AD17-4FA7-BAA0-C0E9E815DDBF}"/>
              </a:ext>
            </a:extLst>
          </p:cNvPr>
          <p:cNvSpPr>
            <a:spLocks xmlns:a="http://schemas.openxmlformats.org/drawingml/2006/main" noGrp="1"/>
          </p:cNvSpPr>
          <p:nvPr/>
        </p:nvSpPr>
        <p:spPr>
          <a:xfrm xmlns:a="http://schemas.openxmlformats.org/drawingml/2006/main">
            <a:off x="6438900" y="49625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Label registry</a:t>
            </a:r>
          </a:p>
        </p:txBody>
      </p:sp>
      <p:sp>
        <p:nvSpPr>
          <p:cNvPr id="17440" name="">
            <a:extLst xmlns:a="http://schemas.openxmlformats.org/drawingml/2006/main">
              <a:ext uri="{FF2B5EF4-FFF2-40B4-BE49-F238E27FC236}">
                <a16:creationId xmlns:a16="http://schemas.microsoft.com/office/drawing/2014/main" id="{92F15316-FF68-4209-9C7A-07F9AD1A2D79}"/>
              </a:ext>
            </a:extLst>
          </p:cNvPr>
          <p:cNvSpPr>
            <a:spLocks xmlns:a="http://schemas.openxmlformats.org/drawingml/2006/main" noGrp="1"/>
          </p:cNvSpPr>
          <p:nvPr/>
        </p:nvSpPr>
        <p:spPr>
          <a:xfrm xmlns:a="http://schemas.openxmlformats.org/drawingml/2006/main">
            <a:off x="6438900" y="5305425"/>
            <a:ext cx="213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Source provenance</a:t>
            </a:r>
          </a:p>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Review date</a:t>
            </a:r>
          </a:p>
        </p:txBody>
      </p:sp>
      <p:cxnSp>
        <p:nvCxnSpPr>
          <p:cNvPr id="17504" name=""/>
          <p:cNvCxnSpPr>
            <a:stCxn xmlns:a="http://schemas.openxmlformats.org/drawingml/2006/main" id="17438" idx="0"/>
            <a:endCxn xmlns:a="http://schemas.openxmlformats.org/drawingml/2006/main" id="17429" idx="2"/>
          </p:cNvCxnSpPr>
          <p:nvPr/>
        </p:nvCxnSpPr>
        <p:spPr>
          <a:xfrm xmlns:a="http://schemas.openxmlformats.org/drawingml/2006/main" flipV="1">
            <a:off x="7505700" y="4324350"/>
            <a:ext cx="0" cy="49530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sp>
        <p:nvSpPr>
          <p:cNvPr id="17442" name="">
            <a:extLst xmlns:a="http://schemas.openxmlformats.org/drawingml/2006/main">
              <a:ext uri="{FF2B5EF4-FFF2-40B4-BE49-F238E27FC236}">
                <a16:creationId xmlns:a16="http://schemas.microsoft.com/office/drawing/2014/main" id="{429F3477-0573-43C3-B624-A53ED766D5F0}"/>
              </a:ext>
            </a:extLst>
          </p:cNvPr>
          <p:cNvSpPr>
            <a:spLocks xmlns:a="http://schemas.openxmlformats.org/drawingml/2006/main" noGrp="1"/>
          </p:cNvSpPr>
          <p:nvPr/>
        </p:nvSpPr>
        <p:spPr>
          <a:xfrm xmlns:a="http://schemas.openxmlformats.org/drawingml/2006/main">
            <a:off x="723900" y="4819650"/>
            <a:ext cx="257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1F497D"/>
                </a:solidFill>
                <a:latin typeface="Arial"/>
                <a:ea typeface="Arial"/>
                <a:cs typeface="Arial"/>
              </a:defRPr>
            </a:pPr>
            <a:r>
              <a:rPr sz="1725" b="0">
                <a:solidFill>
                  <a:srgbClr val="1F497D"/>
                </a:solidFill>
                <a:latin typeface="Arial"/>
                <a:ea typeface="Arial"/>
                <a:cs typeface="Arial"/>
              </a:rPr>
              <a:t>Time-consistent paths</a:t>
            </a:r>
          </a:p>
          <a:p xmlns:a="http://schemas.openxmlformats.org/drawingml/2006/main">
            <a:pPr algn="l">
              <a:buNone/>
              <a:defRPr sz="1725" b="0">
                <a:solidFill>
                  <a:srgbClr val="1F497D"/>
                </a:solidFill>
                <a:latin typeface="Arial"/>
                <a:ea typeface="Arial"/>
                <a:cs typeface="Arial"/>
              </a:defRPr>
            </a:pPr>
            <a:r>
              <a:rPr sz="1725" b="0">
                <a:solidFill>
                  <a:srgbClr val="1F497D"/>
                </a:solidFill>
                <a:latin typeface="Arial"/>
                <a:ea typeface="Arial"/>
                <a:cs typeface="Arial"/>
              </a:rPr>
              <a:t>Explicit gaps at mixing</a:t>
            </a:r>
          </a:p>
          <a:p xmlns:a="http://schemas.openxmlformats.org/drawingml/2006/main">
            <a:pPr algn="l">
              <a:buNone/>
              <a:defRPr sz="1725" b="0">
                <a:solidFill>
                  <a:srgbClr val="1F497D"/>
                </a:solidFill>
                <a:latin typeface="Arial"/>
                <a:ea typeface="Arial"/>
                <a:cs typeface="Arial"/>
              </a:defRPr>
            </a:pPr>
            <a:r>
              <a:rPr sz="1725" b="0">
                <a:solidFill>
                  <a:srgbClr val="1F497D"/>
                </a:solidFill>
                <a:latin typeface="Arial"/>
                <a:ea typeface="Arial"/>
                <a:cs typeface="Arial"/>
              </a:rPr>
              <a:t>or unsupported bridges</a:t>
            </a:r>
          </a:p>
        </p:txBody>
      </p:sp>
      <p:sp>
        <p:nvSpPr>
          <p:cNvPr id="17443" name="">
            <a:extLst xmlns:a="http://schemas.openxmlformats.org/drawingml/2006/main">
              <a:ext uri="{FF2B5EF4-FFF2-40B4-BE49-F238E27FC236}">
                <a16:creationId xmlns:a16="http://schemas.microsoft.com/office/drawing/2014/main" id="{2757B696-6919-4CAF-B2BD-AC4741C97850}"/>
              </a:ext>
            </a:extLst>
          </p:cNvPr>
          <p:cNvSpPr>
            <a:spLocks xmlns:a="http://schemas.openxmlformats.org/drawingml/2006/main" noGrp="1"/>
          </p:cNvSpPr>
          <p:nvPr/>
        </p:nvSpPr>
        <p:spPr>
          <a:xfrm xmlns:a="http://schemas.openxmlformats.org/drawingml/2006/main">
            <a:off x="3467100" y="4819650"/>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17212B"/>
                </a:solidFill>
                <a:latin typeface="Arial"/>
                <a:ea typeface="Arial"/>
                <a:cs typeface="Arial"/>
              </a:defRPr>
            </a:pPr>
            <a:r>
              <a:rPr sz="1725" b="0">
                <a:solidFill>
                  <a:srgbClr val="17212B"/>
                </a:solidFill>
                <a:latin typeface="Arial"/>
                <a:ea typeface="Arial"/>
                <a:cs typeface="Arial"/>
              </a:rPr>
              <a:t>Explainable rules and</a:t>
            </a:r>
          </a:p>
          <a:p xmlns:a="http://schemas.openxmlformats.org/drawingml/2006/main">
            <a:pPr algn="l">
              <a:buNone/>
              <a:defRPr sz="1725" b="0">
                <a:solidFill>
                  <a:srgbClr val="17212B"/>
                </a:solidFill>
                <a:latin typeface="Arial"/>
                <a:ea typeface="Arial"/>
                <a:cs typeface="Arial"/>
              </a:defRPr>
            </a:pPr>
            <a:r>
              <a:rPr sz="1725" b="0">
                <a:solidFill>
                  <a:srgbClr val="17212B"/>
                </a:solidFill>
                <a:latin typeface="Arial"/>
                <a:ea typeface="Arial"/>
                <a:cs typeface="Arial"/>
              </a:rPr>
              <a:t>evaluated ML will flag</a:t>
            </a:r>
          </a:p>
          <a:p xmlns:a="http://schemas.openxmlformats.org/drawingml/2006/main">
            <a:pPr algn="l">
              <a:buNone/>
              <a:defRPr sz="1725" b="0">
                <a:solidFill>
                  <a:srgbClr val="17212B"/>
                </a:solidFill>
                <a:latin typeface="Arial"/>
                <a:ea typeface="Arial"/>
                <a:cs typeface="Arial"/>
              </a:defRPr>
            </a:pPr>
            <a:r>
              <a:rPr sz="1725" b="0">
                <a:solidFill>
                  <a:srgbClr val="17212B"/>
                </a:solidFill>
                <a:latin typeface="Arial"/>
                <a:ea typeface="Arial"/>
                <a:cs typeface="Arial"/>
              </a:rPr>
              <a:t>suspect flow patterns</a:t>
            </a:r>
          </a:p>
        </p:txBody>
      </p:sp>
      <p:sp>
        <p:nvSpPr>
          <p:cNvPr id="17444" name="">
            <a:extLst xmlns:a="http://schemas.openxmlformats.org/drawingml/2006/main">
              <a:ext uri="{FF2B5EF4-FFF2-40B4-BE49-F238E27FC236}">
                <a16:creationId xmlns:a16="http://schemas.microsoft.com/office/drawing/2014/main" id="{F132971D-8B24-4ED2-8F16-774A3CB3DCB6}"/>
              </a:ext>
            </a:extLst>
          </p:cNvPr>
          <p:cNvSpPr>
            <a:spLocks xmlns:a="http://schemas.openxmlformats.org/drawingml/2006/main" noGrp="1"/>
          </p:cNvSpPr>
          <p:nvPr/>
        </p:nvSpPr>
        <p:spPr>
          <a:xfrm xmlns:a="http://schemas.openxmlformats.org/drawingml/2006/main">
            <a:off x="9239250" y="4819650"/>
            <a:ext cx="2333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17212B"/>
                </a:solidFill>
                <a:latin typeface="Arial"/>
                <a:ea typeface="Arial"/>
                <a:cs typeface="Arial"/>
              </a:defRPr>
            </a:pPr>
            <a:r>
              <a:rPr sz="1725" b="0">
                <a:solidFill>
                  <a:srgbClr val="17212B"/>
                </a:solidFill>
                <a:latin typeface="Arial"/>
                <a:ea typeface="Arial"/>
                <a:cs typeface="Arial"/>
              </a:rPr>
              <a:t>Role-based access</a:t>
            </a:r>
          </a:p>
          <a:p xmlns:a="http://schemas.openxmlformats.org/drawingml/2006/main">
            <a:pPr algn="l">
              <a:buNone/>
              <a:defRPr sz="1725" b="0">
                <a:solidFill>
                  <a:srgbClr val="17212B"/>
                </a:solidFill>
                <a:latin typeface="Arial"/>
                <a:ea typeface="Arial"/>
                <a:cs typeface="Arial"/>
              </a:defRPr>
            </a:pPr>
            <a:r>
              <a:rPr sz="1725" b="0">
                <a:solidFill>
                  <a:srgbClr val="17212B"/>
                </a:solidFill>
                <a:latin typeface="Arial"/>
                <a:ea typeface="Arial"/>
                <a:cs typeface="Arial"/>
              </a:rPr>
              <a:t>Audit trail</a:t>
            </a:r>
          </a:p>
          <a:p xmlns:a="http://schemas.openxmlformats.org/drawingml/2006/main">
            <a:pPr algn="l">
              <a:buNone/>
              <a:defRPr sz="1725" b="0">
                <a:solidFill>
                  <a:srgbClr val="17212B"/>
                </a:solidFill>
                <a:latin typeface="Arial"/>
                <a:ea typeface="Arial"/>
                <a:cs typeface="Arial"/>
              </a:defRPr>
            </a:pPr>
            <a:r>
              <a:rPr sz="1725" b="0">
                <a:solidFill>
                  <a:srgbClr val="17212B"/>
                </a:solidFill>
                <a:latin typeface="Arial"/>
                <a:ea typeface="Arial"/>
                <a:cs typeface="Arial"/>
              </a:rPr>
              <a:t>Approved LEA APIs</a:t>
            </a:r>
          </a:p>
        </p:txBody>
      </p:sp>
      <p:sp>
        <p:nvSpPr>
          <p:cNvPr id="17445" name="">
            <a:extLst xmlns:a="http://schemas.openxmlformats.org/drawingml/2006/main">
              <a:ext uri="{FF2B5EF4-FFF2-40B4-BE49-F238E27FC236}">
                <a16:creationId xmlns:a16="http://schemas.microsoft.com/office/drawing/2014/main" id="{5999ECF0-D68F-4D02-B405-4F209827B5E6}"/>
              </a:ext>
            </a:extLst>
          </p:cNvPr>
          <p:cNvSpPr>
            <a:spLocks xmlns:a="http://schemas.openxmlformats.org/drawingml/2006/main" noGrp="1"/>
          </p:cNvSpPr>
          <p:nvPr/>
        </p:nvSpPr>
        <p:spPr>
          <a:xfrm xmlns:a="http://schemas.openxmlformats.org/drawingml/2006/main">
            <a:off x="723900" y="59721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1F497D"/>
                </a:solidFill>
                <a:latin typeface="Arial"/>
                <a:ea typeface="Arial"/>
                <a:cs typeface="Arial"/>
              </a:defRPr>
            </a:pPr>
            <a:r>
              <a:rPr sz="1650" b="0">
                <a:solidFill>
                  <a:srgbClr val="1F497D"/>
                </a:solidFill>
                <a:latin typeface="Arial"/>
                <a:ea typeface="Arial"/>
                <a:cs typeface="Arial"/>
              </a:rPr>
              <a:t>Findings will distinguish observed transactions, inferred links and unresolved attribution.</a:t>
            </a:r>
          </a:p>
        </p:txBody>
      </p:sp>
    </p:spTree>
    <p:extLst>
      <p:ext uri="{BB962C8B-B14F-4D97-AF65-F5344CB8AC3E}">
        <p14:creationId xmlns:p14="http://schemas.microsoft.com/office/powerpoint/2010/main" val="94854048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5E2D7BE9-8DFD-4E4F-A73E-F4F27287D421}"/>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6DD1BD94-A3E4-4AE5-BC9B-38FD0573F593}"/>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FD6AB9A-5F9E-5F59-51AB-3C8734130965}" type="slidenum">
              <a:rPr sz="1275"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12B73861-8832-4ACA-B08D-33824E2897DF}"/>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69" name=""/>
          <p:cNvPicPr>
            <a:picLocks xmlns:a="http://schemas.openxmlformats.org/drawingml/2006/main" noChangeAspect="1"/>
          </p:cNvPicPr>
          <p:nvPr/>
        </p:nvPicPr>
        <p:blipFill>
          <a:blip xmlns:r="http://schemas.openxmlformats.org/officeDocument/2006/relationships" xmlns:a="http://schemas.openxmlformats.org/drawingml/2006/main" r:embed="Rf07deebc4f874fc5"/>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9" name="">
            <a:extLst xmlns:a="http://schemas.openxmlformats.org/drawingml/2006/main">
              <a:ext uri="{FF2B5EF4-FFF2-40B4-BE49-F238E27FC236}">
                <a16:creationId xmlns:a16="http://schemas.microsoft.com/office/drawing/2014/main" id="{E65CABD3-0656-415B-98C9-73C35E28D5CB}"/>
              </a:ext>
            </a:extLst>
          </p:cNvPr>
          <p:cNvSpPr>
            <a:spLocks xmlns:a="http://schemas.openxmlformats.org/drawingml/2006/main" noGrp="1"/>
          </p:cNvSpPr>
          <p:nvPr/>
        </p:nvSpPr>
        <p:spPr>
          <a:xfrm xmlns:a="http://schemas.openxmlformats.org/drawingml/2006/main">
            <a:off x="609600" y="13811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rPr>
              <a:t>Analysis of feasibility of the idea</a:t>
            </a:r>
          </a:p>
        </p:txBody>
      </p:sp>
      <p:sp>
        <p:nvSpPr>
          <p:cNvPr id="17420" name="1. Validate">
            <a:extLst xmlns:a="http://schemas.openxmlformats.org/drawingml/2006/main">
              <a:ext uri="{FF2B5EF4-FFF2-40B4-BE49-F238E27FC236}">
                <a16:creationId xmlns:a16="http://schemas.microsoft.com/office/drawing/2014/main" id="{BC66EE83-9884-44B4-B73E-CC7A227FC6E8}"/>
              </a:ext>
            </a:extLst>
          </p:cNvPr>
          <p:cNvSpPr>
            <a:spLocks xmlns:a="http://schemas.openxmlformats.org/drawingml/2006/main" noGrp="1"/>
          </p:cNvSpPr>
          <p:nvPr/>
        </p:nvSpPr>
        <p:spPr>
          <a:xfrm xmlns:a="http://schemas.openxmlformats.org/drawingml/2006/main">
            <a:off x="609600" y="1847850"/>
            <a:ext cx="2362200" cy="9334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1" name="">
            <a:extLst xmlns:a="http://schemas.openxmlformats.org/drawingml/2006/main">
              <a:ext uri="{FF2B5EF4-FFF2-40B4-BE49-F238E27FC236}">
                <a16:creationId xmlns:a16="http://schemas.microsoft.com/office/drawing/2014/main" id="{DCEA98DF-C052-4DE7-A21C-93E812846116}"/>
              </a:ext>
            </a:extLst>
          </p:cNvPr>
          <p:cNvSpPr>
            <a:spLocks xmlns:a="http://schemas.openxmlformats.org/drawingml/2006/main" noGrp="1"/>
          </p:cNvSpPr>
          <p:nvPr/>
        </p:nvSpPr>
        <p:spPr>
          <a:xfrm xmlns:a="http://schemas.openxmlformats.org/drawingml/2006/main">
            <a:off x="723900" y="19907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1. Validate</a:t>
            </a:r>
          </a:p>
        </p:txBody>
      </p:sp>
      <p:sp>
        <p:nvSpPr>
          <p:cNvPr id="17422" name="">
            <a:extLst xmlns:a="http://schemas.openxmlformats.org/drawingml/2006/main">
              <a:ext uri="{FF2B5EF4-FFF2-40B4-BE49-F238E27FC236}">
                <a16:creationId xmlns:a16="http://schemas.microsoft.com/office/drawing/2014/main" id="{57BC3405-C613-4D39-BCAA-AA7CAC82B331}"/>
              </a:ext>
            </a:extLst>
          </p:cNvPr>
          <p:cNvSpPr>
            <a:spLocks xmlns:a="http://schemas.openxmlformats.org/drawingml/2006/main" noGrp="1"/>
          </p:cNvSpPr>
          <p:nvPr/>
        </p:nvSpPr>
        <p:spPr>
          <a:xfrm xmlns:a="http://schemas.openxmlformats.org/drawingml/2006/main">
            <a:off x="723900" y="2333625"/>
            <a:ext cx="2133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Bitcoin attribution</a:t>
            </a:r>
          </a:p>
        </p:txBody>
      </p:sp>
      <p:sp>
        <p:nvSpPr>
          <p:cNvPr id="17423" name="2. Monitor">
            <a:extLst xmlns:a="http://schemas.openxmlformats.org/drawingml/2006/main">
              <a:ext uri="{FF2B5EF4-FFF2-40B4-BE49-F238E27FC236}">
                <a16:creationId xmlns:a16="http://schemas.microsoft.com/office/drawing/2014/main" id="{2CD03D58-9FD9-4024-99FE-225641DF9A34}"/>
              </a:ext>
            </a:extLst>
          </p:cNvPr>
          <p:cNvSpPr>
            <a:spLocks xmlns:a="http://schemas.openxmlformats.org/drawingml/2006/main" noGrp="1"/>
          </p:cNvSpPr>
          <p:nvPr/>
        </p:nvSpPr>
        <p:spPr>
          <a:xfrm xmlns:a="http://schemas.openxmlformats.org/drawingml/2006/main">
            <a:off x="3467100" y="1847850"/>
            <a:ext cx="2362200" cy="9334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4" name="">
            <a:extLst xmlns:a="http://schemas.openxmlformats.org/drawingml/2006/main">
              <a:ext uri="{FF2B5EF4-FFF2-40B4-BE49-F238E27FC236}">
                <a16:creationId xmlns:a16="http://schemas.microsoft.com/office/drawing/2014/main" id="{5F2D0CB1-D9CD-4FA2-B55E-D07510914B5D}"/>
              </a:ext>
            </a:extLst>
          </p:cNvPr>
          <p:cNvSpPr>
            <a:spLocks xmlns:a="http://schemas.openxmlformats.org/drawingml/2006/main" noGrp="1"/>
          </p:cNvSpPr>
          <p:nvPr/>
        </p:nvSpPr>
        <p:spPr>
          <a:xfrm xmlns:a="http://schemas.openxmlformats.org/drawingml/2006/main">
            <a:off x="3581400" y="19907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2. Monitor</a:t>
            </a:r>
          </a:p>
        </p:txBody>
      </p:sp>
      <p:sp>
        <p:nvSpPr>
          <p:cNvPr id="17425" name="">
            <a:extLst xmlns:a="http://schemas.openxmlformats.org/drawingml/2006/main">
              <a:ext uri="{FF2B5EF4-FFF2-40B4-BE49-F238E27FC236}">
                <a16:creationId xmlns:a16="http://schemas.microsoft.com/office/drawing/2014/main" id="{BB728EB7-3778-495B-B50A-F86D6C6097B1}"/>
              </a:ext>
            </a:extLst>
          </p:cNvPr>
          <p:cNvSpPr>
            <a:spLocks xmlns:a="http://schemas.openxmlformats.org/drawingml/2006/main" noGrp="1"/>
          </p:cNvSpPr>
          <p:nvPr/>
        </p:nvSpPr>
        <p:spPr>
          <a:xfrm xmlns:a="http://schemas.openxmlformats.org/drawingml/2006/main">
            <a:off x="3581400" y="2333625"/>
            <a:ext cx="2133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Movement alerts</a:t>
            </a:r>
          </a:p>
        </p:txBody>
      </p:sp>
      <p:sp>
        <p:nvSpPr>
          <p:cNvPr id="17426" name="3. Extend">
            <a:extLst xmlns:a="http://schemas.openxmlformats.org/drawingml/2006/main">
              <a:ext uri="{FF2B5EF4-FFF2-40B4-BE49-F238E27FC236}">
                <a16:creationId xmlns:a16="http://schemas.microsoft.com/office/drawing/2014/main" id="{03F3FA39-0EB1-4969-B541-A369EE5409A6}"/>
              </a:ext>
            </a:extLst>
          </p:cNvPr>
          <p:cNvSpPr>
            <a:spLocks xmlns:a="http://schemas.openxmlformats.org/drawingml/2006/main" noGrp="1"/>
          </p:cNvSpPr>
          <p:nvPr/>
        </p:nvSpPr>
        <p:spPr>
          <a:xfrm xmlns:a="http://schemas.openxmlformats.org/drawingml/2006/main">
            <a:off x="6324600" y="1847850"/>
            <a:ext cx="2362200" cy="9334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7" name="">
            <a:extLst xmlns:a="http://schemas.openxmlformats.org/drawingml/2006/main">
              <a:ext uri="{FF2B5EF4-FFF2-40B4-BE49-F238E27FC236}">
                <a16:creationId xmlns:a16="http://schemas.microsoft.com/office/drawing/2014/main" id="{75AAF60A-58F5-4623-B2A1-9DDEBD913006}"/>
              </a:ext>
            </a:extLst>
          </p:cNvPr>
          <p:cNvSpPr>
            <a:spLocks xmlns:a="http://schemas.openxmlformats.org/drawingml/2006/main" noGrp="1"/>
          </p:cNvSpPr>
          <p:nvPr/>
        </p:nvSpPr>
        <p:spPr>
          <a:xfrm xmlns:a="http://schemas.openxmlformats.org/drawingml/2006/main">
            <a:off x="6438900" y="19907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3. Extend</a:t>
            </a:r>
          </a:p>
        </p:txBody>
      </p:sp>
      <p:sp>
        <p:nvSpPr>
          <p:cNvPr id="17428" name="">
            <a:extLst xmlns:a="http://schemas.openxmlformats.org/drawingml/2006/main">
              <a:ext uri="{FF2B5EF4-FFF2-40B4-BE49-F238E27FC236}">
                <a16:creationId xmlns:a16="http://schemas.microsoft.com/office/drawing/2014/main" id="{22957EC1-4B07-46D9-8DC3-2B0F934056C8}"/>
              </a:ext>
            </a:extLst>
          </p:cNvPr>
          <p:cNvSpPr>
            <a:spLocks xmlns:a="http://schemas.openxmlformats.org/drawingml/2006/main" noGrp="1"/>
          </p:cNvSpPr>
          <p:nvPr/>
        </p:nvSpPr>
        <p:spPr>
          <a:xfrm xmlns:a="http://schemas.openxmlformats.org/drawingml/2006/main">
            <a:off x="6438900" y="2333625"/>
            <a:ext cx="2133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EVM/TRON, bridges</a:t>
            </a:r>
          </a:p>
        </p:txBody>
      </p:sp>
      <p:sp>
        <p:nvSpPr>
          <p:cNvPr id="17429" name="4. Integrate">
            <a:extLst xmlns:a="http://schemas.openxmlformats.org/drawingml/2006/main">
              <a:ext uri="{FF2B5EF4-FFF2-40B4-BE49-F238E27FC236}">
                <a16:creationId xmlns:a16="http://schemas.microsoft.com/office/drawing/2014/main" id="{33BE0A4C-3A2F-4BA3-9EEC-684ECBC82F16}"/>
              </a:ext>
            </a:extLst>
          </p:cNvPr>
          <p:cNvSpPr>
            <a:spLocks xmlns:a="http://schemas.openxmlformats.org/drawingml/2006/main" noGrp="1"/>
          </p:cNvSpPr>
          <p:nvPr/>
        </p:nvSpPr>
        <p:spPr>
          <a:xfrm xmlns:a="http://schemas.openxmlformats.org/drawingml/2006/main">
            <a:off x="9182100" y="1847850"/>
            <a:ext cx="2362200" cy="9334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0" name="">
            <a:extLst xmlns:a="http://schemas.openxmlformats.org/drawingml/2006/main">
              <a:ext uri="{FF2B5EF4-FFF2-40B4-BE49-F238E27FC236}">
                <a16:creationId xmlns:a16="http://schemas.microsoft.com/office/drawing/2014/main" id="{56203953-634D-468A-9E0F-A3FA0D3D3A22}"/>
              </a:ext>
            </a:extLst>
          </p:cNvPr>
          <p:cNvSpPr>
            <a:spLocks xmlns:a="http://schemas.openxmlformats.org/drawingml/2006/main" noGrp="1"/>
          </p:cNvSpPr>
          <p:nvPr/>
        </p:nvSpPr>
        <p:spPr>
          <a:xfrm xmlns:a="http://schemas.openxmlformats.org/drawingml/2006/main">
            <a:off x="9296400" y="19907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4. Integrate</a:t>
            </a:r>
          </a:p>
        </p:txBody>
      </p:sp>
      <p:sp>
        <p:nvSpPr>
          <p:cNvPr id="17431" name="">
            <a:extLst xmlns:a="http://schemas.openxmlformats.org/drawingml/2006/main">
              <a:ext uri="{FF2B5EF4-FFF2-40B4-BE49-F238E27FC236}">
                <a16:creationId xmlns:a16="http://schemas.microsoft.com/office/drawing/2014/main" id="{C6BF3A0E-64CC-4D90-A42B-4939E3F47D71}"/>
              </a:ext>
            </a:extLst>
          </p:cNvPr>
          <p:cNvSpPr>
            <a:spLocks xmlns:a="http://schemas.openxmlformats.org/drawingml/2006/main" noGrp="1"/>
          </p:cNvSpPr>
          <p:nvPr/>
        </p:nvSpPr>
        <p:spPr>
          <a:xfrm xmlns:a="http://schemas.openxmlformats.org/drawingml/2006/main">
            <a:off x="9296400" y="2333625"/>
            <a:ext cx="2133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Approved LEA access</a:t>
            </a:r>
          </a:p>
        </p:txBody>
      </p:sp>
      <p:cxnSp>
        <p:nvCxnSpPr>
          <p:cNvPr id="17483" name=""/>
          <p:cNvCxnSpPr>
            <a:stCxn xmlns:a="http://schemas.openxmlformats.org/drawingml/2006/main" id="17420" idx="3"/>
            <a:endCxn xmlns:a="http://schemas.openxmlformats.org/drawingml/2006/main" id="17423" idx="1"/>
          </p:cNvCxnSpPr>
          <p:nvPr/>
        </p:nvCxnSpPr>
        <p:spPr>
          <a:xfrm xmlns:a="http://schemas.openxmlformats.org/drawingml/2006/main">
            <a:off x="2971800" y="231457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7484" name=""/>
          <p:cNvCxnSpPr>
            <a:stCxn xmlns:a="http://schemas.openxmlformats.org/drawingml/2006/main" id="17423" idx="3"/>
            <a:endCxn xmlns:a="http://schemas.openxmlformats.org/drawingml/2006/main" id="17426" idx="1"/>
          </p:cNvCxnSpPr>
          <p:nvPr/>
        </p:nvCxnSpPr>
        <p:spPr>
          <a:xfrm xmlns:a="http://schemas.openxmlformats.org/drawingml/2006/main">
            <a:off x="5829300" y="231457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7485" name=""/>
          <p:cNvCxnSpPr>
            <a:stCxn xmlns:a="http://schemas.openxmlformats.org/drawingml/2006/main" id="17426" idx="3"/>
            <a:endCxn xmlns:a="http://schemas.openxmlformats.org/drawingml/2006/main" id="17429" idx="1"/>
          </p:cNvCxnSpPr>
          <p:nvPr/>
        </p:nvCxnSpPr>
        <p:spPr>
          <a:xfrm xmlns:a="http://schemas.openxmlformats.org/drawingml/2006/main">
            <a:off x="8686800" y="231457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sp>
        <p:nvSpPr>
          <p:cNvPr id="17435" name="">
            <a:extLst xmlns:a="http://schemas.openxmlformats.org/drawingml/2006/main">
              <a:ext uri="{FF2B5EF4-FFF2-40B4-BE49-F238E27FC236}">
                <a16:creationId xmlns:a16="http://schemas.microsoft.com/office/drawing/2014/main" id="{9F3CDC9A-E0FE-42AB-BD0E-AA1BF1E3C7CE}"/>
              </a:ext>
            </a:extLst>
          </p:cNvPr>
          <p:cNvSpPr>
            <a:spLocks xmlns:a="http://schemas.openxmlformats.org/drawingml/2006/main" noGrp="1"/>
          </p:cNvSpPr>
          <p:nvPr/>
        </p:nvSpPr>
        <p:spPr>
          <a:xfrm xmlns:a="http://schemas.openxmlformats.org/drawingml/2006/main">
            <a:off x="723900" y="29813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12B"/>
                </a:solidFill>
                <a:latin typeface="Arial"/>
                <a:ea typeface="Arial"/>
                <a:cs typeface="Arial"/>
              </a:defRPr>
            </a:pPr>
            <a:r>
              <a:rPr sz="1800" b="0">
                <a:solidFill>
                  <a:srgbClr val="17212B"/>
                </a:solidFill>
                <a:latin typeface="Arial"/>
                <a:ea typeface="Arial"/>
                <a:cs typeface="Arial"/>
              </a:rPr>
              <a:t>Label supply: reviewed public disclosures and authorized VASP data, with source history.</a:t>
            </a:r>
          </a:p>
        </p:txBody>
      </p:sp>
      <p:sp>
        <p:nvSpPr>
          <p:cNvPr id="17436" name="">
            <a:extLst xmlns:a="http://schemas.openxmlformats.org/drawingml/2006/main">
              <a:ext uri="{FF2B5EF4-FFF2-40B4-BE49-F238E27FC236}">
                <a16:creationId xmlns:a16="http://schemas.microsoft.com/office/drawing/2014/main" id="{9887E4B4-6D9C-42D0-B25E-F91546D6ECF9}"/>
              </a:ext>
            </a:extLst>
          </p:cNvPr>
          <p:cNvSpPr>
            <a:spLocks xmlns:a="http://schemas.openxmlformats.org/drawingml/2006/main" noGrp="1"/>
          </p:cNvSpPr>
          <p:nvPr/>
        </p:nvSpPr>
        <p:spPr>
          <a:xfrm xmlns:a="http://schemas.openxmlformats.org/drawingml/2006/main">
            <a:off x="609600" y="363855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F497D"/>
                </a:solidFill>
                <a:latin typeface="Arial"/>
                <a:ea typeface="Arial"/>
                <a:cs typeface="Arial"/>
              </a:defRPr>
            </a:pPr>
            <a:r>
              <a:rPr sz="1950" b="1">
                <a:solidFill>
                  <a:srgbClr val="1F497D"/>
                </a:solidFill>
                <a:latin typeface="Arial"/>
                <a:ea typeface="Arial"/>
                <a:cs typeface="Arial"/>
              </a:rPr>
              <a:t>Potential challenges</a:t>
            </a:r>
          </a:p>
          <a:p xmlns:a="http://schemas.openxmlformats.org/drawingml/2006/main">
            <a:pPr algn="l">
              <a:buNone/>
              <a:defRPr sz="1950" b="1">
                <a:solidFill>
                  <a:srgbClr val="1F497D"/>
                </a:solidFill>
                <a:latin typeface="Arial"/>
                <a:ea typeface="Arial"/>
                <a:cs typeface="Arial"/>
              </a:defRPr>
            </a:pPr>
            <a:r>
              <a:rPr sz="1950" b="1">
                <a:solidFill>
                  <a:srgbClr val="1F497D"/>
                </a:solidFill>
                <a:latin typeface="Arial"/>
                <a:ea typeface="Arial"/>
                <a:cs typeface="Arial"/>
              </a:rPr>
              <a:t>and risks</a:t>
            </a:r>
          </a:p>
        </p:txBody>
      </p:sp>
      <p:sp>
        <p:nvSpPr>
          <p:cNvPr id="17437" name="">
            <a:extLst xmlns:a="http://schemas.openxmlformats.org/drawingml/2006/main">
              <a:ext uri="{FF2B5EF4-FFF2-40B4-BE49-F238E27FC236}">
                <a16:creationId xmlns:a16="http://schemas.microsoft.com/office/drawing/2014/main" id="{C5176A05-76D1-43DA-BD94-D6122C59C540}"/>
              </a:ext>
            </a:extLst>
          </p:cNvPr>
          <p:cNvSpPr>
            <a:spLocks xmlns:a="http://schemas.openxmlformats.org/drawingml/2006/main" noGrp="1"/>
          </p:cNvSpPr>
          <p:nvPr/>
        </p:nvSpPr>
        <p:spPr>
          <a:xfrm xmlns:a="http://schemas.openxmlformats.org/drawingml/2006/main">
            <a:off x="4476750" y="3638550"/>
            <a:ext cx="7105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F497D"/>
                </a:solidFill>
                <a:latin typeface="Arial"/>
                <a:ea typeface="Arial"/>
                <a:cs typeface="Arial"/>
              </a:defRPr>
            </a:pPr>
            <a:r>
              <a:rPr sz="1950" b="1">
                <a:solidFill>
                  <a:srgbClr val="1F497D"/>
                </a:solidFill>
                <a:latin typeface="Arial"/>
                <a:ea typeface="Arial"/>
                <a:cs typeface="Arial"/>
              </a:rPr>
              <a:t>Strategies for overcoming these challenges</a:t>
            </a:r>
          </a:p>
        </p:txBody>
      </p:sp>
      <p:graphicFrame>
        <p:nvGraphicFramePr>
          <p:cNvPr id="17489" name=""/>
          <p:cNvGraphicFramePr/>
          <p:nvPr/>
        </p:nvGraphicFramePr>
        <p:xfrm>
          <a:off xmlns:a="http://schemas.openxmlformats.org/drawingml/2006/main" x="609600" y="4276725"/>
          <a:ext xmlns:a="http://schemas.openxmlformats.org/drawingml/2006/main" cx="10972800" cy="1428750"/>
        </p:xfrm>
        <a:graphic xmlns:a="http://schemas.openxmlformats.org/drawingml/2006/main">
          <a:graphicData uri="http://schemas.openxmlformats.org/drawingml/2006/table">
            <a:tbl>
              <a:tblPr/>
              <a:tblGrid>
                <a:gridCol w="3733800"/>
                <a:gridCol w="7239000"/>
              </a:tblGrid>
              <a:tr h="476250">
                <a:tc>
                  <a:txBody>
                    <a:bodyPr lIns="114300" tIns="76200" rIns="114300" bIns="76200"/>
                    <a:lstStyle/>
                    <a:p>
                      <a:r>
                        <a:rPr sz="1650">
                          <a:solidFill>
                            <a:srgbClr val="17212B"/>
                          </a:solidFill>
                          <a:latin typeface="Arial"/>
                          <a:ea typeface="Arial"/>
                          <a:cs typeface="Arial"/>
                        </a:rPr>
                        <a:t>Uncertain labels and flows</a:t>
                      </a:r>
                    </a:p>
                  </a:txBody>
                  <a:tcPr marL="91440" marR="91440" marT="45720" marB="45720" anchor="ctr">
                    <a:solidFill>
                      <a:srgbClr val="FFFFFF"/>
                    </a:solidFill>
                  </a:tcPr>
                </a:tc>
                <a:tc>
                  <a:txBody>
                    <a:bodyPr lIns="114300" tIns="76200" rIns="114300" bIns="76200"/>
                    <a:lstStyle/>
                    <a:p>
                      <a:r>
                        <a:rPr sz="1650">
                          <a:solidFill>
                            <a:srgbClr val="17212B"/>
                          </a:solidFill>
                          <a:latin typeface="Arial"/>
                          <a:ea typeface="Arial"/>
                          <a:cs typeface="Arial"/>
                        </a:rPr>
                        <a:t>Version label sources, review clusters and show unresolved paths.</a:t>
                      </a:r>
                    </a:p>
                  </a:txBody>
                  <a:tcPr marL="91440" marR="91440" marT="45720" marB="45720" anchor="ctr">
                    <a:solidFill>
                      <a:srgbClr val="FFFFFF"/>
                    </a:solidFill>
                  </a:tcPr>
                </a:tc>
              </a:tr>
              <a:tr h="476250">
                <a:tc>
                  <a:txBody>
                    <a:bodyPr lIns="114300" tIns="76200" rIns="114300" bIns="76200"/>
                    <a:lstStyle/>
                    <a:p>
                      <a:r>
                        <a:rPr sz="1650">
                          <a:solidFill>
                            <a:srgbClr val="17212B"/>
                          </a:solidFill>
                          <a:latin typeface="Arial"/>
                          <a:ea typeface="Arial"/>
                          <a:cs typeface="Arial"/>
                        </a:rPr>
                        <a:t>Provider limits and large histories</a:t>
                      </a:r>
                    </a:p>
                  </a:txBody>
                  <a:tcPr marL="91440" marR="91440" marT="45720" marB="45720" anchor="ctr">
                    <a:solidFill>
                      <a:srgbClr val="F4F8FC"/>
                    </a:solidFill>
                  </a:tcPr>
                </a:tc>
                <a:tc>
                  <a:txBody>
                    <a:bodyPr lIns="114300" tIns="76200" rIns="114300" bIns="76200"/>
                    <a:lstStyle/>
                    <a:p>
                      <a:r>
                        <a:rPr sz="1650">
                          <a:solidFill>
                            <a:srgbClr val="17212B"/>
                          </a:solidFill>
                          <a:latin typeface="Arial"/>
                          <a:ea typeface="Arial"/>
                          <a:cs typeface="Arial"/>
                        </a:rPr>
                        <a:t>Index incrementally, cache queries and bound graph traversal.</a:t>
                      </a:r>
                    </a:p>
                  </a:txBody>
                  <a:tcPr marL="91440" marR="91440" marT="45720" marB="45720" anchor="ctr">
                    <a:solidFill>
                      <a:srgbClr val="F4F8FC"/>
                    </a:solidFill>
                  </a:tcPr>
                </a:tc>
              </a:tr>
              <a:tr h="476250">
                <a:tc>
                  <a:txBody>
                    <a:bodyPr lIns="114300" tIns="76200" rIns="114300" bIns="76200"/>
                    <a:lstStyle/>
                    <a:p>
                      <a:r>
                        <a:rPr sz="1650">
                          <a:solidFill>
                            <a:srgbClr val="17212B"/>
                          </a:solidFill>
                          <a:latin typeface="Arial"/>
                          <a:ea typeface="Arial"/>
                          <a:cs typeface="Arial"/>
                        </a:rPr>
                        <a:t>Sensitive cases and restricted access</a:t>
                      </a:r>
                    </a:p>
                  </a:txBody>
                  <a:tcPr marL="91440" marR="91440" marT="45720" marB="45720" anchor="ctr">
                    <a:solidFill>
                      <a:srgbClr val="FFFFFF"/>
                    </a:solidFill>
                  </a:tcPr>
                </a:tc>
                <a:tc>
                  <a:txBody>
                    <a:bodyPr lIns="114300" tIns="76200" rIns="114300" bIns="76200"/>
                    <a:lstStyle/>
                    <a:p>
                      <a:r>
                        <a:rPr sz="1650">
                          <a:solidFill>
                            <a:srgbClr val="17212B"/>
                          </a:solidFill>
                          <a:latin typeface="Arial"/>
                          <a:ea typeface="Arial"/>
                          <a:cs typeface="Arial"/>
                        </a:rPr>
                        <a:t>Role-based permissions, audit logs and approved NCRP/SAHYOG APIs.</a:t>
                      </a:r>
                    </a:p>
                  </a:txBody>
                  <a:tcPr marL="91440" marR="91440" marT="45720" marB="45720" anchor="ctr">
                    <a:solidFill>
                      <a:srgbClr val="FFFFFF"/>
                    </a:solidFill>
                  </a:tcPr>
                </a:tc>
              </a:tr>
            </a:tbl>
          </a:graphicData>
        </a:graphic>
      </p:graphicFrame>
      <p:sp>
        <p:nvSpPr>
          <p:cNvPr id="17439" name="">
            <a:extLst xmlns:a="http://schemas.openxmlformats.org/drawingml/2006/main">
              <a:ext uri="{FF2B5EF4-FFF2-40B4-BE49-F238E27FC236}">
                <a16:creationId xmlns:a16="http://schemas.microsoft.com/office/drawing/2014/main" id="{73B6AD6B-6E0E-4C31-92C4-9585BD3526FD}"/>
              </a:ext>
            </a:extLst>
          </p:cNvPr>
          <p:cNvSpPr>
            <a:spLocks xmlns:a="http://schemas.openxmlformats.org/drawingml/2006/main" noGrp="1"/>
          </p:cNvSpPr>
          <p:nvPr/>
        </p:nvSpPr>
        <p:spPr>
          <a:xfrm xmlns:a="http://schemas.openxmlformats.org/drawingml/2006/main">
            <a:off x="723900" y="586740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1F497D"/>
                </a:solidFill>
                <a:latin typeface="Arial"/>
                <a:ea typeface="Arial"/>
                <a:cs typeface="Arial"/>
              </a:defRPr>
            </a:pPr>
            <a:r>
              <a:rPr sz="1650" b="0">
                <a:solidFill>
                  <a:srgbClr val="1F497D"/>
                </a:solidFill>
                <a:latin typeface="Arial"/>
                <a:ea typeface="Arial"/>
                <a:cs typeface="Arial"/>
              </a:rPr>
              <a:t>Validation: held-out labelled paths and hard negatives. Measure precision, coverage and alert latency.</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88E43624-4540-4BEC-AAA3-8049EA47D397}"/>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B455D779-8440-4699-91AE-945AB8A2B0DF}"/>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E5B3003-2C54-13C6-9832-7637201064DE}" type="slidenum">
              <a:rPr sz="1275"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F4F6620-7988-47BB-874A-F834027C0F7E}"/>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81" name=""/>
          <p:cNvPicPr>
            <a:picLocks xmlns:a="http://schemas.openxmlformats.org/drawingml/2006/main" noChangeAspect="1"/>
          </p:cNvPicPr>
          <p:nvPr/>
        </p:nvPicPr>
        <p:blipFill>
          <a:blip xmlns:r="http://schemas.openxmlformats.org/officeDocument/2006/relationships" xmlns:a="http://schemas.openxmlformats.org/drawingml/2006/main" r:embed="Rdddcd2d4c9244b37"/>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8" name="">
            <a:extLst xmlns:a="http://schemas.openxmlformats.org/drawingml/2006/main">
              <a:ext uri="{FF2B5EF4-FFF2-40B4-BE49-F238E27FC236}">
                <a16:creationId xmlns:a16="http://schemas.microsoft.com/office/drawing/2014/main" id="{A4D460CA-9A74-41DB-B90A-A3F1B7B4E58A}"/>
              </a:ext>
            </a:extLst>
          </p:cNvPr>
          <p:cNvSpPr>
            <a:spLocks xmlns:a="http://schemas.openxmlformats.org/drawingml/2006/main" noGrp="1"/>
          </p:cNvSpPr>
          <p:nvPr/>
        </p:nvSpPr>
        <p:spPr>
          <a:xfrm xmlns:a="http://schemas.openxmlformats.org/drawingml/2006/main">
            <a:off x="609600" y="13811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rPr>
              <a:t>Potential impact on the target audience</a:t>
            </a:r>
          </a:p>
        </p:txBody>
      </p:sp>
      <p:sp>
        <p:nvSpPr>
          <p:cNvPr id="17419" name="">
            <a:extLst xmlns:a="http://schemas.openxmlformats.org/drawingml/2006/main">
              <a:ext uri="{FF2B5EF4-FFF2-40B4-BE49-F238E27FC236}">
                <a16:creationId xmlns:a16="http://schemas.microsoft.com/office/drawing/2014/main" id="{4D198D03-2C0C-4EBD-B1AC-20C6E98ED010}"/>
              </a:ext>
            </a:extLst>
          </p:cNvPr>
          <p:cNvSpPr>
            <a:spLocks xmlns:a="http://schemas.openxmlformats.org/drawingml/2006/main" noGrp="1"/>
          </p:cNvSpPr>
          <p:nvPr/>
        </p:nvSpPr>
        <p:spPr>
          <a:xfrm xmlns:a="http://schemas.openxmlformats.org/drawingml/2006/main">
            <a:off x="723900" y="1771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12B"/>
                </a:solidFill>
                <a:latin typeface="Arial"/>
                <a:ea typeface="Arial"/>
                <a:cs typeface="Arial"/>
              </a:defRPr>
            </a:pPr>
            <a:r>
              <a:rPr sz="1800" b="0">
                <a:solidFill>
                  <a:srgbClr val="17212B"/>
                </a:solidFill>
                <a:latin typeface="Arial"/>
                <a:ea typeface="Arial"/>
                <a:cs typeface="Arial"/>
              </a:rPr>
              <a:t>Investigators will receive a prioritized receiving-VASP lead with a reviewable fund trail.</a:t>
            </a:r>
          </a:p>
        </p:txBody>
      </p:sp>
      <p:sp>
        <p:nvSpPr>
          <p:cNvPr id="17420" name="">
            <a:extLst xmlns:a="http://schemas.openxmlformats.org/drawingml/2006/main">
              <a:ext uri="{FF2B5EF4-FFF2-40B4-BE49-F238E27FC236}">
                <a16:creationId xmlns:a16="http://schemas.microsoft.com/office/drawing/2014/main" id="{09F0AAF5-D653-43A8-9AD5-B791229A7789}"/>
              </a:ext>
            </a:extLst>
          </p:cNvPr>
          <p:cNvSpPr>
            <a:spLocks xmlns:a="http://schemas.openxmlformats.org/drawingml/2006/main" noGrp="1"/>
          </p:cNvSpPr>
          <p:nvPr/>
        </p:nvSpPr>
        <p:spPr>
          <a:xfrm xmlns:a="http://schemas.openxmlformats.org/drawingml/2006/main">
            <a:off x="609600" y="22669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F497D"/>
                </a:solidFill>
                <a:latin typeface="Arial"/>
                <a:ea typeface="Arial"/>
                <a:cs typeface="Arial"/>
              </a:defRPr>
            </a:pPr>
            <a:r>
              <a:rPr sz="1800" b="1">
                <a:solidFill>
                  <a:srgbClr val="1F497D"/>
                </a:solidFill>
                <a:latin typeface="Arial"/>
                <a:ea typeface="Arial"/>
                <a:cs typeface="Arial"/>
              </a:rPr>
              <a:t>Illustrative investigation</a:t>
            </a:r>
          </a:p>
        </p:txBody>
      </p:sp>
      <p:sp>
        <p:nvSpPr>
          <p:cNvPr id="17421" name="Wallet A">
            <a:extLst xmlns:a="http://schemas.openxmlformats.org/drawingml/2006/main">
              <a:ext uri="{FF2B5EF4-FFF2-40B4-BE49-F238E27FC236}">
                <a16:creationId xmlns:a16="http://schemas.microsoft.com/office/drawing/2014/main" id="{891C42C8-AB98-477D-8F5B-93CB16A942ED}"/>
              </a:ext>
            </a:extLst>
          </p:cNvPr>
          <p:cNvSpPr>
            <a:spLocks xmlns:a="http://schemas.openxmlformats.org/drawingml/2006/main" noGrp="1"/>
          </p:cNvSpPr>
          <p:nvPr/>
        </p:nvSpPr>
        <p:spPr>
          <a:xfrm xmlns:a="http://schemas.openxmlformats.org/drawingml/2006/main">
            <a:off x="609600" y="2724150"/>
            <a:ext cx="2362200" cy="10096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2" name="">
            <a:extLst xmlns:a="http://schemas.openxmlformats.org/drawingml/2006/main">
              <a:ext uri="{FF2B5EF4-FFF2-40B4-BE49-F238E27FC236}">
                <a16:creationId xmlns:a16="http://schemas.microsoft.com/office/drawing/2014/main" id="{4618BEA9-9040-4DFA-BB86-F093B23BB0AF}"/>
              </a:ext>
            </a:extLst>
          </p:cNvPr>
          <p:cNvSpPr>
            <a:spLocks xmlns:a="http://schemas.openxmlformats.org/drawingml/2006/main" noGrp="1"/>
          </p:cNvSpPr>
          <p:nvPr/>
        </p:nvSpPr>
        <p:spPr>
          <a:xfrm xmlns:a="http://schemas.openxmlformats.org/drawingml/2006/main">
            <a:off x="723900" y="28670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Wallet A</a:t>
            </a:r>
          </a:p>
        </p:txBody>
      </p:sp>
      <p:sp>
        <p:nvSpPr>
          <p:cNvPr id="17423" name="">
            <a:extLst xmlns:a="http://schemas.openxmlformats.org/drawingml/2006/main">
              <a:ext uri="{FF2B5EF4-FFF2-40B4-BE49-F238E27FC236}">
                <a16:creationId xmlns:a16="http://schemas.microsoft.com/office/drawing/2014/main" id="{B383565B-BF57-4264-8CB4-7185F94423C1}"/>
              </a:ext>
            </a:extLst>
          </p:cNvPr>
          <p:cNvSpPr>
            <a:spLocks xmlns:a="http://schemas.openxmlformats.org/drawingml/2006/main" noGrp="1"/>
          </p:cNvSpPr>
          <p:nvPr/>
        </p:nvSpPr>
        <p:spPr>
          <a:xfrm xmlns:a="http://schemas.openxmlformats.org/drawingml/2006/main">
            <a:off x="723900" y="3209925"/>
            <a:ext cx="213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Reported address</a:t>
            </a:r>
          </a:p>
        </p:txBody>
      </p:sp>
      <p:sp>
        <p:nvSpPr>
          <p:cNvPr id="17424" name="Wallet B">
            <a:extLst xmlns:a="http://schemas.openxmlformats.org/drawingml/2006/main">
              <a:ext uri="{FF2B5EF4-FFF2-40B4-BE49-F238E27FC236}">
                <a16:creationId xmlns:a16="http://schemas.microsoft.com/office/drawing/2014/main" id="{13DCC8A9-819F-4ADD-9DFB-D7A36764C5A8}"/>
              </a:ext>
            </a:extLst>
          </p:cNvPr>
          <p:cNvSpPr>
            <a:spLocks xmlns:a="http://schemas.openxmlformats.org/drawingml/2006/main" noGrp="1"/>
          </p:cNvSpPr>
          <p:nvPr/>
        </p:nvSpPr>
        <p:spPr>
          <a:xfrm xmlns:a="http://schemas.openxmlformats.org/drawingml/2006/main">
            <a:off x="3467100" y="2724150"/>
            <a:ext cx="2362200" cy="10096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5" name="">
            <a:extLst xmlns:a="http://schemas.openxmlformats.org/drawingml/2006/main">
              <a:ext uri="{FF2B5EF4-FFF2-40B4-BE49-F238E27FC236}">
                <a16:creationId xmlns:a16="http://schemas.microsoft.com/office/drawing/2014/main" id="{D2EB5995-D43B-43A2-AA53-818AE8E4F145}"/>
              </a:ext>
            </a:extLst>
          </p:cNvPr>
          <p:cNvSpPr>
            <a:spLocks xmlns:a="http://schemas.openxmlformats.org/drawingml/2006/main" noGrp="1"/>
          </p:cNvSpPr>
          <p:nvPr/>
        </p:nvSpPr>
        <p:spPr>
          <a:xfrm xmlns:a="http://schemas.openxmlformats.org/drawingml/2006/main">
            <a:off x="3581400" y="28670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Wallet B</a:t>
            </a:r>
          </a:p>
        </p:txBody>
      </p:sp>
      <p:sp>
        <p:nvSpPr>
          <p:cNvPr id="17426" name="">
            <a:extLst xmlns:a="http://schemas.openxmlformats.org/drawingml/2006/main">
              <a:ext uri="{FF2B5EF4-FFF2-40B4-BE49-F238E27FC236}">
                <a16:creationId xmlns:a16="http://schemas.microsoft.com/office/drawing/2014/main" id="{42D2CAD6-2FFB-45D9-848B-5F17429A9040}"/>
              </a:ext>
            </a:extLst>
          </p:cNvPr>
          <p:cNvSpPr>
            <a:spLocks xmlns:a="http://schemas.openxmlformats.org/drawingml/2006/main" noGrp="1"/>
          </p:cNvSpPr>
          <p:nvPr/>
        </p:nvSpPr>
        <p:spPr>
          <a:xfrm xmlns:a="http://schemas.openxmlformats.org/drawingml/2006/main">
            <a:off x="3581400" y="3209925"/>
            <a:ext cx="213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Intermediary</a:t>
            </a:r>
          </a:p>
        </p:txBody>
      </p:sp>
      <p:sp>
        <p:nvSpPr>
          <p:cNvPr id="17427" name="Deposit address">
            <a:extLst xmlns:a="http://schemas.openxmlformats.org/drawingml/2006/main">
              <a:ext uri="{FF2B5EF4-FFF2-40B4-BE49-F238E27FC236}">
                <a16:creationId xmlns:a16="http://schemas.microsoft.com/office/drawing/2014/main" id="{77EAC62F-297C-4531-9B3B-2FA000D91E6A}"/>
              </a:ext>
            </a:extLst>
          </p:cNvPr>
          <p:cNvSpPr>
            <a:spLocks xmlns:a="http://schemas.openxmlformats.org/drawingml/2006/main" noGrp="1"/>
          </p:cNvSpPr>
          <p:nvPr/>
        </p:nvSpPr>
        <p:spPr>
          <a:xfrm xmlns:a="http://schemas.openxmlformats.org/drawingml/2006/main">
            <a:off x="6324600" y="2724150"/>
            <a:ext cx="2362200" cy="10096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28" name="">
            <a:extLst xmlns:a="http://schemas.openxmlformats.org/drawingml/2006/main">
              <a:ext uri="{FF2B5EF4-FFF2-40B4-BE49-F238E27FC236}">
                <a16:creationId xmlns:a16="http://schemas.microsoft.com/office/drawing/2014/main" id="{DAE57F76-7C7B-40DA-A154-FA73F9B9F919}"/>
              </a:ext>
            </a:extLst>
          </p:cNvPr>
          <p:cNvSpPr>
            <a:spLocks xmlns:a="http://schemas.openxmlformats.org/drawingml/2006/main" noGrp="1"/>
          </p:cNvSpPr>
          <p:nvPr/>
        </p:nvSpPr>
        <p:spPr>
          <a:xfrm xmlns:a="http://schemas.openxmlformats.org/drawingml/2006/main">
            <a:off x="6438900" y="28670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Deposit address</a:t>
            </a:r>
          </a:p>
        </p:txBody>
      </p:sp>
      <p:sp>
        <p:nvSpPr>
          <p:cNvPr id="17429" name="">
            <a:extLst xmlns:a="http://schemas.openxmlformats.org/drawingml/2006/main">
              <a:ext uri="{FF2B5EF4-FFF2-40B4-BE49-F238E27FC236}">
                <a16:creationId xmlns:a16="http://schemas.microsoft.com/office/drawing/2014/main" id="{390EECE5-32C5-4DA1-BD8F-9178052E8B7E}"/>
              </a:ext>
            </a:extLst>
          </p:cNvPr>
          <p:cNvSpPr>
            <a:spLocks xmlns:a="http://schemas.openxmlformats.org/drawingml/2006/main" noGrp="1"/>
          </p:cNvSpPr>
          <p:nvPr/>
        </p:nvSpPr>
        <p:spPr>
          <a:xfrm xmlns:a="http://schemas.openxmlformats.org/drawingml/2006/main">
            <a:off x="6438900" y="3209925"/>
            <a:ext cx="213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Sourced VASP label</a:t>
            </a:r>
          </a:p>
        </p:txBody>
      </p:sp>
      <p:sp>
        <p:nvSpPr>
          <p:cNvPr id="17430" name="VASP X">
            <a:extLst xmlns:a="http://schemas.openxmlformats.org/drawingml/2006/main">
              <a:ext uri="{FF2B5EF4-FFF2-40B4-BE49-F238E27FC236}">
                <a16:creationId xmlns:a16="http://schemas.microsoft.com/office/drawing/2014/main" id="{A1EB22F0-E3D3-47E8-AE7C-D5098F3E09EF}"/>
              </a:ext>
            </a:extLst>
          </p:cNvPr>
          <p:cNvSpPr>
            <a:spLocks xmlns:a="http://schemas.openxmlformats.org/drawingml/2006/main" noGrp="1"/>
          </p:cNvSpPr>
          <p:nvPr/>
        </p:nvSpPr>
        <p:spPr>
          <a:xfrm xmlns:a="http://schemas.openxmlformats.org/drawingml/2006/main">
            <a:off x="9182100" y="2724150"/>
            <a:ext cx="2362200" cy="1009650"/>
          </a:xfrm>
          <a:prstGeom xmlns:a="http://schemas.openxmlformats.org/drawingml/2006/main" prst="rect">
            <a:avLst/>
          </a:prstGeom>
          <a:solidFill xmlns:a="http://schemas.openxmlformats.org/drawingml/2006/main">
            <a:srgbClr val="F4F8FC"/>
          </a:solidFill>
          <a:ln xmlns:a="http://schemas.openxmlformats.org/drawingml/2006/main" w="19050">
            <a:solidFill>
              <a:srgbClr val="0070C0"/>
            </a:solidFill>
          </a:ln>
        </p:spPr>
      </p:sp>
      <p:sp>
        <p:nvSpPr>
          <p:cNvPr id="17431" name="">
            <a:extLst xmlns:a="http://schemas.openxmlformats.org/drawingml/2006/main">
              <a:ext uri="{FF2B5EF4-FFF2-40B4-BE49-F238E27FC236}">
                <a16:creationId xmlns:a16="http://schemas.microsoft.com/office/drawing/2014/main" id="{FCED6884-1CF4-4F98-8CDC-E2A197151CC5}"/>
              </a:ext>
            </a:extLst>
          </p:cNvPr>
          <p:cNvSpPr>
            <a:spLocks xmlns:a="http://schemas.openxmlformats.org/drawingml/2006/main" noGrp="1"/>
          </p:cNvSpPr>
          <p:nvPr/>
        </p:nvSpPr>
        <p:spPr>
          <a:xfrm xmlns:a="http://schemas.openxmlformats.org/drawingml/2006/main">
            <a:off x="9296400" y="2867025"/>
            <a:ext cx="2133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1F497D"/>
                </a:solidFill>
                <a:latin typeface="Arial"/>
                <a:ea typeface="Arial"/>
                <a:cs typeface="Arial"/>
              </a:defRPr>
            </a:pPr>
            <a:r>
              <a:rPr sz="1800" b="1">
                <a:solidFill>
                  <a:srgbClr val="1F497D"/>
                </a:solidFill>
                <a:latin typeface="Arial"/>
                <a:ea typeface="Arial"/>
                <a:cs typeface="Arial"/>
              </a:rPr>
              <a:t>VASP X</a:t>
            </a:r>
          </a:p>
        </p:txBody>
      </p:sp>
      <p:sp>
        <p:nvSpPr>
          <p:cNvPr id="17432" name="">
            <a:extLst xmlns:a="http://schemas.openxmlformats.org/drawingml/2006/main">
              <a:ext uri="{FF2B5EF4-FFF2-40B4-BE49-F238E27FC236}">
                <a16:creationId xmlns:a16="http://schemas.microsoft.com/office/drawing/2014/main" id="{1182EB95-B988-4C1C-8D0E-4D609D3C988D}"/>
              </a:ext>
            </a:extLst>
          </p:cNvPr>
          <p:cNvSpPr>
            <a:spLocks xmlns:a="http://schemas.openxmlformats.org/drawingml/2006/main" noGrp="1"/>
          </p:cNvSpPr>
          <p:nvPr/>
        </p:nvSpPr>
        <p:spPr>
          <a:xfrm xmlns:a="http://schemas.openxmlformats.org/drawingml/2006/main">
            <a:off x="9296400" y="3209925"/>
            <a:ext cx="2133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17212B"/>
                </a:solidFill>
                <a:latin typeface="Arial"/>
                <a:ea typeface="Arial"/>
                <a:cs typeface="Arial"/>
              </a:defRPr>
            </a:pPr>
            <a:r>
              <a:rPr sz="1650" b="0">
                <a:solidFill>
                  <a:srgbClr val="17212B"/>
                </a:solidFill>
                <a:latin typeface="Arial"/>
                <a:ea typeface="Arial"/>
                <a:cs typeface="Arial"/>
              </a:rPr>
              <a:t>Receiving candidate</a:t>
            </a:r>
          </a:p>
        </p:txBody>
      </p:sp>
      <p:cxnSp>
        <p:nvCxnSpPr>
          <p:cNvPr id="17497" name=""/>
          <p:cNvCxnSpPr>
            <a:stCxn xmlns:a="http://schemas.openxmlformats.org/drawingml/2006/main" id="17421" idx="3"/>
            <a:endCxn xmlns:a="http://schemas.openxmlformats.org/drawingml/2006/main" id="17424" idx="1"/>
          </p:cNvCxnSpPr>
          <p:nvPr/>
        </p:nvCxnSpPr>
        <p:spPr>
          <a:xfrm xmlns:a="http://schemas.openxmlformats.org/drawingml/2006/main">
            <a:off x="2971800" y="322897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7498" name=""/>
          <p:cNvCxnSpPr>
            <a:stCxn xmlns:a="http://schemas.openxmlformats.org/drawingml/2006/main" id="17424" idx="3"/>
            <a:endCxn xmlns:a="http://schemas.openxmlformats.org/drawingml/2006/main" id="17427" idx="1"/>
          </p:cNvCxnSpPr>
          <p:nvPr/>
        </p:nvCxnSpPr>
        <p:spPr>
          <a:xfrm xmlns:a="http://schemas.openxmlformats.org/drawingml/2006/main">
            <a:off x="5829300" y="3228975"/>
            <a:ext cx="495300" cy="0"/>
          </a:xfrm>
          <a:prstGeom xmlns:a="http://schemas.openxmlformats.org/drawingml/2006/main" prst="straightConnector1">
            <a:avLst/>
          </a:prstGeom>
          <a:ln xmlns:a="http://schemas.openxmlformats.org/drawingml/2006/main" w="28575">
            <a:solidFill>
              <a:srgbClr val="0070C0"/>
            </a:solidFill>
            <a:prstDash val="solid"/>
            <a:tailEnd type="triangle" w="lg" len="lg"/>
          </a:ln>
        </p:spPr>
      </p:cxnSp>
      <p:cxnSp>
        <p:nvCxnSpPr>
          <p:cNvPr id="17499" name=""/>
          <p:cNvCxnSpPr>
            <a:stCxn xmlns:a="http://schemas.openxmlformats.org/drawingml/2006/main" id="17427" idx="3"/>
            <a:endCxn xmlns:a="http://schemas.openxmlformats.org/drawingml/2006/main" id="17430" idx="1"/>
          </p:cNvCxnSpPr>
          <p:nvPr/>
        </p:nvCxnSpPr>
        <p:spPr>
          <a:xfrm xmlns:a="http://schemas.openxmlformats.org/drawingml/2006/main">
            <a:off x="8686800" y="3228975"/>
            <a:ext cx="495300" cy="0"/>
          </a:xfrm>
          <a:prstGeom xmlns:a="http://schemas.openxmlformats.org/drawingml/2006/main" prst="straightConnector1">
            <a:avLst/>
          </a:prstGeom>
          <a:ln xmlns:a="http://schemas.openxmlformats.org/drawingml/2006/main" w="28575">
            <a:solidFill>
              <a:srgbClr val="0070C0"/>
            </a:solidFill>
            <a:prstDash val="dash"/>
            <a:tailEnd type="triangle" w="lg" len="lg"/>
          </a:ln>
        </p:spPr>
      </p:cxnSp>
      <p:sp>
        <p:nvSpPr>
          <p:cNvPr id="17436" name="">
            <a:extLst xmlns:a="http://schemas.openxmlformats.org/drawingml/2006/main">
              <a:ext uri="{FF2B5EF4-FFF2-40B4-BE49-F238E27FC236}">
                <a16:creationId xmlns:a16="http://schemas.microsoft.com/office/drawing/2014/main" id="{169CEBF4-5183-4A98-B3C6-A6E4265D9B5B}"/>
              </a:ext>
            </a:extLst>
          </p:cNvPr>
          <p:cNvSpPr>
            <a:spLocks xmlns:a="http://schemas.openxmlformats.org/drawingml/2006/main" noGrp="1"/>
          </p:cNvSpPr>
          <p:nvPr/>
        </p:nvSpPr>
        <p:spPr>
          <a:xfrm xmlns:a="http://schemas.openxmlformats.org/drawingml/2006/main">
            <a:off x="2533650" y="24860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1F497D"/>
                </a:solidFill>
                <a:latin typeface="Arial"/>
                <a:ea typeface="Arial"/>
                <a:cs typeface="Arial"/>
              </a:defRPr>
            </a:pPr>
            <a:r>
              <a:rPr sz="1350" b="0">
                <a:solidFill>
                  <a:srgbClr val="1F497D"/>
                </a:solidFill>
                <a:latin typeface="Arial"/>
                <a:ea typeface="Arial"/>
                <a:cs typeface="Arial"/>
              </a:rPr>
              <a:t>Transaction 1</a:t>
            </a:r>
          </a:p>
        </p:txBody>
      </p:sp>
      <p:sp>
        <p:nvSpPr>
          <p:cNvPr id="17437" name="">
            <a:extLst xmlns:a="http://schemas.openxmlformats.org/drawingml/2006/main">
              <a:ext uri="{FF2B5EF4-FFF2-40B4-BE49-F238E27FC236}">
                <a16:creationId xmlns:a16="http://schemas.microsoft.com/office/drawing/2014/main" id="{08BDF86C-1426-497A-A841-2E590468F87B}"/>
              </a:ext>
            </a:extLst>
          </p:cNvPr>
          <p:cNvSpPr>
            <a:spLocks xmlns:a="http://schemas.openxmlformats.org/drawingml/2006/main" noGrp="1"/>
          </p:cNvSpPr>
          <p:nvPr/>
        </p:nvSpPr>
        <p:spPr>
          <a:xfrm xmlns:a="http://schemas.openxmlformats.org/drawingml/2006/main">
            <a:off x="5391150" y="24860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1F497D"/>
                </a:solidFill>
                <a:latin typeface="Arial"/>
                <a:ea typeface="Arial"/>
                <a:cs typeface="Arial"/>
              </a:defRPr>
            </a:pPr>
            <a:r>
              <a:rPr sz="1350" b="0">
                <a:solidFill>
                  <a:srgbClr val="1F497D"/>
                </a:solidFill>
                <a:latin typeface="Arial"/>
                <a:ea typeface="Arial"/>
                <a:cs typeface="Arial"/>
              </a:rPr>
              <a:t>Transaction 2</a:t>
            </a:r>
          </a:p>
        </p:txBody>
      </p:sp>
      <p:sp>
        <p:nvSpPr>
          <p:cNvPr id="17438" name="">
            <a:extLst xmlns:a="http://schemas.openxmlformats.org/drawingml/2006/main">
              <a:ext uri="{FF2B5EF4-FFF2-40B4-BE49-F238E27FC236}">
                <a16:creationId xmlns:a16="http://schemas.microsoft.com/office/drawing/2014/main" id="{F01B4A23-45D7-4F01-9383-3B7BCF23CE8E}"/>
              </a:ext>
            </a:extLst>
          </p:cNvPr>
          <p:cNvSpPr>
            <a:spLocks xmlns:a="http://schemas.openxmlformats.org/drawingml/2006/main" noGrp="1"/>
          </p:cNvSpPr>
          <p:nvPr/>
        </p:nvSpPr>
        <p:spPr>
          <a:xfrm xmlns:a="http://schemas.openxmlformats.org/drawingml/2006/main">
            <a:off x="8248650" y="24860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1F497D"/>
                </a:solidFill>
                <a:latin typeface="Arial"/>
                <a:ea typeface="Arial"/>
                <a:cs typeface="Arial"/>
              </a:defRPr>
            </a:pPr>
            <a:r>
              <a:rPr sz="1350" b="0">
                <a:solidFill>
                  <a:srgbClr val="1F497D"/>
                </a:solidFill>
                <a:latin typeface="Arial"/>
                <a:ea typeface="Arial"/>
                <a:cs typeface="Arial"/>
              </a:rPr>
              <a:t>Attribution</a:t>
            </a:r>
          </a:p>
        </p:txBody>
      </p:sp>
      <p:sp>
        <p:nvSpPr>
          <p:cNvPr id="17439" name="">
            <a:extLst xmlns:a="http://schemas.openxmlformats.org/drawingml/2006/main">
              <a:ext uri="{FF2B5EF4-FFF2-40B4-BE49-F238E27FC236}">
                <a16:creationId xmlns:a16="http://schemas.microsoft.com/office/drawing/2014/main" id="{987487E2-125A-4701-B6A5-142FB306515D}"/>
              </a:ext>
            </a:extLst>
          </p:cNvPr>
          <p:cNvSpPr>
            <a:spLocks xmlns:a="http://schemas.openxmlformats.org/drawingml/2006/main" noGrp="1"/>
          </p:cNvSpPr>
          <p:nvPr/>
        </p:nvSpPr>
        <p:spPr>
          <a:xfrm xmlns:a="http://schemas.openxmlformats.org/drawingml/2006/main">
            <a:off x="609600" y="3952875"/>
            <a:ext cx="104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F497D"/>
                </a:solidFill>
                <a:latin typeface="Arial"/>
                <a:ea typeface="Arial"/>
                <a:cs typeface="Arial"/>
              </a:defRPr>
            </a:pPr>
            <a:r>
              <a:rPr sz="1800" b="1">
                <a:solidFill>
                  <a:srgbClr val="1F497D"/>
                </a:solidFill>
                <a:latin typeface="Arial"/>
                <a:ea typeface="Arial"/>
                <a:cs typeface="Arial"/>
              </a:rPr>
              <a:t>Finding</a:t>
            </a:r>
          </a:p>
        </p:txBody>
      </p:sp>
      <p:sp>
        <p:nvSpPr>
          <p:cNvPr id="17440" name="">
            <a:extLst xmlns:a="http://schemas.openxmlformats.org/drawingml/2006/main">
              <a:ext uri="{FF2B5EF4-FFF2-40B4-BE49-F238E27FC236}">
                <a16:creationId xmlns:a16="http://schemas.microsoft.com/office/drawing/2014/main" id="{D60C3EC2-C696-49A2-B066-6744700F8800}"/>
              </a:ext>
            </a:extLst>
          </p:cNvPr>
          <p:cNvSpPr>
            <a:spLocks xmlns:a="http://schemas.openxmlformats.org/drawingml/2006/main" noGrp="1"/>
          </p:cNvSpPr>
          <p:nvPr/>
        </p:nvSpPr>
        <p:spPr>
          <a:xfrm xmlns:a="http://schemas.openxmlformats.org/drawingml/2006/main">
            <a:off x="1819275" y="3952875"/>
            <a:ext cx="971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12B"/>
                </a:solidFill>
                <a:latin typeface="Arial"/>
                <a:ea typeface="Arial"/>
                <a:cs typeface="Arial"/>
              </a:defRPr>
            </a:pPr>
            <a:r>
              <a:rPr sz="1800" b="0">
                <a:solidFill>
                  <a:srgbClr val="17212B"/>
                </a:solidFill>
                <a:latin typeface="Arial"/>
                <a:ea typeface="Arial"/>
                <a:cs typeface="Arial"/>
              </a:rPr>
              <a:t>Two-hop path, transaction IDs, amounts, timestamps and label source.</a:t>
            </a:r>
          </a:p>
        </p:txBody>
      </p:sp>
      <p:sp>
        <p:nvSpPr>
          <p:cNvPr id="17441" name="">
            <a:extLst xmlns:a="http://schemas.openxmlformats.org/drawingml/2006/main">
              <a:ext uri="{FF2B5EF4-FFF2-40B4-BE49-F238E27FC236}">
                <a16:creationId xmlns:a16="http://schemas.microsoft.com/office/drawing/2014/main" id="{4B6FD09C-A89B-46F6-B4AD-D348B3981636}"/>
              </a:ext>
            </a:extLst>
          </p:cNvPr>
          <p:cNvSpPr>
            <a:spLocks xmlns:a="http://schemas.openxmlformats.org/drawingml/2006/main" noGrp="1"/>
          </p:cNvSpPr>
          <p:nvPr/>
        </p:nvSpPr>
        <p:spPr>
          <a:xfrm xmlns:a="http://schemas.openxmlformats.org/drawingml/2006/main">
            <a:off x="609600" y="4343400"/>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F497D"/>
                </a:solidFill>
                <a:latin typeface="Arial"/>
                <a:ea typeface="Arial"/>
                <a:cs typeface="Arial"/>
              </a:defRPr>
            </a:pPr>
            <a:r>
              <a:rPr sz="1800" b="1">
                <a:solidFill>
                  <a:srgbClr val="1F497D"/>
                </a:solidFill>
                <a:latin typeface="Arial"/>
                <a:ea typeface="Arial"/>
                <a:cs typeface="Arial"/>
              </a:rPr>
              <a:t>Next action</a:t>
            </a:r>
          </a:p>
        </p:txBody>
      </p:sp>
      <p:sp>
        <p:nvSpPr>
          <p:cNvPr id="17442" name="">
            <a:extLst xmlns:a="http://schemas.openxmlformats.org/drawingml/2006/main">
              <a:ext uri="{FF2B5EF4-FFF2-40B4-BE49-F238E27FC236}">
                <a16:creationId xmlns:a16="http://schemas.microsoft.com/office/drawing/2014/main" id="{D8348A6F-551F-4ACD-B89F-F3D794C1AE75}"/>
              </a:ext>
            </a:extLst>
          </p:cNvPr>
          <p:cNvSpPr>
            <a:spLocks xmlns:a="http://schemas.openxmlformats.org/drawingml/2006/main" noGrp="1"/>
          </p:cNvSpPr>
          <p:nvPr/>
        </p:nvSpPr>
        <p:spPr>
          <a:xfrm xmlns:a="http://schemas.openxmlformats.org/drawingml/2006/main">
            <a:off x="2038350" y="4343400"/>
            <a:ext cx="952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12B"/>
                </a:solidFill>
                <a:latin typeface="Arial"/>
                <a:ea typeface="Arial"/>
                <a:cs typeface="Arial"/>
              </a:defRPr>
            </a:pPr>
            <a:r>
              <a:rPr sz="1800" b="0">
                <a:solidFill>
                  <a:srgbClr val="17212B"/>
                </a:solidFill>
                <a:latin typeface="Arial"/>
                <a:ea typeface="Arial"/>
                <a:cs typeface="Arial"/>
              </a:rPr>
              <a:t>Investigator reviews the lead and prepares a VASP preservation request.</a:t>
            </a:r>
          </a:p>
        </p:txBody>
      </p:sp>
      <p:sp>
        <p:nvSpPr>
          <p:cNvPr id="17443" name="">
            <a:extLst xmlns:a="http://schemas.openxmlformats.org/drawingml/2006/main">
              <a:ext uri="{FF2B5EF4-FFF2-40B4-BE49-F238E27FC236}">
                <a16:creationId xmlns:a16="http://schemas.microsoft.com/office/drawing/2014/main" id="{C8FCB666-B323-4877-9A31-E1D51A159FC0}"/>
              </a:ext>
            </a:extLst>
          </p:cNvPr>
          <p:cNvSpPr>
            <a:spLocks xmlns:a="http://schemas.openxmlformats.org/drawingml/2006/main" noGrp="1"/>
          </p:cNvSpPr>
          <p:nvPr/>
        </p:nvSpPr>
        <p:spPr>
          <a:xfrm xmlns:a="http://schemas.openxmlformats.org/drawingml/2006/main">
            <a:off x="723900" y="476250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1F497D"/>
                </a:solidFill>
                <a:latin typeface="Arial"/>
                <a:ea typeface="Arial"/>
                <a:cs typeface="Arial"/>
              </a:defRPr>
            </a:pPr>
            <a:r>
              <a:rPr sz="1500" b="0">
                <a:solidFill>
                  <a:srgbClr val="1F497D"/>
                </a:solidFill>
                <a:latin typeface="Arial"/>
                <a:ea typeface="Arial"/>
                <a:cs typeface="Arial"/>
              </a:rPr>
              <a:t>Fictional illustration. Transaction paths alone do not prove exact fund continuity or wrongdoing.</a:t>
            </a:r>
          </a:p>
        </p:txBody>
      </p:sp>
      <p:sp>
        <p:nvSpPr>
          <p:cNvPr id="17444" name="">
            <a:extLst xmlns:a="http://schemas.openxmlformats.org/drawingml/2006/main">
              <a:ext uri="{FF2B5EF4-FFF2-40B4-BE49-F238E27FC236}">
                <a16:creationId xmlns:a16="http://schemas.microsoft.com/office/drawing/2014/main" id="{379AC949-62EF-4F20-806C-A36BD99E3AD6}"/>
              </a:ext>
            </a:extLst>
          </p:cNvPr>
          <p:cNvSpPr>
            <a:spLocks xmlns:a="http://schemas.openxmlformats.org/drawingml/2006/main" noGrp="1"/>
          </p:cNvSpPr>
          <p:nvPr/>
        </p:nvSpPr>
        <p:spPr>
          <a:xfrm xmlns:a="http://schemas.openxmlformats.org/drawingml/2006/main">
            <a:off x="609600" y="51625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F497D"/>
                </a:solidFill>
                <a:latin typeface="Arial"/>
                <a:ea typeface="Arial"/>
                <a:cs typeface="Arial"/>
              </a:defRPr>
            </a:pPr>
            <a:r>
              <a:rPr sz="1875" b="1">
                <a:solidFill>
                  <a:srgbClr val="1F497D"/>
                </a:solidFill>
                <a:latin typeface="Arial"/>
                <a:ea typeface="Arial"/>
                <a:cs typeface="Arial"/>
              </a:rPr>
              <a:t>Benefits of the solution (social, economic, environmental, etc.)</a:t>
            </a:r>
          </a:p>
        </p:txBody>
      </p:sp>
      <p:sp>
        <p:nvSpPr>
          <p:cNvPr id="17445" name="">
            <a:extLst xmlns:a="http://schemas.openxmlformats.org/drawingml/2006/main">
              <a:ext uri="{FF2B5EF4-FFF2-40B4-BE49-F238E27FC236}">
                <a16:creationId xmlns:a16="http://schemas.microsoft.com/office/drawing/2014/main" id="{BBE51373-DAFB-42B3-883A-3460559AFC9B}"/>
              </a:ext>
            </a:extLst>
          </p:cNvPr>
          <p:cNvSpPr>
            <a:spLocks xmlns:a="http://schemas.openxmlformats.org/drawingml/2006/main" noGrp="1"/>
          </p:cNvSpPr>
          <p:nvPr/>
        </p:nvSpPr>
        <p:spPr>
          <a:xfrm xmlns:a="http://schemas.openxmlformats.org/drawingml/2006/main">
            <a:off x="723900" y="55721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F497D"/>
                </a:solidFill>
                <a:latin typeface="Arial"/>
                <a:ea typeface="Arial"/>
                <a:cs typeface="Arial"/>
              </a:defRPr>
            </a:pPr>
            <a:r>
              <a:rPr sz="1800" b="1">
                <a:solidFill>
                  <a:srgbClr val="1F497D"/>
                </a:solidFill>
                <a:latin typeface="Arial"/>
                <a:ea typeface="Arial"/>
                <a:cs typeface="Arial"/>
              </a:rPr>
              <a:t>Social</a:t>
            </a:r>
          </a:p>
        </p:txBody>
      </p:sp>
      <p:sp>
        <p:nvSpPr>
          <p:cNvPr id="17446" name="">
            <a:extLst xmlns:a="http://schemas.openxmlformats.org/drawingml/2006/main">
              <a:ext uri="{FF2B5EF4-FFF2-40B4-BE49-F238E27FC236}">
                <a16:creationId xmlns:a16="http://schemas.microsoft.com/office/drawing/2014/main" id="{7A8A2B33-88BE-4071-BAE9-29D7A7B2DA2B}"/>
              </a:ext>
            </a:extLst>
          </p:cNvPr>
          <p:cNvSpPr>
            <a:spLocks xmlns:a="http://schemas.openxmlformats.org/drawingml/2006/main" noGrp="1"/>
          </p:cNvSpPr>
          <p:nvPr/>
        </p:nvSpPr>
        <p:spPr>
          <a:xfrm xmlns:a="http://schemas.openxmlformats.org/drawingml/2006/main">
            <a:off x="723900" y="589597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17212B"/>
                </a:solidFill>
                <a:latin typeface="Arial"/>
                <a:ea typeface="Arial"/>
                <a:cs typeface="Arial"/>
              </a:defRPr>
            </a:pPr>
            <a:r>
              <a:rPr sz="1725" b="0">
                <a:solidFill>
                  <a:srgbClr val="17212B"/>
                </a:solidFill>
                <a:latin typeface="Arial"/>
                <a:ea typeface="Arial"/>
                <a:cs typeface="Arial"/>
              </a:rPr>
              <a:t>Support timely intervention</a:t>
            </a:r>
          </a:p>
        </p:txBody>
      </p:sp>
      <p:sp>
        <p:nvSpPr>
          <p:cNvPr id="17447" name="">
            <a:extLst xmlns:a="http://schemas.openxmlformats.org/drawingml/2006/main">
              <a:ext uri="{FF2B5EF4-FFF2-40B4-BE49-F238E27FC236}">
                <a16:creationId xmlns:a16="http://schemas.microsoft.com/office/drawing/2014/main" id="{B9AE04E6-2D94-4D8C-BB02-30889F46AF2E}"/>
              </a:ext>
            </a:extLst>
          </p:cNvPr>
          <p:cNvSpPr>
            <a:spLocks xmlns:a="http://schemas.openxmlformats.org/drawingml/2006/main" noGrp="1"/>
          </p:cNvSpPr>
          <p:nvPr/>
        </p:nvSpPr>
        <p:spPr>
          <a:xfrm xmlns:a="http://schemas.openxmlformats.org/drawingml/2006/main">
            <a:off x="4371975" y="55721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F497D"/>
                </a:solidFill>
                <a:latin typeface="Arial"/>
                <a:ea typeface="Arial"/>
                <a:cs typeface="Arial"/>
              </a:defRPr>
            </a:pPr>
            <a:r>
              <a:rPr sz="1800" b="1">
                <a:solidFill>
                  <a:srgbClr val="1F497D"/>
                </a:solidFill>
                <a:latin typeface="Arial"/>
                <a:ea typeface="Arial"/>
                <a:cs typeface="Arial"/>
              </a:rPr>
              <a:t>Economic</a:t>
            </a:r>
          </a:p>
        </p:txBody>
      </p:sp>
      <p:sp>
        <p:nvSpPr>
          <p:cNvPr id="17448" name="">
            <a:extLst xmlns:a="http://schemas.openxmlformats.org/drawingml/2006/main">
              <a:ext uri="{FF2B5EF4-FFF2-40B4-BE49-F238E27FC236}">
                <a16:creationId xmlns:a16="http://schemas.microsoft.com/office/drawing/2014/main" id="{A40E6A86-946B-4F3F-9224-FA4C12B77A5A}"/>
              </a:ext>
            </a:extLst>
          </p:cNvPr>
          <p:cNvSpPr>
            <a:spLocks xmlns:a="http://schemas.openxmlformats.org/drawingml/2006/main" noGrp="1"/>
          </p:cNvSpPr>
          <p:nvPr/>
        </p:nvSpPr>
        <p:spPr>
          <a:xfrm xmlns:a="http://schemas.openxmlformats.org/drawingml/2006/main">
            <a:off x="4371975" y="589597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17212B"/>
                </a:solidFill>
                <a:latin typeface="Arial"/>
                <a:ea typeface="Arial"/>
                <a:cs typeface="Arial"/>
              </a:defRPr>
            </a:pPr>
            <a:r>
              <a:rPr sz="1725" b="0">
                <a:solidFill>
                  <a:srgbClr val="17212B"/>
                </a:solidFill>
                <a:latin typeface="Arial"/>
                <a:ea typeface="Arial"/>
                <a:cs typeface="Arial"/>
              </a:rPr>
              <a:t>Reduce repeated tracing work</a:t>
            </a:r>
          </a:p>
        </p:txBody>
      </p:sp>
      <p:sp>
        <p:nvSpPr>
          <p:cNvPr id="17449" name="">
            <a:extLst xmlns:a="http://schemas.openxmlformats.org/drawingml/2006/main">
              <a:ext uri="{FF2B5EF4-FFF2-40B4-BE49-F238E27FC236}">
                <a16:creationId xmlns:a16="http://schemas.microsoft.com/office/drawing/2014/main" id="{77AF726E-07D7-48F5-A7CF-AF9019296F76}"/>
              </a:ext>
            </a:extLst>
          </p:cNvPr>
          <p:cNvSpPr>
            <a:spLocks xmlns:a="http://schemas.openxmlformats.org/drawingml/2006/main" noGrp="1"/>
          </p:cNvSpPr>
          <p:nvPr/>
        </p:nvSpPr>
        <p:spPr>
          <a:xfrm xmlns:a="http://schemas.openxmlformats.org/drawingml/2006/main">
            <a:off x="8134350" y="557212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F497D"/>
                </a:solidFill>
                <a:latin typeface="Arial"/>
                <a:ea typeface="Arial"/>
                <a:cs typeface="Arial"/>
              </a:defRPr>
            </a:pPr>
            <a:r>
              <a:rPr sz="1800" b="1">
                <a:solidFill>
                  <a:srgbClr val="1F497D"/>
                </a:solidFill>
                <a:latin typeface="Arial"/>
                <a:ea typeface="Arial"/>
                <a:cs typeface="Arial"/>
              </a:rPr>
              <a:t>Operational</a:t>
            </a:r>
          </a:p>
        </p:txBody>
      </p:sp>
      <p:sp>
        <p:nvSpPr>
          <p:cNvPr id="17450" name="">
            <a:extLst xmlns:a="http://schemas.openxmlformats.org/drawingml/2006/main">
              <a:ext uri="{FF2B5EF4-FFF2-40B4-BE49-F238E27FC236}">
                <a16:creationId xmlns:a16="http://schemas.microsoft.com/office/drawing/2014/main" id="{AA2E35BE-5430-498B-94A8-CACE256FC763}"/>
              </a:ext>
            </a:extLst>
          </p:cNvPr>
          <p:cNvSpPr>
            <a:spLocks xmlns:a="http://schemas.openxmlformats.org/drawingml/2006/main" noGrp="1"/>
          </p:cNvSpPr>
          <p:nvPr/>
        </p:nvSpPr>
        <p:spPr>
          <a:xfrm xmlns:a="http://schemas.openxmlformats.org/drawingml/2006/main">
            <a:off x="8134350" y="5895975"/>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17212B"/>
                </a:solidFill>
                <a:latin typeface="Arial"/>
                <a:ea typeface="Arial"/>
                <a:cs typeface="Arial"/>
              </a:defRPr>
            </a:pPr>
            <a:r>
              <a:rPr sz="1725" b="0">
                <a:solidFill>
                  <a:srgbClr val="17212B"/>
                </a:solidFill>
                <a:latin typeface="Arial"/>
                <a:ea typeface="Arial"/>
                <a:cs typeface="Arial"/>
              </a:rPr>
              <a:t>Standardize VASP coordination</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A32254E5-F9FF-407F-BB7E-2C55614FB6DB}"/>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D11FB0B2-D1C4-40DC-AD41-FF83C7B5E1C8}"/>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8C630A04-5A25-9E0C-9436-126091DB86B3}" type="slidenum">
              <a:rPr sz="1275"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FAF84D3E-8DD0-4B21-818B-FE49231BAF9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sp>
        <p:nvSpPr>
          <p:cNvPr id="17412" name="">
            <a:extLst xmlns:a="http://schemas.openxmlformats.org/drawingml/2006/main">
              <a:ext uri="{FF2B5EF4-FFF2-40B4-BE49-F238E27FC236}">
                <a16:creationId xmlns:a16="http://schemas.microsoft.com/office/drawing/2014/main" id="{B4DEFD14-E39D-412F-82AC-11DE8FBCF5D8}"/>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F497D"/>
                </a:solidFill>
                <a:latin typeface="Arial"/>
                <a:ea typeface="Arial"/>
                <a:cs typeface="Arial"/>
              </a:defRPr>
            </a:pPr>
            <a:r>
              <a:rPr sz="2175" b="1">
                <a:solidFill>
                  <a:srgbClr val="1F497D"/>
                </a:solidFill>
                <a:latin typeface="Arial"/>
                <a:ea typeface="Arial"/>
                <a:cs typeface="Arial"/>
              </a:rPr>
              <a:t>Details / Links of the reference and research work</a:t>
            </a:r>
          </a:p>
        </p:txBody>
      </p:sp>
      <p:sp>
        <p:nvSpPr>
          <p:cNvPr id="17413" name="">
            <a:extLst xmlns:a="http://schemas.openxmlformats.org/drawingml/2006/main">
              <a:ext uri="{FF2B5EF4-FFF2-40B4-BE49-F238E27FC236}">
                <a16:creationId xmlns:a16="http://schemas.microsoft.com/office/drawing/2014/main" id="{4BEA7456-B093-422C-892E-625E1682684A}"/>
              </a:ext>
            </a:extLst>
          </p:cNvPr>
          <p:cNvSpPr>
            <a:spLocks xmlns:a="http://schemas.openxmlformats.org/drawingml/2006/main" noGrp="1"/>
          </p:cNvSpPr>
          <p:nvPr/>
        </p:nvSpPr>
        <p:spPr>
          <a:xfrm xmlns:a="http://schemas.openxmlformats.org/drawingml/2006/main">
            <a:off x="619125" y="18097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Address clustering</a:t>
            </a:r>
          </a:p>
        </p:txBody>
      </p:sp>
      <p:sp>
        <p:nvSpPr>
          <p:cNvPr id="17414" name="">
            <a:extLst xmlns:a="http://schemas.openxmlformats.org/drawingml/2006/main">
              <a:ext uri="{FF2B5EF4-FFF2-40B4-BE49-F238E27FC236}">
                <a16:creationId xmlns:a16="http://schemas.microsoft.com/office/drawing/2014/main" id="{7428435C-60F1-4980-8399-F3F828B14BBE}"/>
              </a:ext>
            </a:extLst>
          </p:cNvPr>
          <p:cNvSpPr>
            <a:spLocks xmlns:a="http://schemas.openxmlformats.org/drawingml/2006/main" noGrp="1"/>
          </p:cNvSpPr>
          <p:nvPr/>
        </p:nvSpPr>
        <p:spPr>
          <a:xfrm xmlns:a="http://schemas.openxmlformats.org/drawingml/2006/main">
            <a:off x="2790825" y="18097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Meiklejohn et al. (2013), A Fistful of Bitcoins: Characterizing Payments Among Men with No Names.</a:t>
            </a:r>
          </a:p>
        </p:txBody>
      </p:sp>
      <p:sp>
        <p:nvSpPr>
          <p:cNvPr id="17415" name="">
            <a:extLst xmlns:a="http://schemas.openxmlformats.org/drawingml/2006/main">
              <a:ext uri="{FF2B5EF4-FFF2-40B4-BE49-F238E27FC236}">
                <a16:creationId xmlns:a16="http://schemas.microsoft.com/office/drawing/2014/main" id="{31109119-8089-40E2-8FAF-B33264A068E5}"/>
              </a:ext>
            </a:extLst>
          </p:cNvPr>
          <p:cNvSpPr>
            <a:spLocks xmlns:a="http://schemas.openxmlformats.org/drawingml/2006/main" noGrp="1"/>
          </p:cNvSpPr>
          <p:nvPr/>
        </p:nvSpPr>
        <p:spPr>
          <a:xfrm xmlns:a="http://schemas.openxmlformats.org/drawingml/2006/main">
            <a:off x="2790825" y="22764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8ef46b5310f9469e"/>
              </a:rPr>
              <a:t>ACM IMC paper</a:t>
            </a:r>
          </a:p>
        </p:txBody>
      </p:sp>
      <p:sp>
        <p:nvSpPr>
          <p:cNvPr id="17416" name="">
            <a:extLst xmlns:a="http://schemas.openxmlformats.org/drawingml/2006/main">
              <a:ext uri="{FF2B5EF4-FFF2-40B4-BE49-F238E27FC236}">
                <a16:creationId xmlns:a16="http://schemas.microsoft.com/office/drawing/2014/main" id="{DDE7359E-FE50-4C28-A3F5-A8361D826FB9}"/>
              </a:ext>
            </a:extLst>
          </p:cNvPr>
          <p:cNvSpPr>
            <a:spLocks xmlns:a="http://schemas.openxmlformats.org/drawingml/2006/main" noGrp="1"/>
          </p:cNvSpPr>
          <p:nvPr/>
        </p:nvSpPr>
        <p:spPr>
          <a:xfrm xmlns:a="http://schemas.openxmlformats.org/drawingml/2006/main">
            <a:off x="619125" y="25336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ML-assisted analysis</a:t>
            </a:r>
          </a:p>
        </p:txBody>
      </p:sp>
      <p:sp>
        <p:nvSpPr>
          <p:cNvPr id="17417" name="">
            <a:extLst xmlns:a="http://schemas.openxmlformats.org/drawingml/2006/main">
              <a:ext uri="{FF2B5EF4-FFF2-40B4-BE49-F238E27FC236}">
                <a16:creationId xmlns:a16="http://schemas.microsoft.com/office/drawing/2014/main" id="{EF59722C-5B26-43F5-8152-97868A80372C}"/>
              </a:ext>
            </a:extLst>
          </p:cNvPr>
          <p:cNvSpPr>
            <a:spLocks xmlns:a="http://schemas.openxmlformats.org/drawingml/2006/main" noGrp="1"/>
          </p:cNvSpPr>
          <p:nvPr/>
        </p:nvSpPr>
        <p:spPr>
          <a:xfrm xmlns:a="http://schemas.openxmlformats.org/drawingml/2006/main">
            <a:off x="2790825" y="25336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Weber et al. (2019), Anti-Money Laundering in Bitcoin: Experimenting with Graph Convolutional Networks for Financial Forensics.</a:t>
            </a:r>
          </a:p>
        </p:txBody>
      </p:sp>
      <p:sp>
        <p:nvSpPr>
          <p:cNvPr id="17418" name="">
            <a:extLst xmlns:a="http://schemas.openxmlformats.org/drawingml/2006/main">
              <a:ext uri="{FF2B5EF4-FFF2-40B4-BE49-F238E27FC236}">
                <a16:creationId xmlns:a16="http://schemas.microsoft.com/office/drawing/2014/main" id="{1D863C23-D287-41F9-BB10-D7448C6B0883}"/>
              </a:ext>
            </a:extLst>
          </p:cNvPr>
          <p:cNvSpPr>
            <a:spLocks xmlns:a="http://schemas.openxmlformats.org/drawingml/2006/main" noGrp="1"/>
          </p:cNvSpPr>
          <p:nvPr/>
        </p:nvSpPr>
        <p:spPr>
          <a:xfrm xmlns:a="http://schemas.openxmlformats.org/drawingml/2006/main">
            <a:off x="2790825" y="30003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932fcbac8f12474f"/>
              </a:rPr>
              <a:t>arXiv:1908.02591</a:t>
            </a:r>
          </a:p>
        </p:txBody>
      </p:sp>
      <p:sp>
        <p:nvSpPr>
          <p:cNvPr id="17419" name="">
            <a:extLst xmlns:a="http://schemas.openxmlformats.org/drawingml/2006/main">
              <a:ext uri="{FF2B5EF4-FFF2-40B4-BE49-F238E27FC236}">
                <a16:creationId xmlns:a16="http://schemas.microsoft.com/office/drawing/2014/main" id="{D4CD79F7-73FB-41B2-A03A-A6536772FBD3}"/>
              </a:ext>
            </a:extLst>
          </p:cNvPr>
          <p:cNvSpPr>
            <a:spLocks xmlns:a="http://schemas.openxmlformats.org/drawingml/2006/main" noGrp="1"/>
          </p:cNvSpPr>
          <p:nvPr/>
        </p:nvSpPr>
        <p:spPr>
          <a:xfrm xmlns:a="http://schemas.openxmlformats.org/drawingml/2006/main">
            <a:off x="619125" y="32575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Blockchain data</a:t>
            </a:r>
          </a:p>
        </p:txBody>
      </p:sp>
      <p:sp>
        <p:nvSpPr>
          <p:cNvPr id="17420" name="">
            <a:extLst xmlns:a="http://schemas.openxmlformats.org/drawingml/2006/main">
              <a:ext uri="{FF2B5EF4-FFF2-40B4-BE49-F238E27FC236}">
                <a16:creationId xmlns:a16="http://schemas.microsoft.com/office/drawing/2014/main" id="{3B6A3A89-0808-4756-A9AA-1DCE7FDBB58F}"/>
              </a:ext>
            </a:extLst>
          </p:cNvPr>
          <p:cNvSpPr>
            <a:spLocks xmlns:a="http://schemas.openxmlformats.org/drawingml/2006/main" noGrp="1"/>
          </p:cNvSpPr>
          <p:nvPr/>
        </p:nvSpPr>
        <p:spPr>
          <a:xfrm xmlns:a="http://schemas.openxmlformats.org/drawingml/2006/main">
            <a:off x="2790825" y="32575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Blockstream Esplora: address and transaction API documentation.</a:t>
            </a:r>
          </a:p>
        </p:txBody>
      </p:sp>
      <p:sp>
        <p:nvSpPr>
          <p:cNvPr id="17421" name="">
            <a:extLst xmlns:a="http://schemas.openxmlformats.org/drawingml/2006/main">
              <a:ext uri="{FF2B5EF4-FFF2-40B4-BE49-F238E27FC236}">
                <a16:creationId xmlns:a16="http://schemas.microsoft.com/office/drawing/2014/main" id="{056DBE7F-B84B-4283-BC1F-AA7B78EA7D58}"/>
              </a:ext>
            </a:extLst>
          </p:cNvPr>
          <p:cNvSpPr>
            <a:spLocks xmlns:a="http://schemas.openxmlformats.org/drawingml/2006/main" noGrp="1"/>
          </p:cNvSpPr>
          <p:nvPr/>
        </p:nvSpPr>
        <p:spPr>
          <a:xfrm xmlns:a="http://schemas.openxmlformats.org/drawingml/2006/main">
            <a:off x="2790825" y="37242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bc3956b799314d8a"/>
              </a:rPr>
              <a:t>Official API documentation</a:t>
            </a:r>
          </a:p>
        </p:txBody>
      </p:sp>
      <p:sp>
        <p:nvSpPr>
          <p:cNvPr id="17422" name="">
            <a:extLst xmlns:a="http://schemas.openxmlformats.org/drawingml/2006/main">
              <a:ext uri="{FF2B5EF4-FFF2-40B4-BE49-F238E27FC236}">
                <a16:creationId xmlns:a16="http://schemas.microsoft.com/office/drawing/2014/main" id="{9DB6A338-1DE8-4CA9-98CD-B5B56D4AFD8C}"/>
              </a:ext>
            </a:extLst>
          </p:cNvPr>
          <p:cNvSpPr>
            <a:spLocks xmlns:a="http://schemas.openxmlformats.org/drawingml/2006/main" noGrp="1"/>
          </p:cNvSpPr>
          <p:nvPr/>
        </p:nvSpPr>
        <p:spPr>
          <a:xfrm xmlns:a="http://schemas.openxmlformats.org/drawingml/2006/main">
            <a:off x="619125" y="39814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Attribution sources</a:t>
            </a:r>
          </a:p>
        </p:txBody>
      </p:sp>
      <p:sp>
        <p:nvSpPr>
          <p:cNvPr id="17423" name="">
            <a:extLst xmlns:a="http://schemas.openxmlformats.org/drawingml/2006/main">
              <a:ext uri="{FF2B5EF4-FFF2-40B4-BE49-F238E27FC236}">
                <a16:creationId xmlns:a16="http://schemas.microsoft.com/office/drawing/2014/main" id="{00F8ED17-BAA1-48B2-AD86-33DEF7D8A517}"/>
              </a:ext>
            </a:extLst>
          </p:cNvPr>
          <p:cNvSpPr>
            <a:spLocks xmlns:a="http://schemas.openxmlformats.org/drawingml/2006/main" noGrp="1"/>
          </p:cNvSpPr>
          <p:nvPr/>
        </p:nvSpPr>
        <p:spPr>
          <a:xfrm xmlns:a="http://schemas.openxmlformats.org/drawingml/2006/main">
            <a:off x="2790825" y="39814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Binance, Our Commitment to Transparency (2022): published wallet disclosures.</a:t>
            </a:r>
          </a:p>
        </p:txBody>
      </p:sp>
      <p:sp>
        <p:nvSpPr>
          <p:cNvPr id="17424" name="">
            <a:extLst xmlns:a="http://schemas.openxmlformats.org/drawingml/2006/main">
              <a:ext uri="{FF2B5EF4-FFF2-40B4-BE49-F238E27FC236}">
                <a16:creationId xmlns:a16="http://schemas.microsoft.com/office/drawing/2014/main" id="{8E33491D-BB28-484C-BC5A-16616880D185}"/>
              </a:ext>
            </a:extLst>
          </p:cNvPr>
          <p:cNvSpPr>
            <a:spLocks xmlns:a="http://schemas.openxmlformats.org/drawingml/2006/main" noGrp="1"/>
          </p:cNvSpPr>
          <p:nvPr/>
        </p:nvSpPr>
        <p:spPr>
          <a:xfrm xmlns:a="http://schemas.openxmlformats.org/drawingml/2006/main">
            <a:off x="2790825" y="44481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f7bc9ae49b624e72"/>
              </a:rPr>
              <a:t>Historical disclosure; not a deposit-account registry</a:t>
            </a:r>
          </a:p>
        </p:txBody>
      </p:sp>
      <p:sp>
        <p:nvSpPr>
          <p:cNvPr id="17425" name="">
            <a:extLst xmlns:a="http://schemas.openxmlformats.org/drawingml/2006/main">
              <a:ext uri="{FF2B5EF4-FFF2-40B4-BE49-F238E27FC236}">
                <a16:creationId xmlns:a16="http://schemas.microsoft.com/office/drawing/2014/main" id="{82F9BFE0-F570-446F-AC99-18CABEB7F9C2}"/>
              </a:ext>
            </a:extLst>
          </p:cNvPr>
          <p:cNvSpPr>
            <a:spLocks xmlns:a="http://schemas.openxmlformats.org/drawingml/2006/main" noGrp="1"/>
          </p:cNvSpPr>
          <p:nvPr/>
        </p:nvSpPr>
        <p:spPr>
          <a:xfrm xmlns:a="http://schemas.openxmlformats.org/drawingml/2006/main">
            <a:off x="619125" y="47053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AML context</a:t>
            </a:r>
          </a:p>
        </p:txBody>
      </p:sp>
      <p:sp>
        <p:nvSpPr>
          <p:cNvPr id="17426" name="">
            <a:extLst xmlns:a="http://schemas.openxmlformats.org/drawingml/2006/main">
              <a:ext uri="{FF2B5EF4-FFF2-40B4-BE49-F238E27FC236}">
                <a16:creationId xmlns:a16="http://schemas.microsoft.com/office/drawing/2014/main" id="{EDC7CB4C-84FD-4B2C-897B-402332A3A728}"/>
              </a:ext>
            </a:extLst>
          </p:cNvPr>
          <p:cNvSpPr>
            <a:spLocks xmlns:a="http://schemas.openxmlformats.org/drawingml/2006/main" noGrp="1"/>
          </p:cNvSpPr>
          <p:nvPr/>
        </p:nvSpPr>
        <p:spPr>
          <a:xfrm xmlns:a="http://schemas.openxmlformats.org/drawingml/2006/main">
            <a:off x="2790825" y="47053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FATF (2021), Updated Guidance for a Risk-Based Approach to Virtual Assets and VASPs.</a:t>
            </a:r>
          </a:p>
        </p:txBody>
      </p:sp>
      <p:sp>
        <p:nvSpPr>
          <p:cNvPr id="17427" name="">
            <a:extLst xmlns:a="http://schemas.openxmlformats.org/drawingml/2006/main">
              <a:ext uri="{FF2B5EF4-FFF2-40B4-BE49-F238E27FC236}">
                <a16:creationId xmlns:a16="http://schemas.microsoft.com/office/drawing/2014/main" id="{D36A5F6F-E57C-467F-A58A-60A98521809B}"/>
              </a:ext>
            </a:extLst>
          </p:cNvPr>
          <p:cNvSpPr>
            <a:spLocks xmlns:a="http://schemas.openxmlformats.org/drawingml/2006/main" noGrp="1"/>
          </p:cNvSpPr>
          <p:nvPr/>
        </p:nvSpPr>
        <p:spPr>
          <a:xfrm xmlns:a="http://schemas.openxmlformats.org/drawingml/2006/main">
            <a:off x="2790825" y="51720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178084c31a374cab"/>
              </a:rPr>
              <a:t>FATF guidance</a:t>
            </a:r>
          </a:p>
        </p:txBody>
      </p:sp>
      <p:sp>
        <p:nvSpPr>
          <p:cNvPr id="17428" name="">
            <a:extLst xmlns:a="http://schemas.openxmlformats.org/drawingml/2006/main">
              <a:ext uri="{FF2B5EF4-FFF2-40B4-BE49-F238E27FC236}">
                <a16:creationId xmlns:a16="http://schemas.microsoft.com/office/drawing/2014/main" id="{F1C3514B-3DE4-48D7-9552-4EEE1CA7998C}"/>
              </a:ext>
            </a:extLst>
          </p:cNvPr>
          <p:cNvSpPr>
            <a:spLocks xmlns:a="http://schemas.openxmlformats.org/drawingml/2006/main" noGrp="1"/>
          </p:cNvSpPr>
          <p:nvPr/>
        </p:nvSpPr>
        <p:spPr>
          <a:xfrm xmlns:a="http://schemas.openxmlformats.org/drawingml/2006/main">
            <a:off x="619125" y="54292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F497D"/>
                </a:solidFill>
                <a:latin typeface="Arial"/>
                <a:ea typeface="Arial"/>
                <a:cs typeface="Arial"/>
              </a:defRPr>
            </a:pPr>
            <a:r>
              <a:rPr sz="1725" b="1">
                <a:solidFill>
                  <a:srgbClr val="1F497D"/>
                </a:solidFill>
                <a:latin typeface="Arial"/>
                <a:ea typeface="Arial"/>
                <a:cs typeface="Arial"/>
              </a:rPr>
              <a:t>Evidence handling</a:t>
            </a:r>
          </a:p>
        </p:txBody>
      </p:sp>
      <p:sp>
        <p:nvSpPr>
          <p:cNvPr id="17429" name="">
            <a:extLst xmlns:a="http://schemas.openxmlformats.org/drawingml/2006/main">
              <a:ext uri="{FF2B5EF4-FFF2-40B4-BE49-F238E27FC236}">
                <a16:creationId xmlns:a16="http://schemas.microsoft.com/office/drawing/2014/main" id="{E50F7CA0-3F8E-46FB-9164-361E1CC05131}"/>
              </a:ext>
            </a:extLst>
          </p:cNvPr>
          <p:cNvSpPr>
            <a:spLocks xmlns:a="http://schemas.openxmlformats.org/drawingml/2006/main" noGrp="1"/>
          </p:cNvSpPr>
          <p:nvPr/>
        </p:nvSpPr>
        <p:spPr>
          <a:xfrm xmlns:a="http://schemas.openxmlformats.org/drawingml/2006/main">
            <a:off x="2790825" y="54292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NIST SP 800-86 (2006), Guide to Integrating Forensic Techniques into Incident Response.</a:t>
            </a:r>
          </a:p>
        </p:txBody>
      </p:sp>
      <p:sp>
        <p:nvSpPr>
          <p:cNvPr id="17430" name="">
            <a:extLst xmlns:a="http://schemas.openxmlformats.org/drawingml/2006/main">
              <a:ext uri="{FF2B5EF4-FFF2-40B4-BE49-F238E27FC236}">
                <a16:creationId xmlns:a16="http://schemas.microsoft.com/office/drawing/2014/main" id="{B341EE8F-5A85-44FA-8F4B-06F51C242F49}"/>
              </a:ext>
            </a:extLst>
          </p:cNvPr>
          <p:cNvSpPr>
            <a:spLocks xmlns:a="http://schemas.openxmlformats.org/drawingml/2006/main" noGrp="1"/>
          </p:cNvSpPr>
          <p:nvPr/>
        </p:nvSpPr>
        <p:spPr>
          <a:xfrm xmlns:a="http://schemas.openxmlformats.org/drawingml/2006/main">
            <a:off x="2790825" y="58959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522a5d23b00b4eb8"/>
              </a:rPr>
              <a:t>NIST guidance; not a guarantee of legal admissibility</a:t>
            </a:r>
          </a:p>
        </p:txBody>
      </p:sp>
      <p:pic>
        <p:nvPicPr>
          <p:cNvPr id="17456" name=""/>
          <p:cNvPicPr>
            <a:picLocks xmlns:a="http://schemas.openxmlformats.org/drawingml/2006/main" noChangeAspect="1"/>
          </p:cNvPicPr>
          <p:nvPr/>
        </p:nvPicPr>
        <p:blipFill>
          <a:blip xmlns:r="http://schemas.openxmlformats.org/officeDocument/2006/relationships" xmlns:a="http://schemas.openxmlformats.org/drawingml/2006/main" r:embed="R926a1bf4c14e4339"/>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2026-09-22T14:55:10.1520000Z</dcterms:created>
  <dcterms:modified xsi:type="dcterms:W3CDTF">2026-09-22T14:55:10.1520000Z</dcterms:modified>
</coreProperties>
</file>