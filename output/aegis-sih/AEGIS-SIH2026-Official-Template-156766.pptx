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Type="http://schemas.openxmlformats.org/officeDocument/2006/relationships/hyperlink" Target="https://conferences.sigcomm.org/imc/2013/papers/imc182-meiklejohnA.pdf" TargetMode="External" Id="aegis1"/><Relationship Type="http://schemas.openxmlformats.org/officeDocument/2006/relationships/hyperlink" Target="https://arxiv.org/abs/1908.02591" TargetMode="External" Id="aegis2"/><Relationship Type="http://schemas.openxmlformats.org/officeDocument/2006/relationships/hyperlink" Target="https://github.com/Blockstream/esplora/blob/master/API.md" TargetMode="External" Id="aegis3"/><Relationship Type="http://schemas.openxmlformats.org/officeDocument/2006/relationships/hyperlink" Target="https://www.binance.com/en-IN/blog/community/2895840147147652626" TargetMode="External" Id="aegis4"/><Relationship Type="http://schemas.openxmlformats.org/officeDocument/2006/relationships/hyperlink" Target="https://www.fatf-gafi.org/en/publications/Fatfrecommendations/Guidance-rba-virtual-assets-2021.html" TargetMode="External" Id="aegis5"/><Relationship Type="http://schemas.openxmlformats.org/officeDocument/2006/relationships/hyperlink" Target="https://csrc.nist.gov/pubs/sp/800/86/final" TargetMode="External" Id="aegis6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50000" name="AEGIS_COVER">
            <a:extLst>
              <a:ext uri="{FF2B5EF4-FFF2-40B4-BE49-F238E27FC236}">
                <a16:creationId xmlns:a16="http://schemas.microsoft.com/office/drawing/2014/main" id="{AD044467-70F1-4F8C-8630-03ABB0113E3A}"/>
              </a:ext>
            </a:extLst>
          </p:cNvPr>
          <p:cNvSpPr>
            <a:spLocks noGrp="1"/>
          </p:cNvSpPr>
          <p:nvPr/>
        </p:nvSpPr>
        <p:spPr>
          <a:xfrm>
            <a:off x="331280" y="2676525"/>
            <a:ext cx="5924550" cy="4029075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0" rIns="91440" bIns="0">
            <a:noAutofit/>
          </a:bodyPr>
          <a:lstStyle/>
          <a:p>
            <a: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  <a:spcAft>
                <a:spcPts val="600"/>
              </a:spcAft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Problem Statement ID – </a:t>
            </a:r>
            <a:r>
              <a:rPr sz="2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SIH26183</a:t>
            </a:r>
          </a:p>
          <a:p>
            <a: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  <a:spcAft>
                <a:spcPts val="600"/>
              </a:spcAft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Problem Statement Title-</a:t>
            </a:r>
            <a:br>
              <a:rPr sz="1700" b="0">
                <a:solidFill>
                  <a:srgbClr val="000000"/>
                </a:solidFill>
                <a:latin typeface="Arial"/>
                <a:ea typeface="Arial"/>
                <a:cs typeface="Arial"/>
              </a:rPr>
            </a:br>
            <a:r>
              <a:rPr sz="17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Real-Time Identification of Fraud-Linked Cryptocurrency Exchanges from Victim-Reported Suspect Wallet Addresses through Automated Blockchain Analytics</a:t>
            </a:r>
          </a:p>
          <a:p>
            <a: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  <a:spcAft>
                <a:spcPts val="600"/>
              </a:spcAft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Theme- </a:t>
            </a:r>
            <a:r>
              <a:rPr sz="2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Blockchain &amp; Cybersecurity</a:t>
            </a:r>
          </a:p>
          <a:p>
            <a: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  <a:spcAft>
                <a:spcPts val="600"/>
              </a:spcAft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PS Category- </a:t>
            </a:r>
            <a:r>
              <a:rPr sz="2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Software</a:t>
            </a:r>
          </a:p>
          <a:p>
            <a: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  <a:spcAft>
                <a:spcPts val="600"/>
              </a:spcAft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Team ID- </a:t>
            </a:r>
            <a:r>
              <a:rPr sz="2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156766</a:t>
            </a:r>
          </a:p>
          <a:p>
            <a: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  <a:spcAft>
                <a:spcPts val="600"/>
              </a:spcAft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Team Name (Registered on portal)</a:t>
            </a:r>
            <a:br>
              <a:rPr sz="2000" b="0">
                <a:solidFill>
                  <a:srgbClr val="000000"/>
                </a:solidFill>
                <a:latin typeface="Arial"/>
                <a:ea typeface="Arial"/>
                <a:cs typeface="Arial"/>
              </a:rPr>
            </a:br>
            <a:r>
              <a:rPr sz="2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COLD COFFEE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/>
            </a: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AEGIS FORENSICS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COLD COFFEE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50000" name="AEGIS_PROMPT_0">
            <a:extLst>
              <a:ext uri="{FF2B5EF4-FFF2-40B4-BE49-F238E27FC236}">
                <a16:creationId xmlns:a16="http://schemas.microsoft.com/office/drawing/2014/main" id="{80F52CDD-7F87-4F5A-BE44-634AF6484781}"/>
              </a:ext>
            </a:extLst>
          </p:cNvPr>
          <p:cNvSpPr>
            <a:spLocks noGrp="1"/>
          </p:cNvSpPr>
          <p:nvPr/>
        </p:nvSpPr>
        <p:spPr>
          <a:xfrm>
            <a:off x="-1" y="2057400"/>
            <a:ext cx="12191999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0" rIns="91440" bIns="0">
            <a:no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Proposed Solution (Describe your Idea/Solution/Prototype)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0001" name="AEGIS_PROMPT_1">
            <a:extLst>
              <a:ext uri="{FF2B5EF4-FFF2-40B4-BE49-F238E27FC236}">
                <a16:creationId xmlns:a16="http://schemas.microsoft.com/office/drawing/2014/main" id="{D0838BC3-A409-49A8-858D-D1FFD29696A1}"/>
              </a:ext>
            </a:extLst>
          </p:cNvPr>
          <p:cNvSpPr>
            <a:spLocks noGrp="1"/>
          </p:cNvSpPr>
          <p:nvPr/>
        </p:nvSpPr>
        <p:spPr>
          <a:xfrm>
            <a:off x="-1" y="2886075"/>
            <a:ext cx="12191999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0" rIns="91440" bIns="0">
            <a:no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Detailed explanation of the proposed solution</a:t>
            </a:r>
          </a:p>
        </p:txBody>
      </p:sp>
      <p:sp>
        <p:nvSpPr>
          <p:cNvPr id="50002" name="AEGIS_NODE_1">
            <a:extLst>
              <a:ext uri="{FF2B5EF4-FFF2-40B4-BE49-F238E27FC236}">
                <a16:creationId xmlns:a16="http://schemas.microsoft.com/office/drawing/2014/main" id="{94DAB3E2-B46C-4685-A3B4-3770A6EB7F5A}"/>
              </a:ext>
            </a:extLst>
          </p:cNvPr>
          <p:cNvSpPr>
            <a:spLocks noGrp="1"/>
          </p:cNvSpPr>
          <p:nvPr/>
        </p:nvSpPr>
        <p:spPr>
          <a:xfrm>
            <a:off x="457200" y="3486150"/>
            <a:ext cx="2533650" cy="685800"/>
          </a:xfrm>
          <a:prstGeom prst="rect">
            <a:avLst/>
          </a:prstGeom>
          <a:solidFill>
            <a:srgbClr val="FFFFFF"/>
          </a:solidFill>
          <a:ln w="16193">
            <a:solidFill>
              <a:srgbClr val="1F497D"/>
            </a:solidFill>
          </a:ln>
        </p:spPr>
        <p:txBody>
          <a:bodyPr lIns="85725" tIns="66675" rIns="85725" bIns="66675" anchor="ctr"/>
          <a:lstStyle/>
          <a:p>
            <a:pPr algn="ctr">
              <a:defRPr sz="17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000000"/>
                </a:solidFill>
                <a:latin typeface="Arial"/>
                <a:ea typeface="Arial"/>
                <a:cs typeface="Arial"/>
              </a:rPr>
              <a:t>Reported wallet</a:t>
            </a:r>
          </a:p>
        </p:txBody>
      </p:sp>
      <p:sp>
        <p:nvSpPr>
          <p:cNvPr id="50003" name="AEGIS_NODE_2">
            <a:extLst>
              <a:ext uri="{FF2B5EF4-FFF2-40B4-BE49-F238E27FC236}">
                <a16:creationId xmlns:a16="http://schemas.microsoft.com/office/drawing/2014/main" id="{4B3143D2-E5D7-4D51-A5CF-0A02D3FAB828}"/>
              </a:ext>
            </a:extLst>
          </p:cNvPr>
          <p:cNvSpPr>
            <a:spLocks noGrp="1"/>
          </p:cNvSpPr>
          <p:nvPr/>
        </p:nvSpPr>
        <p:spPr>
          <a:xfrm>
            <a:off x="3314700" y="3486150"/>
            <a:ext cx="2533650" cy="685800"/>
          </a:xfrm>
          <a:prstGeom prst="rect">
            <a:avLst/>
          </a:prstGeom>
          <a:solidFill>
            <a:srgbClr val="FFFFFF"/>
          </a:solidFill>
          <a:ln w="16193">
            <a:solidFill>
              <a:srgbClr val="1F497D"/>
            </a:solidFill>
          </a:ln>
        </p:spPr>
        <p:txBody>
          <a:bodyPr lIns="85725" tIns="66675" rIns="85725" bIns="66675" anchor="ctr"/>
          <a:lstStyle/>
          <a:p>
            <a:pPr algn="ctr">
              <a:defRPr sz="17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000000"/>
                </a:solidFill>
                <a:latin typeface="Arial"/>
                <a:ea typeface="Arial"/>
                <a:cs typeface="Arial"/>
              </a:rPr>
              <a:t>Trace intermediary hops</a:t>
            </a:r>
          </a:p>
        </p:txBody>
      </p:sp>
      <p:sp>
        <p:nvSpPr>
          <p:cNvPr id="50004" name="AEGIS_NODE_3">
            <a:extLst>
              <a:ext uri="{FF2B5EF4-FFF2-40B4-BE49-F238E27FC236}">
                <a16:creationId xmlns:a16="http://schemas.microsoft.com/office/drawing/2014/main" id="{7B7D68DA-0CB1-4F16-B4C2-C783724F138B}"/>
              </a:ext>
            </a:extLst>
          </p:cNvPr>
          <p:cNvSpPr>
            <a:spLocks noGrp="1"/>
          </p:cNvSpPr>
          <p:nvPr/>
        </p:nvSpPr>
        <p:spPr>
          <a:xfrm>
            <a:off x="6172200" y="3486150"/>
            <a:ext cx="2533650" cy="685800"/>
          </a:xfrm>
          <a:prstGeom prst="rect">
            <a:avLst/>
          </a:prstGeom>
          <a:solidFill>
            <a:srgbClr val="FFFFFF"/>
          </a:solidFill>
          <a:ln w="16193">
            <a:solidFill>
              <a:srgbClr val="1F497D"/>
            </a:solidFill>
          </a:ln>
        </p:spPr>
        <p:txBody>
          <a:bodyPr lIns="85725" tIns="66675" rIns="85725" bIns="66675" anchor="ctr"/>
          <a:lstStyle/>
          <a:p>
            <a:pPr algn="ctr">
              <a:defRPr sz="17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000000"/>
                </a:solidFill>
                <a:latin typeface="Arial"/>
                <a:ea typeface="Arial"/>
                <a:cs typeface="Arial"/>
              </a:rPr>
              <a:t>Find receiving VASP</a:t>
            </a:r>
          </a:p>
        </p:txBody>
      </p:sp>
      <p:sp>
        <p:nvSpPr>
          <p:cNvPr id="50005" name="AEGIS_NODE_4">
            <a:extLst>
              <a:ext uri="{FF2B5EF4-FFF2-40B4-BE49-F238E27FC236}">
                <a16:creationId xmlns:a16="http://schemas.microsoft.com/office/drawing/2014/main" id="{F3171454-2A5F-45BD-B846-BC6417F11035}"/>
              </a:ext>
            </a:extLst>
          </p:cNvPr>
          <p:cNvSpPr>
            <a:spLocks noGrp="1"/>
          </p:cNvSpPr>
          <p:nvPr/>
        </p:nvSpPr>
        <p:spPr>
          <a:xfrm>
            <a:off x="9029700" y="3486150"/>
            <a:ext cx="2533650" cy="685800"/>
          </a:xfrm>
          <a:prstGeom prst="rect">
            <a:avLst/>
          </a:prstGeom>
          <a:solidFill>
            <a:srgbClr val="FFFFFF"/>
          </a:solidFill>
          <a:ln w="16193">
            <a:solidFill>
              <a:srgbClr val="1F497D"/>
            </a:solidFill>
          </a:ln>
        </p:spPr>
        <p:txBody>
          <a:bodyPr lIns="85725" tIns="66675" rIns="85725" bIns="66675" anchor="ctr"/>
          <a:lstStyle/>
          <a:p>
            <a:pPr algn="ctr">
              <a:defRPr sz="17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000000"/>
                </a:solidFill>
                <a:latin typeface="Arial"/>
                <a:ea typeface="Arial"/>
                <a:cs typeface="Arial"/>
              </a:rPr>
              <a:t>Investigator lead</a:t>
            </a:r>
          </a:p>
        </p:txBody>
      </p:sp>
      <p:cxnSp>
        <p:nvCxnSpPr>
          <p:cNvPr id="50006" name="AEGIS_LINK_5"/>
          <p:cNvCxnSpPr>
            <a:stCxn id="50002" idx="3"/>
            <a:endCxn id="50003" idx="1"/>
          </p:cNvCxnSpPr>
          <p:nvPr/>
        </p:nvCxnSpPr>
        <p:spPr>
          <a:xfrm>
            <a:off x="2990850" y="3829050"/>
            <a:ext cx="323850" cy="0"/>
          </a:xfrm>
          <a:prstGeom prst="straightConnector1">
            <a:avLst/>
          </a:prstGeom>
          <a:ln w="23813">
            <a:solidFill>
              <a:srgbClr val="1F497D"/>
            </a:solidFill>
            <a:prstDash val="solid"/>
            <a:tailEnd type="triangle" w="med" len="med"/>
          </a:ln>
        </p:spPr>
      </p:cxnSp>
      <p:cxnSp>
        <p:nvCxnSpPr>
          <p:cNvPr id="50007" name="AEGIS_LINK_6"/>
          <p:cNvCxnSpPr>
            <a:stCxn id="50003" idx="3"/>
            <a:endCxn id="50004" idx="1"/>
          </p:cNvCxnSpPr>
          <p:nvPr/>
        </p:nvCxnSpPr>
        <p:spPr>
          <a:xfrm>
            <a:off x="5848350" y="3829050"/>
            <a:ext cx="323850" cy="0"/>
          </a:xfrm>
          <a:prstGeom prst="straightConnector1">
            <a:avLst/>
          </a:prstGeom>
          <a:ln w="23813">
            <a:solidFill>
              <a:srgbClr val="1F497D"/>
            </a:solidFill>
            <a:prstDash val="solid"/>
            <a:tailEnd type="triangle" w="med" len="med"/>
          </a:ln>
        </p:spPr>
      </p:cxnSp>
      <p:cxnSp>
        <p:nvCxnSpPr>
          <p:cNvPr id="50008" name="AEGIS_LINK_7"/>
          <p:cNvCxnSpPr>
            <a:stCxn id="50004" idx="3"/>
            <a:endCxn id="50005" idx="1"/>
          </p:cNvCxnSpPr>
          <p:nvPr/>
        </p:nvCxnSpPr>
        <p:spPr>
          <a:xfrm>
            <a:off x="8705850" y="3829050"/>
            <a:ext cx="323850" cy="0"/>
          </a:xfrm>
          <a:prstGeom prst="straightConnector1">
            <a:avLst/>
          </a:prstGeom>
          <a:ln w="23813">
            <a:solidFill>
              <a:srgbClr val="1F497D"/>
            </a:solidFill>
            <a:prstDash val="solid"/>
            <a:tailEnd type="triangle" w="med" len="med"/>
          </a:ln>
        </p:spPr>
      </p:cxnSp>
      <p:sp>
        <p:nvSpPr>
          <p:cNvPr id="50009" name="AEGIS_PROMPT_2">
            <a:extLst>
              <a:ext uri="{FF2B5EF4-FFF2-40B4-BE49-F238E27FC236}">
                <a16:creationId xmlns:a16="http://schemas.microsoft.com/office/drawing/2014/main" id="{38420AC1-C47E-4557-A4E8-036FA4BADAF1}"/>
              </a:ext>
            </a:extLst>
          </p:cNvPr>
          <p:cNvSpPr>
            <a:spLocks noGrp="1"/>
          </p:cNvSpPr>
          <p:nvPr/>
        </p:nvSpPr>
        <p:spPr>
          <a:xfrm>
            <a:off x="-1" y="4381500"/>
            <a:ext cx="12191999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0" rIns="91440" bIns="0">
            <a:no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 How it addresses the problem</a:t>
            </a:r>
          </a:p>
        </p:txBody>
      </p:sp>
      <p:sp>
        <p:nvSpPr>
          <p:cNvPr id="50010" name="AEGIS_8">
            <a:extLst>
              <a:ext uri="{FF2B5EF4-FFF2-40B4-BE49-F238E27FC236}">
                <a16:creationId xmlns:a16="http://schemas.microsoft.com/office/drawing/2014/main" id="{FD58D50D-57E2-441C-9ED1-16CAAD03A990}"/>
              </a:ext>
            </a:extLst>
          </p:cNvPr>
          <p:cNvSpPr>
            <a:spLocks noGrp="1"/>
          </p:cNvSpPr>
          <p:nvPr/>
        </p:nvSpPr>
        <p:spPr>
          <a:xfrm>
            <a:off x="457200" y="4886325"/>
            <a:ext cx="111442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8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Movement alerts and sourced fund trails will support investigator review and VASP preservation requests.</a:t>
            </a:r>
          </a:p>
        </p:txBody>
      </p:sp>
      <p:sp>
        <p:nvSpPr>
          <p:cNvPr id="50011" name="AEGIS_PROMPT_3">
            <a:extLst>
              <a:ext uri="{FF2B5EF4-FFF2-40B4-BE49-F238E27FC236}">
                <a16:creationId xmlns:a16="http://schemas.microsoft.com/office/drawing/2014/main" id="{4D05C486-6B98-4F51-9479-63D84ED04432}"/>
              </a:ext>
            </a:extLst>
          </p:cNvPr>
          <p:cNvSpPr>
            <a:spLocks noGrp="1"/>
          </p:cNvSpPr>
          <p:nvPr/>
        </p:nvSpPr>
        <p:spPr>
          <a:xfrm>
            <a:off x="-1" y="5476875"/>
            <a:ext cx="12191999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0" rIns="91440" bIns="0">
            <a:no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Innovation and uniqueness of the solution </a:t>
            </a:r>
          </a:p>
        </p:txBody>
      </p:sp>
      <p:sp>
        <p:nvSpPr>
          <p:cNvPr id="50012" name="AEGIS_9">
            <a:extLst>
              <a:ext uri="{FF2B5EF4-FFF2-40B4-BE49-F238E27FC236}">
                <a16:creationId xmlns:a16="http://schemas.microsoft.com/office/drawing/2014/main" id="{796D7867-030D-41B7-A8FE-B64B63DBF105}"/>
              </a:ext>
            </a:extLst>
          </p:cNvPr>
          <p:cNvSpPr>
            <a:spLocks noGrp="1"/>
          </p:cNvSpPr>
          <p:nvPr/>
        </p:nvSpPr>
        <p:spPr>
          <a:xfrm>
            <a:off x="457200" y="5962650"/>
            <a:ext cx="111442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Link each lead to its evidence and next action. Preserve earlier findings as transactions and labels change.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COLD COFFEE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50000" name="AEGIS_PROMPT_0">
            <a:extLst>
              <a:ext uri="{FF2B5EF4-FFF2-40B4-BE49-F238E27FC236}">
                <a16:creationId xmlns:a16="http://schemas.microsoft.com/office/drawing/2014/main" id="{1AC4A7D3-0F91-4ADC-A97E-B5B07C9158D7}"/>
              </a:ext>
            </a:extLst>
          </p:cNvPr>
          <p:cNvSpPr>
            <a:spLocks noGrp="1"/>
          </p:cNvSpPr>
          <p:nvPr/>
        </p:nvSpPr>
        <p:spPr>
          <a:xfrm>
            <a:off x="609600" y="1438275"/>
            <a:ext cx="93853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0" rIns="91440" bIns="0">
            <a:no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Technologies to be used (e.g. programming languages, frameworks, hardware)</a:t>
            </a:r>
          </a:p>
        </p:txBody>
      </p:sp>
      <p:sp>
        <p:nvSpPr>
          <p:cNvPr id="50001" name="AEGIS_10">
            <a:extLst>
              <a:ext uri="{FF2B5EF4-FFF2-40B4-BE49-F238E27FC236}">
                <a16:creationId xmlns:a16="http://schemas.microsoft.com/office/drawing/2014/main" id="{7C367920-86D1-445F-846D-4CAC7C1DDF5D}"/>
              </a:ext>
            </a:extLst>
          </p:cNvPr>
          <p:cNvSpPr>
            <a:spLocks noGrp="1"/>
          </p:cNvSpPr>
          <p:nvPr/>
        </p:nvSpPr>
        <p:spPr>
          <a:xfrm>
            <a:off x="1047750" y="2362200"/>
            <a:ext cx="104775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8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React, Python/FastAPI, queued workers, incremental blockchain indexes and versioned VASP labels.</a:t>
            </a:r>
          </a:p>
        </p:txBody>
      </p:sp>
      <p:sp>
        <p:nvSpPr>
          <p:cNvPr id="50002" name="AEGIS_PROMPT_1">
            <a:extLst>
              <a:ext uri="{FF2B5EF4-FFF2-40B4-BE49-F238E27FC236}">
                <a16:creationId xmlns:a16="http://schemas.microsoft.com/office/drawing/2014/main" id="{3F2270B0-CC76-4854-95F9-F27A2E33CB0F}"/>
              </a:ext>
            </a:extLst>
          </p:cNvPr>
          <p:cNvSpPr>
            <a:spLocks noGrp="1"/>
          </p:cNvSpPr>
          <p:nvPr/>
        </p:nvSpPr>
        <p:spPr>
          <a:xfrm>
            <a:off x="609600" y="3105150"/>
            <a:ext cx="93853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0" rIns="91440" bIns="0">
            <a:no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Methodology and process for implementation (Flow Charts/Images/ working prototype)</a:t>
            </a:r>
          </a:p>
        </p:txBody>
      </p:sp>
      <p:sp>
        <p:nvSpPr>
          <p:cNvPr id="50003" name="AEGIS_NODE_11">
            <a:extLst>
              <a:ext uri="{FF2B5EF4-FFF2-40B4-BE49-F238E27FC236}">
                <a16:creationId xmlns:a16="http://schemas.microsoft.com/office/drawing/2014/main" id="{9ADC38A7-D29B-4FE4-982F-5FF3FEC83C10}"/>
              </a:ext>
            </a:extLst>
          </p:cNvPr>
          <p:cNvSpPr>
            <a:spLocks noGrp="1"/>
          </p:cNvSpPr>
          <p:nvPr/>
        </p:nvSpPr>
        <p:spPr>
          <a:xfrm>
            <a:off x="1047750" y="4248150"/>
            <a:ext cx="2324100" cy="790575"/>
          </a:xfrm>
          <a:prstGeom prst="rect">
            <a:avLst/>
          </a:prstGeom>
          <a:solidFill>
            <a:srgbClr val="FFFFFF"/>
          </a:solidFill>
          <a:ln w="16193">
            <a:solidFill>
              <a:srgbClr val="1F497D"/>
            </a:solidFill>
          </a:ln>
        </p:spPr>
        <p:txBody>
          <a:bodyPr lIns="85725" tIns="66675" rIns="85725" bIns="66675" anchor="ctr"/>
          <a:lstStyle/>
          <a:p>
            <a:pPr algn="ctr">
              <a:defRPr sz="17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000000"/>
                </a:solidFill>
                <a:latin typeface="Arial"/>
                <a:ea typeface="Arial"/>
                <a:cs typeface="Arial"/>
              </a:rPr>
              <a:t>Bitcoin / EVM / TRON</a:t>
            </a:r>
          </a:p>
          <a:p>
            <a:pPr algn="ctr">
              <a:defRPr sz="17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000000"/>
                </a:solidFill>
                <a:latin typeface="Arial"/>
                <a:ea typeface="Arial"/>
                <a:cs typeface="Arial"/>
              </a:rPr>
              <a:t>Supported bridges</a:t>
            </a:r>
          </a:p>
        </p:txBody>
      </p:sp>
      <p:sp>
        <p:nvSpPr>
          <p:cNvPr id="50004" name="AEGIS_NODE_12">
            <a:extLst>
              <a:ext uri="{FF2B5EF4-FFF2-40B4-BE49-F238E27FC236}">
                <a16:creationId xmlns:a16="http://schemas.microsoft.com/office/drawing/2014/main" id="{364A274F-A451-4CA7-B275-70E0DDCF5EA8}"/>
              </a:ext>
            </a:extLst>
          </p:cNvPr>
          <p:cNvSpPr>
            <a:spLocks noGrp="1"/>
          </p:cNvSpPr>
          <p:nvPr/>
        </p:nvSpPr>
        <p:spPr>
          <a:xfrm>
            <a:off x="3724275" y="4248150"/>
            <a:ext cx="2324100" cy="790575"/>
          </a:xfrm>
          <a:prstGeom prst="rect">
            <a:avLst/>
          </a:prstGeom>
          <a:solidFill>
            <a:srgbClr val="FFFFFF"/>
          </a:solidFill>
          <a:ln w="16193">
            <a:solidFill>
              <a:srgbClr val="1F497D"/>
            </a:solidFill>
          </a:ln>
        </p:spPr>
        <p:txBody>
          <a:bodyPr lIns="85725" tIns="66675" rIns="85725" bIns="66675" anchor="ctr"/>
          <a:lstStyle/>
          <a:p>
            <a:pPr algn="ctr">
              <a:defRPr sz="17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000000"/>
                </a:solidFill>
                <a:latin typeface="Arial"/>
                <a:ea typeface="Arial"/>
                <a:cs typeface="Arial"/>
              </a:rPr>
              <a:t>Trace spend links</a:t>
            </a:r>
          </a:p>
          <a:p>
            <a:pPr algn="ctr">
              <a:defRPr sz="17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000000"/>
                </a:solidFill>
                <a:latin typeface="Arial"/>
                <a:ea typeface="Arial"/>
                <a:cs typeface="Arial"/>
              </a:rPr>
              <a:t>and transfer events</a:t>
            </a:r>
          </a:p>
        </p:txBody>
      </p:sp>
      <p:sp>
        <p:nvSpPr>
          <p:cNvPr id="50005" name="AEGIS_NODE_13">
            <a:extLst>
              <a:ext uri="{FF2B5EF4-FFF2-40B4-BE49-F238E27FC236}">
                <a16:creationId xmlns:a16="http://schemas.microsoft.com/office/drawing/2014/main" id="{588CD479-E401-4853-9EEB-A27FD979C1E0}"/>
              </a:ext>
            </a:extLst>
          </p:cNvPr>
          <p:cNvSpPr>
            <a:spLocks noGrp="1"/>
          </p:cNvSpPr>
          <p:nvPr/>
        </p:nvSpPr>
        <p:spPr>
          <a:xfrm>
            <a:off x="6400800" y="4248150"/>
            <a:ext cx="2324100" cy="790575"/>
          </a:xfrm>
          <a:prstGeom prst="rect">
            <a:avLst/>
          </a:prstGeom>
          <a:solidFill>
            <a:srgbClr val="FFFFFF"/>
          </a:solidFill>
          <a:ln w="16193">
            <a:solidFill>
              <a:srgbClr val="1F497D"/>
            </a:solidFill>
          </a:ln>
        </p:spPr>
        <p:txBody>
          <a:bodyPr lIns="85725" tIns="66675" rIns="85725" bIns="66675" anchor="ctr"/>
          <a:lstStyle/>
          <a:p>
            <a:pPr algn="ctr">
              <a:defRPr sz="17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000000"/>
                </a:solidFill>
                <a:latin typeface="Arial"/>
                <a:ea typeface="Arial"/>
                <a:cs typeface="Arial"/>
              </a:rPr>
              <a:t>Match VASP labels</a:t>
            </a:r>
          </a:p>
          <a:p>
            <a:pPr algn="ctr">
              <a:defRPr sz="17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000000"/>
                </a:solidFill>
                <a:latin typeface="Arial"/>
                <a:ea typeface="Arial"/>
                <a:cs typeface="Arial"/>
              </a:rPr>
              <a:t>Review uncertainty</a:t>
            </a:r>
          </a:p>
        </p:txBody>
      </p:sp>
      <p:sp>
        <p:nvSpPr>
          <p:cNvPr id="50006" name="AEGIS_NODE_14">
            <a:extLst>
              <a:ext uri="{FF2B5EF4-FFF2-40B4-BE49-F238E27FC236}">
                <a16:creationId xmlns:a16="http://schemas.microsoft.com/office/drawing/2014/main" id="{63CB5308-6429-4345-9C2E-187A21248BA1}"/>
              </a:ext>
            </a:extLst>
          </p:cNvPr>
          <p:cNvSpPr>
            <a:spLocks noGrp="1"/>
          </p:cNvSpPr>
          <p:nvPr/>
        </p:nvSpPr>
        <p:spPr>
          <a:xfrm>
            <a:off x="9077325" y="4248150"/>
            <a:ext cx="2324100" cy="790575"/>
          </a:xfrm>
          <a:prstGeom prst="rect">
            <a:avLst/>
          </a:prstGeom>
          <a:solidFill>
            <a:srgbClr val="FFFFFF"/>
          </a:solidFill>
          <a:ln w="16193">
            <a:solidFill>
              <a:srgbClr val="1F497D"/>
            </a:solidFill>
          </a:ln>
        </p:spPr>
        <p:txBody>
          <a:bodyPr lIns="85725" tIns="66675" rIns="85725" bIns="66675" anchor="ctr"/>
          <a:lstStyle/>
          <a:p>
            <a:pPr algn="ctr">
              <a:defRPr sz="17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000000"/>
                </a:solidFill>
                <a:latin typeface="Arial"/>
                <a:ea typeface="Arial"/>
                <a:cs typeface="Arial"/>
              </a:rPr>
              <a:t>Case dashboard</a:t>
            </a:r>
          </a:p>
          <a:p>
            <a:pPr algn="ctr">
              <a:defRPr sz="17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000000"/>
                </a:solidFill>
                <a:latin typeface="Arial"/>
                <a:ea typeface="Arial"/>
                <a:cs typeface="Arial"/>
              </a:rPr>
              <a:t>Alerts and reports</a:t>
            </a:r>
          </a:p>
        </p:txBody>
      </p:sp>
      <p:cxnSp>
        <p:nvCxnSpPr>
          <p:cNvPr id="50007" name="AEGIS_LINK_15"/>
          <p:cNvCxnSpPr>
            <a:stCxn id="50003" idx="3"/>
            <a:endCxn id="50004" idx="1"/>
          </p:cNvCxnSpPr>
          <p:nvPr/>
        </p:nvCxnSpPr>
        <p:spPr>
          <a:xfrm>
            <a:off x="3371850" y="4643438"/>
            <a:ext cx="352425" cy="0"/>
          </a:xfrm>
          <a:prstGeom prst="straightConnector1">
            <a:avLst/>
          </a:prstGeom>
          <a:ln w="23813">
            <a:solidFill>
              <a:srgbClr val="1F497D"/>
            </a:solidFill>
            <a:prstDash val="solid"/>
            <a:tailEnd type="triangle" w="med" len="med"/>
          </a:ln>
        </p:spPr>
      </p:cxnSp>
      <p:cxnSp>
        <p:nvCxnSpPr>
          <p:cNvPr id="50008" name="AEGIS_LINK_16"/>
          <p:cNvCxnSpPr>
            <a:stCxn id="50004" idx="3"/>
            <a:endCxn id="50005" idx="1"/>
          </p:cNvCxnSpPr>
          <p:nvPr/>
        </p:nvCxnSpPr>
        <p:spPr>
          <a:xfrm>
            <a:off x="6048375" y="4643438"/>
            <a:ext cx="352425" cy="0"/>
          </a:xfrm>
          <a:prstGeom prst="straightConnector1">
            <a:avLst/>
          </a:prstGeom>
          <a:ln w="23813">
            <a:solidFill>
              <a:srgbClr val="1F497D"/>
            </a:solidFill>
            <a:prstDash val="solid"/>
            <a:tailEnd type="triangle" w="med" len="med"/>
          </a:ln>
        </p:spPr>
      </p:cxnSp>
      <p:cxnSp>
        <p:nvCxnSpPr>
          <p:cNvPr id="50009" name="AEGIS_LINK_17"/>
          <p:cNvCxnSpPr>
            <a:stCxn id="50005" idx="3"/>
            <a:endCxn id="50006" idx="1"/>
          </p:cNvCxnSpPr>
          <p:nvPr/>
        </p:nvCxnSpPr>
        <p:spPr>
          <a:xfrm>
            <a:off x="8724900" y="4643438"/>
            <a:ext cx="352425" cy="0"/>
          </a:xfrm>
          <a:prstGeom prst="straightConnector1">
            <a:avLst/>
          </a:prstGeom>
          <a:ln w="23813">
            <a:solidFill>
              <a:srgbClr val="1F497D"/>
            </a:solidFill>
            <a:prstDash val="solid"/>
            <a:tailEnd type="triangle" w="med" len="med"/>
          </a:ln>
        </p:spPr>
      </p:cxnSp>
      <p:sp>
        <p:nvSpPr>
          <p:cNvPr id="50010" name="AEGIS_18">
            <a:extLst>
              <a:ext uri="{FF2B5EF4-FFF2-40B4-BE49-F238E27FC236}">
                <a16:creationId xmlns:a16="http://schemas.microsoft.com/office/drawing/2014/main" id="{2CEA972B-2106-4F68-A71A-30CFF03BBB5B}"/>
              </a:ext>
            </a:extLst>
          </p:cNvPr>
          <p:cNvSpPr>
            <a:spLocks noGrp="1"/>
          </p:cNvSpPr>
          <p:nvPr/>
        </p:nvSpPr>
        <p:spPr>
          <a:xfrm>
            <a:off x="6105525" y="5153025"/>
            <a:ext cx="30861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Sourced registry + cautious clustering</a:t>
            </a:r>
          </a:p>
        </p:txBody>
      </p:sp>
      <p:sp>
        <p:nvSpPr>
          <p:cNvPr id="50011" name="AEGIS_19">
            <a:extLst>
              <a:ext uri="{FF2B5EF4-FFF2-40B4-BE49-F238E27FC236}">
                <a16:creationId xmlns:a16="http://schemas.microsoft.com/office/drawing/2014/main" id="{940D3C27-1966-4848-980B-B0F388830875}"/>
              </a:ext>
            </a:extLst>
          </p:cNvPr>
          <p:cNvSpPr>
            <a:spLocks noGrp="1"/>
          </p:cNvSpPr>
          <p:nvPr/>
        </p:nvSpPr>
        <p:spPr>
          <a:xfrm>
            <a:off x="1047750" y="5743575"/>
            <a:ext cx="10382250" cy="485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Explainable rules and evaluated ML will flag suspect patterns. Mixing and unsupported bridges remain explicit gaps.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COLD COFFEE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50000" name="AEGIS_PROMPT_0">
            <a:extLst>
              <a:ext uri="{FF2B5EF4-FFF2-40B4-BE49-F238E27FC236}">
                <a16:creationId xmlns:a16="http://schemas.microsoft.com/office/drawing/2014/main" id="{B4ED74CE-7DCD-46B3-B54B-17ED5FD39CC1}"/>
              </a:ext>
            </a:extLst>
          </p:cNvPr>
          <p:cNvSpPr>
            <a:spLocks noGrp="1"/>
          </p:cNvSpPr>
          <p:nvPr/>
        </p:nvSpPr>
        <p:spPr>
          <a:xfrm>
            <a:off x="609600" y="1495425"/>
            <a:ext cx="93853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0" rIns="91440" bIns="0">
            <a:no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Analysis of the feasibility of the idea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50001" name="AEGIS_20">
            <a:extLst>
              <a:ext uri="{FF2B5EF4-FFF2-40B4-BE49-F238E27FC236}">
                <a16:creationId xmlns:a16="http://schemas.microsoft.com/office/drawing/2014/main" id="{EEF58E48-261B-4FD1-9877-B3BA78AE1A2E}"/>
              </a:ext>
            </a:extLst>
          </p:cNvPr>
          <p:cNvSpPr>
            <a:spLocks noGrp="1"/>
          </p:cNvSpPr>
          <p:nvPr/>
        </p:nvSpPr>
        <p:spPr>
          <a:xfrm>
            <a:off x="1047750" y="2076450"/>
            <a:ext cx="10287000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8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Validate Bitcoin attribution first, then monitoring, additional chains and approved LEA integration.</a:t>
            </a:r>
          </a:p>
        </p:txBody>
      </p:sp>
      <p:sp>
        <p:nvSpPr>
          <p:cNvPr id="50002" name="AEGIS_21">
            <a:extLst>
              <a:ext uri="{FF2B5EF4-FFF2-40B4-BE49-F238E27FC236}">
                <a16:creationId xmlns:a16="http://schemas.microsoft.com/office/drawing/2014/main" id="{03C7BE3F-F2F8-4449-9BEA-842382529B95}"/>
              </a:ext>
            </a:extLst>
          </p:cNvPr>
          <p:cNvSpPr>
            <a:spLocks noGrp="1"/>
          </p:cNvSpPr>
          <p:nvPr/>
        </p:nvSpPr>
        <p:spPr>
          <a:xfrm>
            <a:off x="1047750" y="2657475"/>
            <a:ext cx="102870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8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Label supply: reviewed disclosures and authorized VASP data, retaining source and review history.</a:t>
            </a:r>
          </a:p>
        </p:txBody>
      </p:sp>
      <p:sp>
        <p:nvSpPr>
          <p:cNvPr id="50003" name="AEGIS_PROMPT_1">
            <a:extLst>
              <a:ext uri="{FF2B5EF4-FFF2-40B4-BE49-F238E27FC236}">
                <a16:creationId xmlns:a16="http://schemas.microsoft.com/office/drawing/2014/main" id="{288561C6-38D7-45B0-AD24-FC731A1966FF}"/>
              </a:ext>
            </a:extLst>
          </p:cNvPr>
          <p:cNvSpPr>
            <a:spLocks noGrp="1"/>
          </p:cNvSpPr>
          <p:nvPr/>
        </p:nvSpPr>
        <p:spPr>
          <a:xfrm>
            <a:off x="609600" y="3457575"/>
            <a:ext cx="93853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0" rIns="91440" bIns="0">
            <a:no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Potential challenges and risks</a:t>
            </a:r>
          </a:p>
        </p:txBody>
      </p:sp>
      <p:sp>
        <p:nvSpPr>
          <p:cNvPr id="50004" name="AEGIS_22">
            <a:extLst>
              <a:ext uri="{FF2B5EF4-FFF2-40B4-BE49-F238E27FC236}">
                <a16:creationId xmlns:a16="http://schemas.microsoft.com/office/drawing/2014/main" id="{CA1AEDF1-CEE8-44F4-BB8E-D4CC714DCED8}"/>
              </a:ext>
            </a:extLst>
          </p:cNvPr>
          <p:cNvSpPr>
            <a:spLocks noGrp="1"/>
          </p:cNvSpPr>
          <p:nvPr/>
        </p:nvSpPr>
        <p:spPr>
          <a:xfrm>
            <a:off x="1047750" y="3971925"/>
            <a:ext cx="10287000" cy="676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8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Incomplete labels, ambiguous flows and provider limits can reduce coverage or cause false attribution. Agency data and APIs require authorization.</a:t>
            </a:r>
          </a:p>
        </p:txBody>
      </p:sp>
      <p:sp>
        <p:nvSpPr>
          <p:cNvPr id="50005" name="AEGIS_PROMPT_2">
            <a:extLst>
              <a:ext uri="{FF2B5EF4-FFF2-40B4-BE49-F238E27FC236}">
                <a16:creationId xmlns:a16="http://schemas.microsoft.com/office/drawing/2014/main" id="{61DBC475-96BD-4C54-9728-6CAE9DA593F3}"/>
              </a:ext>
            </a:extLst>
          </p:cNvPr>
          <p:cNvSpPr>
            <a:spLocks noGrp="1"/>
          </p:cNvSpPr>
          <p:nvPr/>
        </p:nvSpPr>
        <p:spPr>
          <a:xfrm>
            <a:off x="609600" y="4943475"/>
            <a:ext cx="93853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0" rIns="91440" bIns="0">
            <a:no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Strategies</a:t>
            </a:r>
            <a:r>
              <a:rPr kumimoji="0" lang="en-US" sz="28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 for overcoming these challenges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50006" name="AEGIS_23">
            <a:extLst>
              <a:ext uri="{FF2B5EF4-FFF2-40B4-BE49-F238E27FC236}">
                <a16:creationId xmlns:a16="http://schemas.microsoft.com/office/drawing/2014/main" id="{7A621D46-FC7E-4C81-9331-8E82BEB81EF9}"/>
              </a:ext>
            </a:extLst>
          </p:cNvPr>
          <p:cNvSpPr>
            <a:spLocks noGrp="1"/>
          </p:cNvSpPr>
          <p:nvPr/>
        </p:nvSpPr>
        <p:spPr>
          <a:xfrm>
            <a:off x="1047750" y="5476875"/>
            <a:ext cx="102870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8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Index and cache data. Version labels and show unresolved paths. Protect cases with access controls and audit logs. Test held-out paths for precision, coverage and alert latency.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COLD COFFEE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50000" name="AEGIS_PROMPT_0">
            <a:extLst>
              <a:ext uri="{FF2B5EF4-FFF2-40B4-BE49-F238E27FC236}">
                <a16:creationId xmlns:a16="http://schemas.microsoft.com/office/drawing/2014/main" id="{7C0FB253-7240-4941-9012-2BBC88E31584}"/>
              </a:ext>
            </a:extLst>
          </p:cNvPr>
          <p:cNvSpPr>
            <a:spLocks noGrp="1"/>
          </p:cNvSpPr>
          <p:nvPr/>
        </p:nvSpPr>
        <p:spPr>
          <a:xfrm>
            <a:off x="609600" y="1485900"/>
            <a:ext cx="93853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0" rIns="91440" bIns="0">
            <a:no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Potential impact on the target audience</a:t>
            </a:r>
          </a:p>
        </p:txBody>
      </p:sp>
      <p:sp>
        <p:nvSpPr>
          <p:cNvPr id="50001" name="AEGIS_24">
            <a:extLst>
              <a:ext uri="{FF2B5EF4-FFF2-40B4-BE49-F238E27FC236}">
                <a16:creationId xmlns:a16="http://schemas.microsoft.com/office/drawing/2014/main" id="{CFFC1C58-B002-476E-9B96-4173754829B6}"/>
              </a:ext>
            </a:extLst>
          </p:cNvPr>
          <p:cNvSpPr>
            <a:spLocks noGrp="1"/>
          </p:cNvSpPr>
          <p:nvPr/>
        </p:nvSpPr>
        <p:spPr>
          <a:xfrm>
            <a:off x="1047750" y="2019300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8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Investigators will receive prioritized VASP leads with reviewable transaction paths and attribution sources.</a:t>
            </a:r>
          </a:p>
        </p:txBody>
      </p:sp>
      <p:sp>
        <p:nvSpPr>
          <p:cNvPr id="50002" name="AEGIS_NODE_25">
            <a:extLst>
              <a:ext uri="{FF2B5EF4-FFF2-40B4-BE49-F238E27FC236}">
                <a16:creationId xmlns:a16="http://schemas.microsoft.com/office/drawing/2014/main" id="{FF9DAAF3-5F92-424F-B36B-0A04B2B78C16}"/>
              </a:ext>
            </a:extLst>
          </p:cNvPr>
          <p:cNvSpPr>
            <a:spLocks noGrp="1"/>
          </p:cNvSpPr>
          <p:nvPr/>
        </p:nvSpPr>
        <p:spPr>
          <a:xfrm>
            <a:off x="1047750" y="3181350"/>
            <a:ext cx="2238375" cy="666750"/>
          </a:xfrm>
          <a:prstGeom prst="rect">
            <a:avLst/>
          </a:prstGeom>
          <a:solidFill>
            <a:srgbClr val="FFFFFF"/>
          </a:solidFill>
          <a:ln w="16193">
            <a:solidFill>
              <a:srgbClr val="1F497D"/>
            </a:solidFill>
          </a:ln>
        </p:spPr>
        <p:txBody>
          <a:bodyPr lIns="85725" tIns="66675" rIns="85725" bIns="66675" anchor="ctr"/>
          <a:lstStyle/>
          <a:p>
            <a:pPr algn="ctr">
              <a:defRPr sz="17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000000"/>
                </a:solidFill>
                <a:latin typeface="Arial"/>
                <a:ea typeface="Arial"/>
                <a:cs typeface="Arial"/>
              </a:rPr>
              <a:t>Reported wallet</a:t>
            </a:r>
          </a:p>
        </p:txBody>
      </p:sp>
      <p:sp>
        <p:nvSpPr>
          <p:cNvPr id="50003" name="AEGIS_NODE_26">
            <a:extLst>
              <a:ext uri="{FF2B5EF4-FFF2-40B4-BE49-F238E27FC236}">
                <a16:creationId xmlns:a16="http://schemas.microsoft.com/office/drawing/2014/main" id="{EDE3245B-9B98-4DD9-95E8-41136B02F363}"/>
              </a:ext>
            </a:extLst>
          </p:cNvPr>
          <p:cNvSpPr>
            <a:spLocks noGrp="1"/>
          </p:cNvSpPr>
          <p:nvPr/>
        </p:nvSpPr>
        <p:spPr>
          <a:xfrm>
            <a:off x="4191000" y="2771775"/>
            <a:ext cx="2238375" cy="600075"/>
          </a:xfrm>
          <a:prstGeom prst="rect">
            <a:avLst/>
          </a:prstGeom>
          <a:solidFill>
            <a:srgbClr val="FFFFFF"/>
          </a:solidFill>
          <a:ln w="16193">
            <a:solidFill>
              <a:srgbClr val="1F497D"/>
            </a:solidFill>
          </a:ln>
        </p:spPr>
        <p:txBody>
          <a:bodyPr lIns="85725" tIns="66675" rIns="85725" bIns="66675" anchor="ctr"/>
          <a:lstStyle/>
          <a:p>
            <a:pPr algn="ctr">
              <a:defRPr sz="17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000000"/>
                </a:solidFill>
                <a:latin typeface="Arial"/>
                <a:ea typeface="Arial"/>
                <a:cs typeface="Arial"/>
              </a:rPr>
              <a:t>Intermediary</a:t>
            </a:r>
          </a:p>
        </p:txBody>
      </p:sp>
      <p:sp>
        <p:nvSpPr>
          <p:cNvPr id="50004" name="AEGIS_NODE_27">
            <a:extLst>
              <a:ext uri="{FF2B5EF4-FFF2-40B4-BE49-F238E27FC236}">
                <a16:creationId xmlns:a16="http://schemas.microsoft.com/office/drawing/2014/main" id="{6FDBF312-EDE9-421B-BA14-850EC8D52559}"/>
              </a:ext>
            </a:extLst>
          </p:cNvPr>
          <p:cNvSpPr>
            <a:spLocks noGrp="1"/>
          </p:cNvSpPr>
          <p:nvPr/>
        </p:nvSpPr>
        <p:spPr>
          <a:xfrm>
            <a:off x="8115300" y="2771775"/>
            <a:ext cx="2724150" cy="600075"/>
          </a:xfrm>
          <a:prstGeom prst="rect">
            <a:avLst/>
          </a:prstGeom>
          <a:solidFill>
            <a:srgbClr val="FFFFFF"/>
          </a:solidFill>
          <a:ln w="16193">
            <a:solidFill>
              <a:srgbClr val="1F497D"/>
            </a:solidFill>
          </a:ln>
        </p:spPr>
        <p:txBody>
          <a:bodyPr lIns="85725" tIns="66675" rIns="85725" bIns="66675" anchor="ctr"/>
          <a:lstStyle/>
          <a:p>
            <a:pPr algn="ctr">
              <a:defRPr sz="17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000000"/>
                </a:solidFill>
                <a:latin typeface="Arial"/>
                <a:ea typeface="Arial"/>
                <a:cs typeface="Arial"/>
              </a:rPr>
              <a:t>VASP candidate</a:t>
            </a:r>
          </a:p>
        </p:txBody>
      </p:sp>
      <p:sp>
        <p:nvSpPr>
          <p:cNvPr id="50005" name="AEGIS_NODE_28">
            <a:extLst>
              <a:ext uri="{FF2B5EF4-FFF2-40B4-BE49-F238E27FC236}">
                <a16:creationId xmlns:a16="http://schemas.microsoft.com/office/drawing/2014/main" id="{9A907700-F3A4-46D0-BBE4-03E42D7B15E5}"/>
              </a:ext>
            </a:extLst>
          </p:cNvPr>
          <p:cNvSpPr>
            <a:spLocks noGrp="1"/>
          </p:cNvSpPr>
          <p:nvPr/>
        </p:nvSpPr>
        <p:spPr>
          <a:xfrm>
            <a:off x="4191000" y="3714750"/>
            <a:ext cx="2838450" cy="600075"/>
          </a:xfrm>
          <a:prstGeom prst="rect">
            <a:avLst/>
          </a:prstGeom>
          <a:solidFill>
            <a:srgbClr val="FFFFFF"/>
          </a:solidFill>
          <a:ln w="16193">
            <a:solidFill>
              <a:srgbClr val="1F497D"/>
            </a:solidFill>
          </a:ln>
        </p:spPr>
        <p:txBody>
          <a:bodyPr lIns="85725" tIns="66675" rIns="85725" bIns="66675" anchor="ctr"/>
          <a:lstStyle/>
          <a:p>
            <a:pPr algn="ctr">
              <a:defRPr sz="17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000000"/>
                </a:solidFill>
                <a:latin typeface="Arial"/>
                <a:ea typeface="Arial"/>
                <a:cs typeface="Arial"/>
              </a:rPr>
              <a:t>Unresolved destination</a:t>
            </a:r>
          </a:p>
        </p:txBody>
      </p:sp>
      <p:cxnSp>
        <p:nvCxnSpPr>
          <p:cNvPr id="50006" name="AEGIS_LINK_29"/>
          <p:cNvCxnSpPr>
            <a:stCxn id="50002" idx="3"/>
            <a:endCxn id="50003" idx="1"/>
          </p:cNvCxnSpPr>
          <p:nvPr/>
        </p:nvCxnSpPr>
        <p:spPr>
          <a:xfrm flipV="1">
            <a:off x="3286125" y="3071813"/>
            <a:ext cx="904875" cy="442913"/>
          </a:xfrm>
          <a:prstGeom prst="straightConnector1">
            <a:avLst/>
          </a:prstGeom>
          <a:ln w="23813">
            <a:solidFill>
              <a:srgbClr val="1F497D"/>
            </a:solidFill>
            <a:prstDash val="solid"/>
            <a:tailEnd type="triangle" w="med" len="med"/>
          </a:ln>
        </p:spPr>
      </p:cxnSp>
      <p:cxnSp>
        <p:nvCxnSpPr>
          <p:cNvPr id="50007" name="AEGIS_LINK_30"/>
          <p:cNvCxnSpPr>
            <a:stCxn id="50003" idx="3"/>
            <a:endCxn id="50004" idx="1"/>
          </p:cNvCxnSpPr>
          <p:nvPr/>
        </p:nvCxnSpPr>
        <p:spPr>
          <a:xfrm>
            <a:off x="6429375" y="3071813"/>
            <a:ext cx="1685925" cy="0"/>
          </a:xfrm>
          <a:prstGeom prst="straightConnector1">
            <a:avLst/>
          </a:prstGeom>
          <a:ln w="23813">
            <a:solidFill>
              <a:srgbClr val="1F497D"/>
            </a:solidFill>
            <a:prstDash val="solid"/>
            <a:tailEnd type="triangle" w="med" len="med"/>
          </a:ln>
        </p:spPr>
      </p:cxnSp>
      <p:cxnSp>
        <p:nvCxnSpPr>
          <p:cNvPr id="50008" name="AEGIS_LINK_31"/>
          <p:cNvCxnSpPr>
            <a:stCxn id="50002" idx="3"/>
            <a:endCxn id="50005" idx="1"/>
          </p:cNvCxnSpPr>
          <p:nvPr/>
        </p:nvCxnSpPr>
        <p:spPr>
          <a:xfrm>
            <a:off x="3286125" y="3514725"/>
            <a:ext cx="904875" cy="500063"/>
          </a:xfrm>
          <a:prstGeom prst="straightConnector1">
            <a:avLst/>
          </a:prstGeom>
          <a:ln w="23813">
            <a:solidFill>
              <a:srgbClr val="1F497D"/>
            </a:solidFill>
            <a:prstDash val="solid"/>
            <a:tailEnd type="triangle" w="med" len="med"/>
          </a:ln>
        </p:spPr>
      </p:cxnSp>
      <p:sp>
        <p:nvSpPr>
          <p:cNvPr id="50009" name="AEGIS_32">
            <a:extLst>
              <a:ext uri="{FF2B5EF4-FFF2-40B4-BE49-F238E27FC236}">
                <a16:creationId xmlns:a16="http://schemas.microsoft.com/office/drawing/2014/main" id="{D5224DDF-66B0-4C55-98FE-3E1A011747D9}"/>
              </a:ext>
            </a:extLst>
          </p:cNvPr>
          <p:cNvSpPr>
            <a:spLocks noGrp="1"/>
          </p:cNvSpPr>
          <p:nvPr/>
        </p:nvSpPr>
        <p:spPr>
          <a:xfrm>
            <a:off x="6648450" y="2657475"/>
            <a:ext cx="1381125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Sourced label</a:t>
            </a:r>
          </a:p>
        </p:txBody>
      </p:sp>
      <p:sp>
        <p:nvSpPr>
          <p:cNvPr id="50010" name="AEGIS_33">
            <a:extLst>
              <a:ext uri="{FF2B5EF4-FFF2-40B4-BE49-F238E27FC236}">
                <a16:creationId xmlns:a16="http://schemas.microsoft.com/office/drawing/2014/main" id="{E6CFCD9D-5DC2-4FF6-A1DA-4F52E487A77B}"/>
              </a:ext>
            </a:extLst>
          </p:cNvPr>
          <p:cNvSpPr>
            <a:spLocks noGrp="1"/>
          </p:cNvSpPr>
          <p:nvPr/>
        </p:nvSpPr>
        <p:spPr>
          <a:xfrm>
            <a:off x="1047750" y="4371975"/>
            <a:ext cx="104775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Fictional illustration. A path does not prove exact fund continuity or wrongdoing.</a:t>
            </a:r>
          </a:p>
        </p:txBody>
      </p:sp>
      <p:sp>
        <p:nvSpPr>
          <p:cNvPr id="50011" name="AEGIS_PROMPT_1">
            <a:extLst>
              <a:ext uri="{FF2B5EF4-FFF2-40B4-BE49-F238E27FC236}">
                <a16:creationId xmlns:a16="http://schemas.microsoft.com/office/drawing/2014/main" id="{C137D61E-3FE8-407D-8E3A-54CF646B0F55}"/>
              </a:ext>
            </a:extLst>
          </p:cNvPr>
          <p:cNvSpPr>
            <a:spLocks noGrp="1"/>
          </p:cNvSpPr>
          <p:nvPr/>
        </p:nvSpPr>
        <p:spPr>
          <a:xfrm>
            <a:off x="609600" y="4733925"/>
            <a:ext cx="9385300" cy="847725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0" rIns="91440" bIns="0">
            <a:no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Benefits of the solution (social, economic, environmental, etc.)</a:t>
            </a:r>
          </a:p>
        </p:txBody>
      </p:sp>
      <p:sp>
        <p:nvSpPr>
          <p:cNvPr id="50012" name="AEGIS_34">
            <a:extLst>
              <a:ext uri="{FF2B5EF4-FFF2-40B4-BE49-F238E27FC236}">
                <a16:creationId xmlns:a16="http://schemas.microsoft.com/office/drawing/2014/main" id="{93D76204-E66D-4B25-8157-91729815389C}"/>
              </a:ext>
            </a:extLst>
          </p:cNvPr>
          <p:cNvSpPr>
            <a:spLocks noGrp="1"/>
          </p:cNvSpPr>
          <p:nvPr/>
        </p:nvSpPr>
        <p:spPr>
          <a:xfrm>
            <a:off x="1047750" y="5715000"/>
            <a:ext cx="104775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Social: support timely intervention. Economic: reduce repeated tracing work.</a:t>
            </a:r>
          </a:p>
          <a:p>
            <a:pPr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Operational: standardize reports and VASP coordination while retaining human review.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COLD COFFEE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50000" name="AEGIS_PROMPT_0">
            <a:extLst>
              <a:ext uri="{FF2B5EF4-FFF2-40B4-BE49-F238E27FC236}">
                <a16:creationId xmlns:a16="http://schemas.microsoft.com/office/drawing/2014/main" id="{4397AFCD-3C2F-4675-BF33-5AE5EC560F55}"/>
              </a:ext>
            </a:extLst>
          </p:cNvPr>
          <p:cNvSpPr>
            <a:spLocks noGrp="1"/>
          </p:cNvSpPr>
          <p:nvPr/>
        </p:nvSpPr>
        <p:spPr>
          <a:xfrm>
            <a:off x="609600" y="1714500"/>
            <a:ext cx="93853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0" rIns="91440" bIns="0">
            <a:no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Details / Links of the reference and research work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50001" name="AEGIS_35">
            <a:extLst>
              <a:ext uri="{FF2B5EF4-FFF2-40B4-BE49-F238E27FC236}">
                <a16:creationId xmlns:a16="http://schemas.microsoft.com/office/drawing/2014/main" id="{A0F3375B-09E9-4921-B645-0357548BD9F5}"/>
              </a:ext>
            </a:extLst>
          </p:cNvPr>
          <p:cNvSpPr>
            <a:spLocks noGrp="1"/>
          </p:cNvSpPr>
          <p:nvPr/>
        </p:nvSpPr>
        <p:spPr>
          <a:xfrm>
            <a:off x="1047750" y="2409825"/>
            <a:ext cx="103822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Address clustering: Meiklejohn et al. (2013), A Fistful of Bitcoins.</a:t>
            </a:r>
          </a:p>
        </p:txBody>
      </p:sp>
      <p:sp>
        <p:nvSpPr>
          <p:cNvPr id="50002" name="AEGIS_36">
            <a:extLst>
              <a:ext uri="{FF2B5EF4-FFF2-40B4-BE49-F238E27FC236}">
                <a16:creationId xmlns:a16="http://schemas.microsoft.com/office/drawing/2014/main" id="{2E988987-4500-4892-95FD-D2865C1BC50D}"/>
              </a:ext>
            </a:extLst>
          </p:cNvPr>
          <p:cNvSpPr>
            <a:spLocks noGrp="1"/>
          </p:cNvSpPr>
          <p:nvPr/>
        </p:nvSpPr>
        <p:spPr>
          <a:xfrm>
            <a:off x="1047750" y="2705100"/>
            <a:ext cx="10382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 u="sng">
                <a:solidFill>
                  <a:srgbClr val="0000FF"/>
                </a:solidFill>
                <a:latin typeface="Arial"/>
                <a:ea typeface="Arial"/>
                <a:cs typeface="Arial"/>
                <a:hlinkClick r:id="aegis1"/>
              </a:rPr>
              <a:t>ACM IMC paper</a:t>
            </a:r>
          </a:p>
        </p:txBody>
      </p:sp>
      <p:sp>
        <p:nvSpPr>
          <p:cNvPr id="50003" name="AEGIS_37">
            <a:extLst>
              <a:ext uri="{FF2B5EF4-FFF2-40B4-BE49-F238E27FC236}">
                <a16:creationId xmlns:a16="http://schemas.microsoft.com/office/drawing/2014/main" id="{98F0A4F7-8DD7-4BAE-B793-1AA171F91C4E}"/>
              </a:ext>
            </a:extLst>
          </p:cNvPr>
          <p:cNvSpPr>
            <a:spLocks noGrp="1"/>
          </p:cNvSpPr>
          <p:nvPr/>
        </p:nvSpPr>
        <p:spPr>
          <a:xfrm>
            <a:off x="1047750" y="3038475"/>
            <a:ext cx="103822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ML-assisted analysis: Weber et al. (2019), Anti-Money Laundering in Bitcoin.</a:t>
            </a:r>
          </a:p>
        </p:txBody>
      </p:sp>
      <p:sp>
        <p:nvSpPr>
          <p:cNvPr id="50004" name="AEGIS_38">
            <a:extLst>
              <a:ext uri="{FF2B5EF4-FFF2-40B4-BE49-F238E27FC236}">
                <a16:creationId xmlns:a16="http://schemas.microsoft.com/office/drawing/2014/main" id="{809C22E2-1A6A-4793-BCFE-C87158FE8A07}"/>
              </a:ext>
            </a:extLst>
          </p:cNvPr>
          <p:cNvSpPr>
            <a:spLocks noGrp="1"/>
          </p:cNvSpPr>
          <p:nvPr/>
        </p:nvSpPr>
        <p:spPr>
          <a:xfrm>
            <a:off x="1047750" y="3333750"/>
            <a:ext cx="10382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 u="sng">
                <a:solidFill>
                  <a:srgbClr val="0000FF"/>
                </a:solidFill>
                <a:latin typeface="Arial"/>
                <a:ea typeface="Arial"/>
                <a:cs typeface="Arial"/>
                <a:hlinkClick r:id="aegis2"/>
              </a:rPr>
              <a:t>Research paper</a:t>
            </a:r>
          </a:p>
        </p:txBody>
      </p:sp>
      <p:sp>
        <p:nvSpPr>
          <p:cNvPr id="50005" name="AEGIS_39">
            <a:extLst>
              <a:ext uri="{FF2B5EF4-FFF2-40B4-BE49-F238E27FC236}">
                <a16:creationId xmlns:a16="http://schemas.microsoft.com/office/drawing/2014/main" id="{7A27B68B-08FE-4C15-A490-4D6D5482BCBC}"/>
              </a:ext>
            </a:extLst>
          </p:cNvPr>
          <p:cNvSpPr>
            <a:spLocks noGrp="1"/>
          </p:cNvSpPr>
          <p:nvPr/>
        </p:nvSpPr>
        <p:spPr>
          <a:xfrm>
            <a:off x="1047750" y="3667125"/>
            <a:ext cx="103822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Blockchain data: Blockstream Esplora address and transaction API.</a:t>
            </a:r>
          </a:p>
        </p:txBody>
      </p:sp>
      <p:sp>
        <p:nvSpPr>
          <p:cNvPr id="50006" name="AEGIS_40">
            <a:extLst>
              <a:ext uri="{FF2B5EF4-FFF2-40B4-BE49-F238E27FC236}">
                <a16:creationId xmlns:a16="http://schemas.microsoft.com/office/drawing/2014/main" id="{E71DB396-7D1E-43F5-8A7E-98760695E6F0}"/>
              </a:ext>
            </a:extLst>
          </p:cNvPr>
          <p:cNvSpPr>
            <a:spLocks noGrp="1"/>
          </p:cNvSpPr>
          <p:nvPr/>
        </p:nvSpPr>
        <p:spPr>
          <a:xfrm>
            <a:off x="1047750" y="3962400"/>
            <a:ext cx="10382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 u="sng">
                <a:solidFill>
                  <a:srgbClr val="0000FF"/>
                </a:solidFill>
                <a:latin typeface="Arial"/>
                <a:ea typeface="Arial"/>
                <a:cs typeface="Arial"/>
                <a:hlinkClick r:id="aegis3"/>
              </a:rPr>
              <a:t>Official documentation</a:t>
            </a:r>
          </a:p>
        </p:txBody>
      </p:sp>
      <p:sp>
        <p:nvSpPr>
          <p:cNvPr id="50007" name="AEGIS_41">
            <a:extLst>
              <a:ext uri="{FF2B5EF4-FFF2-40B4-BE49-F238E27FC236}">
                <a16:creationId xmlns:a16="http://schemas.microsoft.com/office/drawing/2014/main" id="{08054716-07E5-4A26-B5C2-5960CEA292A9}"/>
              </a:ext>
            </a:extLst>
          </p:cNvPr>
          <p:cNvSpPr>
            <a:spLocks noGrp="1"/>
          </p:cNvSpPr>
          <p:nvPr/>
        </p:nvSpPr>
        <p:spPr>
          <a:xfrm>
            <a:off x="1047750" y="4295775"/>
            <a:ext cx="103822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Attribution: Binance wallet disclosure (2022). Historical, not a deposit registry.</a:t>
            </a:r>
          </a:p>
        </p:txBody>
      </p:sp>
      <p:sp>
        <p:nvSpPr>
          <p:cNvPr id="50008" name="AEGIS_42">
            <a:extLst>
              <a:ext uri="{FF2B5EF4-FFF2-40B4-BE49-F238E27FC236}">
                <a16:creationId xmlns:a16="http://schemas.microsoft.com/office/drawing/2014/main" id="{0DA97481-11EB-4DF6-8C6F-A71D413FC99F}"/>
              </a:ext>
            </a:extLst>
          </p:cNvPr>
          <p:cNvSpPr>
            <a:spLocks noGrp="1"/>
          </p:cNvSpPr>
          <p:nvPr/>
        </p:nvSpPr>
        <p:spPr>
          <a:xfrm>
            <a:off x="1047750" y="4591050"/>
            <a:ext cx="10382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 u="sng">
                <a:solidFill>
                  <a:srgbClr val="0000FF"/>
                </a:solidFill>
                <a:latin typeface="Arial"/>
                <a:ea typeface="Arial"/>
                <a:cs typeface="Arial"/>
                <a:hlinkClick r:id="aegis4"/>
              </a:rPr>
              <a:t>Published disclosure</a:t>
            </a:r>
          </a:p>
        </p:txBody>
      </p:sp>
      <p:sp>
        <p:nvSpPr>
          <p:cNvPr id="50009" name="AEGIS_43">
            <a:extLst>
              <a:ext uri="{FF2B5EF4-FFF2-40B4-BE49-F238E27FC236}">
                <a16:creationId xmlns:a16="http://schemas.microsoft.com/office/drawing/2014/main" id="{0651C235-7FCD-409A-8740-DD217FE4C8FC}"/>
              </a:ext>
            </a:extLst>
          </p:cNvPr>
          <p:cNvSpPr>
            <a:spLocks noGrp="1"/>
          </p:cNvSpPr>
          <p:nvPr/>
        </p:nvSpPr>
        <p:spPr>
          <a:xfrm>
            <a:off x="1047750" y="4924425"/>
            <a:ext cx="103822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AML context: FATF (2021), guidance for virtual assets and VASPs.</a:t>
            </a:r>
          </a:p>
        </p:txBody>
      </p:sp>
      <p:sp>
        <p:nvSpPr>
          <p:cNvPr id="50010" name="AEGIS_44">
            <a:extLst>
              <a:ext uri="{FF2B5EF4-FFF2-40B4-BE49-F238E27FC236}">
                <a16:creationId xmlns:a16="http://schemas.microsoft.com/office/drawing/2014/main" id="{95048C29-DA3F-4ED4-B014-90672AAA8D5B}"/>
              </a:ext>
            </a:extLst>
          </p:cNvPr>
          <p:cNvSpPr>
            <a:spLocks noGrp="1"/>
          </p:cNvSpPr>
          <p:nvPr/>
        </p:nvSpPr>
        <p:spPr>
          <a:xfrm>
            <a:off x="1047750" y="5219700"/>
            <a:ext cx="10382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 u="sng">
                <a:solidFill>
                  <a:srgbClr val="0000FF"/>
                </a:solidFill>
                <a:latin typeface="Arial"/>
                <a:ea typeface="Arial"/>
                <a:cs typeface="Arial"/>
                <a:hlinkClick r:id="aegis5"/>
              </a:rPr>
              <a:t>FATF guidance</a:t>
            </a:r>
          </a:p>
        </p:txBody>
      </p:sp>
      <p:sp>
        <p:nvSpPr>
          <p:cNvPr id="50011" name="AEGIS_45">
            <a:extLst>
              <a:ext uri="{FF2B5EF4-FFF2-40B4-BE49-F238E27FC236}">
                <a16:creationId xmlns:a16="http://schemas.microsoft.com/office/drawing/2014/main" id="{EF8394A9-E5ED-47B4-9BE2-84D3ABCD6542}"/>
              </a:ext>
            </a:extLst>
          </p:cNvPr>
          <p:cNvSpPr>
            <a:spLocks noGrp="1"/>
          </p:cNvSpPr>
          <p:nvPr/>
        </p:nvSpPr>
        <p:spPr>
          <a:xfrm>
            <a:off x="1047750" y="5553075"/>
            <a:ext cx="103822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Evidence handling: NIST SP 800-86. No guarantee of legal admissibility.</a:t>
            </a:r>
          </a:p>
        </p:txBody>
      </p:sp>
      <p:sp>
        <p:nvSpPr>
          <p:cNvPr id="50012" name="AEGIS_46">
            <a:extLst>
              <a:ext uri="{FF2B5EF4-FFF2-40B4-BE49-F238E27FC236}">
                <a16:creationId xmlns:a16="http://schemas.microsoft.com/office/drawing/2014/main" id="{D1BB6AC9-5E05-4D48-9622-3A743D59AD6D}"/>
              </a:ext>
            </a:extLst>
          </p:cNvPr>
          <p:cNvSpPr>
            <a:spLocks noGrp="1"/>
          </p:cNvSpPr>
          <p:nvPr/>
        </p:nvSpPr>
        <p:spPr>
          <a:xfrm>
            <a:off x="1047750" y="5848350"/>
            <a:ext cx="10382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 u="sng">
                <a:solidFill>
                  <a:srgbClr val="0000FF"/>
                </a:solidFill>
                <a:latin typeface="Arial"/>
                <a:ea typeface="Arial"/>
                <a:cs typeface="Arial"/>
                <a:hlinkClick r:id="aegis6"/>
              </a:rPr>
              <a:t>NIST guidance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