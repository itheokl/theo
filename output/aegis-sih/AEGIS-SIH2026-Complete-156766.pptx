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a:lstStyle/>
          <a:p>
            <a:pPr>
              <a:spcBef>
                <a:spcPct val="0"/>
              </a:spcBef>
              <a:buNone/>
            </a:pPr>
            <a:r>
              <a:t>Proposed end product, not achieved performance. A supported receiving VASP is a candidate backed by address-label evidence along a time-consistent outgoing path. A label is not proof of customer identity or complicity. The package contains transaction IDs, amounts, timestamps, label provenance, confidence rationale, uncertainty and recommended investigator review. Real-time monitoring depends on provider/index updates. Requests remain subject to authorized investigator action and applicable procedures.</a:t>
            </a:r>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Proposed architecture. Bitcoin tracing follows UTXO spend relationships, while EVM/TRON adapters follow transfer events. Transactions involving multiple inputs/outputs require explicit allocation assumptions: a graph path alone does not prove exact victim-fund continuity. Bridge correlation requires supported event identifiers and mappings. Collaborative transactions and mixing can invalidate naive clustering. Source labels and heuristic expansions must remain distinct. Candidate ranking should explain evidence strength rather than invent calibrated probabilities. AI/ML is planned and requires evaluation before operational use. NCRP/SAHYOG integration depends on approved interfaces and authorization. Method references: Meiklejohn et al. https://conferences.sigcomm.org/imc/2013/papers/imc182-meiklejohnA.pdf ; Weber et al. https://arxiv.org/abs/1908.02591 ; Esplora https://github.com/Blockstream/esplora/blob/master/API.md</a:t>
            </a:r>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Proposed phased delivery, not a statement of current maturity. Data supply is a dependency: public disclosures alone are not a comprehensive exchange-deposit registry. Authorized partner data may require agreements and licensing. Held-out evaluation should prevent overlap with registry construction and include withdrawals, change outputs, collaborative transactions and unlabelled addresses as hard cases. Measure attribution precision, coverage, false positives and p95 alert latency under declared load. Agency deployment needs privacy controls, encrypted storage/transport, retention policy, audit review and approved integration access. Source: Binance historical disclosure https://www.binance.com/en-IN/blog/community/2895840147147652626 ; NIST SP 800-86 https://csrc.nist.gov/pubs/sp/800/86/final</a:t>
            </a:r>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Fictional proposed-use illustration only, not evidence from a demonstrated fraud case. Wallet A transfers to B, which later transfers to an address sourced to hypothetical VASP X. Solid arrows denote the illustrated transactions, and the dashed arrow denotes attribution rather than another transfer. Exact victim-fund attribution may remain uncertain because of mixing, unrelated balances or multi-input/output transactions. The investigator must review allocation assumptions and source reliability. The platform supports coordination and preservation requests but cannot independently freeze funds or guarantee recovery. Expected benefits must be evaluated during pilots.</a:t>
            </a:r>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Meiklejohn et al. (2013), A Fistful of Bitcoins: Characterizing Payments Among Men with No Names.</a:t>
            </a:r>
            <a:endParaRPr/>
          </a:p>
          <a:p>
            <a:pPr>
              <a:spcBef>
                <a:spcPct val="0"/>
              </a:spcBef>
              <a:buNone/>
            </a:pPr>
            <a:r>
              <a:t>https://conferences.sigcomm.org/imc/2013/papers/imc182-meiklejohnA.pdf</a:t>
            </a:r>
            <a:endParaRPr/>
          </a:p>
          <a:p>
            <a:pPr>
              <a:spcBef>
                <a:spcPct val="0"/>
              </a:spcBef>
              <a:buNone/>
            </a:pPr>
            <a:r>
              <a:t/>
            </a:r>
            <a:endParaRPr/>
          </a:p>
          <a:p>
            <a:pPr>
              <a:spcBef>
                <a:spcPct val="0"/>
              </a:spcBef>
              <a:buNone/>
            </a:pPr>
            <a:r>
              <a:t>Weber et al. (2019), Anti-Money Laundering in Bitcoin: Experimenting with Graph Convolutional Networks for Financial Forensics.</a:t>
            </a:r>
            <a:endParaRPr/>
          </a:p>
          <a:p>
            <a:pPr>
              <a:spcBef>
                <a:spcPct val="0"/>
              </a:spcBef>
              <a:buNone/>
            </a:pPr>
            <a:r>
              <a:t>https://arxiv.org/abs/1908.02591</a:t>
            </a:r>
            <a:endParaRPr/>
          </a:p>
          <a:p>
            <a:pPr>
              <a:spcBef>
                <a:spcPct val="0"/>
              </a:spcBef>
              <a:buNone/>
            </a:pPr>
            <a:r>
              <a:t/>
            </a:r>
            <a:endParaRPr/>
          </a:p>
          <a:p>
            <a:pPr>
              <a:spcBef>
                <a:spcPct val="0"/>
              </a:spcBef>
              <a:buNone/>
            </a:pPr>
            <a:r>
              <a:t>Blockstream Esplora: address and transaction API documentation.</a:t>
            </a:r>
            <a:endParaRPr/>
          </a:p>
          <a:p>
            <a:pPr>
              <a:spcBef>
                <a:spcPct val="0"/>
              </a:spcBef>
              <a:buNone/>
            </a:pPr>
            <a:r>
              <a:t>https://github.com/Blockstream/esplora/blob/master/API.md</a:t>
            </a:r>
            <a:endParaRPr/>
          </a:p>
          <a:p>
            <a:pPr>
              <a:spcBef>
                <a:spcPct val="0"/>
              </a:spcBef>
              <a:buNone/>
            </a:pPr>
            <a:r>
              <a:t/>
            </a:r>
            <a:endParaRPr/>
          </a:p>
          <a:p>
            <a:pPr>
              <a:spcBef>
                <a:spcPct val="0"/>
              </a:spcBef>
              <a:buNone/>
            </a:pPr>
            <a:r>
              <a:t>Binance, Our Commitment to Transparency (2022): published wallet disclosures.</a:t>
            </a:r>
            <a:endParaRPr/>
          </a:p>
          <a:p>
            <a:pPr>
              <a:spcBef>
                <a:spcPct val="0"/>
              </a:spcBef>
              <a:buNone/>
            </a:pPr>
            <a:r>
              <a:t>https://www.binance.com/en-IN/blog/community/2895840147147652626</a:t>
            </a:r>
            <a:endParaRPr/>
          </a:p>
          <a:p>
            <a:pPr>
              <a:spcBef>
                <a:spcPct val="0"/>
              </a:spcBef>
              <a:buNone/>
            </a:pPr>
            <a:r>
              <a:t/>
            </a:r>
            <a:endParaRPr/>
          </a:p>
          <a:p>
            <a:pPr>
              <a:spcBef>
                <a:spcPct val="0"/>
              </a:spcBef>
              <a:buNone/>
            </a:pPr>
            <a:r>
              <a:t>FATF (2021), Updated Guidance for a Risk-Based Approach to Virtual Assets and VASPs.</a:t>
            </a:r>
            <a:endParaRPr/>
          </a:p>
          <a:p>
            <a:pPr>
              <a:spcBef>
                <a:spcPct val="0"/>
              </a:spcBef>
              <a:buNone/>
            </a:pPr>
            <a:r>
              <a:t>https://www.fatf-gafi.org/en/publications/Fatfrecommendations/Guidance-rba-virtual-assets-2021.html</a:t>
            </a:r>
            <a:endParaRPr/>
          </a:p>
          <a:p>
            <a:pPr>
              <a:spcBef>
                <a:spcPct val="0"/>
              </a:spcBef>
              <a:buNone/>
            </a:pPr>
            <a:r>
              <a:t/>
            </a:r>
            <a:endParaRPr/>
          </a:p>
          <a:p>
            <a:pPr>
              <a:spcBef>
                <a:spcPct val="0"/>
              </a:spcBef>
              <a:buNone/>
            </a:pPr>
            <a:r>
              <a:t>NIST SP 800-86 (2006), Guide to Integrating Forensic Techniques into Incident Response.</a:t>
            </a:r>
            <a:endParaRPr/>
          </a:p>
          <a:p>
            <a:pPr>
              <a:spcBef>
                <a:spcPct val="0"/>
              </a:spcBef>
              <a:buNone/>
            </a:pPr>
            <a:r>
              <a:t>https://csrc.nist.gov/pubs/sp/800/86/final</a:t>
            </a:r>
            <a:endParaRPr/>
          </a:p>
          <a:p>
            <a:pPr>
              <a:spcBef>
                <a:spcPct val="0"/>
              </a:spcBef>
              <a:buNone/>
            </a:pPr>
            <a:r>
              <a:t/>
            </a:r>
            <a:endParaRPr/>
          </a:p>
          <a:p>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Type="http://schemas.openxmlformats.org/officeDocument/2006/relationships/hyperlink" Target="https://conferences.sigcomm.org/imc/2013/papers/imc182-meiklejohnA.pdf" TargetMode="External" Id="aegis1"/><Relationship Type="http://schemas.openxmlformats.org/officeDocument/2006/relationships/hyperlink" Target="https://arxiv.org/abs/1908.02591" TargetMode="External" Id="aegis2"/><Relationship Type="http://schemas.openxmlformats.org/officeDocument/2006/relationships/hyperlink" Target="https://github.com/Blockstream/esplora/blob/master/API.md" TargetMode="External" Id="aegis3"/><Relationship Type="http://schemas.openxmlformats.org/officeDocument/2006/relationships/hyperlink" Target="https://www.binance.com/en-IN/blog/community/2895840147147652626" TargetMode="External" Id="aegis4"/><Relationship Type="http://schemas.openxmlformats.org/officeDocument/2006/relationships/hyperlink" Target="https://www.fatf-gafi.org/en/publications/Fatfrecommendations/Guidance-rba-virtual-assets-2021.html" TargetMode="External" Id="aegis5"/><Relationship Type="http://schemas.openxmlformats.org/officeDocument/2006/relationships/hyperlink" Target="https://csrc.nist.gov/pubs/sp/800/86/final" TargetMode="External" Id="aegis6"/></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COVER">
            <a:extLst>
              <a:ext uri="{FF2B5EF4-FFF2-40B4-BE49-F238E27FC236}">
                <a16:creationId xmlns:a16="http://schemas.microsoft.com/office/drawing/2014/main" id="{6F2D5F69-568A-46EC-9912-EC09C59811DC}"/>
              </a:ext>
            </a:extLst>
          </p:cNvPr>
          <p:cNvSpPr>
            <a:spLocks noGrp="1"/>
          </p:cNvSpPr>
          <p:nvPr/>
        </p:nvSpPr>
        <p:spPr>
          <a:xfrm>
            <a:off x="331280" y="2676525"/>
            <a:ext cx="5924550" cy="4029075"/>
          </a:xfrm>
          <a:prstGeom prst="rect">
            <a:avLst/>
          </a:prstGeom>
          <a:noFill/>
          <a:ln w="0">
            <a:noFill/>
          </a:ln>
        </p:spPr>
        <p:txBody>
          <a:bodyPr wrap="square" lIns="91440" tIns="0" rIns="91440" bIns="0">
            <a:noAutofit/>
          </a:bodyPr>
          <a:lstStyle/>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Problem Statement ID – </a:t>
            </a:r>
            <a:r>
              <a:rPr sz="2000" b="0">
                <a:solidFill>
                  <a:srgbClr val="000000"/>
                </a:solidFill>
                <a:latin typeface="Arial"/>
                <a:ea typeface="Arial"/>
                <a:cs typeface="Arial"/>
              </a:rPr>
              <a:t>SIH26183</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Problem Statement Title-</a:t>
            </a:r>
            <a:br>
              <a:rPr sz="1700" b="0">
                <a:solidFill>
                  <a:srgbClr val="000000"/>
                </a:solidFill>
                <a:latin typeface="Arial"/>
                <a:ea typeface="Arial"/>
                <a:cs typeface="Arial"/>
              </a:rPr>
            </a:br>
            <a:r>
              <a:rPr sz="1700" b="0">
                <a:solidFill>
                  <a:srgbClr val="000000"/>
                </a:solidFill>
                <a:latin typeface="Arial"/>
                <a:ea typeface="Arial"/>
                <a:cs typeface="Arial"/>
              </a:rPr>
              <a:t>Real-Time Identification of Fraud-Linked Cryptocurrency Exchanges from Victim-Reported Suspect Wallet Addresses through Automated Blockchain Analytics</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Theme- </a:t>
            </a:r>
            <a:r>
              <a:rPr sz="2000" b="0">
                <a:solidFill>
                  <a:srgbClr val="000000"/>
                </a:solidFill>
                <a:latin typeface="Arial"/>
                <a:ea typeface="Arial"/>
                <a:cs typeface="Arial"/>
              </a:rPr>
              <a:t>Blockchain &amp; Cybersecurity</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PS Category- </a:t>
            </a:r>
            <a:r>
              <a:rPr sz="2000" b="0">
                <a:solidFill>
                  <a:srgbClr val="000000"/>
                </a:solidFill>
                <a:latin typeface="Arial"/>
                <a:ea typeface="Arial"/>
                <a:cs typeface="Arial"/>
              </a:rPr>
              <a:t>Software</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Team ID- </a:t>
            </a:r>
            <a:r>
              <a:rPr sz="2000" b="0">
                <a:solidFill>
                  <a:srgbClr val="000000"/>
                </a:solidFill>
                <a:latin typeface="Arial"/>
                <a:ea typeface="Arial"/>
                <a:cs typeface="Arial"/>
              </a:rPr>
              <a:t>156766</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Team Name (Registered on portal)</a:t>
            </a:r>
            <a:br>
              <a:rPr sz="2000" b="0">
                <a:solidFill>
                  <a:srgbClr val="000000"/>
                </a:solidFill>
                <a:latin typeface="Arial"/>
                <a:ea typeface="Arial"/>
                <a:cs typeface="Arial"/>
              </a:rPr>
            </a:br>
            <a:r>
              <a:rPr sz="2000" b="0">
                <a:solidFill>
                  <a:srgbClr val="000000"/>
                </a:solidFill>
                <a:latin typeface="Arial"/>
                <a:ea typeface="Arial"/>
                <a:cs typeface="Arial"/>
              </a:rPr>
              <a:t>COLD COFFEE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AEGIS FORENSICS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17583DEA-ABA3-4BF3-91CF-F5751DEEBA0D}"/>
              </a:ext>
            </a:extLst>
          </p:cNvPr>
          <p:cNvSpPr>
            <a:spLocks noGrp="1"/>
          </p:cNvSpPr>
          <p:nvPr/>
        </p:nvSpPr>
        <p:spPr>
          <a:xfrm>
            <a:off x="-1" y="2057400"/>
            <a:ext cx="12191999" cy="695325"/>
          </a:xfrm>
          <a:prstGeom prst="rect">
            <a:avLst/>
          </a:prstGeom>
          <a:noFill/>
          <a:ln w="0">
            <a:noFill/>
          </a:ln>
        </p:spPr>
        <p:txBody>
          <a:bodyPr wrap="square" lIns="91440" tIns="0" rIns="91440" bIns="0">
            <a:noAutofit/>
          </a:bodyPr>
          <a:lstStyle/>
          <a:p>
            <a:pPr marL="342900" indent="-342900">
              <a:buFont typeface="Wingdings" panose="05000000000000000000" pitchFamily="2" charset="2"/>
              <a:buChar char="v"/>
            </a:pPr>
            <a:r>
              <a:rPr lang="en-US" sz="3200" b="1" u="sng" dirty="0">
                <a:solidFill>
                  <a:schemeClr val="tx2"/>
                </a:solidFill>
                <a:latin typeface="Arial" pitchFamily="34" charset="0"/>
                <a:cs typeface="Arial" pitchFamily="34" charset="0"/>
              </a:rPr>
              <a:t>Proposed Solution (Describe your Idea/Solution/Prototype)</a:t>
            </a:r>
            <a:endParaRPr lang="en-US" sz="3200" u="sng" dirty="0">
              <a:solidFill>
                <a:schemeClr val="tx2"/>
              </a:solidFill>
              <a:latin typeface="Arial" pitchFamily="34" charset="0"/>
              <a:cs typeface="Arial" pitchFamily="34" charset="0"/>
            </a:endParaRPr>
          </a:p>
        </p:txBody>
      </p:sp>
      <p:sp>
        <p:nvSpPr>
          <p:cNvPr id="50001" name="AEGIS_PROMPT_1">
            <a:extLst>
              <a:ext uri="{FF2B5EF4-FFF2-40B4-BE49-F238E27FC236}">
                <a16:creationId xmlns:a16="http://schemas.microsoft.com/office/drawing/2014/main" id="{BC16AC01-3D57-4F91-B4F4-E415A3E9ABF4}"/>
              </a:ext>
            </a:extLst>
          </p:cNvPr>
          <p:cNvSpPr>
            <a:spLocks noGrp="1"/>
          </p:cNvSpPr>
          <p:nvPr/>
        </p:nvSpPr>
        <p:spPr>
          <a:xfrm>
            <a:off x="-1" y="2886075"/>
            <a:ext cx="12191999" cy="457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Detailed explanation of the proposed solution</a:t>
            </a:r>
          </a:p>
        </p:txBody>
      </p:sp>
      <p:sp>
        <p:nvSpPr>
          <p:cNvPr id="50002" name="AEGIS_NODE_1">
            <a:extLst>
              <a:ext uri="{FF2B5EF4-FFF2-40B4-BE49-F238E27FC236}">
                <a16:creationId xmlns:a16="http://schemas.microsoft.com/office/drawing/2014/main" id="{1F1D1530-E02D-45A3-947C-DA5D383FB4A2}"/>
              </a:ext>
            </a:extLst>
          </p:cNvPr>
          <p:cNvSpPr>
            <a:spLocks noGrp="1"/>
          </p:cNvSpPr>
          <p:nvPr/>
        </p:nvSpPr>
        <p:spPr>
          <a:xfrm>
            <a:off x="457200" y="3400425"/>
            <a:ext cx="2533650" cy="857250"/>
          </a:xfrm>
          <a:prstGeom prst="rect">
            <a:avLst/>
          </a:prstGeom>
          <a:solidFill>
            <a:srgbClr val="FFFFFF"/>
          </a:solidFill>
          <a:ln w="16193">
            <a:solidFill>
              <a:srgbClr val="1F497D"/>
            </a:solidFill>
          </a:ln>
        </p:spPr>
        <p:txBody>
          <a:bodyPr lIns="85725" tIns="66675" rIns="85725" bIns="66675" anchor="ctr"/>
          <a:lstStyle/>
          <a:p>
            <a:r>
              <a:t/>
            </a:r>
          </a:p>
        </p:txBody>
      </p:sp>
      <p:sp>
        <p:nvSpPr>
          <p:cNvPr id="50003" name="AEGIS_2">
            <a:extLst>
              <a:ext uri="{FF2B5EF4-FFF2-40B4-BE49-F238E27FC236}">
                <a16:creationId xmlns:a16="http://schemas.microsoft.com/office/drawing/2014/main" id="{8CF0F066-A47D-40CD-AB99-D0970332EF4D}"/>
              </a:ext>
            </a:extLst>
          </p:cNvPr>
          <p:cNvSpPr>
            <a:spLocks noGrp="1"/>
          </p:cNvSpPr>
          <p:nvPr/>
        </p:nvSpPr>
        <p:spPr>
          <a:xfrm>
            <a:off x="514350" y="3476625"/>
            <a:ext cx="24193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Reported wallet</a:t>
            </a:r>
          </a:p>
        </p:txBody>
      </p:sp>
      <p:sp>
        <p:nvSpPr>
          <p:cNvPr id="50004" name="AEGIS_3">
            <a:extLst>
              <a:ext uri="{FF2B5EF4-FFF2-40B4-BE49-F238E27FC236}">
                <a16:creationId xmlns:a16="http://schemas.microsoft.com/office/drawing/2014/main" id="{8A5EA64A-83DE-4F8A-83E1-666113BFD684}"/>
              </a:ext>
            </a:extLst>
          </p:cNvPr>
          <p:cNvSpPr>
            <a:spLocks noGrp="1"/>
          </p:cNvSpPr>
          <p:nvPr/>
        </p:nvSpPr>
        <p:spPr>
          <a:xfrm>
            <a:off x="514350" y="3714750"/>
            <a:ext cx="2419350" cy="5238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Complaint and</a:t>
            </a:r>
          </a:p>
          <a:p>
            <a:pPr>
              <a:defRPr sz="1500" b="0">
                <a:solidFill>
                  <a:srgbClr val="000000"/>
                </a:solidFill>
                <a:latin typeface="Arial"/>
                <a:ea typeface="Arial"/>
                <a:cs typeface="Arial"/>
              </a:defRPr>
            </a:pPr>
            <a:r>
              <a:rPr sz="1500" b="0">
                <a:solidFill>
                  <a:srgbClr val="000000"/>
                </a:solidFill>
                <a:latin typeface="Arial"/>
                <a:ea typeface="Arial"/>
                <a:cs typeface="Arial"/>
              </a:rPr>
              <a:t>case context</a:t>
            </a:r>
          </a:p>
        </p:txBody>
      </p:sp>
      <p:sp>
        <p:nvSpPr>
          <p:cNvPr id="50005" name="AEGIS_NODE_4">
            <a:extLst>
              <a:ext uri="{FF2B5EF4-FFF2-40B4-BE49-F238E27FC236}">
                <a16:creationId xmlns:a16="http://schemas.microsoft.com/office/drawing/2014/main" id="{01FBA11D-3B11-4924-8868-F91077C737A8}"/>
              </a:ext>
            </a:extLst>
          </p:cNvPr>
          <p:cNvSpPr>
            <a:spLocks noGrp="1"/>
          </p:cNvSpPr>
          <p:nvPr/>
        </p:nvSpPr>
        <p:spPr>
          <a:xfrm>
            <a:off x="3314700" y="3400425"/>
            <a:ext cx="2533650" cy="857250"/>
          </a:xfrm>
          <a:prstGeom prst="rect">
            <a:avLst/>
          </a:prstGeom>
          <a:solidFill>
            <a:srgbClr val="FFFFFF"/>
          </a:solidFill>
          <a:ln w="16193">
            <a:solidFill>
              <a:srgbClr val="1F497D"/>
            </a:solidFill>
          </a:ln>
        </p:spPr>
        <p:txBody>
          <a:bodyPr lIns="85725" tIns="66675" rIns="85725" bIns="66675" anchor="ctr"/>
          <a:lstStyle/>
          <a:p>
            <a:r>
              <a:t/>
            </a:r>
          </a:p>
        </p:txBody>
      </p:sp>
      <p:sp>
        <p:nvSpPr>
          <p:cNvPr id="50006" name="AEGIS_5">
            <a:extLst>
              <a:ext uri="{FF2B5EF4-FFF2-40B4-BE49-F238E27FC236}">
                <a16:creationId xmlns:a16="http://schemas.microsoft.com/office/drawing/2014/main" id="{B225DA95-E49A-431B-907D-BC4CEB965076}"/>
              </a:ext>
            </a:extLst>
          </p:cNvPr>
          <p:cNvSpPr>
            <a:spLocks noGrp="1"/>
          </p:cNvSpPr>
          <p:nvPr/>
        </p:nvSpPr>
        <p:spPr>
          <a:xfrm>
            <a:off x="3371850" y="3476625"/>
            <a:ext cx="24193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Intermediary hops</a:t>
            </a:r>
          </a:p>
        </p:txBody>
      </p:sp>
      <p:sp>
        <p:nvSpPr>
          <p:cNvPr id="50007" name="AEGIS_6">
            <a:extLst>
              <a:ext uri="{FF2B5EF4-FFF2-40B4-BE49-F238E27FC236}">
                <a16:creationId xmlns:a16="http://schemas.microsoft.com/office/drawing/2014/main" id="{BC1DC4BF-FE30-4BB8-9F78-517F907BE5E5}"/>
              </a:ext>
            </a:extLst>
          </p:cNvPr>
          <p:cNvSpPr>
            <a:spLocks noGrp="1"/>
          </p:cNvSpPr>
          <p:nvPr/>
        </p:nvSpPr>
        <p:spPr>
          <a:xfrm>
            <a:off x="3371850" y="3714750"/>
            <a:ext cx="2419350" cy="5238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Trace outgoing</a:t>
            </a:r>
          </a:p>
          <a:p>
            <a:pPr>
              <a:defRPr sz="1500" b="0">
                <a:solidFill>
                  <a:srgbClr val="000000"/>
                </a:solidFill>
                <a:latin typeface="Arial"/>
                <a:ea typeface="Arial"/>
                <a:cs typeface="Arial"/>
              </a:defRPr>
            </a:pPr>
            <a:r>
              <a:rPr sz="1500" b="0">
                <a:solidFill>
                  <a:srgbClr val="000000"/>
                </a:solidFill>
                <a:latin typeface="Arial"/>
                <a:ea typeface="Arial"/>
                <a:cs typeface="Arial"/>
              </a:rPr>
              <a:t>fund movement</a:t>
            </a:r>
          </a:p>
        </p:txBody>
      </p:sp>
      <p:sp>
        <p:nvSpPr>
          <p:cNvPr id="50008" name="AEGIS_NODE_7">
            <a:extLst>
              <a:ext uri="{FF2B5EF4-FFF2-40B4-BE49-F238E27FC236}">
                <a16:creationId xmlns:a16="http://schemas.microsoft.com/office/drawing/2014/main" id="{25B5C08C-D432-43D5-A31D-6F2040896E9C}"/>
              </a:ext>
            </a:extLst>
          </p:cNvPr>
          <p:cNvSpPr>
            <a:spLocks noGrp="1"/>
          </p:cNvSpPr>
          <p:nvPr/>
        </p:nvSpPr>
        <p:spPr>
          <a:xfrm>
            <a:off x="6172200" y="3400425"/>
            <a:ext cx="2533650" cy="857250"/>
          </a:xfrm>
          <a:prstGeom prst="rect">
            <a:avLst/>
          </a:prstGeom>
          <a:solidFill>
            <a:srgbClr val="FFFFFF"/>
          </a:solidFill>
          <a:ln w="16193">
            <a:solidFill>
              <a:srgbClr val="1F497D"/>
            </a:solidFill>
          </a:ln>
        </p:spPr>
        <p:txBody>
          <a:bodyPr lIns="85725" tIns="66675" rIns="85725" bIns="66675" anchor="ctr"/>
          <a:lstStyle/>
          <a:p>
            <a:r>
              <a:t/>
            </a:r>
          </a:p>
        </p:txBody>
      </p:sp>
      <p:sp>
        <p:nvSpPr>
          <p:cNvPr id="50009" name="AEGIS_8">
            <a:extLst>
              <a:ext uri="{FF2B5EF4-FFF2-40B4-BE49-F238E27FC236}">
                <a16:creationId xmlns:a16="http://schemas.microsoft.com/office/drawing/2014/main" id="{F4CC11E7-4E83-4CB5-BDA3-9E602D616C5F}"/>
              </a:ext>
            </a:extLst>
          </p:cNvPr>
          <p:cNvSpPr>
            <a:spLocks noGrp="1"/>
          </p:cNvSpPr>
          <p:nvPr/>
        </p:nvSpPr>
        <p:spPr>
          <a:xfrm>
            <a:off x="6229350" y="3476625"/>
            <a:ext cx="24193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Receiving VASP</a:t>
            </a:r>
          </a:p>
        </p:txBody>
      </p:sp>
      <p:sp>
        <p:nvSpPr>
          <p:cNvPr id="50010" name="AEGIS_9">
            <a:extLst>
              <a:ext uri="{FF2B5EF4-FFF2-40B4-BE49-F238E27FC236}">
                <a16:creationId xmlns:a16="http://schemas.microsoft.com/office/drawing/2014/main" id="{1A7B7D87-FD8E-4F01-900B-FD8F24525311}"/>
              </a:ext>
            </a:extLst>
          </p:cNvPr>
          <p:cNvSpPr>
            <a:spLocks noGrp="1"/>
          </p:cNvSpPr>
          <p:nvPr/>
        </p:nvSpPr>
        <p:spPr>
          <a:xfrm>
            <a:off x="6229350" y="3714750"/>
            <a:ext cx="2419350" cy="5238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First supported</a:t>
            </a:r>
          </a:p>
          <a:p>
            <a:pPr>
              <a:defRPr sz="1500" b="0">
                <a:solidFill>
                  <a:srgbClr val="000000"/>
                </a:solidFill>
                <a:latin typeface="Arial"/>
                <a:ea typeface="Arial"/>
                <a:cs typeface="Arial"/>
              </a:defRPr>
            </a:pPr>
            <a:r>
              <a:rPr sz="1500" b="0">
                <a:solidFill>
                  <a:srgbClr val="000000"/>
                </a:solidFill>
                <a:latin typeface="Arial"/>
                <a:ea typeface="Arial"/>
                <a:cs typeface="Arial"/>
              </a:rPr>
              <a:t>candidate per path</a:t>
            </a:r>
          </a:p>
        </p:txBody>
      </p:sp>
      <p:sp>
        <p:nvSpPr>
          <p:cNvPr id="50011" name="AEGIS_NODE_10">
            <a:extLst>
              <a:ext uri="{FF2B5EF4-FFF2-40B4-BE49-F238E27FC236}">
                <a16:creationId xmlns:a16="http://schemas.microsoft.com/office/drawing/2014/main" id="{CB016339-54E6-4EF4-B549-FED64E3EC928}"/>
              </a:ext>
            </a:extLst>
          </p:cNvPr>
          <p:cNvSpPr>
            <a:spLocks noGrp="1"/>
          </p:cNvSpPr>
          <p:nvPr/>
        </p:nvSpPr>
        <p:spPr>
          <a:xfrm>
            <a:off x="9029700" y="3400425"/>
            <a:ext cx="2533650" cy="857250"/>
          </a:xfrm>
          <a:prstGeom prst="rect">
            <a:avLst/>
          </a:prstGeom>
          <a:solidFill>
            <a:srgbClr val="FFFFFF"/>
          </a:solidFill>
          <a:ln w="16193">
            <a:solidFill>
              <a:srgbClr val="1F497D"/>
            </a:solidFill>
          </a:ln>
        </p:spPr>
        <p:txBody>
          <a:bodyPr lIns="85725" tIns="66675" rIns="85725" bIns="66675" anchor="ctr"/>
          <a:lstStyle/>
          <a:p>
            <a:r>
              <a:t/>
            </a:r>
          </a:p>
        </p:txBody>
      </p:sp>
      <p:sp>
        <p:nvSpPr>
          <p:cNvPr id="50012" name="AEGIS_11">
            <a:extLst>
              <a:ext uri="{FF2B5EF4-FFF2-40B4-BE49-F238E27FC236}">
                <a16:creationId xmlns:a16="http://schemas.microsoft.com/office/drawing/2014/main" id="{AA6ADB1D-5072-4FC3-B449-46763ADEFF8D}"/>
              </a:ext>
            </a:extLst>
          </p:cNvPr>
          <p:cNvSpPr>
            <a:spLocks noGrp="1"/>
          </p:cNvSpPr>
          <p:nvPr/>
        </p:nvSpPr>
        <p:spPr>
          <a:xfrm>
            <a:off x="9086850" y="3476625"/>
            <a:ext cx="24193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Investigator lead</a:t>
            </a:r>
          </a:p>
        </p:txBody>
      </p:sp>
      <p:sp>
        <p:nvSpPr>
          <p:cNvPr id="50013" name="AEGIS_12">
            <a:extLst>
              <a:ext uri="{FF2B5EF4-FFF2-40B4-BE49-F238E27FC236}">
                <a16:creationId xmlns:a16="http://schemas.microsoft.com/office/drawing/2014/main" id="{1A126648-AEC1-4654-AE71-A5FC4B8167AB}"/>
              </a:ext>
            </a:extLst>
          </p:cNvPr>
          <p:cNvSpPr>
            <a:spLocks noGrp="1"/>
          </p:cNvSpPr>
          <p:nvPr/>
        </p:nvSpPr>
        <p:spPr>
          <a:xfrm>
            <a:off x="9086850" y="3714750"/>
            <a:ext cx="2419350" cy="5238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Fund trail, sources</a:t>
            </a:r>
          </a:p>
          <a:p>
            <a:pPr>
              <a:defRPr sz="1500" b="0">
                <a:solidFill>
                  <a:srgbClr val="000000"/>
                </a:solidFill>
                <a:latin typeface="Arial"/>
                <a:ea typeface="Arial"/>
                <a:cs typeface="Arial"/>
              </a:defRPr>
            </a:pPr>
            <a:r>
              <a:rPr sz="1500" b="0">
                <a:solidFill>
                  <a:srgbClr val="000000"/>
                </a:solidFill>
                <a:latin typeface="Arial"/>
                <a:ea typeface="Arial"/>
                <a:cs typeface="Arial"/>
              </a:rPr>
              <a:t>and next action</a:t>
            </a:r>
          </a:p>
        </p:txBody>
      </p:sp>
      <p:cxnSp>
        <p:nvCxnSpPr>
          <p:cNvPr id="50014" name="AEGIS_LINK_13"/>
          <p:cNvCxnSpPr>
            <a:stCxn id="50002" idx="3"/>
            <a:endCxn id="50005" idx="1"/>
          </p:cNvCxnSpPr>
          <p:nvPr/>
        </p:nvCxnSpPr>
        <p:spPr>
          <a:xfrm>
            <a:off x="2990850" y="3829050"/>
            <a:ext cx="323850" cy="0"/>
          </a:xfrm>
          <a:prstGeom prst="straightConnector1">
            <a:avLst/>
          </a:prstGeom>
          <a:ln w="23813">
            <a:solidFill>
              <a:srgbClr val="1F497D"/>
            </a:solidFill>
            <a:prstDash val="solid"/>
            <a:tailEnd type="triangle" w="med" len="med"/>
          </a:ln>
        </p:spPr>
      </p:cxnSp>
      <p:cxnSp>
        <p:nvCxnSpPr>
          <p:cNvPr id="50015" name="AEGIS_LINK_14"/>
          <p:cNvCxnSpPr>
            <a:stCxn id="50005" idx="3"/>
            <a:endCxn id="50008" idx="1"/>
          </p:cNvCxnSpPr>
          <p:nvPr/>
        </p:nvCxnSpPr>
        <p:spPr>
          <a:xfrm>
            <a:off x="5848350" y="3829050"/>
            <a:ext cx="323850" cy="0"/>
          </a:xfrm>
          <a:prstGeom prst="straightConnector1">
            <a:avLst/>
          </a:prstGeom>
          <a:ln w="23813">
            <a:solidFill>
              <a:srgbClr val="1F497D"/>
            </a:solidFill>
            <a:prstDash val="solid"/>
            <a:tailEnd type="triangle" w="med" len="med"/>
          </a:ln>
        </p:spPr>
      </p:cxnSp>
      <p:cxnSp>
        <p:nvCxnSpPr>
          <p:cNvPr id="50016" name="AEGIS_LINK_15"/>
          <p:cNvCxnSpPr>
            <a:stCxn id="50008" idx="3"/>
            <a:endCxn id="50011" idx="1"/>
          </p:cNvCxnSpPr>
          <p:nvPr/>
        </p:nvCxnSpPr>
        <p:spPr>
          <a:xfrm>
            <a:off x="8705850" y="3829050"/>
            <a:ext cx="323850" cy="0"/>
          </a:xfrm>
          <a:prstGeom prst="straightConnector1">
            <a:avLst/>
          </a:prstGeom>
          <a:ln w="23813">
            <a:solidFill>
              <a:srgbClr val="1F497D"/>
            </a:solidFill>
            <a:prstDash val="solid"/>
            <a:tailEnd type="triangle" w="med" len="med"/>
          </a:ln>
        </p:spPr>
      </p:cxnSp>
      <p:sp>
        <p:nvSpPr>
          <p:cNvPr id="50017" name="AEGIS_PROMPT_2">
            <a:extLst>
              <a:ext uri="{FF2B5EF4-FFF2-40B4-BE49-F238E27FC236}">
                <a16:creationId xmlns:a16="http://schemas.microsoft.com/office/drawing/2014/main" id="{CE38C5DB-AACC-4A2C-A604-AB9B3ADADA09}"/>
              </a:ext>
            </a:extLst>
          </p:cNvPr>
          <p:cNvSpPr>
            <a:spLocks noGrp="1"/>
          </p:cNvSpPr>
          <p:nvPr/>
        </p:nvSpPr>
        <p:spPr>
          <a:xfrm>
            <a:off x="-1" y="4381500"/>
            <a:ext cx="12191999" cy="457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 How it addresses the problem</a:t>
            </a:r>
          </a:p>
        </p:txBody>
      </p:sp>
      <p:sp>
        <p:nvSpPr>
          <p:cNvPr id="50018" name="AEGIS_16">
            <a:extLst>
              <a:ext uri="{FF2B5EF4-FFF2-40B4-BE49-F238E27FC236}">
                <a16:creationId xmlns:a16="http://schemas.microsoft.com/office/drawing/2014/main" id="{E024C0BF-EF08-45B3-941A-8395D55F57BC}"/>
              </a:ext>
            </a:extLst>
          </p:cNvPr>
          <p:cNvSpPr>
            <a:spLocks noGrp="1"/>
          </p:cNvSpPr>
          <p:nvPr/>
        </p:nvSpPr>
        <p:spPr>
          <a:xfrm>
            <a:off x="457200" y="4857750"/>
            <a:ext cx="11144250" cy="24765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Continuous monitoring will alert investigators when funds move or a receiving VASP appears.</a:t>
            </a:r>
          </a:p>
        </p:txBody>
      </p:sp>
      <p:sp>
        <p:nvSpPr>
          <p:cNvPr id="50019" name="AEGIS_17">
            <a:extLst>
              <a:ext uri="{FF2B5EF4-FFF2-40B4-BE49-F238E27FC236}">
                <a16:creationId xmlns:a16="http://schemas.microsoft.com/office/drawing/2014/main" id="{C9B8C444-D79B-482E-9560-F131FB6B56E9}"/>
              </a:ext>
            </a:extLst>
          </p:cNvPr>
          <p:cNvSpPr>
            <a:spLocks noGrp="1"/>
          </p:cNvSpPr>
          <p:nvPr/>
        </p:nvSpPr>
        <p:spPr>
          <a:xfrm>
            <a:off x="457200" y="5143500"/>
            <a:ext cx="11144250" cy="24765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A case report will support review, preservation requests and coordination with the VASP.</a:t>
            </a:r>
          </a:p>
        </p:txBody>
      </p:sp>
      <p:sp>
        <p:nvSpPr>
          <p:cNvPr id="50020" name="AEGIS_PROMPT_3">
            <a:extLst>
              <a:ext uri="{FF2B5EF4-FFF2-40B4-BE49-F238E27FC236}">
                <a16:creationId xmlns:a16="http://schemas.microsoft.com/office/drawing/2014/main" id="{C2AA989A-27FC-42DD-83EF-9D4F5A09FA28}"/>
              </a:ext>
            </a:extLst>
          </p:cNvPr>
          <p:cNvSpPr>
            <a:spLocks noGrp="1"/>
          </p:cNvSpPr>
          <p:nvPr/>
        </p:nvSpPr>
        <p:spPr>
          <a:xfrm>
            <a:off x="-1" y="5476875"/>
            <a:ext cx="12191999" cy="457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Innovation and uniqueness of the solution </a:t>
            </a:r>
          </a:p>
        </p:txBody>
      </p:sp>
      <p:sp>
        <p:nvSpPr>
          <p:cNvPr id="50021" name="AEGIS_18">
            <a:extLst>
              <a:ext uri="{FF2B5EF4-FFF2-40B4-BE49-F238E27FC236}">
                <a16:creationId xmlns:a16="http://schemas.microsoft.com/office/drawing/2014/main" id="{59AB9D4A-454C-4CDF-8C31-0D2AF2F64BAC}"/>
              </a:ext>
            </a:extLst>
          </p:cNvPr>
          <p:cNvSpPr>
            <a:spLocks noGrp="1"/>
          </p:cNvSpPr>
          <p:nvPr/>
        </p:nvSpPr>
        <p:spPr>
          <a:xfrm>
            <a:off x="457200" y="5886450"/>
            <a:ext cx="11144250" cy="2190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Each lead links the transaction path to attribution sources and an investigative next step.</a:t>
            </a:r>
          </a:p>
        </p:txBody>
      </p:sp>
      <p:sp>
        <p:nvSpPr>
          <p:cNvPr id="50022" name="AEGIS_19">
            <a:extLst>
              <a:ext uri="{FF2B5EF4-FFF2-40B4-BE49-F238E27FC236}">
                <a16:creationId xmlns:a16="http://schemas.microsoft.com/office/drawing/2014/main" id="{8FCE3B56-8511-455F-B546-9F92ED1B8A2A}"/>
              </a:ext>
            </a:extLst>
          </p:cNvPr>
          <p:cNvSpPr>
            <a:spLocks noGrp="1"/>
          </p:cNvSpPr>
          <p:nvPr/>
        </p:nvSpPr>
        <p:spPr>
          <a:xfrm>
            <a:off x="457200" y="6115050"/>
            <a:ext cx="11144250" cy="2190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New transactions and revised labels will update findings while preserving earlier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EA7C956B-57BE-4104-94B2-7CFE84B469AF}"/>
              </a:ext>
            </a:extLst>
          </p:cNvPr>
          <p:cNvSpPr>
            <a:spLocks noGrp="1"/>
          </p:cNvSpPr>
          <p:nvPr/>
        </p:nvSpPr>
        <p:spPr>
          <a:xfrm>
            <a:off x="609600" y="1438275"/>
            <a:ext cx="9385300" cy="838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Technologies to be used (e.g. programming languages, frameworks, hardware)</a:t>
            </a:r>
          </a:p>
        </p:txBody>
      </p:sp>
      <p:sp>
        <p:nvSpPr>
          <p:cNvPr id="50001" name="AEGIS_20">
            <a:extLst>
              <a:ext uri="{FF2B5EF4-FFF2-40B4-BE49-F238E27FC236}">
                <a16:creationId xmlns:a16="http://schemas.microsoft.com/office/drawing/2014/main" id="{6E2CA7D9-C345-4EFF-8A58-88031EEFDE86}"/>
              </a:ext>
            </a:extLst>
          </p:cNvPr>
          <p:cNvSpPr>
            <a:spLocks noGrp="1"/>
          </p:cNvSpPr>
          <p:nvPr/>
        </p:nvSpPr>
        <p:spPr>
          <a:xfrm>
            <a:off x="1047750" y="2343150"/>
            <a:ext cx="10477500" cy="266700"/>
          </a:xfrm>
          <a:prstGeom prst="rect">
            <a:avLst/>
          </a:prstGeom>
          <a:noFill/>
          <a:ln w="0">
            <a:noFill/>
          </a:ln>
        </p:spPr>
        <p:txBody>
          <a:bodyPr wrap="square" lIns="0" tIns="0" rIns="0" bIns="0">
            <a:noAutofit/>
          </a:bodyPr>
          <a:lstStyle/>
          <a:p>
            <a:pPr>
              <a:defRPr sz="1800" b="0">
                <a:solidFill>
                  <a:srgbClr val="000000"/>
                </a:solidFill>
                <a:latin typeface="Arial"/>
                <a:ea typeface="Arial"/>
                <a:cs typeface="Arial"/>
              </a:defRPr>
            </a:pPr>
            <a:r>
              <a:rPr sz="1800" b="0">
                <a:solidFill>
                  <a:srgbClr val="000000"/>
                </a:solidFill>
                <a:latin typeface="Arial"/>
                <a:ea typeface="Arial"/>
                <a:cs typeface="Arial"/>
              </a:rPr>
              <a:t>React dashboard and FastAPI services, queued workers, incremental transaction indexing,</a:t>
            </a:r>
          </a:p>
        </p:txBody>
      </p:sp>
      <p:sp>
        <p:nvSpPr>
          <p:cNvPr id="50002" name="AEGIS_21">
            <a:extLst>
              <a:ext uri="{FF2B5EF4-FFF2-40B4-BE49-F238E27FC236}">
                <a16:creationId xmlns:a16="http://schemas.microsoft.com/office/drawing/2014/main" id="{F5DE521D-A86F-43DE-B351-6D2AED214BB7}"/>
              </a:ext>
            </a:extLst>
          </p:cNvPr>
          <p:cNvSpPr>
            <a:spLocks noGrp="1"/>
          </p:cNvSpPr>
          <p:nvPr/>
        </p:nvSpPr>
        <p:spPr>
          <a:xfrm>
            <a:off x="1047750" y="2638425"/>
            <a:ext cx="10477500" cy="266700"/>
          </a:xfrm>
          <a:prstGeom prst="rect">
            <a:avLst/>
          </a:prstGeom>
          <a:noFill/>
          <a:ln w="0">
            <a:noFill/>
          </a:ln>
        </p:spPr>
        <p:txBody>
          <a:bodyPr wrap="square" lIns="0" tIns="0" rIns="0" bIns="0">
            <a:noAutofit/>
          </a:bodyPr>
          <a:lstStyle/>
          <a:p>
            <a:pPr>
              <a:defRPr sz="1800" b="0">
                <a:solidFill>
                  <a:srgbClr val="000000"/>
                </a:solidFill>
                <a:latin typeface="Arial"/>
                <a:ea typeface="Arial"/>
                <a:cs typeface="Arial"/>
              </a:defRPr>
            </a:pPr>
            <a:r>
              <a:rPr sz="1800" b="0">
                <a:solidFill>
                  <a:srgbClr val="000000"/>
                </a:solidFill>
                <a:latin typeface="Arial"/>
                <a:ea typeface="Arial"/>
                <a:cs typeface="Arial"/>
              </a:rPr>
              <a:t>persistent case storage and a versioned VASP-label registry.</a:t>
            </a:r>
          </a:p>
        </p:txBody>
      </p:sp>
      <p:sp>
        <p:nvSpPr>
          <p:cNvPr id="50003" name="AEGIS_PROMPT_1">
            <a:extLst>
              <a:ext uri="{FF2B5EF4-FFF2-40B4-BE49-F238E27FC236}">
                <a16:creationId xmlns:a16="http://schemas.microsoft.com/office/drawing/2014/main" id="{D658BB90-CE5B-4CBF-BD7D-3D5C668A5FFC}"/>
              </a:ext>
            </a:extLst>
          </p:cNvPr>
          <p:cNvSpPr>
            <a:spLocks noGrp="1"/>
          </p:cNvSpPr>
          <p:nvPr/>
        </p:nvSpPr>
        <p:spPr>
          <a:xfrm>
            <a:off x="609600" y="3105150"/>
            <a:ext cx="9385300" cy="838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Methodology and process for implementation (Flow Charts/Images/ working prototype)</a:t>
            </a:r>
          </a:p>
        </p:txBody>
      </p:sp>
      <p:sp>
        <p:nvSpPr>
          <p:cNvPr id="50004" name="AEGIS_NODE_22">
            <a:extLst>
              <a:ext uri="{FF2B5EF4-FFF2-40B4-BE49-F238E27FC236}">
                <a16:creationId xmlns:a16="http://schemas.microsoft.com/office/drawing/2014/main" id="{7F16C59A-BBCF-4656-96AD-144F1416C985}"/>
              </a:ext>
            </a:extLst>
          </p:cNvPr>
          <p:cNvSpPr>
            <a:spLocks noGrp="1"/>
          </p:cNvSpPr>
          <p:nvPr/>
        </p:nvSpPr>
        <p:spPr>
          <a:xfrm>
            <a:off x="1047750"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05" name="AEGIS_23">
            <a:extLst>
              <a:ext uri="{FF2B5EF4-FFF2-40B4-BE49-F238E27FC236}">
                <a16:creationId xmlns:a16="http://schemas.microsoft.com/office/drawing/2014/main" id="{764B2DAD-517C-4AC4-9293-738FB13C9225}"/>
              </a:ext>
            </a:extLst>
          </p:cNvPr>
          <p:cNvSpPr>
            <a:spLocks noGrp="1"/>
          </p:cNvSpPr>
          <p:nvPr/>
        </p:nvSpPr>
        <p:spPr>
          <a:xfrm>
            <a:off x="1104900"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Chain adapters</a:t>
            </a:r>
          </a:p>
        </p:txBody>
      </p:sp>
      <p:sp>
        <p:nvSpPr>
          <p:cNvPr id="50006" name="AEGIS_24">
            <a:extLst>
              <a:ext uri="{FF2B5EF4-FFF2-40B4-BE49-F238E27FC236}">
                <a16:creationId xmlns:a16="http://schemas.microsoft.com/office/drawing/2014/main" id="{A7267383-1048-459B-997C-2B25DC255EA2}"/>
              </a:ext>
            </a:extLst>
          </p:cNvPr>
          <p:cNvSpPr>
            <a:spLocks noGrp="1"/>
          </p:cNvSpPr>
          <p:nvPr/>
        </p:nvSpPr>
        <p:spPr>
          <a:xfrm>
            <a:off x="1104900"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Bitcoin, EVM/TRON</a:t>
            </a:r>
          </a:p>
          <a:p>
            <a:pPr>
              <a:defRPr sz="1425" b="0">
                <a:solidFill>
                  <a:srgbClr val="000000"/>
                </a:solidFill>
                <a:latin typeface="Arial"/>
                <a:ea typeface="Arial"/>
                <a:cs typeface="Arial"/>
              </a:defRPr>
            </a:pPr>
            <a:r>
              <a:rPr sz="1425" b="0">
                <a:solidFill>
                  <a:srgbClr val="000000"/>
                </a:solidFill>
                <a:latin typeface="Arial"/>
                <a:ea typeface="Arial"/>
                <a:cs typeface="Arial"/>
              </a:rPr>
              <a:t>Supported bridges</a:t>
            </a:r>
          </a:p>
        </p:txBody>
      </p:sp>
      <p:sp>
        <p:nvSpPr>
          <p:cNvPr id="50007" name="AEGIS_NODE_25">
            <a:extLst>
              <a:ext uri="{FF2B5EF4-FFF2-40B4-BE49-F238E27FC236}">
                <a16:creationId xmlns:a16="http://schemas.microsoft.com/office/drawing/2014/main" id="{9C7F1EA9-F6A3-4C57-B943-03E120D5DB10}"/>
              </a:ext>
            </a:extLst>
          </p:cNvPr>
          <p:cNvSpPr>
            <a:spLocks noGrp="1"/>
          </p:cNvSpPr>
          <p:nvPr/>
        </p:nvSpPr>
        <p:spPr>
          <a:xfrm>
            <a:off x="3724275"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08" name="AEGIS_26">
            <a:extLst>
              <a:ext uri="{FF2B5EF4-FFF2-40B4-BE49-F238E27FC236}">
                <a16:creationId xmlns:a16="http://schemas.microsoft.com/office/drawing/2014/main" id="{6B3468DE-86D2-4CF3-BE6A-876DD47A0C8B}"/>
              </a:ext>
            </a:extLst>
          </p:cNvPr>
          <p:cNvSpPr>
            <a:spLocks noGrp="1"/>
          </p:cNvSpPr>
          <p:nvPr/>
        </p:nvSpPr>
        <p:spPr>
          <a:xfrm>
            <a:off x="3781425"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Tracing engine</a:t>
            </a:r>
          </a:p>
        </p:txBody>
      </p:sp>
      <p:sp>
        <p:nvSpPr>
          <p:cNvPr id="50009" name="AEGIS_27">
            <a:extLst>
              <a:ext uri="{FF2B5EF4-FFF2-40B4-BE49-F238E27FC236}">
                <a16:creationId xmlns:a16="http://schemas.microsoft.com/office/drawing/2014/main" id="{E653C472-CF43-49C0-93B2-5693F5B42680}"/>
              </a:ext>
            </a:extLst>
          </p:cNvPr>
          <p:cNvSpPr>
            <a:spLocks noGrp="1"/>
          </p:cNvSpPr>
          <p:nvPr/>
        </p:nvSpPr>
        <p:spPr>
          <a:xfrm>
            <a:off x="3781425"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Spend links and</a:t>
            </a:r>
          </a:p>
          <a:p>
            <a:pPr>
              <a:defRPr sz="1425" b="0">
                <a:solidFill>
                  <a:srgbClr val="000000"/>
                </a:solidFill>
                <a:latin typeface="Arial"/>
                <a:ea typeface="Arial"/>
                <a:cs typeface="Arial"/>
              </a:defRPr>
            </a:pPr>
            <a:r>
              <a:rPr sz="1425" b="0">
                <a:solidFill>
                  <a:srgbClr val="000000"/>
                </a:solidFill>
                <a:latin typeface="Arial"/>
                <a:ea typeface="Arial"/>
                <a:cs typeface="Arial"/>
              </a:rPr>
              <a:t>transfer events</a:t>
            </a:r>
          </a:p>
        </p:txBody>
      </p:sp>
      <p:sp>
        <p:nvSpPr>
          <p:cNvPr id="50010" name="AEGIS_NODE_28">
            <a:extLst>
              <a:ext uri="{FF2B5EF4-FFF2-40B4-BE49-F238E27FC236}">
                <a16:creationId xmlns:a16="http://schemas.microsoft.com/office/drawing/2014/main" id="{4C9369B8-18DA-43D0-A114-7D9337B49D71}"/>
              </a:ext>
            </a:extLst>
          </p:cNvPr>
          <p:cNvSpPr>
            <a:spLocks noGrp="1"/>
          </p:cNvSpPr>
          <p:nvPr/>
        </p:nvSpPr>
        <p:spPr>
          <a:xfrm>
            <a:off x="6400800"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11" name="AEGIS_29">
            <a:extLst>
              <a:ext uri="{FF2B5EF4-FFF2-40B4-BE49-F238E27FC236}">
                <a16:creationId xmlns:a16="http://schemas.microsoft.com/office/drawing/2014/main" id="{9F63EDF3-4C58-44A3-90B5-85D2BB8DC59E}"/>
              </a:ext>
            </a:extLst>
          </p:cNvPr>
          <p:cNvSpPr>
            <a:spLocks noGrp="1"/>
          </p:cNvSpPr>
          <p:nvPr/>
        </p:nvSpPr>
        <p:spPr>
          <a:xfrm>
            <a:off x="6457950"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VASP matching</a:t>
            </a:r>
          </a:p>
        </p:txBody>
      </p:sp>
      <p:sp>
        <p:nvSpPr>
          <p:cNvPr id="50012" name="AEGIS_30">
            <a:extLst>
              <a:ext uri="{FF2B5EF4-FFF2-40B4-BE49-F238E27FC236}">
                <a16:creationId xmlns:a16="http://schemas.microsoft.com/office/drawing/2014/main" id="{967E829A-994B-4928-9D91-40199107D680}"/>
              </a:ext>
            </a:extLst>
          </p:cNvPr>
          <p:cNvSpPr>
            <a:spLocks noGrp="1"/>
          </p:cNvSpPr>
          <p:nvPr/>
        </p:nvSpPr>
        <p:spPr>
          <a:xfrm>
            <a:off x="6457950"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Sourced labels and</a:t>
            </a:r>
          </a:p>
          <a:p>
            <a:pPr>
              <a:defRPr sz="1425" b="0">
                <a:solidFill>
                  <a:srgbClr val="000000"/>
                </a:solidFill>
                <a:latin typeface="Arial"/>
                <a:ea typeface="Arial"/>
                <a:cs typeface="Arial"/>
              </a:defRPr>
            </a:pPr>
            <a:r>
              <a:rPr sz="1425" b="0">
                <a:solidFill>
                  <a:srgbClr val="000000"/>
                </a:solidFill>
                <a:latin typeface="Arial"/>
                <a:ea typeface="Arial"/>
                <a:cs typeface="Arial"/>
              </a:rPr>
              <a:t>cautious clustering</a:t>
            </a:r>
          </a:p>
        </p:txBody>
      </p:sp>
      <p:sp>
        <p:nvSpPr>
          <p:cNvPr id="50013" name="AEGIS_NODE_31">
            <a:extLst>
              <a:ext uri="{FF2B5EF4-FFF2-40B4-BE49-F238E27FC236}">
                <a16:creationId xmlns:a16="http://schemas.microsoft.com/office/drawing/2014/main" id="{B81E3EE4-E9C2-4FDA-97D6-F19EB6B9C13C}"/>
              </a:ext>
            </a:extLst>
          </p:cNvPr>
          <p:cNvSpPr>
            <a:spLocks noGrp="1"/>
          </p:cNvSpPr>
          <p:nvPr/>
        </p:nvSpPr>
        <p:spPr>
          <a:xfrm>
            <a:off x="9077325"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14" name="AEGIS_32">
            <a:extLst>
              <a:ext uri="{FF2B5EF4-FFF2-40B4-BE49-F238E27FC236}">
                <a16:creationId xmlns:a16="http://schemas.microsoft.com/office/drawing/2014/main" id="{7BC4C8D5-0869-4514-86D0-7B8C06A7C885}"/>
              </a:ext>
            </a:extLst>
          </p:cNvPr>
          <p:cNvSpPr>
            <a:spLocks noGrp="1"/>
          </p:cNvSpPr>
          <p:nvPr/>
        </p:nvSpPr>
        <p:spPr>
          <a:xfrm>
            <a:off x="9134475"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Case workspace</a:t>
            </a:r>
          </a:p>
        </p:txBody>
      </p:sp>
      <p:sp>
        <p:nvSpPr>
          <p:cNvPr id="50015" name="AEGIS_33">
            <a:extLst>
              <a:ext uri="{FF2B5EF4-FFF2-40B4-BE49-F238E27FC236}">
                <a16:creationId xmlns:a16="http://schemas.microsoft.com/office/drawing/2014/main" id="{08953188-6777-4FD9-9F1C-18F1E4309CE8}"/>
              </a:ext>
            </a:extLst>
          </p:cNvPr>
          <p:cNvSpPr>
            <a:spLocks noGrp="1"/>
          </p:cNvSpPr>
          <p:nvPr/>
        </p:nvSpPr>
        <p:spPr>
          <a:xfrm>
            <a:off x="9134475"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Review candidates</a:t>
            </a:r>
          </a:p>
          <a:p>
            <a:pPr>
              <a:defRPr sz="1425" b="0">
                <a:solidFill>
                  <a:srgbClr val="000000"/>
                </a:solidFill>
                <a:latin typeface="Arial"/>
                <a:ea typeface="Arial"/>
                <a:cs typeface="Arial"/>
              </a:defRPr>
            </a:pPr>
            <a:r>
              <a:rPr sz="1425" b="0">
                <a:solidFill>
                  <a:srgbClr val="000000"/>
                </a:solidFill>
                <a:latin typeface="Arial"/>
                <a:ea typeface="Arial"/>
                <a:cs typeface="Arial"/>
              </a:rPr>
              <a:t>Monitor and report</a:t>
            </a:r>
          </a:p>
        </p:txBody>
      </p:sp>
      <p:cxnSp>
        <p:nvCxnSpPr>
          <p:cNvPr id="50016" name="AEGIS_LINK_34"/>
          <p:cNvCxnSpPr>
            <a:stCxn id="50004" idx="3"/>
            <a:endCxn id="50007" idx="1"/>
          </p:cNvCxnSpPr>
          <p:nvPr/>
        </p:nvCxnSpPr>
        <p:spPr>
          <a:xfrm>
            <a:off x="3371850" y="4519613"/>
            <a:ext cx="352425" cy="0"/>
          </a:xfrm>
          <a:prstGeom prst="straightConnector1">
            <a:avLst/>
          </a:prstGeom>
          <a:ln w="23813">
            <a:solidFill>
              <a:srgbClr val="1F497D"/>
            </a:solidFill>
            <a:prstDash val="solid"/>
            <a:tailEnd type="triangle" w="med" len="med"/>
          </a:ln>
        </p:spPr>
      </p:cxnSp>
      <p:cxnSp>
        <p:nvCxnSpPr>
          <p:cNvPr id="50017" name="AEGIS_LINK_35"/>
          <p:cNvCxnSpPr>
            <a:stCxn id="50007" idx="3"/>
            <a:endCxn id="50010" idx="1"/>
          </p:cNvCxnSpPr>
          <p:nvPr/>
        </p:nvCxnSpPr>
        <p:spPr>
          <a:xfrm>
            <a:off x="6048375" y="4519613"/>
            <a:ext cx="352425" cy="0"/>
          </a:xfrm>
          <a:prstGeom prst="straightConnector1">
            <a:avLst/>
          </a:prstGeom>
          <a:ln w="23813">
            <a:solidFill>
              <a:srgbClr val="1F497D"/>
            </a:solidFill>
            <a:prstDash val="solid"/>
            <a:tailEnd type="triangle" w="med" len="med"/>
          </a:ln>
        </p:spPr>
      </p:cxnSp>
      <p:cxnSp>
        <p:nvCxnSpPr>
          <p:cNvPr id="50018" name="AEGIS_LINK_36"/>
          <p:cNvCxnSpPr>
            <a:stCxn id="50010" idx="3"/>
            <a:endCxn id="50013" idx="1"/>
          </p:cNvCxnSpPr>
          <p:nvPr/>
        </p:nvCxnSpPr>
        <p:spPr>
          <a:xfrm>
            <a:off x="8724900" y="4519613"/>
            <a:ext cx="352425" cy="0"/>
          </a:xfrm>
          <a:prstGeom prst="straightConnector1">
            <a:avLst/>
          </a:prstGeom>
          <a:ln w="23813">
            <a:solidFill>
              <a:srgbClr val="1F497D"/>
            </a:solidFill>
            <a:prstDash val="solid"/>
            <a:tailEnd type="triangle" w="med" len="med"/>
          </a:ln>
        </p:spPr>
      </p:cxnSp>
      <p:sp>
        <p:nvSpPr>
          <p:cNvPr id="50019" name="AEGIS_37">
            <a:extLst>
              <a:ext uri="{FF2B5EF4-FFF2-40B4-BE49-F238E27FC236}">
                <a16:creationId xmlns:a16="http://schemas.microsoft.com/office/drawing/2014/main" id="{C561DA76-F041-4D5D-9BE9-F7DE96E0A93E}"/>
              </a:ext>
            </a:extLst>
          </p:cNvPr>
          <p:cNvSpPr>
            <a:spLocks noGrp="1"/>
          </p:cNvSpPr>
          <p:nvPr/>
        </p:nvSpPr>
        <p:spPr>
          <a:xfrm>
            <a:off x="1047750" y="5181600"/>
            <a:ext cx="2409825" cy="714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Time-consistent paths</a:t>
            </a:r>
          </a:p>
          <a:p>
            <a:pPr>
              <a:defRPr sz="1425" b="0">
                <a:solidFill>
                  <a:srgbClr val="000000"/>
                </a:solidFill>
                <a:latin typeface="Arial"/>
                <a:ea typeface="Arial"/>
                <a:cs typeface="Arial"/>
              </a:defRPr>
            </a:pPr>
            <a:r>
              <a:rPr sz="1425" b="0">
                <a:solidFill>
                  <a:srgbClr val="000000"/>
                </a:solidFill>
                <a:latin typeface="Arial"/>
                <a:ea typeface="Arial"/>
                <a:cs typeface="Arial"/>
              </a:rPr>
              <a:t>Explicit gaps at mixing</a:t>
            </a:r>
          </a:p>
          <a:p>
            <a:pPr>
              <a:defRPr sz="1425" b="0">
                <a:solidFill>
                  <a:srgbClr val="000000"/>
                </a:solidFill>
                <a:latin typeface="Arial"/>
                <a:ea typeface="Arial"/>
                <a:cs typeface="Arial"/>
              </a:defRPr>
            </a:pPr>
            <a:r>
              <a:rPr sz="1425" b="0">
                <a:solidFill>
                  <a:srgbClr val="000000"/>
                </a:solidFill>
                <a:latin typeface="Arial"/>
                <a:ea typeface="Arial"/>
                <a:cs typeface="Arial"/>
              </a:rPr>
              <a:t>or unsupported bridges</a:t>
            </a:r>
          </a:p>
        </p:txBody>
      </p:sp>
      <p:sp>
        <p:nvSpPr>
          <p:cNvPr id="50020" name="AEGIS_38">
            <a:extLst>
              <a:ext uri="{FF2B5EF4-FFF2-40B4-BE49-F238E27FC236}">
                <a16:creationId xmlns:a16="http://schemas.microsoft.com/office/drawing/2014/main" id="{2DF3CCCE-F76F-47C7-A085-F0241CF603A7}"/>
              </a:ext>
            </a:extLst>
          </p:cNvPr>
          <p:cNvSpPr>
            <a:spLocks noGrp="1"/>
          </p:cNvSpPr>
          <p:nvPr/>
        </p:nvSpPr>
        <p:spPr>
          <a:xfrm>
            <a:off x="3724275" y="5181600"/>
            <a:ext cx="2409825" cy="714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Explainable rules and</a:t>
            </a:r>
          </a:p>
          <a:p>
            <a:pPr>
              <a:defRPr sz="1425" b="0">
                <a:solidFill>
                  <a:srgbClr val="000000"/>
                </a:solidFill>
                <a:latin typeface="Arial"/>
                <a:ea typeface="Arial"/>
                <a:cs typeface="Arial"/>
              </a:defRPr>
            </a:pPr>
            <a:r>
              <a:rPr sz="1425" b="0">
                <a:solidFill>
                  <a:srgbClr val="000000"/>
                </a:solidFill>
                <a:latin typeface="Arial"/>
                <a:ea typeface="Arial"/>
                <a:cs typeface="Arial"/>
              </a:rPr>
              <a:t>evaluated ML will flag</a:t>
            </a:r>
          </a:p>
          <a:p>
            <a:pPr>
              <a:defRPr sz="1425" b="0">
                <a:solidFill>
                  <a:srgbClr val="000000"/>
                </a:solidFill>
                <a:latin typeface="Arial"/>
                <a:ea typeface="Arial"/>
                <a:cs typeface="Arial"/>
              </a:defRPr>
            </a:pPr>
            <a:r>
              <a:rPr sz="1425" b="0">
                <a:solidFill>
                  <a:srgbClr val="000000"/>
                </a:solidFill>
                <a:latin typeface="Arial"/>
                <a:ea typeface="Arial"/>
                <a:cs typeface="Arial"/>
              </a:rPr>
              <a:t>suspect flow patterns</a:t>
            </a:r>
          </a:p>
        </p:txBody>
      </p:sp>
      <p:sp>
        <p:nvSpPr>
          <p:cNvPr id="50021" name="AEGIS_NODE_39">
            <a:extLst>
              <a:ext uri="{FF2B5EF4-FFF2-40B4-BE49-F238E27FC236}">
                <a16:creationId xmlns:a16="http://schemas.microsoft.com/office/drawing/2014/main" id="{F6E93B4A-D1C4-4E3A-82CC-90A33782FAD2}"/>
              </a:ext>
            </a:extLst>
          </p:cNvPr>
          <p:cNvSpPr>
            <a:spLocks noGrp="1"/>
          </p:cNvSpPr>
          <p:nvPr/>
        </p:nvSpPr>
        <p:spPr>
          <a:xfrm>
            <a:off x="6400800" y="5181600"/>
            <a:ext cx="2324100" cy="723900"/>
          </a:xfrm>
          <a:prstGeom prst="rect">
            <a:avLst/>
          </a:prstGeom>
          <a:solidFill>
            <a:srgbClr val="FFFFFF"/>
          </a:solidFill>
          <a:ln w="16193">
            <a:solidFill>
              <a:srgbClr val="1F497D"/>
            </a:solidFill>
          </a:ln>
        </p:spPr>
        <p:txBody>
          <a:bodyPr lIns="85725" tIns="66675" rIns="85725" bIns="66675" anchor="ctr"/>
          <a:lstStyle/>
          <a:p>
            <a:r>
              <a:t/>
            </a:r>
          </a:p>
        </p:txBody>
      </p:sp>
      <p:sp>
        <p:nvSpPr>
          <p:cNvPr id="50022" name="AEGIS_40">
            <a:extLst>
              <a:ext uri="{FF2B5EF4-FFF2-40B4-BE49-F238E27FC236}">
                <a16:creationId xmlns:a16="http://schemas.microsoft.com/office/drawing/2014/main" id="{6EBFEC36-2C07-4CEC-9A0F-3DE55E998D8A}"/>
              </a:ext>
            </a:extLst>
          </p:cNvPr>
          <p:cNvSpPr>
            <a:spLocks noGrp="1"/>
          </p:cNvSpPr>
          <p:nvPr/>
        </p:nvSpPr>
        <p:spPr>
          <a:xfrm>
            <a:off x="6457950" y="5257800"/>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Label registry</a:t>
            </a:r>
          </a:p>
        </p:txBody>
      </p:sp>
      <p:sp>
        <p:nvSpPr>
          <p:cNvPr id="50023" name="AEGIS_41">
            <a:extLst>
              <a:ext uri="{FF2B5EF4-FFF2-40B4-BE49-F238E27FC236}">
                <a16:creationId xmlns:a16="http://schemas.microsoft.com/office/drawing/2014/main" id="{1B2C5354-8131-4E97-A7CC-E2A68387841C}"/>
              </a:ext>
            </a:extLst>
          </p:cNvPr>
          <p:cNvSpPr>
            <a:spLocks noGrp="1"/>
          </p:cNvSpPr>
          <p:nvPr/>
        </p:nvSpPr>
        <p:spPr>
          <a:xfrm>
            <a:off x="6457950" y="5495925"/>
            <a:ext cx="2209800" cy="39052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Source provenance</a:t>
            </a:r>
          </a:p>
          <a:p>
            <a:pPr>
              <a:defRPr sz="1425" b="0">
                <a:solidFill>
                  <a:srgbClr val="000000"/>
                </a:solidFill>
                <a:latin typeface="Arial"/>
                <a:ea typeface="Arial"/>
                <a:cs typeface="Arial"/>
              </a:defRPr>
            </a:pPr>
            <a:r>
              <a:rPr sz="1425" b="0">
                <a:solidFill>
                  <a:srgbClr val="000000"/>
                </a:solidFill>
                <a:latin typeface="Arial"/>
                <a:ea typeface="Arial"/>
                <a:cs typeface="Arial"/>
              </a:rPr>
              <a:t>Review date</a:t>
            </a:r>
          </a:p>
        </p:txBody>
      </p:sp>
      <p:cxnSp>
        <p:nvCxnSpPr>
          <p:cNvPr id="50024" name="AEGIS_LINK_42"/>
          <p:cNvCxnSpPr>
            <a:stCxn id="50021" idx="0"/>
            <a:endCxn id="50010" idx="2"/>
          </p:cNvCxnSpPr>
          <p:nvPr/>
        </p:nvCxnSpPr>
        <p:spPr>
          <a:xfrm flipV="1">
            <a:off x="7562850" y="4933950"/>
            <a:ext cx="0" cy="247650"/>
          </a:xfrm>
          <a:prstGeom prst="straightConnector1">
            <a:avLst/>
          </a:prstGeom>
          <a:ln w="23813">
            <a:solidFill>
              <a:srgbClr val="1F497D"/>
            </a:solidFill>
            <a:prstDash val="solid"/>
            <a:tailEnd type="triangle" w="med" len="med"/>
          </a:ln>
        </p:spPr>
      </p:cxnSp>
      <p:sp>
        <p:nvSpPr>
          <p:cNvPr id="50025" name="AEGIS_43">
            <a:extLst>
              <a:ext uri="{FF2B5EF4-FFF2-40B4-BE49-F238E27FC236}">
                <a16:creationId xmlns:a16="http://schemas.microsoft.com/office/drawing/2014/main" id="{C29915CE-92CB-487C-A4AD-AB2FD88F0C40}"/>
              </a:ext>
            </a:extLst>
          </p:cNvPr>
          <p:cNvSpPr>
            <a:spLocks noGrp="1"/>
          </p:cNvSpPr>
          <p:nvPr/>
        </p:nvSpPr>
        <p:spPr>
          <a:xfrm>
            <a:off x="9077325" y="5181600"/>
            <a:ext cx="2409825" cy="714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Role-based access</a:t>
            </a:r>
          </a:p>
          <a:p>
            <a:pPr>
              <a:defRPr sz="1425" b="0">
                <a:solidFill>
                  <a:srgbClr val="000000"/>
                </a:solidFill>
                <a:latin typeface="Arial"/>
                <a:ea typeface="Arial"/>
                <a:cs typeface="Arial"/>
              </a:defRPr>
            </a:pPr>
            <a:r>
              <a:rPr sz="1425" b="0">
                <a:solidFill>
                  <a:srgbClr val="000000"/>
                </a:solidFill>
                <a:latin typeface="Arial"/>
                <a:ea typeface="Arial"/>
                <a:cs typeface="Arial"/>
              </a:rPr>
              <a:t>Audit trail</a:t>
            </a:r>
          </a:p>
          <a:p>
            <a:pPr>
              <a:defRPr sz="1425" b="0">
                <a:solidFill>
                  <a:srgbClr val="000000"/>
                </a:solidFill>
                <a:latin typeface="Arial"/>
                <a:ea typeface="Arial"/>
                <a:cs typeface="Arial"/>
              </a:defRPr>
            </a:pPr>
            <a:r>
              <a:rPr sz="1425" b="0">
                <a:solidFill>
                  <a:srgbClr val="000000"/>
                </a:solidFill>
                <a:latin typeface="Arial"/>
                <a:ea typeface="Arial"/>
                <a:cs typeface="Arial"/>
              </a:rPr>
              <a:t>Approved LEA APIs</a:t>
            </a:r>
          </a:p>
        </p:txBody>
      </p:sp>
      <p:sp>
        <p:nvSpPr>
          <p:cNvPr id="50026" name="AEGIS_44">
            <a:extLst>
              <a:ext uri="{FF2B5EF4-FFF2-40B4-BE49-F238E27FC236}">
                <a16:creationId xmlns:a16="http://schemas.microsoft.com/office/drawing/2014/main" id="{DAE3048F-F4A5-4E4E-94ED-33E2071C7F6B}"/>
              </a:ext>
            </a:extLst>
          </p:cNvPr>
          <p:cNvSpPr>
            <a:spLocks noGrp="1"/>
          </p:cNvSpPr>
          <p:nvPr/>
        </p:nvSpPr>
        <p:spPr>
          <a:xfrm>
            <a:off x="1047750" y="6038850"/>
            <a:ext cx="10382250" cy="25717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Findings will distinguish observed transactions, inferred links and unresolved attribution.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7AF5FD8E-AC15-4AA5-A47A-80E79703F6AA}"/>
              </a:ext>
            </a:extLst>
          </p:cNvPr>
          <p:cNvSpPr>
            <a:spLocks noGrp="1"/>
          </p:cNvSpPr>
          <p:nvPr/>
        </p:nvSpPr>
        <p:spPr>
          <a:xfrm>
            <a:off x="609600" y="1495425"/>
            <a:ext cx="9385300" cy="47625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50001" name="AEGIS_NODE_45">
            <a:extLst>
              <a:ext uri="{FF2B5EF4-FFF2-40B4-BE49-F238E27FC236}">
                <a16:creationId xmlns:a16="http://schemas.microsoft.com/office/drawing/2014/main" id="{34A24556-9AB0-47C6-B8DA-27F08CF495E7}"/>
              </a:ext>
            </a:extLst>
          </p:cNvPr>
          <p:cNvSpPr>
            <a:spLocks noGrp="1"/>
          </p:cNvSpPr>
          <p:nvPr/>
        </p:nvSpPr>
        <p:spPr>
          <a:xfrm>
            <a:off x="1047750"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02" name="AEGIS_46">
            <a:extLst>
              <a:ext uri="{FF2B5EF4-FFF2-40B4-BE49-F238E27FC236}">
                <a16:creationId xmlns:a16="http://schemas.microsoft.com/office/drawing/2014/main" id="{DFD1ECE4-5A11-4E6F-9CEF-DBF60D7DDFCC}"/>
              </a:ext>
            </a:extLst>
          </p:cNvPr>
          <p:cNvSpPr>
            <a:spLocks noGrp="1"/>
          </p:cNvSpPr>
          <p:nvPr/>
        </p:nvSpPr>
        <p:spPr>
          <a:xfrm>
            <a:off x="1104900"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1. Validate</a:t>
            </a:r>
          </a:p>
        </p:txBody>
      </p:sp>
      <p:sp>
        <p:nvSpPr>
          <p:cNvPr id="50003" name="AEGIS_47">
            <a:extLst>
              <a:ext uri="{FF2B5EF4-FFF2-40B4-BE49-F238E27FC236}">
                <a16:creationId xmlns:a16="http://schemas.microsoft.com/office/drawing/2014/main" id="{54F565F0-AA04-4C33-BA38-A17BE0CEE87E}"/>
              </a:ext>
            </a:extLst>
          </p:cNvPr>
          <p:cNvSpPr>
            <a:spLocks noGrp="1"/>
          </p:cNvSpPr>
          <p:nvPr/>
        </p:nvSpPr>
        <p:spPr>
          <a:xfrm>
            <a:off x="1104900"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Bitcoin attribution</a:t>
            </a:r>
          </a:p>
        </p:txBody>
      </p:sp>
      <p:sp>
        <p:nvSpPr>
          <p:cNvPr id="50004" name="AEGIS_NODE_48">
            <a:extLst>
              <a:ext uri="{FF2B5EF4-FFF2-40B4-BE49-F238E27FC236}">
                <a16:creationId xmlns:a16="http://schemas.microsoft.com/office/drawing/2014/main" id="{815148AA-4A66-41C9-9D47-62DE8A505FC5}"/>
              </a:ext>
            </a:extLst>
          </p:cNvPr>
          <p:cNvSpPr>
            <a:spLocks noGrp="1"/>
          </p:cNvSpPr>
          <p:nvPr/>
        </p:nvSpPr>
        <p:spPr>
          <a:xfrm>
            <a:off x="3724275"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05" name="AEGIS_49">
            <a:extLst>
              <a:ext uri="{FF2B5EF4-FFF2-40B4-BE49-F238E27FC236}">
                <a16:creationId xmlns:a16="http://schemas.microsoft.com/office/drawing/2014/main" id="{86F3D46C-92E0-47D2-9982-0D50C89229C0}"/>
              </a:ext>
            </a:extLst>
          </p:cNvPr>
          <p:cNvSpPr>
            <a:spLocks noGrp="1"/>
          </p:cNvSpPr>
          <p:nvPr/>
        </p:nvSpPr>
        <p:spPr>
          <a:xfrm>
            <a:off x="3781425"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2. Monitor</a:t>
            </a:r>
          </a:p>
        </p:txBody>
      </p:sp>
      <p:sp>
        <p:nvSpPr>
          <p:cNvPr id="50006" name="AEGIS_50">
            <a:extLst>
              <a:ext uri="{FF2B5EF4-FFF2-40B4-BE49-F238E27FC236}">
                <a16:creationId xmlns:a16="http://schemas.microsoft.com/office/drawing/2014/main" id="{D64087E0-9471-4800-8D21-3A6ABA855054}"/>
              </a:ext>
            </a:extLst>
          </p:cNvPr>
          <p:cNvSpPr>
            <a:spLocks noGrp="1"/>
          </p:cNvSpPr>
          <p:nvPr/>
        </p:nvSpPr>
        <p:spPr>
          <a:xfrm>
            <a:off x="3781425"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Movement alerts</a:t>
            </a:r>
          </a:p>
        </p:txBody>
      </p:sp>
      <p:sp>
        <p:nvSpPr>
          <p:cNvPr id="50007" name="AEGIS_NODE_51">
            <a:extLst>
              <a:ext uri="{FF2B5EF4-FFF2-40B4-BE49-F238E27FC236}">
                <a16:creationId xmlns:a16="http://schemas.microsoft.com/office/drawing/2014/main" id="{56FD1FA3-2D80-4547-BB90-AA529325080C}"/>
              </a:ext>
            </a:extLst>
          </p:cNvPr>
          <p:cNvSpPr>
            <a:spLocks noGrp="1"/>
          </p:cNvSpPr>
          <p:nvPr/>
        </p:nvSpPr>
        <p:spPr>
          <a:xfrm>
            <a:off x="6400800"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08" name="AEGIS_52">
            <a:extLst>
              <a:ext uri="{FF2B5EF4-FFF2-40B4-BE49-F238E27FC236}">
                <a16:creationId xmlns:a16="http://schemas.microsoft.com/office/drawing/2014/main" id="{FBC51B17-F694-4CE5-B2FC-D8191DAE4AC8}"/>
              </a:ext>
            </a:extLst>
          </p:cNvPr>
          <p:cNvSpPr>
            <a:spLocks noGrp="1"/>
          </p:cNvSpPr>
          <p:nvPr/>
        </p:nvSpPr>
        <p:spPr>
          <a:xfrm>
            <a:off x="6457950"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3. Extend</a:t>
            </a:r>
          </a:p>
        </p:txBody>
      </p:sp>
      <p:sp>
        <p:nvSpPr>
          <p:cNvPr id="50009" name="AEGIS_53">
            <a:extLst>
              <a:ext uri="{FF2B5EF4-FFF2-40B4-BE49-F238E27FC236}">
                <a16:creationId xmlns:a16="http://schemas.microsoft.com/office/drawing/2014/main" id="{4A299609-2E1F-44AE-916E-7522EE78E356}"/>
              </a:ext>
            </a:extLst>
          </p:cNvPr>
          <p:cNvSpPr>
            <a:spLocks noGrp="1"/>
          </p:cNvSpPr>
          <p:nvPr/>
        </p:nvSpPr>
        <p:spPr>
          <a:xfrm>
            <a:off x="6457950"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EVM/TRON, bridges</a:t>
            </a:r>
          </a:p>
        </p:txBody>
      </p:sp>
      <p:sp>
        <p:nvSpPr>
          <p:cNvPr id="50010" name="AEGIS_NODE_54">
            <a:extLst>
              <a:ext uri="{FF2B5EF4-FFF2-40B4-BE49-F238E27FC236}">
                <a16:creationId xmlns:a16="http://schemas.microsoft.com/office/drawing/2014/main" id="{6BE63965-D5E8-461A-B1F7-7A84E8DD35EC}"/>
              </a:ext>
            </a:extLst>
          </p:cNvPr>
          <p:cNvSpPr>
            <a:spLocks noGrp="1"/>
          </p:cNvSpPr>
          <p:nvPr/>
        </p:nvSpPr>
        <p:spPr>
          <a:xfrm>
            <a:off x="9077325"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11" name="AEGIS_55">
            <a:extLst>
              <a:ext uri="{FF2B5EF4-FFF2-40B4-BE49-F238E27FC236}">
                <a16:creationId xmlns:a16="http://schemas.microsoft.com/office/drawing/2014/main" id="{66939CEF-DE8C-4B4A-8919-2D529A85462A}"/>
              </a:ext>
            </a:extLst>
          </p:cNvPr>
          <p:cNvSpPr>
            <a:spLocks noGrp="1"/>
          </p:cNvSpPr>
          <p:nvPr/>
        </p:nvSpPr>
        <p:spPr>
          <a:xfrm>
            <a:off x="9134475"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4. Integrate</a:t>
            </a:r>
          </a:p>
        </p:txBody>
      </p:sp>
      <p:sp>
        <p:nvSpPr>
          <p:cNvPr id="50012" name="AEGIS_56">
            <a:extLst>
              <a:ext uri="{FF2B5EF4-FFF2-40B4-BE49-F238E27FC236}">
                <a16:creationId xmlns:a16="http://schemas.microsoft.com/office/drawing/2014/main" id="{67D6F600-B216-4149-A0C3-DCC17DF321A0}"/>
              </a:ext>
            </a:extLst>
          </p:cNvPr>
          <p:cNvSpPr>
            <a:spLocks noGrp="1"/>
          </p:cNvSpPr>
          <p:nvPr/>
        </p:nvSpPr>
        <p:spPr>
          <a:xfrm>
            <a:off x="9134475"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Approved LEA access</a:t>
            </a:r>
          </a:p>
        </p:txBody>
      </p:sp>
      <p:cxnSp>
        <p:nvCxnSpPr>
          <p:cNvPr id="50013" name="AEGIS_LINK_57"/>
          <p:cNvCxnSpPr>
            <a:stCxn id="50001" idx="3"/>
            <a:endCxn id="50004" idx="1"/>
          </p:cNvCxnSpPr>
          <p:nvPr/>
        </p:nvCxnSpPr>
        <p:spPr>
          <a:xfrm>
            <a:off x="3371850" y="2395538"/>
            <a:ext cx="352425" cy="0"/>
          </a:xfrm>
          <a:prstGeom prst="straightConnector1">
            <a:avLst/>
          </a:prstGeom>
          <a:ln w="23813">
            <a:solidFill>
              <a:srgbClr val="1F497D"/>
            </a:solidFill>
            <a:prstDash val="solid"/>
            <a:tailEnd type="triangle" w="med" len="med"/>
          </a:ln>
        </p:spPr>
      </p:cxnSp>
      <p:cxnSp>
        <p:nvCxnSpPr>
          <p:cNvPr id="50014" name="AEGIS_LINK_58"/>
          <p:cNvCxnSpPr>
            <a:stCxn id="50004" idx="3"/>
            <a:endCxn id="50007" idx="1"/>
          </p:cNvCxnSpPr>
          <p:nvPr/>
        </p:nvCxnSpPr>
        <p:spPr>
          <a:xfrm>
            <a:off x="6048375" y="2395538"/>
            <a:ext cx="352425" cy="0"/>
          </a:xfrm>
          <a:prstGeom prst="straightConnector1">
            <a:avLst/>
          </a:prstGeom>
          <a:ln w="23813">
            <a:solidFill>
              <a:srgbClr val="1F497D"/>
            </a:solidFill>
            <a:prstDash val="solid"/>
            <a:tailEnd type="triangle" w="med" len="med"/>
          </a:ln>
        </p:spPr>
      </p:cxnSp>
      <p:cxnSp>
        <p:nvCxnSpPr>
          <p:cNvPr id="50015" name="AEGIS_LINK_59"/>
          <p:cNvCxnSpPr>
            <a:stCxn id="50007" idx="3"/>
            <a:endCxn id="50010" idx="1"/>
          </p:cNvCxnSpPr>
          <p:nvPr/>
        </p:nvCxnSpPr>
        <p:spPr>
          <a:xfrm>
            <a:off x="8724900" y="2395538"/>
            <a:ext cx="352425" cy="0"/>
          </a:xfrm>
          <a:prstGeom prst="straightConnector1">
            <a:avLst/>
          </a:prstGeom>
          <a:ln w="23813">
            <a:solidFill>
              <a:srgbClr val="1F497D"/>
            </a:solidFill>
            <a:prstDash val="solid"/>
            <a:tailEnd type="triangle" w="med" len="med"/>
          </a:ln>
        </p:spPr>
      </p:cxnSp>
      <p:sp>
        <p:nvSpPr>
          <p:cNvPr id="50016" name="AEGIS_60">
            <a:extLst>
              <a:ext uri="{FF2B5EF4-FFF2-40B4-BE49-F238E27FC236}">
                <a16:creationId xmlns:a16="http://schemas.microsoft.com/office/drawing/2014/main" id="{9665AD7A-C5B7-45F8-AB8F-DB877A8C05BA}"/>
              </a:ext>
            </a:extLst>
          </p:cNvPr>
          <p:cNvSpPr>
            <a:spLocks noGrp="1"/>
          </p:cNvSpPr>
          <p:nvPr/>
        </p:nvSpPr>
        <p:spPr>
          <a:xfrm>
            <a:off x="1047750" y="2952750"/>
            <a:ext cx="10287000" cy="504825"/>
          </a:xfrm>
          <a:prstGeom prst="rect">
            <a:avLst/>
          </a:prstGeom>
          <a:noFill/>
          <a:ln w="0">
            <a:noFill/>
          </a:ln>
        </p:spPr>
        <p:txBody>
          <a:bodyPr wrap="square" lIns="0" tIns="0" rIns="0" bIns="0">
            <a:noAutofit/>
          </a:bodyPr>
          <a:lstStyle/>
          <a:p>
            <a:pPr>
              <a:defRPr sz="1725" b="0">
                <a:solidFill>
                  <a:srgbClr val="000000"/>
                </a:solidFill>
                <a:latin typeface="Arial"/>
                <a:ea typeface="Arial"/>
                <a:cs typeface="Arial"/>
              </a:defRPr>
            </a:pPr>
            <a:r>
              <a:rPr sz="1725" b="0">
                <a:solidFill>
                  <a:srgbClr val="000000"/>
                </a:solidFill>
                <a:latin typeface="Arial"/>
                <a:ea typeface="Arial"/>
                <a:cs typeface="Arial"/>
              </a:rPr>
              <a:t>Label supply: reviewed public disclosures and authorized VASP data, with source history.</a:t>
            </a:r>
          </a:p>
        </p:txBody>
      </p:sp>
      <p:sp>
        <p:nvSpPr>
          <p:cNvPr id="50017" name="AEGIS_PROMPT_1">
            <a:extLst>
              <a:ext uri="{FF2B5EF4-FFF2-40B4-BE49-F238E27FC236}">
                <a16:creationId xmlns:a16="http://schemas.microsoft.com/office/drawing/2014/main" id="{E2E9B95B-5AA7-4A51-830B-89030E1533A4}"/>
              </a:ext>
            </a:extLst>
          </p:cNvPr>
          <p:cNvSpPr>
            <a:spLocks noGrp="1"/>
          </p:cNvSpPr>
          <p:nvPr/>
        </p:nvSpPr>
        <p:spPr>
          <a:xfrm>
            <a:off x="609600" y="3457575"/>
            <a:ext cx="9385300" cy="45720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Potential challenges and risks</a:t>
            </a:r>
          </a:p>
        </p:txBody>
      </p:sp>
      <p:sp>
        <p:nvSpPr>
          <p:cNvPr id="50018" name="AEGIS_61">
            <a:extLst>
              <a:ext uri="{FF2B5EF4-FFF2-40B4-BE49-F238E27FC236}">
                <a16:creationId xmlns:a16="http://schemas.microsoft.com/office/drawing/2014/main" id="{27915E85-6EC9-4FE1-A05A-9D4CF0B76EE5}"/>
              </a:ext>
            </a:extLst>
          </p:cNvPr>
          <p:cNvSpPr>
            <a:spLocks noGrp="1"/>
          </p:cNvSpPr>
          <p:nvPr/>
        </p:nvSpPr>
        <p:spPr>
          <a:xfrm>
            <a:off x="1047750" y="3962400"/>
            <a:ext cx="10287000" cy="26670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Uncertain labels and flows</a:t>
            </a:r>
          </a:p>
        </p:txBody>
      </p:sp>
      <p:sp>
        <p:nvSpPr>
          <p:cNvPr id="50019" name="AEGIS_62">
            <a:extLst>
              <a:ext uri="{FF2B5EF4-FFF2-40B4-BE49-F238E27FC236}">
                <a16:creationId xmlns:a16="http://schemas.microsoft.com/office/drawing/2014/main" id="{B991A9D1-71F7-429A-A4FC-C15AA3870568}"/>
              </a:ext>
            </a:extLst>
          </p:cNvPr>
          <p:cNvSpPr>
            <a:spLocks noGrp="1"/>
          </p:cNvSpPr>
          <p:nvPr/>
        </p:nvSpPr>
        <p:spPr>
          <a:xfrm>
            <a:off x="1047750" y="4267200"/>
            <a:ext cx="10287000" cy="26670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Provider limits and large histories</a:t>
            </a:r>
          </a:p>
        </p:txBody>
      </p:sp>
      <p:sp>
        <p:nvSpPr>
          <p:cNvPr id="50020" name="AEGIS_63">
            <a:extLst>
              <a:ext uri="{FF2B5EF4-FFF2-40B4-BE49-F238E27FC236}">
                <a16:creationId xmlns:a16="http://schemas.microsoft.com/office/drawing/2014/main" id="{1653DBD8-F4F0-4AEA-BCA5-92250BF6860A}"/>
              </a:ext>
            </a:extLst>
          </p:cNvPr>
          <p:cNvSpPr>
            <a:spLocks noGrp="1"/>
          </p:cNvSpPr>
          <p:nvPr/>
        </p:nvSpPr>
        <p:spPr>
          <a:xfrm>
            <a:off x="1047750" y="4572000"/>
            <a:ext cx="10287000" cy="26670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Sensitive cases and restricted access</a:t>
            </a:r>
          </a:p>
        </p:txBody>
      </p:sp>
      <p:sp>
        <p:nvSpPr>
          <p:cNvPr id="50021" name="AEGIS_PROMPT_2">
            <a:extLst>
              <a:ext uri="{FF2B5EF4-FFF2-40B4-BE49-F238E27FC236}">
                <a16:creationId xmlns:a16="http://schemas.microsoft.com/office/drawing/2014/main" id="{43DBC70A-4F44-45E6-B5A9-CCED7B14A189}"/>
              </a:ext>
            </a:extLst>
          </p:cNvPr>
          <p:cNvSpPr>
            <a:spLocks noGrp="1"/>
          </p:cNvSpPr>
          <p:nvPr/>
        </p:nvSpPr>
        <p:spPr>
          <a:xfrm>
            <a:off x="609600" y="4943475"/>
            <a:ext cx="9385300" cy="45720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28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50022" name="AEGIS_64">
            <a:extLst>
              <a:ext uri="{FF2B5EF4-FFF2-40B4-BE49-F238E27FC236}">
                <a16:creationId xmlns:a16="http://schemas.microsoft.com/office/drawing/2014/main" id="{009F5241-EFF3-4A73-9E4A-BB1FAE20E881}"/>
              </a:ext>
            </a:extLst>
          </p:cNvPr>
          <p:cNvSpPr>
            <a:spLocks noGrp="1"/>
          </p:cNvSpPr>
          <p:nvPr/>
        </p:nvSpPr>
        <p:spPr>
          <a:xfrm>
            <a:off x="1047750" y="5448300"/>
            <a:ext cx="10287000" cy="20955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Version label sources, review clusters and show unresolved paths.</a:t>
            </a:r>
          </a:p>
        </p:txBody>
      </p:sp>
      <p:sp>
        <p:nvSpPr>
          <p:cNvPr id="50023" name="AEGIS_65">
            <a:extLst>
              <a:ext uri="{FF2B5EF4-FFF2-40B4-BE49-F238E27FC236}">
                <a16:creationId xmlns:a16="http://schemas.microsoft.com/office/drawing/2014/main" id="{63D52B3F-B174-41C3-B510-9B7B93D02E38}"/>
              </a:ext>
            </a:extLst>
          </p:cNvPr>
          <p:cNvSpPr>
            <a:spLocks noGrp="1"/>
          </p:cNvSpPr>
          <p:nvPr/>
        </p:nvSpPr>
        <p:spPr>
          <a:xfrm>
            <a:off x="1047750" y="5667375"/>
            <a:ext cx="10287000" cy="20955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Index incrementally, cache queries and bound graph traversal.</a:t>
            </a:r>
          </a:p>
        </p:txBody>
      </p:sp>
      <p:sp>
        <p:nvSpPr>
          <p:cNvPr id="50024" name="AEGIS_66">
            <a:extLst>
              <a:ext uri="{FF2B5EF4-FFF2-40B4-BE49-F238E27FC236}">
                <a16:creationId xmlns:a16="http://schemas.microsoft.com/office/drawing/2014/main" id="{9DAB207A-1553-43F9-83C2-41D3CE11302C}"/>
              </a:ext>
            </a:extLst>
          </p:cNvPr>
          <p:cNvSpPr>
            <a:spLocks noGrp="1"/>
          </p:cNvSpPr>
          <p:nvPr/>
        </p:nvSpPr>
        <p:spPr>
          <a:xfrm>
            <a:off x="1047750" y="5886450"/>
            <a:ext cx="10287000" cy="20955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Role-based permissions, audit logs and approved NCRP/SAHYOG APIs.</a:t>
            </a:r>
          </a:p>
        </p:txBody>
      </p:sp>
      <p:sp>
        <p:nvSpPr>
          <p:cNvPr id="50025" name="AEGIS_67">
            <a:extLst>
              <a:ext uri="{FF2B5EF4-FFF2-40B4-BE49-F238E27FC236}">
                <a16:creationId xmlns:a16="http://schemas.microsoft.com/office/drawing/2014/main" id="{CFA4AD2B-ED58-4EF1-A0A3-70E0CA1FE590}"/>
              </a:ext>
            </a:extLst>
          </p:cNvPr>
          <p:cNvSpPr>
            <a:spLocks noGrp="1"/>
          </p:cNvSpPr>
          <p:nvPr/>
        </p:nvSpPr>
        <p:spPr>
          <a:xfrm>
            <a:off x="1047750" y="6115050"/>
            <a:ext cx="1028700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Validation: held-out labelled paths and hard negatives. Measure precision, coverage and alert latency.</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9A53144B-B358-43CE-BA04-BDF9727FE06D}"/>
              </a:ext>
            </a:extLst>
          </p:cNvPr>
          <p:cNvSpPr>
            <a:spLocks noGrp="1"/>
          </p:cNvSpPr>
          <p:nvPr/>
        </p:nvSpPr>
        <p:spPr>
          <a:xfrm>
            <a:off x="609600" y="1485900"/>
            <a:ext cx="9385300" cy="45720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Potential impact on the target audience</a:t>
            </a:r>
          </a:p>
        </p:txBody>
      </p:sp>
      <p:sp>
        <p:nvSpPr>
          <p:cNvPr id="50001" name="AEGIS_68">
            <a:extLst>
              <a:ext uri="{FF2B5EF4-FFF2-40B4-BE49-F238E27FC236}">
                <a16:creationId xmlns:a16="http://schemas.microsoft.com/office/drawing/2014/main" id="{35CDCC34-7696-4BB3-8666-AC519421F326}"/>
              </a:ext>
            </a:extLst>
          </p:cNvPr>
          <p:cNvSpPr>
            <a:spLocks noGrp="1"/>
          </p:cNvSpPr>
          <p:nvPr/>
        </p:nvSpPr>
        <p:spPr>
          <a:xfrm>
            <a:off x="1047750" y="2000250"/>
            <a:ext cx="10287000" cy="276225"/>
          </a:xfrm>
          <a:prstGeom prst="rect">
            <a:avLst/>
          </a:prstGeom>
          <a:noFill/>
          <a:ln w="0">
            <a:noFill/>
          </a:ln>
        </p:spPr>
        <p:txBody>
          <a:bodyPr wrap="square" lIns="0" tIns="0" rIns="0" bIns="0">
            <a:noAutofit/>
          </a:bodyPr>
          <a:lstStyle/>
          <a:p>
            <a:pPr>
              <a:defRPr sz="1725" b="0">
                <a:solidFill>
                  <a:srgbClr val="000000"/>
                </a:solidFill>
                <a:latin typeface="Arial"/>
                <a:ea typeface="Arial"/>
                <a:cs typeface="Arial"/>
              </a:defRPr>
            </a:pPr>
            <a:r>
              <a:rPr sz="1725" b="0">
                <a:solidFill>
                  <a:srgbClr val="000000"/>
                </a:solidFill>
                <a:latin typeface="Arial"/>
                <a:ea typeface="Arial"/>
                <a:cs typeface="Arial"/>
              </a:rPr>
              <a:t>Investigators will receive a prioritized receiving-VASP lead with a reviewable fund trail.</a:t>
            </a:r>
          </a:p>
        </p:txBody>
      </p:sp>
      <p:sp>
        <p:nvSpPr>
          <p:cNvPr id="50002" name="AEGIS_69">
            <a:extLst>
              <a:ext uri="{FF2B5EF4-FFF2-40B4-BE49-F238E27FC236}">
                <a16:creationId xmlns:a16="http://schemas.microsoft.com/office/drawing/2014/main" id="{A72956EF-BD23-4D10-AD2A-71A1A2CDEEB2}"/>
              </a:ext>
            </a:extLst>
          </p:cNvPr>
          <p:cNvSpPr>
            <a:spLocks noGrp="1"/>
          </p:cNvSpPr>
          <p:nvPr/>
        </p:nvSpPr>
        <p:spPr>
          <a:xfrm>
            <a:off x="1047750" y="2352675"/>
            <a:ext cx="102870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Illustrative investigation</a:t>
            </a:r>
          </a:p>
        </p:txBody>
      </p:sp>
      <p:sp>
        <p:nvSpPr>
          <p:cNvPr id="50003" name="AEGIS_NODE_70">
            <a:extLst>
              <a:ext uri="{FF2B5EF4-FFF2-40B4-BE49-F238E27FC236}">
                <a16:creationId xmlns:a16="http://schemas.microsoft.com/office/drawing/2014/main" id="{08576CF3-8E2A-4C05-85D6-0AE72A5BA9B6}"/>
              </a:ext>
            </a:extLst>
          </p:cNvPr>
          <p:cNvSpPr>
            <a:spLocks noGrp="1"/>
          </p:cNvSpPr>
          <p:nvPr/>
        </p:nvSpPr>
        <p:spPr>
          <a:xfrm>
            <a:off x="1047750" y="2809875"/>
            <a:ext cx="2324100" cy="666750"/>
          </a:xfrm>
          <a:prstGeom prst="rect">
            <a:avLst/>
          </a:prstGeom>
          <a:solidFill>
            <a:srgbClr val="FFFFFF"/>
          </a:solidFill>
          <a:ln w="16193">
            <a:solidFill>
              <a:srgbClr val="1F497D"/>
            </a:solidFill>
          </a:ln>
        </p:spPr>
        <p:txBody>
          <a:bodyPr lIns="85725" tIns="66675" rIns="85725" bIns="66675" anchor="ctr"/>
          <a:lstStyle/>
          <a:p>
            <a:r>
              <a:t/>
            </a:r>
          </a:p>
        </p:txBody>
      </p:sp>
      <p:sp>
        <p:nvSpPr>
          <p:cNvPr id="50004" name="AEGIS_71">
            <a:extLst>
              <a:ext uri="{FF2B5EF4-FFF2-40B4-BE49-F238E27FC236}">
                <a16:creationId xmlns:a16="http://schemas.microsoft.com/office/drawing/2014/main" id="{D78A50FC-F551-4377-AE8A-A746C97FF008}"/>
              </a:ext>
            </a:extLst>
          </p:cNvPr>
          <p:cNvSpPr>
            <a:spLocks noGrp="1"/>
          </p:cNvSpPr>
          <p:nvPr/>
        </p:nvSpPr>
        <p:spPr>
          <a:xfrm>
            <a:off x="1104900" y="28860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Wallet A</a:t>
            </a:r>
          </a:p>
        </p:txBody>
      </p:sp>
      <p:sp>
        <p:nvSpPr>
          <p:cNvPr id="50005" name="AEGIS_72">
            <a:extLst>
              <a:ext uri="{FF2B5EF4-FFF2-40B4-BE49-F238E27FC236}">
                <a16:creationId xmlns:a16="http://schemas.microsoft.com/office/drawing/2014/main" id="{872D86AF-DEDC-4550-8231-F43DE3B94236}"/>
              </a:ext>
            </a:extLst>
          </p:cNvPr>
          <p:cNvSpPr>
            <a:spLocks noGrp="1"/>
          </p:cNvSpPr>
          <p:nvPr/>
        </p:nvSpPr>
        <p:spPr>
          <a:xfrm>
            <a:off x="1104900" y="3124200"/>
            <a:ext cx="2209800" cy="333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Reported address</a:t>
            </a:r>
          </a:p>
        </p:txBody>
      </p:sp>
      <p:sp>
        <p:nvSpPr>
          <p:cNvPr id="50006" name="AEGIS_NODE_73">
            <a:extLst>
              <a:ext uri="{FF2B5EF4-FFF2-40B4-BE49-F238E27FC236}">
                <a16:creationId xmlns:a16="http://schemas.microsoft.com/office/drawing/2014/main" id="{450C4847-F4FD-4866-ABA2-DE6F16F8E3CD}"/>
              </a:ext>
            </a:extLst>
          </p:cNvPr>
          <p:cNvSpPr>
            <a:spLocks noGrp="1"/>
          </p:cNvSpPr>
          <p:nvPr/>
        </p:nvSpPr>
        <p:spPr>
          <a:xfrm>
            <a:off x="3724275" y="2809875"/>
            <a:ext cx="2324100" cy="666750"/>
          </a:xfrm>
          <a:prstGeom prst="rect">
            <a:avLst/>
          </a:prstGeom>
          <a:solidFill>
            <a:srgbClr val="FFFFFF"/>
          </a:solidFill>
          <a:ln w="16193">
            <a:solidFill>
              <a:srgbClr val="1F497D"/>
            </a:solidFill>
          </a:ln>
        </p:spPr>
        <p:txBody>
          <a:bodyPr lIns="85725" tIns="66675" rIns="85725" bIns="66675" anchor="ctr"/>
          <a:lstStyle/>
          <a:p>
            <a:r>
              <a:t/>
            </a:r>
          </a:p>
        </p:txBody>
      </p:sp>
      <p:sp>
        <p:nvSpPr>
          <p:cNvPr id="50007" name="AEGIS_74">
            <a:extLst>
              <a:ext uri="{FF2B5EF4-FFF2-40B4-BE49-F238E27FC236}">
                <a16:creationId xmlns:a16="http://schemas.microsoft.com/office/drawing/2014/main" id="{FC559A07-C6AF-40F8-929F-2B0EEAA2666D}"/>
              </a:ext>
            </a:extLst>
          </p:cNvPr>
          <p:cNvSpPr>
            <a:spLocks noGrp="1"/>
          </p:cNvSpPr>
          <p:nvPr/>
        </p:nvSpPr>
        <p:spPr>
          <a:xfrm>
            <a:off x="3781425" y="28860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Wallet B</a:t>
            </a:r>
          </a:p>
        </p:txBody>
      </p:sp>
      <p:sp>
        <p:nvSpPr>
          <p:cNvPr id="50008" name="AEGIS_75">
            <a:extLst>
              <a:ext uri="{FF2B5EF4-FFF2-40B4-BE49-F238E27FC236}">
                <a16:creationId xmlns:a16="http://schemas.microsoft.com/office/drawing/2014/main" id="{3650EE77-0F77-4792-9A4B-205C371F0432}"/>
              </a:ext>
            </a:extLst>
          </p:cNvPr>
          <p:cNvSpPr>
            <a:spLocks noGrp="1"/>
          </p:cNvSpPr>
          <p:nvPr/>
        </p:nvSpPr>
        <p:spPr>
          <a:xfrm>
            <a:off x="3781425" y="3124200"/>
            <a:ext cx="2209800" cy="333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Intermediary</a:t>
            </a:r>
          </a:p>
        </p:txBody>
      </p:sp>
      <p:sp>
        <p:nvSpPr>
          <p:cNvPr id="50009" name="AEGIS_NODE_76">
            <a:extLst>
              <a:ext uri="{FF2B5EF4-FFF2-40B4-BE49-F238E27FC236}">
                <a16:creationId xmlns:a16="http://schemas.microsoft.com/office/drawing/2014/main" id="{A5D98E6B-2E5E-4F2A-AFA7-0666F0BC5AC8}"/>
              </a:ext>
            </a:extLst>
          </p:cNvPr>
          <p:cNvSpPr>
            <a:spLocks noGrp="1"/>
          </p:cNvSpPr>
          <p:nvPr/>
        </p:nvSpPr>
        <p:spPr>
          <a:xfrm>
            <a:off x="6400800" y="2809875"/>
            <a:ext cx="2324100" cy="666750"/>
          </a:xfrm>
          <a:prstGeom prst="rect">
            <a:avLst/>
          </a:prstGeom>
          <a:solidFill>
            <a:srgbClr val="FFFFFF"/>
          </a:solidFill>
          <a:ln w="16193">
            <a:solidFill>
              <a:srgbClr val="1F497D"/>
            </a:solidFill>
          </a:ln>
        </p:spPr>
        <p:txBody>
          <a:bodyPr lIns="85725" tIns="66675" rIns="85725" bIns="66675" anchor="ctr"/>
          <a:lstStyle/>
          <a:p>
            <a:r>
              <a:t/>
            </a:r>
          </a:p>
        </p:txBody>
      </p:sp>
      <p:sp>
        <p:nvSpPr>
          <p:cNvPr id="50010" name="AEGIS_77">
            <a:extLst>
              <a:ext uri="{FF2B5EF4-FFF2-40B4-BE49-F238E27FC236}">
                <a16:creationId xmlns:a16="http://schemas.microsoft.com/office/drawing/2014/main" id="{96427B1C-2EE8-43E0-A54A-73EC5AEA8073}"/>
              </a:ext>
            </a:extLst>
          </p:cNvPr>
          <p:cNvSpPr>
            <a:spLocks noGrp="1"/>
          </p:cNvSpPr>
          <p:nvPr/>
        </p:nvSpPr>
        <p:spPr>
          <a:xfrm>
            <a:off x="6457950" y="28860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Deposit address</a:t>
            </a:r>
          </a:p>
        </p:txBody>
      </p:sp>
      <p:sp>
        <p:nvSpPr>
          <p:cNvPr id="50011" name="AEGIS_78">
            <a:extLst>
              <a:ext uri="{FF2B5EF4-FFF2-40B4-BE49-F238E27FC236}">
                <a16:creationId xmlns:a16="http://schemas.microsoft.com/office/drawing/2014/main" id="{629F1F08-F036-4817-A824-C00E80CABD0D}"/>
              </a:ext>
            </a:extLst>
          </p:cNvPr>
          <p:cNvSpPr>
            <a:spLocks noGrp="1"/>
          </p:cNvSpPr>
          <p:nvPr/>
        </p:nvSpPr>
        <p:spPr>
          <a:xfrm>
            <a:off x="6457950" y="3124200"/>
            <a:ext cx="2209800" cy="333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Sourced VASP label</a:t>
            </a:r>
          </a:p>
        </p:txBody>
      </p:sp>
      <p:sp>
        <p:nvSpPr>
          <p:cNvPr id="50012" name="AEGIS_NODE_79">
            <a:extLst>
              <a:ext uri="{FF2B5EF4-FFF2-40B4-BE49-F238E27FC236}">
                <a16:creationId xmlns:a16="http://schemas.microsoft.com/office/drawing/2014/main" id="{E8C4D6AB-F626-4E60-89BF-CB4A670FA5B3}"/>
              </a:ext>
            </a:extLst>
          </p:cNvPr>
          <p:cNvSpPr>
            <a:spLocks noGrp="1"/>
          </p:cNvSpPr>
          <p:nvPr/>
        </p:nvSpPr>
        <p:spPr>
          <a:xfrm>
            <a:off x="9077325" y="2809875"/>
            <a:ext cx="2324100" cy="666750"/>
          </a:xfrm>
          <a:prstGeom prst="rect">
            <a:avLst/>
          </a:prstGeom>
          <a:solidFill>
            <a:srgbClr val="FFFFFF"/>
          </a:solidFill>
          <a:ln w="16193">
            <a:solidFill>
              <a:srgbClr val="1F497D"/>
            </a:solidFill>
          </a:ln>
        </p:spPr>
        <p:txBody>
          <a:bodyPr lIns="85725" tIns="66675" rIns="85725" bIns="66675" anchor="ctr"/>
          <a:lstStyle/>
          <a:p>
            <a:r>
              <a:t/>
            </a:r>
          </a:p>
        </p:txBody>
      </p:sp>
      <p:sp>
        <p:nvSpPr>
          <p:cNvPr id="50013" name="AEGIS_80">
            <a:extLst>
              <a:ext uri="{FF2B5EF4-FFF2-40B4-BE49-F238E27FC236}">
                <a16:creationId xmlns:a16="http://schemas.microsoft.com/office/drawing/2014/main" id="{5D094537-D975-438B-A1CA-01C2F82C835C}"/>
              </a:ext>
            </a:extLst>
          </p:cNvPr>
          <p:cNvSpPr>
            <a:spLocks noGrp="1"/>
          </p:cNvSpPr>
          <p:nvPr/>
        </p:nvSpPr>
        <p:spPr>
          <a:xfrm>
            <a:off x="9134475" y="28860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VASP X</a:t>
            </a:r>
          </a:p>
        </p:txBody>
      </p:sp>
      <p:sp>
        <p:nvSpPr>
          <p:cNvPr id="50014" name="AEGIS_81">
            <a:extLst>
              <a:ext uri="{FF2B5EF4-FFF2-40B4-BE49-F238E27FC236}">
                <a16:creationId xmlns:a16="http://schemas.microsoft.com/office/drawing/2014/main" id="{31647390-0342-4658-BDB0-D070A0F0D9F8}"/>
              </a:ext>
            </a:extLst>
          </p:cNvPr>
          <p:cNvSpPr>
            <a:spLocks noGrp="1"/>
          </p:cNvSpPr>
          <p:nvPr/>
        </p:nvSpPr>
        <p:spPr>
          <a:xfrm>
            <a:off x="9134475" y="3124200"/>
            <a:ext cx="2209800" cy="333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Receiving candidate</a:t>
            </a:r>
          </a:p>
        </p:txBody>
      </p:sp>
      <p:cxnSp>
        <p:nvCxnSpPr>
          <p:cNvPr id="50015" name="AEGIS_LINK_82"/>
          <p:cNvCxnSpPr>
            <a:stCxn id="50003" idx="3"/>
            <a:endCxn id="50006" idx="1"/>
          </p:cNvCxnSpPr>
          <p:nvPr/>
        </p:nvCxnSpPr>
        <p:spPr>
          <a:xfrm>
            <a:off x="3371850" y="3143250"/>
            <a:ext cx="352425" cy="0"/>
          </a:xfrm>
          <a:prstGeom prst="straightConnector1">
            <a:avLst/>
          </a:prstGeom>
          <a:ln w="23813">
            <a:solidFill>
              <a:srgbClr val="1F497D"/>
            </a:solidFill>
            <a:prstDash val="solid"/>
            <a:tailEnd type="triangle" w="med" len="med"/>
          </a:ln>
        </p:spPr>
      </p:cxnSp>
      <p:cxnSp>
        <p:nvCxnSpPr>
          <p:cNvPr id="50016" name="AEGIS_LINK_83"/>
          <p:cNvCxnSpPr>
            <a:stCxn id="50006" idx="3"/>
            <a:endCxn id="50009" idx="1"/>
          </p:cNvCxnSpPr>
          <p:nvPr/>
        </p:nvCxnSpPr>
        <p:spPr>
          <a:xfrm>
            <a:off x="6048375" y="3143250"/>
            <a:ext cx="352425" cy="0"/>
          </a:xfrm>
          <a:prstGeom prst="straightConnector1">
            <a:avLst/>
          </a:prstGeom>
          <a:ln w="23813">
            <a:solidFill>
              <a:srgbClr val="1F497D"/>
            </a:solidFill>
            <a:prstDash val="solid"/>
            <a:tailEnd type="triangle" w="med" len="med"/>
          </a:ln>
        </p:spPr>
      </p:cxnSp>
      <p:cxnSp>
        <p:nvCxnSpPr>
          <p:cNvPr id="50017" name="AEGIS_LINK_84"/>
          <p:cNvCxnSpPr>
            <a:stCxn id="50009" idx="3"/>
            <a:endCxn id="50012" idx="1"/>
          </p:cNvCxnSpPr>
          <p:nvPr/>
        </p:nvCxnSpPr>
        <p:spPr>
          <a:xfrm>
            <a:off x="8724900" y="3143250"/>
            <a:ext cx="352425" cy="0"/>
          </a:xfrm>
          <a:prstGeom prst="straightConnector1">
            <a:avLst/>
          </a:prstGeom>
          <a:ln w="23813">
            <a:solidFill>
              <a:srgbClr val="1F497D"/>
            </a:solidFill>
            <a:prstDash val="dash"/>
            <a:tailEnd type="triangle" w="med" len="med"/>
          </a:ln>
        </p:spPr>
      </p:cxnSp>
      <p:sp>
        <p:nvSpPr>
          <p:cNvPr id="50018" name="AEGIS_85">
            <a:extLst>
              <a:ext uri="{FF2B5EF4-FFF2-40B4-BE49-F238E27FC236}">
                <a16:creationId xmlns:a16="http://schemas.microsoft.com/office/drawing/2014/main" id="{250260A2-04FA-4877-8C54-B7AE048E398F}"/>
              </a:ext>
            </a:extLst>
          </p:cNvPr>
          <p:cNvSpPr>
            <a:spLocks noGrp="1"/>
          </p:cNvSpPr>
          <p:nvPr/>
        </p:nvSpPr>
        <p:spPr>
          <a:xfrm>
            <a:off x="3000375" y="2609850"/>
            <a:ext cx="1428750" cy="20002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Transaction 1</a:t>
            </a:r>
          </a:p>
        </p:txBody>
      </p:sp>
      <p:sp>
        <p:nvSpPr>
          <p:cNvPr id="50019" name="AEGIS_86">
            <a:extLst>
              <a:ext uri="{FF2B5EF4-FFF2-40B4-BE49-F238E27FC236}">
                <a16:creationId xmlns:a16="http://schemas.microsoft.com/office/drawing/2014/main" id="{ED2526A8-A31D-4CE7-85C2-08608AC6EA0E}"/>
              </a:ext>
            </a:extLst>
          </p:cNvPr>
          <p:cNvSpPr>
            <a:spLocks noGrp="1"/>
          </p:cNvSpPr>
          <p:nvPr/>
        </p:nvSpPr>
        <p:spPr>
          <a:xfrm>
            <a:off x="5676900" y="2609850"/>
            <a:ext cx="1428750" cy="20002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Transaction 2</a:t>
            </a:r>
          </a:p>
        </p:txBody>
      </p:sp>
      <p:sp>
        <p:nvSpPr>
          <p:cNvPr id="50020" name="AEGIS_87">
            <a:extLst>
              <a:ext uri="{FF2B5EF4-FFF2-40B4-BE49-F238E27FC236}">
                <a16:creationId xmlns:a16="http://schemas.microsoft.com/office/drawing/2014/main" id="{F7ACE289-448A-4274-BE53-461E7A7DD06E}"/>
              </a:ext>
            </a:extLst>
          </p:cNvPr>
          <p:cNvSpPr>
            <a:spLocks noGrp="1"/>
          </p:cNvSpPr>
          <p:nvPr/>
        </p:nvSpPr>
        <p:spPr>
          <a:xfrm>
            <a:off x="8505825" y="2609850"/>
            <a:ext cx="1428750" cy="20002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Attribution</a:t>
            </a:r>
          </a:p>
        </p:txBody>
      </p:sp>
      <p:sp>
        <p:nvSpPr>
          <p:cNvPr id="50021" name="AEGIS_88">
            <a:extLst>
              <a:ext uri="{FF2B5EF4-FFF2-40B4-BE49-F238E27FC236}">
                <a16:creationId xmlns:a16="http://schemas.microsoft.com/office/drawing/2014/main" id="{38439E5A-F76F-4C2C-96C4-D514E58F9F4A}"/>
              </a:ext>
            </a:extLst>
          </p:cNvPr>
          <p:cNvSpPr>
            <a:spLocks noGrp="1"/>
          </p:cNvSpPr>
          <p:nvPr/>
        </p:nvSpPr>
        <p:spPr>
          <a:xfrm>
            <a:off x="1047750" y="3629025"/>
            <a:ext cx="12382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Finding</a:t>
            </a:r>
          </a:p>
        </p:txBody>
      </p:sp>
      <p:sp>
        <p:nvSpPr>
          <p:cNvPr id="50022" name="AEGIS_89">
            <a:extLst>
              <a:ext uri="{FF2B5EF4-FFF2-40B4-BE49-F238E27FC236}">
                <a16:creationId xmlns:a16="http://schemas.microsoft.com/office/drawing/2014/main" id="{635B1E0C-2126-4910-B155-9B4B505422FD}"/>
              </a:ext>
            </a:extLst>
          </p:cNvPr>
          <p:cNvSpPr>
            <a:spLocks noGrp="1"/>
          </p:cNvSpPr>
          <p:nvPr/>
        </p:nvSpPr>
        <p:spPr>
          <a:xfrm>
            <a:off x="2371725" y="3629025"/>
            <a:ext cx="9191625" cy="23812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Two-hop path, transaction IDs, amounts, timestamps and label source.</a:t>
            </a:r>
          </a:p>
        </p:txBody>
      </p:sp>
      <p:sp>
        <p:nvSpPr>
          <p:cNvPr id="50023" name="AEGIS_90">
            <a:extLst>
              <a:ext uri="{FF2B5EF4-FFF2-40B4-BE49-F238E27FC236}">
                <a16:creationId xmlns:a16="http://schemas.microsoft.com/office/drawing/2014/main" id="{461E0E46-46FC-4248-8E2D-5CB0830256EB}"/>
              </a:ext>
            </a:extLst>
          </p:cNvPr>
          <p:cNvSpPr>
            <a:spLocks noGrp="1"/>
          </p:cNvSpPr>
          <p:nvPr/>
        </p:nvSpPr>
        <p:spPr>
          <a:xfrm>
            <a:off x="1047750" y="3971925"/>
            <a:ext cx="12382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Next action</a:t>
            </a:r>
          </a:p>
        </p:txBody>
      </p:sp>
      <p:sp>
        <p:nvSpPr>
          <p:cNvPr id="50024" name="AEGIS_91">
            <a:extLst>
              <a:ext uri="{FF2B5EF4-FFF2-40B4-BE49-F238E27FC236}">
                <a16:creationId xmlns:a16="http://schemas.microsoft.com/office/drawing/2014/main" id="{750851C5-8C63-40B7-A4B5-F3F27C1D740B}"/>
              </a:ext>
            </a:extLst>
          </p:cNvPr>
          <p:cNvSpPr>
            <a:spLocks noGrp="1"/>
          </p:cNvSpPr>
          <p:nvPr/>
        </p:nvSpPr>
        <p:spPr>
          <a:xfrm>
            <a:off x="2371725" y="3971925"/>
            <a:ext cx="9191625" cy="23812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Investigator reviews the lead and prepares a VASP preservation request.</a:t>
            </a:r>
          </a:p>
        </p:txBody>
      </p:sp>
      <p:sp>
        <p:nvSpPr>
          <p:cNvPr id="50025" name="AEGIS_92">
            <a:extLst>
              <a:ext uri="{FF2B5EF4-FFF2-40B4-BE49-F238E27FC236}">
                <a16:creationId xmlns:a16="http://schemas.microsoft.com/office/drawing/2014/main" id="{2C7C52CD-BF5E-4D23-AB60-74666281C394}"/>
              </a:ext>
            </a:extLst>
          </p:cNvPr>
          <p:cNvSpPr>
            <a:spLocks noGrp="1"/>
          </p:cNvSpPr>
          <p:nvPr/>
        </p:nvSpPr>
        <p:spPr>
          <a:xfrm>
            <a:off x="1047750" y="4371975"/>
            <a:ext cx="10477500" cy="257175"/>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Fictional illustration. Transaction paths alone do not prove exact fund continuity or wrongdoing.</a:t>
            </a:r>
          </a:p>
        </p:txBody>
      </p:sp>
      <p:sp>
        <p:nvSpPr>
          <p:cNvPr id="50026" name="AEGIS_PROMPT_1">
            <a:extLst>
              <a:ext uri="{FF2B5EF4-FFF2-40B4-BE49-F238E27FC236}">
                <a16:creationId xmlns:a16="http://schemas.microsoft.com/office/drawing/2014/main" id="{9E599FD7-BC53-4276-85A6-0709CB938541}"/>
              </a:ext>
            </a:extLst>
          </p:cNvPr>
          <p:cNvSpPr>
            <a:spLocks noGrp="1"/>
          </p:cNvSpPr>
          <p:nvPr/>
        </p:nvSpPr>
        <p:spPr>
          <a:xfrm>
            <a:off x="609600" y="4733925"/>
            <a:ext cx="9385300" cy="847725"/>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Benefits of the solution (social, economic, environmental, etc.)</a:t>
            </a:r>
          </a:p>
        </p:txBody>
      </p:sp>
      <p:sp>
        <p:nvSpPr>
          <p:cNvPr id="50027" name="AEGIS_93">
            <a:extLst>
              <a:ext uri="{FF2B5EF4-FFF2-40B4-BE49-F238E27FC236}">
                <a16:creationId xmlns:a16="http://schemas.microsoft.com/office/drawing/2014/main" id="{8C78AA9F-1A8C-4135-A7A6-D5A2E1BFCAB8}"/>
              </a:ext>
            </a:extLst>
          </p:cNvPr>
          <p:cNvSpPr>
            <a:spLocks noGrp="1"/>
          </p:cNvSpPr>
          <p:nvPr/>
        </p:nvSpPr>
        <p:spPr>
          <a:xfrm>
            <a:off x="1047750" y="5715000"/>
            <a:ext cx="32385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Social</a:t>
            </a:r>
          </a:p>
        </p:txBody>
      </p:sp>
      <p:sp>
        <p:nvSpPr>
          <p:cNvPr id="50028" name="AEGIS_94">
            <a:extLst>
              <a:ext uri="{FF2B5EF4-FFF2-40B4-BE49-F238E27FC236}">
                <a16:creationId xmlns:a16="http://schemas.microsoft.com/office/drawing/2014/main" id="{155B1C1C-313A-4662-8048-03F5510B264F}"/>
              </a:ext>
            </a:extLst>
          </p:cNvPr>
          <p:cNvSpPr>
            <a:spLocks noGrp="1"/>
          </p:cNvSpPr>
          <p:nvPr/>
        </p:nvSpPr>
        <p:spPr>
          <a:xfrm>
            <a:off x="1047750" y="6029325"/>
            <a:ext cx="3333750" cy="25717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Support timely intervention</a:t>
            </a:r>
          </a:p>
        </p:txBody>
      </p:sp>
      <p:sp>
        <p:nvSpPr>
          <p:cNvPr id="50029" name="AEGIS_95">
            <a:extLst>
              <a:ext uri="{FF2B5EF4-FFF2-40B4-BE49-F238E27FC236}">
                <a16:creationId xmlns:a16="http://schemas.microsoft.com/office/drawing/2014/main" id="{DDC48ADC-4D77-413D-A7E6-BD361328FD1F}"/>
              </a:ext>
            </a:extLst>
          </p:cNvPr>
          <p:cNvSpPr>
            <a:spLocks noGrp="1"/>
          </p:cNvSpPr>
          <p:nvPr/>
        </p:nvSpPr>
        <p:spPr>
          <a:xfrm>
            <a:off x="4600575" y="5715000"/>
            <a:ext cx="32385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Economic</a:t>
            </a:r>
          </a:p>
        </p:txBody>
      </p:sp>
      <p:sp>
        <p:nvSpPr>
          <p:cNvPr id="50030" name="AEGIS_96">
            <a:extLst>
              <a:ext uri="{FF2B5EF4-FFF2-40B4-BE49-F238E27FC236}">
                <a16:creationId xmlns:a16="http://schemas.microsoft.com/office/drawing/2014/main" id="{40618185-ADF9-4C5A-BCDA-AC697B0E9483}"/>
              </a:ext>
            </a:extLst>
          </p:cNvPr>
          <p:cNvSpPr>
            <a:spLocks noGrp="1"/>
          </p:cNvSpPr>
          <p:nvPr/>
        </p:nvSpPr>
        <p:spPr>
          <a:xfrm>
            <a:off x="4600575" y="6029325"/>
            <a:ext cx="3333750" cy="25717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Reduce repeated tracing work</a:t>
            </a:r>
          </a:p>
        </p:txBody>
      </p:sp>
      <p:sp>
        <p:nvSpPr>
          <p:cNvPr id="50031" name="AEGIS_97">
            <a:extLst>
              <a:ext uri="{FF2B5EF4-FFF2-40B4-BE49-F238E27FC236}">
                <a16:creationId xmlns:a16="http://schemas.microsoft.com/office/drawing/2014/main" id="{531045FB-CF82-49FB-8F85-FC56E5AFA1BB}"/>
              </a:ext>
            </a:extLst>
          </p:cNvPr>
          <p:cNvSpPr>
            <a:spLocks noGrp="1"/>
          </p:cNvSpPr>
          <p:nvPr/>
        </p:nvSpPr>
        <p:spPr>
          <a:xfrm>
            <a:off x="8248650" y="5715000"/>
            <a:ext cx="32385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Operational</a:t>
            </a:r>
          </a:p>
        </p:txBody>
      </p:sp>
      <p:sp>
        <p:nvSpPr>
          <p:cNvPr id="50032" name="AEGIS_98">
            <a:extLst>
              <a:ext uri="{FF2B5EF4-FFF2-40B4-BE49-F238E27FC236}">
                <a16:creationId xmlns:a16="http://schemas.microsoft.com/office/drawing/2014/main" id="{2152DD06-39AA-49DC-B236-41BA941494E5}"/>
              </a:ext>
            </a:extLst>
          </p:cNvPr>
          <p:cNvSpPr>
            <a:spLocks noGrp="1"/>
          </p:cNvSpPr>
          <p:nvPr/>
        </p:nvSpPr>
        <p:spPr>
          <a:xfrm>
            <a:off x="8248650" y="6029325"/>
            <a:ext cx="3333750" cy="25717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Standardize VASP coordination</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35595364-6624-404D-9092-E1CD815E2318}"/>
              </a:ext>
            </a:extLst>
          </p:cNvPr>
          <p:cNvSpPr>
            <a:spLocks noGrp="1"/>
          </p:cNvSpPr>
          <p:nvPr/>
        </p:nvSpPr>
        <p:spPr>
          <a:xfrm>
            <a:off x="609600" y="1714500"/>
            <a:ext cx="9385300" cy="466725"/>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50001" name="AEGIS_99">
            <a:extLst>
              <a:ext uri="{FF2B5EF4-FFF2-40B4-BE49-F238E27FC236}">
                <a16:creationId xmlns:a16="http://schemas.microsoft.com/office/drawing/2014/main" id="{41C4BD0E-32A3-4B9E-8DA8-4AA6506060B6}"/>
              </a:ext>
            </a:extLst>
          </p:cNvPr>
          <p:cNvSpPr>
            <a:spLocks noGrp="1"/>
          </p:cNvSpPr>
          <p:nvPr/>
        </p:nvSpPr>
        <p:spPr>
          <a:xfrm>
            <a:off x="1047750" y="240982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Address clustering</a:t>
            </a:r>
          </a:p>
        </p:txBody>
      </p:sp>
      <p:sp>
        <p:nvSpPr>
          <p:cNvPr id="50002" name="AEGIS_100">
            <a:extLst>
              <a:ext uri="{FF2B5EF4-FFF2-40B4-BE49-F238E27FC236}">
                <a16:creationId xmlns:a16="http://schemas.microsoft.com/office/drawing/2014/main" id="{8099BA84-7141-4305-88E8-2E9C6905EE65}"/>
              </a:ext>
            </a:extLst>
          </p:cNvPr>
          <p:cNvSpPr>
            <a:spLocks noGrp="1"/>
          </p:cNvSpPr>
          <p:nvPr/>
        </p:nvSpPr>
        <p:spPr>
          <a:xfrm>
            <a:off x="3190875" y="240982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Meiklejohn et al. (2013), A Fistful of Bitcoins: Characterizing Payments Among Men with No Names.</a:t>
            </a:r>
          </a:p>
        </p:txBody>
      </p:sp>
      <p:sp>
        <p:nvSpPr>
          <p:cNvPr id="50003" name="AEGIS_101">
            <a:extLst>
              <a:ext uri="{FF2B5EF4-FFF2-40B4-BE49-F238E27FC236}">
                <a16:creationId xmlns:a16="http://schemas.microsoft.com/office/drawing/2014/main" id="{0CAD6785-F359-4A07-98C8-BD958146706A}"/>
              </a:ext>
            </a:extLst>
          </p:cNvPr>
          <p:cNvSpPr>
            <a:spLocks noGrp="1"/>
          </p:cNvSpPr>
          <p:nvPr/>
        </p:nvSpPr>
        <p:spPr>
          <a:xfrm>
            <a:off x="3190875" y="281940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1"/>
              </a:rPr>
              <a:t>ACM IMC paper</a:t>
            </a:r>
          </a:p>
        </p:txBody>
      </p:sp>
      <p:sp>
        <p:nvSpPr>
          <p:cNvPr id="50004" name="AEGIS_102">
            <a:extLst>
              <a:ext uri="{FF2B5EF4-FFF2-40B4-BE49-F238E27FC236}">
                <a16:creationId xmlns:a16="http://schemas.microsoft.com/office/drawing/2014/main" id="{ACBD3959-A0C0-4AD2-8D83-A2ACBEA0820B}"/>
              </a:ext>
            </a:extLst>
          </p:cNvPr>
          <p:cNvSpPr>
            <a:spLocks noGrp="1"/>
          </p:cNvSpPr>
          <p:nvPr/>
        </p:nvSpPr>
        <p:spPr>
          <a:xfrm>
            <a:off x="1047750" y="303847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ML-assisted analysis</a:t>
            </a:r>
          </a:p>
        </p:txBody>
      </p:sp>
      <p:sp>
        <p:nvSpPr>
          <p:cNvPr id="50005" name="AEGIS_103">
            <a:extLst>
              <a:ext uri="{FF2B5EF4-FFF2-40B4-BE49-F238E27FC236}">
                <a16:creationId xmlns:a16="http://schemas.microsoft.com/office/drawing/2014/main" id="{F4F3DDF6-D980-4187-A773-B6AA9DA2E938}"/>
              </a:ext>
            </a:extLst>
          </p:cNvPr>
          <p:cNvSpPr>
            <a:spLocks noGrp="1"/>
          </p:cNvSpPr>
          <p:nvPr/>
        </p:nvSpPr>
        <p:spPr>
          <a:xfrm>
            <a:off x="3190875" y="303847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Weber et al. (2019), Anti-Money Laundering in Bitcoin: Experimenting with Graph Convolutional Networks for Financial Forensics.</a:t>
            </a:r>
          </a:p>
        </p:txBody>
      </p:sp>
      <p:sp>
        <p:nvSpPr>
          <p:cNvPr id="50006" name="AEGIS_104">
            <a:extLst>
              <a:ext uri="{FF2B5EF4-FFF2-40B4-BE49-F238E27FC236}">
                <a16:creationId xmlns:a16="http://schemas.microsoft.com/office/drawing/2014/main" id="{9D322A5F-15D3-48BD-8FED-BF62839567BA}"/>
              </a:ext>
            </a:extLst>
          </p:cNvPr>
          <p:cNvSpPr>
            <a:spLocks noGrp="1"/>
          </p:cNvSpPr>
          <p:nvPr/>
        </p:nvSpPr>
        <p:spPr>
          <a:xfrm>
            <a:off x="3190875" y="344805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2"/>
              </a:rPr>
              <a:t>arXiv:1908.02591</a:t>
            </a:r>
          </a:p>
        </p:txBody>
      </p:sp>
      <p:sp>
        <p:nvSpPr>
          <p:cNvPr id="50007" name="AEGIS_105">
            <a:extLst>
              <a:ext uri="{FF2B5EF4-FFF2-40B4-BE49-F238E27FC236}">
                <a16:creationId xmlns:a16="http://schemas.microsoft.com/office/drawing/2014/main" id="{1E841448-42FF-4D02-A6E6-08B888A0786C}"/>
              </a:ext>
            </a:extLst>
          </p:cNvPr>
          <p:cNvSpPr>
            <a:spLocks noGrp="1"/>
          </p:cNvSpPr>
          <p:nvPr/>
        </p:nvSpPr>
        <p:spPr>
          <a:xfrm>
            <a:off x="1047750" y="366712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Blockchain data</a:t>
            </a:r>
          </a:p>
        </p:txBody>
      </p:sp>
      <p:sp>
        <p:nvSpPr>
          <p:cNvPr id="50008" name="AEGIS_106">
            <a:extLst>
              <a:ext uri="{FF2B5EF4-FFF2-40B4-BE49-F238E27FC236}">
                <a16:creationId xmlns:a16="http://schemas.microsoft.com/office/drawing/2014/main" id="{49046552-5517-4280-AC4F-9443A9351E40}"/>
              </a:ext>
            </a:extLst>
          </p:cNvPr>
          <p:cNvSpPr>
            <a:spLocks noGrp="1"/>
          </p:cNvSpPr>
          <p:nvPr/>
        </p:nvSpPr>
        <p:spPr>
          <a:xfrm>
            <a:off x="3190875" y="366712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Blockstream Esplora: address and transaction API documentation.</a:t>
            </a:r>
          </a:p>
        </p:txBody>
      </p:sp>
      <p:sp>
        <p:nvSpPr>
          <p:cNvPr id="50009" name="AEGIS_107">
            <a:extLst>
              <a:ext uri="{FF2B5EF4-FFF2-40B4-BE49-F238E27FC236}">
                <a16:creationId xmlns:a16="http://schemas.microsoft.com/office/drawing/2014/main" id="{B86551C3-489B-4947-8042-CB64B38F296B}"/>
              </a:ext>
            </a:extLst>
          </p:cNvPr>
          <p:cNvSpPr>
            <a:spLocks noGrp="1"/>
          </p:cNvSpPr>
          <p:nvPr/>
        </p:nvSpPr>
        <p:spPr>
          <a:xfrm>
            <a:off x="3190875" y="407670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3"/>
              </a:rPr>
              <a:t>Official API documentation</a:t>
            </a:r>
          </a:p>
        </p:txBody>
      </p:sp>
      <p:sp>
        <p:nvSpPr>
          <p:cNvPr id="50010" name="AEGIS_108">
            <a:extLst>
              <a:ext uri="{FF2B5EF4-FFF2-40B4-BE49-F238E27FC236}">
                <a16:creationId xmlns:a16="http://schemas.microsoft.com/office/drawing/2014/main" id="{C5F4FC3F-5A9B-4C10-949E-75907571488F}"/>
              </a:ext>
            </a:extLst>
          </p:cNvPr>
          <p:cNvSpPr>
            <a:spLocks noGrp="1"/>
          </p:cNvSpPr>
          <p:nvPr/>
        </p:nvSpPr>
        <p:spPr>
          <a:xfrm>
            <a:off x="1047750" y="429577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Attribution sources</a:t>
            </a:r>
          </a:p>
        </p:txBody>
      </p:sp>
      <p:sp>
        <p:nvSpPr>
          <p:cNvPr id="50011" name="AEGIS_109">
            <a:extLst>
              <a:ext uri="{FF2B5EF4-FFF2-40B4-BE49-F238E27FC236}">
                <a16:creationId xmlns:a16="http://schemas.microsoft.com/office/drawing/2014/main" id="{8E91290B-51F5-463C-BFCD-AFC3E33E6AFE}"/>
              </a:ext>
            </a:extLst>
          </p:cNvPr>
          <p:cNvSpPr>
            <a:spLocks noGrp="1"/>
          </p:cNvSpPr>
          <p:nvPr/>
        </p:nvSpPr>
        <p:spPr>
          <a:xfrm>
            <a:off x="3190875" y="429577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Binance, Our Commitment to Transparency (2022): published wallet disclosures.</a:t>
            </a:r>
          </a:p>
        </p:txBody>
      </p:sp>
      <p:sp>
        <p:nvSpPr>
          <p:cNvPr id="50012" name="AEGIS_110">
            <a:extLst>
              <a:ext uri="{FF2B5EF4-FFF2-40B4-BE49-F238E27FC236}">
                <a16:creationId xmlns:a16="http://schemas.microsoft.com/office/drawing/2014/main" id="{537BE699-298B-49A0-8546-B6F8AF880123}"/>
              </a:ext>
            </a:extLst>
          </p:cNvPr>
          <p:cNvSpPr>
            <a:spLocks noGrp="1"/>
          </p:cNvSpPr>
          <p:nvPr/>
        </p:nvSpPr>
        <p:spPr>
          <a:xfrm>
            <a:off x="3190875" y="470535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4"/>
              </a:rPr>
              <a:t>Historical disclosure; not a deposit-account registry</a:t>
            </a:r>
          </a:p>
        </p:txBody>
      </p:sp>
      <p:sp>
        <p:nvSpPr>
          <p:cNvPr id="50013" name="AEGIS_111">
            <a:extLst>
              <a:ext uri="{FF2B5EF4-FFF2-40B4-BE49-F238E27FC236}">
                <a16:creationId xmlns:a16="http://schemas.microsoft.com/office/drawing/2014/main" id="{1373299F-C54C-4B9D-967A-C7F3EF832EFA}"/>
              </a:ext>
            </a:extLst>
          </p:cNvPr>
          <p:cNvSpPr>
            <a:spLocks noGrp="1"/>
          </p:cNvSpPr>
          <p:nvPr/>
        </p:nvSpPr>
        <p:spPr>
          <a:xfrm>
            <a:off x="1047750" y="492442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AML context</a:t>
            </a:r>
          </a:p>
        </p:txBody>
      </p:sp>
      <p:sp>
        <p:nvSpPr>
          <p:cNvPr id="50014" name="AEGIS_112">
            <a:extLst>
              <a:ext uri="{FF2B5EF4-FFF2-40B4-BE49-F238E27FC236}">
                <a16:creationId xmlns:a16="http://schemas.microsoft.com/office/drawing/2014/main" id="{622C1F12-01E9-4A2D-BD9C-4B8F3738058D}"/>
              </a:ext>
            </a:extLst>
          </p:cNvPr>
          <p:cNvSpPr>
            <a:spLocks noGrp="1"/>
          </p:cNvSpPr>
          <p:nvPr/>
        </p:nvSpPr>
        <p:spPr>
          <a:xfrm>
            <a:off x="3190875" y="492442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FATF (2021), Updated Guidance for a Risk-Based Approach to Virtual Assets and VASPs.</a:t>
            </a:r>
          </a:p>
        </p:txBody>
      </p:sp>
      <p:sp>
        <p:nvSpPr>
          <p:cNvPr id="50015" name="AEGIS_113">
            <a:extLst>
              <a:ext uri="{FF2B5EF4-FFF2-40B4-BE49-F238E27FC236}">
                <a16:creationId xmlns:a16="http://schemas.microsoft.com/office/drawing/2014/main" id="{51333258-0441-43EE-A881-3DAAA0684655}"/>
              </a:ext>
            </a:extLst>
          </p:cNvPr>
          <p:cNvSpPr>
            <a:spLocks noGrp="1"/>
          </p:cNvSpPr>
          <p:nvPr/>
        </p:nvSpPr>
        <p:spPr>
          <a:xfrm>
            <a:off x="3190875" y="533400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5"/>
              </a:rPr>
              <a:t>FATF guidance</a:t>
            </a:r>
          </a:p>
        </p:txBody>
      </p:sp>
      <p:sp>
        <p:nvSpPr>
          <p:cNvPr id="50016" name="AEGIS_114">
            <a:extLst>
              <a:ext uri="{FF2B5EF4-FFF2-40B4-BE49-F238E27FC236}">
                <a16:creationId xmlns:a16="http://schemas.microsoft.com/office/drawing/2014/main" id="{A527FC4B-3B46-4638-924E-6688B95667F7}"/>
              </a:ext>
            </a:extLst>
          </p:cNvPr>
          <p:cNvSpPr>
            <a:spLocks noGrp="1"/>
          </p:cNvSpPr>
          <p:nvPr/>
        </p:nvSpPr>
        <p:spPr>
          <a:xfrm>
            <a:off x="1047750" y="555307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Evidence handling</a:t>
            </a:r>
          </a:p>
        </p:txBody>
      </p:sp>
      <p:sp>
        <p:nvSpPr>
          <p:cNvPr id="50017" name="AEGIS_115">
            <a:extLst>
              <a:ext uri="{FF2B5EF4-FFF2-40B4-BE49-F238E27FC236}">
                <a16:creationId xmlns:a16="http://schemas.microsoft.com/office/drawing/2014/main" id="{00524B49-65C1-4352-84C0-64FF86F59EA5}"/>
              </a:ext>
            </a:extLst>
          </p:cNvPr>
          <p:cNvSpPr>
            <a:spLocks noGrp="1"/>
          </p:cNvSpPr>
          <p:nvPr/>
        </p:nvSpPr>
        <p:spPr>
          <a:xfrm>
            <a:off x="3190875" y="555307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NIST SP 800-86 (2006), Guide to Integrating Forensic Techniques into Incident Response.</a:t>
            </a:r>
          </a:p>
        </p:txBody>
      </p:sp>
      <p:sp>
        <p:nvSpPr>
          <p:cNvPr id="50018" name="AEGIS_116">
            <a:extLst>
              <a:ext uri="{FF2B5EF4-FFF2-40B4-BE49-F238E27FC236}">
                <a16:creationId xmlns:a16="http://schemas.microsoft.com/office/drawing/2014/main" id="{D74AB2A7-F304-4069-9E08-1D87BC9CB22B}"/>
              </a:ext>
            </a:extLst>
          </p:cNvPr>
          <p:cNvSpPr>
            <a:spLocks noGrp="1"/>
          </p:cNvSpPr>
          <p:nvPr/>
        </p:nvSpPr>
        <p:spPr>
          <a:xfrm>
            <a:off x="3190875" y="596265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6"/>
              </a:rPr>
              <a:t>NIST guidance; not a guarantee of legal admissibility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