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9686ed42e2418c" /><Relationship Type="http://schemas.openxmlformats.org/officeDocument/2006/relationships/extended-properties" Target="/docProps/app.xml" Id="R0fce21fff4b44743" /><Relationship Type="http://schemas.openxmlformats.org/officeDocument/2006/relationships/officeDocument" Target="/ppt/presentation.xml" Id="Rc50f43260e124a4f" /></Relationships>
</file>

<file path=ppt/presentation.xml><?xml version="1.0" encoding="utf-8"?>
<p:presentation xmlns:p="http://schemas.openxmlformats.org/presentationml/2006/main">
  <p:sldMasterIdLst>
    <p:sldMasterId xmlns:r="http://schemas.openxmlformats.org/officeDocument/2006/relationships" id="2147483648" r:id="Radf86dc1e9f74d1a"/>
  </p:sldMasterIdLst>
  <p:notesMasterIdLst>
    <p:notesMasterId xmlns:r="http://schemas.openxmlformats.org/officeDocument/2006/relationships" r:id="Rb928f069b2da42e6"/>
  </p:notesMasterIdLst>
  <p:sldIdLst>
    <p:sldId xmlns:r="http://schemas.openxmlformats.org/officeDocument/2006/relationships" id="256" r:id="R8263ae60e1a8432c"/>
    <p:sldId xmlns:r="http://schemas.openxmlformats.org/officeDocument/2006/relationships" id="257" r:id="R334cba3072e54bf6"/>
    <p:sldId xmlns:r="http://schemas.openxmlformats.org/officeDocument/2006/relationships" id="258" r:id="Ra379a54990c9413b"/>
    <p:sldId xmlns:r="http://schemas.openxmlformats.org/officeDocument/2006/relationships" id="259" r:id="R5c7cfcc4f6a3469d"/>
    <p:sldId xmlns:r="http://schemas.openxmlformats.org/officeDocument/2006/relationships" id="260" r:id="R30a95cac429b4d2d"/>
    <p:sldId xmlns:r="http://schemas.openxmlformats.org/officeDocument/2006/relationships" id="261" r:id="Ra224bcb55a7949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9891c3c9ad94bab" /><Relationship Type="http://schemas.openxmlformats.org/officeDocument/2006/relationships/slideMaster" Target="/ppt/slideMasters/slideMaster1.xml" Id="Radf86dc1e9f74d1a" /><Relationship Type="http://schemas.openxmlformats.org/officeDocument/2006/relationships/notesMaster" Target="/ppt/notesMasters/notesMaster1.xml" Id="Rb928f069b2da42e6" /><Relationship Type="http://schemas.openxmlformats.org/officeDocument/2006/relationships/presProps" Target="/ppt/presProps.xml" Id="R517402defbf2489d" /><Relationship Type="http://schemas.openxmlformats.org/officeDocument/2006/relationships/viewProps" Target="/ppt/viewProps.xml" Id="Rb1b85a780cec4f8c" /><Relationship Type="http://schemas.openxmlformats.org/officeDocument/2006/relationships/tableStyles" Target="/ppt/tableStyles.xml" Id="R8cf0c02d55ed4229" /><Relationship Type="http://schemas.openxmlformats.org/officeDocument/2006/relationships/slide" Target="/ppt/slides/slide1.xml" Id="R8263ae60e1a8432c" /><Relationship Type="http://schemas.openxmlformats.org/officeDocument/2006/relationships/slide" Target="/ppt/slides/slide2.xml" Id="R334cba3072e54bf6" /><Relationship Type="http://schemas.openxmlformats.org/officeDocument/2006/relationships/slide" Target="/ppt/slides/slide3.xml" Id="Ra379a54990c9413b" /><Relationship Type="http://schemas.openxmlformats.org/officeDocument/2006/relationships/slide" Target="/ppt/slides/slide4.xml" Id="R5c7cfcc4f6a3469d" /><Relationship Type="http://schemas.openxmlformats.org/officeDocument/2006/relationships/slide" Target="/ppt/slides/slide5.xml" Id="R30a95cac429b4d2d" /><Relationship Type="http://schemas.openxmlformats.org/officeDocument/2006/relationships/slide" Target="/ppt/slides/slide6.xml" Id="Ra224bcb55a7949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2e68071e144a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c3a365483847ad" /><Relationship Type="http://schemas.openxmlformats.org/officeDocument/2006/relationships/notesMaster" Target="/ppt/notesMasters/notesMaster1.xml" Id="R48c38f5bc91e4d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f2b2a556ee4090" /><Relationship Type="http://schemas.openxmlformats.org/officeDocument/2006/relationships/notesMaster" Target="/ppt/notesMasters/notesMaster1.xml" Id="Rf593699d488942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e7a1662bba49ce" /><Relationship Type="http://schemas.openxmlformats.org/officeDocument/2006/relationships/notesMaster" Target="/ppt/notesMasters/notesMaster1.xml" Id="Rab4cbab4dae64a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6e4ba3a33a425b" /><Relationship Type="http://schemas.openxmlformats.org/officeDocument/2006/relationships/notesMaster" Target="/ppt/notesMasters/notesMaster1.xml" Id="Rd9a439d9ff0b4c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1ee789fea04ce5" /><Relationship Type="http://schemas.openxmlformats.org/officeDocument/2006/relationships/notesMaster" Target="/ppt/notesMasters/notesMaster1.xml" Id="R3d12aec1ac824a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66d89d33c44145" /><Relationship Type="http://schemas.openxmlformats.org/officeDocument/2006/relationships/notesMaster" Target="/ppt/notesMasters/notesMaster1.xml" Id="R61522a6c9ece4c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ID is intentionally left for the team to complete before submission. Problem statement title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full-system endpoint, not a claim that every feature is implemented. Nearest means the first supported receiving VASP along a directed, time-consistent traced path. VASP attribution depends on label coverage; customer deposit-account ownership may require VASP confirmation. NCRP/SAHYOG access and interfaces require approval.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Workflow diagram generated with the built-in image-generation tool to illustrate the proposed design; it is not a system screenshot. Blockchain documentation: https://github.com/Blockstream/esplora/blob/master/API.md . The proposed cross-chain layer will correlate supported bridge events; separate chain adapters alone do not establish cross-chain continuity. ML models require labelled evaluation and remain assistive, not proof of wrongdoing.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Feasibility of the proposed end product: modular services will separate ingestion, tracing, attribution, monitoring and reporting. Phased implementation will validate Bitcoin tracing and VASP attribution before extending to additional networks and approved LEA interfaces. Evaluation will measure attribution precision, coverage, false positives and latency. These are proposed design and validation measures, not claims of achieved performance.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These are intended impacts, not measured outcomes. AEGIS supports investigators; it does not freeze assets, issue legal orders or guarantee recovery. Open-source software still incurs infrastructure, indexing and data-access costs.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Meiklejohn et al. (2013), A Fistful of Bitcoins: Characterizing Payments Among Men with No Names.</a:t>
            </a:r>
            <a:endParaRPr/>
          </a:p>
          <a:p xmlns:a="http://schemas.openxmlformats.org/drawingml/2006/main">
            <a:pPr>
              <a:spcBef>
                <a:spcPct val="0"/>
              </a:spcBef>
              <a:buNone/>
            </a:pPr>
            <a:r>
              <a:t>https://conferences.sigcomm.org/imc/2013/papers/imc182-meiklejohnA.pdf</a:t>
            </a:r>
            <a:endParaRPr/>
          </a:p>
          <a:p xmlns:a="http://schemas.openxmlformats.org/drawingml/2006/main">
            <a:pPr>
              <a:spcBef>
                <a:spcPct val="0"/>
              </a:spcBef>
              <a:buNone/>
            </a:pPr>
            <a:r>
              <a:t/>
            </a:r>
            <a:endParaRPr/>
          </a:p>
          <a:p xmlns:a="http://schemas.openxmlformats.org/drawingml/2006/main">
            <a:pPr>
              <a:spcBef>
                <a:spcPct val="0"/>
              </a:spcBef>
              <a:buNone/>
            </a:pPr>
            <a:r>
              <a:t>Weber et al. (2019), Anti-Money Laundering in Bitcoin: Experimenting with Graph Convolutional Networks for Financial Forensics.</a:t>
            </a:r>
            <a:endParaRPr/>
          </a:p>
          <a:p xmlns:a="http://schemas.openxmlformats.org/drawingml/2006/main">
            <a:pPr>
              <a:spcBef>
                <a:spcPct val="0"/>
              </a:spcBef>
              <a:buNone/>
            </a:pPr>
            <a:r>
              <a:t>https://arxiv.org/abs/1908.02591</a:t>
            </a:r>
            <a:endParaRPr/>
          </a:p>
          <a:p xmlns:a="http://schemas.openxmlformats.org/drawingml/2006/main">
            <a:pPr>
              <a:spcBef>
                <a:spcPct val="0"/>
              </a:spcBef>
              <a:buNone/>
            </a:pPr>
            <a:r>
              <a:t/>
            </a:r>
            <a:endParaRPr/>
          </a:p>
          <a:p xmlns:a="http://schemas.openxmlformats.org/drawingml/2006/main">
            <a:pPr>
              <a:spcBef>
                <a:spcPct val="0"/>
              </a:spcBef>
              <a:buNone/>
            </a:pPr>
            <a:r>
              <a:t>Blockstream Esplora: address and transaction API documentation.</a:t>
            </a:r>
            <a:endParaRPr/>
          </a:p>
          <a:p xmlns:a="http://schemas.openxmlformats.org/drawingml/2006/main">
            <a:pPr>
              <a:spcBef>
                <a:spcPct val="0"/>
              </a:spcBef>
              <a:buNone/>
            </a:pPr>
            <a:r>
              <a:t>https://github.com/Blockstream/esplora/blob/master/API.md</a:t>
            </a:r>
            <a:endParaRPr/>
          </a:p>
          <a:p xmlns:a="http://schemas.openxmlformats.org/drawingml/2006/main">
            <a:pPr>
              <a:spcBef>
                <a:spcPct val="0"/>
              </a:spcBef>
              <a:buNone/>
            </a:pPr>
            <a:r>
              <a:t/>
            </a:r>
            <a:endParaRPr/>
          </a:p>
          <a:p xmlns:a="http://schemas.openxmlformats.org/drawingml/2006/main">
            <a:pPr>
              <a:spcBef>
                <a:spcPct val="0"/>
              </a:spcBef>
              <a:buNone/>
            </a:pPr>
            <a:r>
              <a:t>Binance, Our Commitment to Transparency (2022): published wallet disclosures.</a:t>
            </a:r>
            <a:endParaRPr/>
          </a:p>
          <a:p xmlns:a="http://schemas.openxmlformats.org/drawingml/2006/main">
            <a:pPr>
              <a:spcBef>
                <a:spcPct val="0"/>
              </a:spcBef>
              <a:buNone/>
            </a:pPr>
            <a:r>
              <a:t>https://www.binance.com/en-IN/blog/community/2895840147147652626</a:t>
            </a:r>
            <a:endParaRPr/>
          </a:p>
          <a:p xmlns:a="http://schemas.openxmlformats.org/drawingml/2006/main">
            <a:pPr>
              <a:spcBef>
                <a:spcPct val="0"/>
              </a:spcBef>
              <a:buNone/>
            </a:pPr>
            <a:r>
              <a:t/>
            </a:r>
            <a:endParaRPr/>
          </a:p>
          <a:p xmlns:a="http://schemas.openxmlformats.org/drawingml/2006/main">
            <a:pPr>
              <a:spcBef>
                <a:spcPct val="0"/>
              </a:spcBef>
              <a:buNone/>
            </a:pPr>
            <a:r>
              <a:t>FATF (2021), Updated Guidance for a Risk-Based Approach to Virtual Assets and VASPs.</a:t>
            </a:r>
            <a:endParaRPr/>
          </a:p>
          <a:p xmlns:a="http://schemas.openxmlformats.org/drawingml/2006/main">
            <a:pPr>
              <a:spcBef>
                <a:spcPct val="0"/>
              </a:spcBef>
              <a:buNone/>
            </a:pPr>
            <a:r>
              <a:t>https://www.fatf-gafi.org/en/publications/Fatfrecommendations/Guidance-rba-virtual-assets-2021.html</a:t>
            </a:r>
            <a:endParaRPr/>
          </a:p>
          <a:p xmlns:a="http://schemas.openxmlformats.org/drawingml/2006/main">
            <a:pPr>
              <a:spcBef>
                <a:spcPct val="0"/>
              </a:spcBef>
              <a:buNone/>
            </a:pPr>
            <a:r>
              <a:t/>
            </a:r>
            <a:endParaRPr/>
          </a:p>
          <a:p xmlns:a="http://schemas.openxmlformats.org/drawingml/2006/main">
            <a:pPr>
              <a:spcBef>
                <a:spcPct val="0"/>
              </a:spcBef>
              <a:buNone/>
            </a:pPr>
            <a:r>
              <a:t>NIST SP 800-86 (2006), Guide to Integrating Forensic Techniques into Incident Response.</a:t>
            </a:r>
            <a:endParaRPr/>
          </a:p>
          <a:p xmlns:a="http://schemas.openxmlformats.org/drawingml/2006/main">
            <a:pPr>
              <a:spcBef>
                <a:spcPct val="0"/>
              </a:spcBef>
              <a:buNone/>
            </a:pPr>
            <a:r>
              <a:t>https://csrc.nist.gov/pubs/sp/800/86/final</a:t>
            </a:r>
            <a:endParaRPr/>
          </a:p>
          <a:p xmlns:a="http://schemas.openxmlformats.org/drawingml/2006/main">
            <a:pPr>
              <a:spcBef>
                <a:spcPct val="0"/>
              </a:spcBef>
              <a:buNone/>
            </a:pPr>
            <a:r>
              <a:t/>
            </a:r>
            <a:endParaRPr/>
          </a:p>
          <a:p xmlns:a="http://schemas.openxmlformats.org/drawingml/2006/main">
            <a:pPr>
              <a:spcBef>
                <a:spcPct val="0"/>
              </a:spcBef>
              <a:buNone/>
            </a:pPr>
            <a:r>
              <a:t>Sources checked 10 September 2026. Research supports proposed methods, not product accuracy claims. Historical reserve disclosures do not establish customer deposit-account ownership.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d6dfb200d9421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372f8cbc1243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10ffeff10a24b8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96c3b02b704e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df45932b784466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6195bbbeb344a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7db14065b4f4d3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33f07c8bc4b40b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2318df68fdd41b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0cacd2bb5dd4d2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f4d2ec080374c8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916FE1A-6871-49C1-BC76-15EC01306A88}"/>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4244EF46-65AB-4A1A-A4B0-E33034D80E26}"/>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31C8ED45-AA93-453C-B4A7-199F998D3BD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35FDD1C7-D1A2-42D0-81FF-8BC65C802F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1CB37149-4E00-4575-89EE-2644F9027D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940D07-C6BA-4503-B1CD-CA3536EDF72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14C210C-0674-4CD2-8D97-469B9E5F123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6178450-CD8A-46F0-BAE1-E485FE7FF5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1E8F60D0-10FE-4B7C-B069-7E64524B949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3ABF8E2-B891-4C34-AC4A-27E395A2F08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E9B3B8-05A8-4DF6-B434-6CED1B08BEA0}"/>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E7DD6AF-491A-448F-A6D4-4BADCA2D78F7}"/>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FE8F14C4-760F-4007-8874-BC19BC2F6FF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B5601D3C-8FB7-4ADC-8DE9-860CBCF59D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00EA91D5-CE0F-446E-BC05-16D9E365B3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DA84815-6A4A-4A55-A067-64C2247D455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8CBBFD7-8BFB-4E06-BB40-17ECF627CE22}"/>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5A5F4EAE-0354-4C42-BD01-1CBB4D687F7D}"/>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F512DB36-1036-41CC-8819-96C3404FC5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8BDBA674-AABF-40B0-9E82-C83B70C4D99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BD556061-801B-41E4-9066-D83F80E1906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C84B3A-E5E9-4618-90F8-455C5208BC2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54B8906-91C5-4E11-ACCC-29E290EFB712}"/>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07313AA-2793-4119-AA6D-8D258DD19213}"/>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58D2508A-B2BD-4C63-BD3F-E30BADA184F5}"/>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0E4CBEC-2024-4AD9-B4C0-1B817E778E7D}"/>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2CB5E9C4-BB46-4F1E-B38B-FF53AF8A94D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45E8CF39-3AE7-4E65-8BCA-3335047C778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AD812000-D589-4B4F-BA82-FFAD00DB47D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9A10E5F-93C4-4D21-B64B-64A6F9BFCB0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8692312C-5416-4AE9-9E92-FF775A5754D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DB8B9D32-F6AE-4A96-98D8-A99A149CBA4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1FE58A3B-28F8-4C16-A22F-8F8DA1D91E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73D1D823-39AF-4D6F-906A-79A458E22E2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10E7933F-B282-4CA8-B9E2-C0804691C59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1F7CDAC7-24A3-492B-977A-EA04E2074D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EC33EEF-F90E-4B8C-8EAF-A89D6B250DC4}"/>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076928D-2FA1-4211-80F5-ADDCFC15AC9F}"/>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138588F2-6D03-49AC-848A-10F6E40AE1C7}"/>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BBFB6D95-2949-41DD-AB23-B5A0A5EC237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D43A6EF7-B77C-45B3-88A4-E4D5E5A915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16297DB4-0AAC-40A8-8F57-31D681627FC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6933FD-1604-4F4A-AE76-B2382C34B436}"/>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4486E8C6-2717-40D8-897A-0266F926C249}"/>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E799AA02-F780-4B54-8F5B-FDB5F7E37F34}"/>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52B1A4C1-723F-4907-A642-BE16EAC9880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E43B4A6F-1323-4EDB-9C94-8FC11973FC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6D5087A1-B44B-4802-B79B-1399EB2E35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FA74653-CAB3-4F96-B0A0-7E9EA9CA9AE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AA9CA31-D0FB-4D72-9252-B3CEDA80A4F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4F8DF46-36AB-4DFC-9AA6-ED6D233309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CC08877D-DF95-4465-B724-7BE59294F1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4B0093DE-3813-4E29-9FA9-98584601A00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D6664FE-A19E-46F8-AEEB-4D75B43907D9}"/>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6FF8F33-781F-446C-B8E0-29142FEDFC30}"/>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0B7E8D0-C205-4003-834A-D0D5F1B12E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B51750EA-59D7-4152-9B69-581F383E3D6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ED201507-5358-438D-8803-C017354282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981931baf0417a" /><Relationship Type="http://schemas.openxmlformats.org/officeDocument/2006/relationships/slideLayout" Target="/ppt/slideLayouts/slideLayout1.xml" Id="R5e8b87b09dee4a5c" /><Relationship Type="http://schemas.openxmlformats.org/officeDocument/2006/relationships/slideLayout" Target="/ppt/slideLayouts/slideLayout2.xml" Id="R78253be381434d0a" /><Relationship Type="http://schemas.openxmlformats.org/officeDocument/2006/relationships/slideLayout" Target="/ppt/slideLayouts/slideLayout3.xml" Id="Rd25dc09b23c14fbd" /><Relationship Type="http://schemas.openxmlformats.org/officeDocument/2006/relationships/slideLayout" Target="/ppt/slideLayouts/slideLayout4.xml" Id="R88ad445d5a5b4a8e" /><Relationship Type="http://schemas.openxmlformats.org/officeDocument/2006/relationships/slideLayout" Target="/ppt/slideLayouts/slideLayout5.xml" Id="R9a7f839dced342ac" /><Relationship Type="http://schemas.openxmlformats.org/officeDocument/2006/relationships/slideLayout" Target="/ppt/slideLayouts/slideLayout6.xml" Id="Rf029bbefe2b84144" /><Relationship Type="http://schemas.openxmlformats.org/officeDocument/2006/relationships/slideLayout" Target="/ppt/slideLayouts/slideLayout7.xml" Id="Rc2cdff5c99bd42ea" /><Relationship Type="http://schemas.openxmlformats.org/officeDocument/2006/relationships/slideLayout" Target="/ppt/slideLayouts/slideLayout8.xml" Id="Rd5a98f483e0c40b6" /><Relationship Type="http://schemas.openxmlformats.org/officeDocument/2006/relationships/slideLayout" Target="/ppt/slideLayouts/slideLayout9.xml" Id="Re502c7fccb294c43" /><Relationship Type="http://schemas.openxmlformats.org/officeDocument/2006/relationships/slideLayout" Target="/ppt/slideLayouts/slideLayout10.xml" Id="R8e95e9b197df4e44" /><Relationship Type="http://schemas.openxmlformats.org/officeDocument/2006/relationships/slideLayout" Target="/ppt/slideLayouts/slideLayout11.xml" Id="R6dae5937d8d4426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663CA0EA-818C-4AEB-9E5F-DC15D27450BC}"/>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57FFE965-A313-4D57-923F-3071935263B6}"/>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681D4199-0CF2-4554-ACE4-3616D27A660C}"/>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7D40B743-8E6D-40C6-B0AB-8C33383E8F2D}"/>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3B67C7A-7869-4FB8-8CA0-3DE40346449D}"/>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8b87b09dee4a5c"/>
    <p:sldLayoutId xmlns:r="http://schemas.openxmlformats.org/officeDocument/2006/relationships" id="2147483650" r:id="R78253be381434d0a"/>
    <p:sldLayoutId xmlns:r="http://schemas.openxmlformats.org/officeDocument/2006/relationships" id="2147483651" r:id="Rd25dc09b23c14fbd"/>
    <p:sldLayoutId xmlns:r="http://schemas.openxmlformats.org/officeDocument/2006/relationships" id="2147483652" r:id="R88ad445d5a5b4a8e"/>
    <p:sldLayoutId xmlns:r="http://schemas.openxmlformats.org/officeDocument/2006/relationships" id="2147483653" r:id="R9a7f839dced342ac"/>
    <p:sldLayoutId xmlns:r="http://schemas.openxmlformats.org/officeDocument/2006/relationships" id="2147483654" r:id="Rf029bbefe2b84144"/>
    <p:sldLayoutId xmlns:r="http://schemas.openxmlformats.org/officeDocument/2006/relationships" id="2147483655" r:id="Rc2cdff5c99bd42ea"/>
    <p:sldLayoutId xmlns:r="http://schemas.openxmlformats.org/officeDocument/2006/relationships" id="2147483656" r:id="Rd5a98f483e0c40b6"/>
    <p:sldLayoutId xmlns:r="http://schemas.openxmlformats.org/officeDocument/2006/relationships" id="2147483657" r:id="Re502c7fccb294c43"/>
    <p:sldLayoutId xmlns:r="http://schemas.openxmlformats.org/officeDocument/2006/relationships" id="2147483658" r:id="R8e95e9b197df4e44"/>
    <p:sldLayoutId xmlns:r="http://schemas.openxmlformats.org/officeDocument/2006/relationships" id="2147483659" r:id="R6dae5937d8d4426e"/>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703ff086ce48da" /><Relationship Type="http://schemas.openxmlformats.org/officeDocument/2006/relationships/image" Target="/ppt/media/image.png" Id="R19ada761d87d42da" /><Relationship Type="http://schemas.openxmlformats.org/officeDocument/2006/relationships/image" Target="/ppt/media/image2.png" Id="R3c260876d5a544cf" /><Relationship Type="http://schemas.openxmlformats.org/officeDocument/2006/relationships/notesSlide" Target="/ppt/notesSlides/notesSlide1.xml" Id="Re0fb41068bf840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f50977ba5984928" /><Relationship Type="http://schemas.openxmlformats.org/officeDocument/2006/relationships/image" Target="/ppt/media/image3.png" Id="R6b02341a5f594548" /><Relationship Type="http://schemas.openxmlformats.org/officeDocument/2006/relationships/notesSlide" Target="/ppt/notesSlides/notesSlide2.xml" Id="Rb1a40be54efc46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2dfba4c9d5a4be3" /><Relationship Type="http://schemas.openxmlformats.org/officeDocument/2006/relationships/image" Target="/ppt/media/image4.png" Id="R0b3749675c2b4802" /><Relationship Type="http://schemas.openxmlformats.org/officeDocument/2006/relationships/image" Target="/ppt/media/image5.png" Id="R5fa043b89d4743f0" /><Relationship Type="http://schemas.openxmlformats.org/officeDocument/2006/relationships/notesSlide" Target="/ppt/notesSlides/notesSlide3.xml" Id="R252cfdf2801948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ba0e999a0fe4c18" /><Relationship Type="http://schemas.openxmlformats.org/officeDocument/2006/relationships/image" Target="/ppt/media/image6.png" Id="R5e6e8ff6da7f462c" /><Relationship Type="http://schemas.openxmlformats.org/officeDocument/2006/relationships/notesSlide" Target="/ppt/notesSlides/notesSlide4.xml" Id="R36be937546e844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0f9e4521b5d420d" /><Relationship Type="http://schemas.openxmlformats.org/officeDocument/2006/relationships/image" Target="/ppt/media/image7.png" Id="R5500a31e9c20446f" /><Relationship Type="http://schemas.openxmlformats.org/officeDocument/2006/relationships/notesSlide" Target="/ppt/notesSlides/notesSlide5.xml" Id="R8a777bb8d42148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4ebce0ee4ad42d9" /><Relationship Type="http://schemas.openxmlformats.org/officeDocument/2006/relationships/hyperlink" Target="https://conferences.sigcomm.org/imc/2013/papers/imc182-meiklejohnA.pdf" TargetMode="External" Id="R1db6b93f6bc5492a" /><Relationship Type="http://schemas.openxmlformats.org/officeDocument/2006/relationships/hyperlink" Target="https://arxiv.org/abs/1908.02591" TargetMode="External" Id="Reab64ccf532c468a" /><Relationship Type="http://schemas.openxmlformats.org/officeDocument/2006/relationships/hyperlink" Target="https://github.com/Blockstream/esplora/blob/master/API.md" TargetMode="External" Id="R6f5160cafee3407d" /><Relationship Type="http://schemas.openxmlformats.org/officeDocument/2006/relationships/hyperlink" Target="https://www.binance.com/en-IN/blog/community/2895840147147652626" TargetMode="External" Id="R70f7b6d2ce35491c" /><Relationship Type="http://schemas.openxmlformats.org/officeDocument/2006/relationships/hyperlink" Target="https://www.fatf-gafi.org/en/publications/Fatfrecommendations/Guidance-rba-virtual-assets-2021.html" TargetMode="External" Id="R50406916815847d7" /><Relationship Type="http://schemas.openxmlformats.org/officeDocument/2006/relationships/hyperlink" Target="https://csrc.nist.gov/pubs/sp/800/86/final" TargetMode="External" Id="R421a1ae5c26749b1" /><Relationship Type="http://schemas.openxmlformats.org/officeDocument/2006/relationships/image" Target="/ppt/media/image8.png" Id="R2b75d8ff8b3c483f" /><Relationship Type="http://schemas.openxmlformats.org/officeDocument/2006/relationships/notesSlide" Target="/ppt/notesSlides/notesSlide6.xml" Id="R93cafdca7b1a4de2"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0"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19ada761d87d42da"/>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73EF9948-7EFE-42B8-BABB-27F72DDFFF5E}"/>
              </a:ext>
            </a:extLst>
          </p:cNvPr>
          <p:cNvSpPr>
            <a:spLocks xmlns:a="http://schemas.openxmlformats.org/drawingml/2006/main" noGrp="1"/>
          </p:cNvSpPr>
          <p:nvPr>
            <p:ph type="subTitle" idx="1"/>
          </p:nvPr>
        </p:nvSpPr>
        <p:spPr>
          <a:xfrm xmlns:a="http://schemas.openxmlformats.org/drawingml/2006/main">
            <a:off x="1238250" y="1143000"/>
            <a:ext cx="8534400" cy="609600"/>
          </a:xfrm>
        </p:spPr>
        <p:txBody>
          <a:bodyPr xmlns:a="http://schemas.openxmlformats.org/drawingml/2006/main" wrap="square" lIns="0" tIns="0" rIns="0" bIns="0" anchor="t">
            <a:noAutofit/>
          </a:bodyPr>
          <a:lstStyle xmlns:a="http://schemas.openxmlformats.org/drawingml/2006/main"/>
          <a:p xmlns:a="http://schemas.openxmlformats.org/drawingml/2006/main">
            <a:pPr algn="ctr">
              <a:defRPr sz="2850" b="1">
                <a:solidFill>
                  <a:srgbClr val="777777"/>
                </a:solidFill>
                <a:latin typeface="Times New Roman"/>
                <a:ea typeface="Times New Roman"/>
                <a:cs typeface="Times New Roman"/>
              </a:defRPr>
            </a:pPr>
            <a:r>
              <a:rPr sz="2850" b="1">
                <a:solidFill>
                  <a:srgbClr val="777777"/>
                </a:solidFill>
                <a:latin typeface="Times New Roman"/>
                <a:ea typeface="Times New Roman"/>
                <a:cs typeface="Times New Roman"/>
              </a:rPr>
              <a:t>TITLE PAGE</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A9C65A66-E6CF-432C-877B-6F547898EC94}"/>
              </a:ext>
            </a:extLst>
          </p:cNvPr>
          <p:cNvSpPr>
            <a:spLocks xmlns:a="http://schemas.openxmlformats.org/drawingml/2006/main" noGrp="1"/>
          </p:cNvSpPr>
          <p:nvPr>
            <p:ph type="ctrTitle" idx="0"/>
          </p:nvPr>
        </p:nvSpPr>
        <p:spPr>
          <a:xfrm xmlns:a="http://schemas.openxmlformats.org/drawingml/2006/main">
            <a:off x="323850" y="190500"/>
            <a:ext cx="9353550" cy="781050"/>
          </a:xfrm>
        </p:spPr>
        <p:txBody>
          <a:bodyPr xmlns:a="http://schemas.openxmlformats.org/drawingml/2006/main" wrap="square" lIns="0" tIns="0" rIns="0" bIns="0" anchor="t">
            <a:noAutofit/>
          </a:bodyPr>
          <a:lstStyle xmlns:a="http://schemas.openxmlformats.org/drawingml/2006/main"/>
          <a:p xmlns:a="http://schemas.openxmlformats.org/drawingml/2006/main">
            <a:pPr algn="ctr">
              <a:defRPr sz="3450" b="1">
                <a:solidFill>
                  <a:srgbClr val="1F497D"/>
                </a:solidFill>
                <a:latin typeface="Arial"/>
                <a:ea typeface="Arial"/>
                <a:cs typeface="Arial"/>
              </a:defRPr>
            </a:pPr>
            <a:r>
              <a:rPr sz="3450" b="1">
                <a:solidFill>
                  <a:srgbClr val="1F497D"/>
                </a:solidFill>
                <a:latin typeface="Arial"/>
                <a:ea typeface="Arial"/>
                <a:cs typeface="Arial"/>
              </a:rPr>
              <a:t>SMART INDIA HACKATHON 2026</a:t>
            </a:r>
            <a:endParaRPr sz="4000" b="1">
              <a:solidFill>
                <a:schemeClr val="tx2"/>
              </a:solidFill>
              <a:latin typeface="Garamond"/>
              <a:ea typeface="Garamond"/>
              <a:cs typeface="Garamond"/>
            </a:endParaRPr>
          </a:p>
        </p:txBody>
      </p:sp>
      <p:sp>
        <p:nvSpPr>
          <p:cNvPr id="10" name="TextBox 9">
            <a:extLst xmlns:a="http://schemas.openxmlformats.org/drawingml/2006/main">
              <a:ext uri="{FF2B5EF4-FFF2-40B4-BE49-F238E27FC236}">
                <a16:creationId xmlns:a16="http://schemas.microsoft.com/office/drawing/2014/main" id="{28B9EEB4-845B-42FA-BD87-51B96F9BDAC3}"/>
              </a:ext>
            </a:extLst>
          </p:cNvPr>
          <p:cNvSpPr>
            <a:spLocks xmlns:a="http://schemas.openxmlformats.org/drawingml/2006/main" noGrp="1"/>
          </p:cNvSpPr>
          <p:nvPr/>
        </p:nvSpPr>
        <p:spPr>
          <a:xfrm xmlns:a="http://schemas.openxmlformats.org/drawingml/2006/main">
            <a:off x="331286" y="2076450"/>
            <a:ext cx="5924550" cy="47030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
            </a:r>
            <a:endParaRPr/>
          </a:p>
        </p:txBody>
      </p:sp>
      <p:sp>
        <p:nvSpPr>
          <p:cNvPr id="40" name="">
            <a:extLst xmlns:a="http://schemas.openxmlformats.org/drawingml/2006/main">
              <a:ext uri="{FF2B5EF4-FFF2-40B4-BE49-F238E27FC236}">
                <a16:creationId xmlns:a16="http://schemas.microsoft.com/office/drawing/2014/main" id="{D40F1BF6-EDC2-4906-8563-64207FF15631}"/>
              </a:ext>
            </a:extLst>
          </p:cNvPr>
          <p:cNvSpPr>
            <a:spLocks xmlns:a="http://schemas.openxmlformats.org/drawingml/2006/main" noGrp="1"/>
          </p:cNvSpPr>
          <p:nvPr/>
        </p:nvSpPr>
        <p:spPr>
          <a:xfrm xmlns:a="http://schemas.openxmlformats.org/drawingml/2006/main">
            <a:off x="419100" y="225742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Problem Statement ID: SIH26183</a:t>
            </a:r>
          </a:p>
        </p:txBody>
      </p:sp>
      <p:sp>
        <p:nvSpPr>
          <p:cNvPr id="41" name="">
            <a:extLst xmlns:a="http://schemas.openxmlformats.org/drawingml/2006/main">
              <a:ext uri="{FF2B5EF4-FFF2-40B4-BE49-F238E27FC236}">
                <a16:creationId xmlns:a16="http://schemas.microsoft.com/office/drawing/2014/main" id="{F66C5FFF-21F0-4E66-865F-F2407B5CCF91}"/>
              </a:ext>
            </a:extLst>
          </p:cNvPr>
          <p:cNvSpPr>
            <a:spLocks xmlns:a="http://schemas.openxmlformats.org/drawingml/2006/main" noGrp="1"/>
          </p:cNvSpPr>
          <p:nvPr/>
        </p:nvSpPr>
        <p:spPr>
          <a:xfrm xmlns:a="http://schemas.openxmlformats.org/drawingml/2006/main">
            <a:off x="419100" y="27241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Problem Statement Title</a:t>
            </a:r>
          </a:p>
        </p:txBody>
      </p:sp>
      <p:sp>
        <p:nvSpPr>
          <p:cNvPr id="42" name="">
            <a:extLst xmlns:a="http://schemas.openxmlformats.org/drawingml/2006/main">
              <a:ext uri="{FF2B5EF4-FFF2-40B4-BE49-F238E27FC236}">
                <a16:creationId xmlns:a16="http://schemas.microsoft.com/office/drawing/2014/main" id="{E7C62379-3CAA-4A3F-811C-C8784F34BCD8}"/>
              </a:ext>
            </a:extLst>
          </p:cNvPr>
          <p:cNvSpPr>
            <a:spLocks xmlns:a="http://schemas.openxmlformats.org/drawingml/2006/main" noGrp="1"/>
          </p:cNvSpPr>
          <p:nvPr/>
        </p:nvSpPr>
        <p:spPr>
          <a:xfrm xmlns:a="http://schemas.openxmlformats.org/drawingml/2006/main">
            <a:off x="419100" y="3105150"/>
            <a:ext cx="61055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Real-Time Identification of Fraud-Linked Cryptocurrency Exchanges from Victim-Reported Suspect Wallet Addresses through Automated Blockchain Analytics</a:t>
            </a:r>
          </a:p>
        </p:txBody>
      </p:sp>
      <p:sp>
        <p:nvSpPr>
          <p:cNvPr id="43" name="">
            <a:extLst xmlns:a="http://schemas.openxmlformats.org/drawingml/2006/main">
              <a:ext uri="{FF2B5EF4-FFF2-40B4-BE49-F238E27FC236}">
                <a16:creationId xmlns:a16="http://schemas.microsoft.com/office/drawing/2014/main" id="{31DE3213-D778-42BD-A5FE-2E6E137B1069}"/>
              </a:ext>
            </a:extLst>
          </p:cNvPr>
          <p:cNvSpPr>
            <a:spLocks xmlns:a="http://schemas.openxmlformats.org/drawingml/2006/main" noGrp="1"/>
          </p:cNvSpPr>
          <p:nvPr/>
        </p:nvSpPr>
        <p:spPr>
          <a:xfrm xmlns:a="http://schemas.openxmlformats.org/drawingml/2006/main">
            <a:off x="419100" y="46005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Theme: Blockchain &amp; Cybersecurity</a:t>
            </a:r>
          </a:p>
        </p:txBody>
      </p:sp>
      <p:sp>
        <p:nvSpPr>
          <p:cNvPr id="44" name="">
            <a:extLst xmlns:a="http://schemas.openxmlformats.org/drawingml/2006/main">
              <a:ext uri="{FF2B5EF4-FFF2-40B4-BE49-F238E27FC236}">
                <a16:creationId xmlns:a16="http://schemas.microsoft.com/office/drawing/2014/main" id="{8FDB5CE9-01D2-4F7A-86BE-4FF35CECBD43}"/>
              </a:ext>
            </a:extLst>
          </p:cNvPr>
          <p:cNvSpPr>
            <a:spLocks xmlns:a="http://schemas.openxmlformats.org/drawingml/2006/main" noGrp="1"/>
          </p:cNvSpPr>
          <p:nvPr/>
        </p:nvSpPr>
        <p:spPr>
          <a:xfrm xmlns:a="http://schemas.openxmlformats.org/drawingml/2006/main">
            <a:off x="419100" y="50196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PS Category: Software</a:t>
            </a:r>
          </a:p>
        </p:txBody>
      </p:sp>
      <p:sp>
        <p:nvSpPr>
          <p:cNvPr id="45" name="">
            <a:extLst xmlns:a="http://schemas.openxmlformats.org/drawingml/2006/main">
              <a:ext uri="{FF2B5EF4-FFF2-40B4-BE49-F238E27FC236}">
                <a16:creationId xmlns:a16="http://schemas.microsoft.com/office/drawing/2014/main" id="{4ECC3DB9-35C8-4E3C-BA45-6500F68F40C3}"/>
              </a:ext>
            </a:extLst>
          </p:cNvPr>
          <p:cNvSpPr>
            <a:spLocks xmlns:a="http://schemas.openxmlformats.org/drawingml/2006/main" noGrp="1"/>
          </p:cNvSpPr>
          <p:nvPr/>
        </p:nvSpPr>
        <p:spPr>
          <a:xfrm xmlns:a="http://schemas.openxmlformats.org/drawingml/2006/main">
            <a:off x="419100" y="54387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Team ID: [ENTER REGISTERED TEAM ID]</a:t>
            </a:r>
          </a:p>
        </p:txBody>
      </p:sp>
      <p:sp>
        <p:nvSpPr>
          <p:cNvPr id="46" name="">
            <a:extLst xmlns:a="http://schemas.openxmlformats.org/drawingml/2006/main">
              <a:ext uri="{FF2B5EF4-FFF2-40B4-BE49-F238E27FC236}">
                <a16:creationId xmlns:a16="http://schemas.microsoft.com/office/drawing/2014/main" id="{23EF37A4-4B5B-4023-A934-95104696A7DF}"/>
              </a:ext>
            </a:extLst>
          </p:cNvPr>
          <p:cNvSpPr>
            <a:spLocks xmlns:a="http://schemas.openxmlformats.org/drawingml/2006/main" noGrp="1"/>
          </p:cNvSpPr>
          <p:nvPr/>
        </p:nvSpPr>
        <p:spPr>
          <a:xfrm xmlns:a="http://schemas.openxmlformats.org/drawingml/2006/main">
            <a:off x="419100" y="5857875"/>
            <a:ext cx="6191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Team Name (Registered on portal):</a:t>
            </a:r>
          </a:p>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COLD COFFEE</a:t>
            </a:r>
          </a:p>
        </p:txBody>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3c260876d5a544cf"/>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2351294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CEFC4A90-AD45-43E8-90C0-0BCFDEFDFC47}"/>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7FDB2F7C-7819-488B-B1B7-09BC31A060A3}"/>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AEGIS FORENSICS</a:t>
            </a:r>
          </a:p>
        </p:txBody>
      </p:sp>
      <p:sp>
        <p:nvSpPr>
          <p:cNvPr id="6" name="Slide Number Placeholder 5">
            <a:extLst xmlns:a="http://schemas.openxmlformats.org/drawingml/2006/main">
              <a:ext uri="{FF2B5EF4-FFF2-40B4-BE49-F238E27FC236}">
                <a16:creationId xmlns:a16="http://schemas.microsoft.com/office/drawing/2014/main" id="{2EDC9A2F-34DC-42AB-97B8-4019B5FA16EB}"/>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Arial"/>
                <a:ea typeface="Arial"/>
                <a:cs typeface="Arial"/>
              </a:defRPr>
            </a:pPr>
            <a:fld id="{E2598689-54C9-18A7-3A19-ED76AA08988F}" type="slidenum">
              <a:rPr sz="1275" b="1">
                <a:solidFill>
                  <a:srgbClr val="FFFFFF"/>
                </a:solidFill>
                <a:latin typeface="Arial"/>
                <a:ea typeface="Arial"/>
                <a:cs typeface="Aria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18F85F98-F5A5-45FB-8BBF-8AE523EC2B50}"/>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5364" name="">
            <a:extLst xmlns:a="http://schemas.openxmlformats.org/drawingml/2006/main">
              <a:ext uri="{FF2B5EF4-FFF2-40B4-BE49-F238E27FC236}">
                <a16:creationId xmlns:a16="http://schemas.microsoft.com/office/drawing/2014/main" id="{B7A49F5D-C378-4DC6-9447-F0BEABF33F1F}"/>
              </a:ext>
            </a:extLst>
          </p:cNvPr>
          <p:cNvSpPr>
            <a:spLocks xmlns:a="http://schemas.openxmlformats.org/drawingml/2006/main" noGrp="1"/>
          </p:cNvSpPr>
          <p:nvPr/>
        </p:nvSpPr>
        <p:spPr>
          <a:xfrm xmlns:a="http://schemas.openxmlformats.org/drawingml/2006/main">
            <a:off x="609600" y="13049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Proposed Solution (Describe your Idea/Solution/Prototype)</a:t>
            </a:r>
          </a:p>
        </p:txBody>
      </p:sp>
      <p:sp>
        <p:nvSpPr>
          <p:cNvPr id="15365" name="">
            <a:extLst xmlns:a="http://schemas.openxmlformats.org/drawingml/2006/main">
              <a:ext uri="{FF2B5EF4-FFF2-40B4-BE49-F238E27FC236}">
                <a16:creationId xmlns:a16="http://schemas.microsoft.com/office/drawing/2014/main" id="{B6C7B0AF-D9D3-43C7-BDA9-74A8F3FA0047}"/>
              </a:ext>
            </a:extLst>
          </p:cNvPr>
          <p:cNvSpPr>
            <a:spLocks xmlns:a="http://schemas.openxmlformats.org/drawingml/2006/main" noGrp="1"/>
          </p:cNvSpPr>
          <p:nvPr/>
        </p:nvSpPr>
        <p:spPr>
          <a:xfrm xmlns:a="http://schemas.openxmlformats.org/drawingml/2006/main">
            <a:off x="609600" y="17811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Detailed explanation of the proposed solution</a:t>
            </a:r>
          </a:p>
        </p:txBody>
      </p:sp>
      <p:sp>
        <p:nvSpPr>
          <p:cNvPr id="15366" name="">
            <a:extLst xmlns:a="http://schemas.openxmlformats.org/drawingml/2006/main">
              <a:ext uri="{FF2B5EF4-FFF2-40B4-BE49-F238E27FC236}">
                <a16:creationId xmlns:a16="http://schemas.microsoft.com/office/drawing/2014/main" id="{CA7C6FA6-1720-46A1-B07B-365A2E093673}"/>
              </a:ext>
            </a:extLst>
          </p:cNvPr>
          <p:cNvSpPr>
            <a:spLocks xmlns:a="http://schemas.openxmlformats.org/drawingml/2006/main" noGrp="1"/>
          </p:cNvSpPr>
          <p:nvPr/>
        </p:nvSpPr>
        <p:spPr>
          <a:xfrm xmlns:a="http://schemas.openxmlformats.org/drawingml/2006/main">
            <a:off x="723900" y="2143125"/>
            <a:ext cx="108013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Ingest victim-reported addresses and trace outgoing funds through intermediary wallets.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Identify the nearest supported receiving exchange/VASP with its deposit transaction and path.</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Monitor subsequent movement and generate alerts with standardized investigation reports.</a:t>
            </a:r>
          </a:p>
        </p:txBody>
      </p:sp>
      <p:sp>
        <p:nvSpPr>
          <p:cNvPr id="15367" name="">
            <a:extLst xmlns:a="http://schemas.openxmlformats.org/drawingml/2006/main">
              <a:ext uri="{FF2B5EF4-FFF2-40B4-BE49-F238E27FC236}">
                <a16:creationId xmlns:a16="http://schemas.microsoft.com/office/drawing/2014/main" id="{C3B57C43-BC7B-446F-9509-C8072B411579}"/>
              </a:ext>
            </a:extLst>
          </p:cNvPr>
          <p:cNvSpPr>
            <a:spLocks xmlns:a="http://schemas.openxmlformats.org/drawingml/2006/main" noGrp="1"/>
          </p:cNvSpPr>
          <p:nvPr/>
        </p:nvSpPr>
        <p:spPr>
          <a:xfrm xmlns:a="http://schemas.openxmlformats.org/drawingml/2006/main">
            <a:off x="609600" y="35909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How it addresses the problem</a:t>
            </a:r>
          </a:p>
        </p:txBody>
      </p:sp>
      <p:sp>
        <p:nvSpPr>
          <p:cNvPr id="15368" name="">
            <a:extLst xmlns:a="http://schemas.openxmlformats.org/drawingml/2006/main">
              <a:ext uri="{FF2B5EF4-FFF2-40B4-BE49-F238E27FC236}">
                <a16:creationId xmlns:a16="http://schemas.microsoft.com/office/drawing/2014/main" id="{1B3E8BAD-79C7-42AA-9534-724FE81D5BE0}"/>
              </a:ext>
            </a:extLst>
          </p:cNvPr>
          <p:cNvSpPr>
            <a:spLocks xmlns:a="http://schemas.openxmlformats.org/drawingml/2006/main" noGrp="1"/>
          </p:cNvSpPr>
          <p:nvPr/>
        </p:nvSpPr>
        <p:spPr>
          <a:xfrm xmlns:a="http://schemas.openxmlformats.org/drawingml/2006/main">
            <a:off x="723900" y="3952875"/>
            <a:ext cx="108013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Give investigators transaction hashes, amounts, timestamps and sourced attribution evidence.</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Recommend follow-up actions; plan NCRP/SAHYOG integration through approved interfaces.</a:t>
            </a:r>
          </a:p>
        </p:txBody>
      </p:sp>
      <p:sp>
        <p:nvSpPr>
          <p:cNvPr id="15369" name="">
            <a:extLst xmlns:a="http://schemas.openxmlformats.org/drawingml/2006/main">
              <a:ext uri="{FF2B5EF4-FFF2-40B4-BE49-F238E27FC236}">
                <a16:creationId xmlns:a16="http://schemas.microsoft.com/office/drawing/2014/main" id="{280DC8B1-24EE-4384-807F-425F550F8DAF}"/>
              </a:ext>
            </a:extLst>
          </p:cNvPr>
          <p:cNvSpPr>
            <a:spLocks xmlns:a="http://schemas.openxmlformats.org/drawingml/2006/main" noGrp="1"/>
          </p:cNvSpPr>
          <p:nvPr/>
        </p:nvSpPr>
        <p:spPr>
          <a:xfrm xmlns:a="http://schemas.openxmlformats.org/drawingml/2006/main">
            <a:off x="609600" y="5029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Innovation and uniqueness of the solution</a:t>
            </a:r>
          </a:p>
        </p:txBody>
      </p:sp>
      <p:sp>
        <p:nvSpPr>
          <p:cNvPr id="15370" name="">
            <a:extLst xmlns:a="http://schemas.openxmlformats.org/drawingml/2006/main">
              <a:ext uri="{FF2B5EF4-FFF2-40B4-BE49-F238E27FC236}">
                <a16:creationId xmlns:a16="http://schemas.microsoft.com/office/drawing/2014/main" id="{702E87C4-1C5C-4F45-B71F-E23C124848CD}"/>
              </a:ext>
            </a:extLst>
          </p:cNvPr>
          <p:cNvSpPr>
            <a:spLocks xmlns:a="http://schemas.openxmlformats.org/drawingml/2006/main" noGrp="1"/>
          </p:cNvSpPr>
          <p:nvPr/>
        </p:nvSpPr>
        <p:spPr>
          <a:xfrm xmlns:a="http://schemas.openxmlformats.org/drawingml/2006/main">
            <a:off x="723900" y="5381625"/>
            <a:ext cx="10801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Combine receiving-VASP discovery with evidence provenance and movement monitoring.</a:t>
            </a:r>
          </a:p>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Keep observed facts, inferred links and unresolved paths distinct for investigator review.</a:t>
            </a:r>
          </a:p>
        </p:txBody>
      </p:sp>
      <p:pic>
        <p:nvPicPr>
          <p:cNvPr id="15384" name=""/>
          <p:cNvPicPr>
            <a:picLocks xmlns:a="http://schemas.openxmlformats.org/drawingml/2006/main" noChangeAspect="1"/>
          </p:cNvPicPr>
          <p:nvPr/>
        </p:nvPicPr>
        <p:blipFill>
          <a:blip xmlns:r="http://schemas.openxmlformats.org/officeDocument/2006/relationships" xmlns:a="http://schemas.openxmlformats.org/drawingml/2006/main" r:embed="R6b02341a5f594548"/>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19246965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BB21BE99-5160-4C05-A8C0-A20B3BB48339}"/>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155A4BC7-151A-4A6A-BCBA-7DAF37F32EB9}"/>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Arial"/>
                <a:ea typeface="Arial"/>
                <a:cs typeface="Arial"/>
              </a:defRPr>
            </a:pPr>
            <a:fld id="{202359C0-8A7A-196E-DD58-8E6569619F09}" type="slidenum">
              <a:rPr sz="1275" b="1">
                <a:solidFill>
                  <a:srgbClr val="FFFFFF"/>
                </a:solidFill>
                <a:latin typeface="Arial"/>
                <a:ea typeface="Arial"/>
                <a:cs typeface="Aria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B4EDE254-C53F-4FED-A2AE-A352F9278B14}"/>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7412" name="">
            <a:extLst xmlns:a="http://schemas.openxmlformats.org/drawingml/2006/main">
              <a:ext uri="{FF2B5EF4-FFF2-40B4-BE49-F238E27FC236}">
                <a16:creationId xmlns:a16="http://schemas.microsoft.com/office/drawing/2014/main" id="{845DF91A-8451-4030-8DE6-0308BA2120FE}"/>
              </a:ext>
            </a:extLst>
          </p:cNvPr>
          <p:cNvSpPr>
            <a:spLocks xmlns:a="http://schemas.openxmlformats.org/drawingml/2006/main" noGrp="1"/>
          </p:cNvSpPr>
          <p:nvPr/>
        </p:nvSpPr>
        <p:spPr>
          <a:xfrm xmlns:a="http://schemas.openxmlformats.org/drawingml/2006/main">
            <a:off x="609600" y="1333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Technologies to be used</a:t>
            </a:r>
          </a:p>
        </p:txBody>
      </p:sp>
      <p:sp>
        <p:nvSpPr>
          <p:cNvPr id="17413" name="">
            <a:extLst xmlns:a="http://schemas.openxmlformats.org/drawingml/2006/main">
              <a:ext uri="{FF2B5EF4-FFF2-40B4-BE49-F238E27FC236}">
                <a16:creationId xmlns:a16="http://schemas.microsoft.com/office/drawing/2014/main" id="{00E1CB63-00B8-41DB-B2F0-7E9824FDA5B7}"/>
              </a:ext>
            </a:extLst>
          </p:cNvPr>
          <p:cNvSpPr>
            <a:spLocks xmlns:a="http://schemas.openxmlformats.org/drawingml/2006/main" noGrp="1"/>
          </p:cNvSpPr>
          <p:nvPr/>
        </p:nvSpPr>
        <p:spPr>
          <a:xfrm xmlns:a="http://schemas.openxmlformats.org/drawingml/2006/main">
            <a:off x="723900" y="1743075"/>
            <a:ext cx="108013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React dashboard; Python/FastAPI services; queued workers and persistent case storage.</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Bitcoin, EVM and TRON adapters; incremental indexing and versioned VASP address labels.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Bounded graph search, cautious clustering, explainable rules and evaluated ML risk detection.</a:t>
            </a:r>
          </a:p>
        </p:txBody>
      </p:sp>
      <p:sp>
        <p:nvSpPr>
          <p:cNvPr id="17414" name="">
            <a:extLst xmlns:a="http://schemas.openxmlformats.org/drawingml/2006/main">
              <a:ext uri="{FF2B5EF4-FFF2-40B4-BE49-F238E27FC236}">
                <a16:creationId xmlns:a16="http://schemas.microsoft.com/office/drawing/2014/main" id="{A9FD353E-6308-4A5B-94AD-45D39C266A8C}"/>
              </a:ext>
            </a:extLst>
          </p:cNvPr>
          <p:cNvSpPr>
            <a:spLocks xmlns:a="http://schemas.openxmlformats.org/drawingml/2006/main" noGrp="1"/>
          </p:cNvSpPr>
          <p:nvPr/>
        </p:nvSpPr>
        <p:spPr>
          <a:xfrm xmlns:a="http://schemas.openxmlformats.org/drawingml/2006/main">
            <a:off x="609600" y="3200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Methodology and process for implementation</a:t>
            </a:r>
          </a:p>
        </p:txBody>
      </p:sp>
      <p:pic>
        <p:nvPicPr>
          <p:cNvPr id="17426" name=""/>
          <p:cNvPicPr>
            <a:picLocks xmlns:a="http://schemas.openxmlformats.org/drawingml/2006/main" noChangeAspect="1"/>
          </p:cNvPicPr>
          <p:nvPr/>
        </p:nvPicPr>
        <p:blipFill>
          <a:blip xmlns:r="http://schemas.openxmlformats.org/officeDocument/2006/relationships" xmlns:a="http://schemas.openxmlformats.org/drawingml/2006/main" r:embed="R0b3749675c2b4802"/>
          <a:srcRect xmlns:a="http://schemas.openxmlformats.org/drawingml/2006/main" l="0" t="19216" r="0" b="19216"/>
          <a:stretch xmlns:a="http://schemas.openxmlformats.org/drawingml/2006/main">
            <a:fillRect l="0" t="0" r="0" b="0"/>
          </a:stretch>
        </p:blipFill>
        <p:spPr>
          <a:xfrm xmlns:a="http://schemas.openxmlformats.org/drawingml/2006/main">
            <a:off x="523875" y="3590925"/>
            <a:ext cx="11144250" cy="2305050"/>
          </a:xfrm>
          <a:prstGeom xmlns:a="http://schemas.openxmlformats.org/drawingml/2006/main" prst="rect">
            <a:avLst/>
          </a:prstGeom>
        </p:spPr>
      </p:pic>
      <p:sp>
        <p:nvSpPr>
          <p:cNvPr id="17416" name="">
            <a:extLst xmlns:a="http://schemas.openxmlformats.org/drawingml/2006/main">
              <a:ext uri="{FF2B5EF4-FFF2-40B4-BE49-F238E27FC236}">
                <a16:creationId xmlns:a16="http://schemas.microsoft.com/office/drawing/2014/main" id="{E1E483E7-5DA1-468F-AC30-B40193DA0CB7}"/>
              </a:ext>
            </a:extLst>
          </p:cNvPr>
          <p:cNvSpPr>
            <a:spLocks xmlns:a="http://schemas.openxmlformats.org/drawingml/2006/main" noGrp="1"/>
          </p:cNvSpPr>
          <p:nvPr/>
        </p:nvSpPr>
        <p:spPr>
          <a:xfrm xmlns:a="http://schemas.openxmlformats.org/drawingml/2006/main">
            <a:off x="619125" y="59531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F497D"/>
                </a:solidFill>
                <a:latin typeface="Arial"/>
                <a:ea typeface="Arial"/>
                <a:cs typeface="Arial"/>
              </a:defRPr>
            </a:pPr>
            <a:r>
              <a:rPr sz="1650" b="0">
                <a:solidFill>
                  <a:srgbClr val="1F497D"/>
                </a:solidFill>
                <a:latin typeface="Arial"/>
                <a:ea typeface="Arial"/>
                <a:cs typeface="Arial"/>
              </a:rPr>
              <a:t>Planned integration: complaint APIs and NCRP/SAHYOG, subject to approved access.</a:t>
            </a:r>
          </a:p>
        </p:txBody>
      </p:sp>
      <p:pic>
        <p:nvPicPr>
          <p:cNvPr id="17428" name=""/>
          <p:cNvPicPr>
            <a:picLocks xmlns:a="http://schemas.openxmlformats.org/drawingml/2006/main" noChangeAspect="1"/>
          </p:cNvPicPr>
          <p:nvPr/>
        </p:nvPicPr>
        <p:blipFill>
          <a:blip xmlns:r="http://schemas.openxmlformats.org/officeDocument/2006/relationships" xmlns:a="http://schemas.openxmlformats.org/drawingml/2006/main" r:embed="R5fa043b89d4743f0"/>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60509986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F51526F9-E037-4846-A54D-94CDD75E0B41}"/>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75" b="1">
                <a:solidFill>
                  <a:srgbClr val="000000"/>
                </a:solidFill>
                <a:latin typeface="Times New Roman"/>
                <a:ea typeface="Times New Roman"/>
                <a:cs typeface="Times New Roman"/>
              </a:defRPr>
            </a:pPr>
            <a:r>
              <a:rPr sz="3075"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0E4EC60D-F9F5-41C5-A1CC-90D9E3AB29B7}"/>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EFD6AB9A-5F9E-5F59-51AB-3C8734130965}" type="slidenum">
              <a:rPr sz="1275" b="1" i="0" u="none" cap="none" spc="0">
                <a:ln>
                  <a:noFill/>
                </a:ln>
                <a:solidFill>
                  <a:srgbClr val="FFFFFF"/>
                </a:solidFill>
                <a:latin typeface="Arial"/>
                <a:ea typeface="Arial"/>
                <a:cs typeface="Arial"/>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C9D83A91-C8B2-440C-AE77-6D3D1B6EF509}"/>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7412" name="">
            <a:extLst xmlns:a="http://schemas.openxmlformats.org/drawingml/2006/main">
              <a:ext uri="{FF2B5EF4-FFF2-40B4-BE49-F238E27FC236}">
                <a16:creationId xmlns:a16="http://schemas.microsoft.com/office/drawing/2014/main" id="{44FC3186-DF70-4F67-937C-04B5A5E9C3A3}"/>
              </a:ext>
            </a:extLst>
          </p:cNvPr>
          <p:cNvSpPr>
            <a:spLocks xmlns:a="http://schemas.openxmlformats.org/drawingml/2006/main" noGrp="1"/>
          </p:cNvSpPr>
          <p:nvPr/>
        </p:nvSpPr>
        <p:spPr>
          <a:xfrm xmlns:a="http://schemas.openxmlformats.org/drawingml/2006/main">
            <a:off x="609600" y="1343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Analysis of the feasibility of the idea</a:t>
            </a:r>
          </a:p>
        </p:txBody>
      </p:sp>
      <p:sp>
        <p:nvSpPr>
          <p:cNvPr id="17413" name="">
            <a:extLst xmlns:a="http://schemas.openxmlformats.org/drawingml/2006/main">
              <a:ext uri="{FF2B5EF4-FFF2-40B4-BE49-F238E27FC236}">
                <a16:creationId xmlns:a16="http://schemas.microsoft.com/office/drawing/2014/main" id="{9DC9379C-CF8B-416D-8FDB-26E80441AFC1}"/>
              </a:ext>
            </a:extLst>
          </p:cNvPr>
          <p:cNvSpPr>
            <a:spLocks xmlns:a="http://schemas.openxmlformats.org/drawingml/2006/main" noGrp="1"/>
          </p:cNvSpPr>
          <p:nvPr/>
        </p:nvSpPr>
        <p:spPr>
          <a:xfrm xmlns:a="http://schemas.openxmlformats.org/drawingml/2006/main">
            <a:off x="723900" y="1762125"/>
            <a:ext cx="108013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Modular architecture will separate blockchain ingestion, tracing, VASP attribution, monitoring and reporting.</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Phased implementation will validate Bitcoin tracing before extending to other networks and LEA integrations.</a:t>
            </a:r>
          </a:p>
        </p:txBody>
      </p:sp>
      <p:sp>
        <p:nvSpPr>
          <p:cNvPr id="17414" name="">
            <a:extLst xmlns:a="http://schemas.openxmlformats.org/drawingml/2006/main">
              <a:ext uri="{FF2B5EF4-FFF2-40B4-BE49-F238E27FC236}">
                <a16:creationId xmlns:a16="http://schemas.microsoft.com/office/drawing/2014/main" id="{8344F06B-1707-44F7-A7FB-6B48429C6C77}"/>
              </a:ext>
            </a:extLst>
          </p:cNvPr>
          <p:cNvSpPr>
            <a:spLocks xmlns:a="http://schemas.openxmlformats.org/drawingml/2006/main" noGrp="1"/>
          </p:cNvSpPr>
          <p:nvPr/>
        </p:nvSpPr>
        <p:spPr>
          <a:xfrm xmlns:a="http://schemas.openxmlformats.org/drawingml/2006/main">
            <a:off x="609600" y="3009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Potential challenges and risks</a:t>
            </a:r>
          </a:p>
        </p:txBody>
      </p:sp>
      <p:sp>
        <p:nvSpPr>
          <p:cNvPr id="17415" name="">
            <a:extLst xmlns:a="http://schemas.openxmlformats.org/drawingml/2006/main">
              <a:ext uri="{FF2B5EF4-FFF2-40B4-BE49-F238E27FC236}">
                <a16:creationId xmlns:a16="http://schemas.microsoft.com/office/drawing/2014/main" id="{8F407B76-5760-4D08-AFA7-82FF1625A94C}"/>
              </a:ext>
            </a:extLst>
          </p:cNvPr>
          <p:cNvSpPr>
            <a:spLocks xmlns:a="http://schemas.openxmlformats.org/drawingml/2006/main" noGrp="1"/>
          </p:cNvSpPr>
          <p:nvPr/>
        </p:nvSpPr>
        <p:spPr>
          <a:xfrm xmlns:a="http://schemas.openxmlformats.org/drawingml/2006/main">
            <a:off x="723900" y="3419475"/>
            <a:ext cx="10801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Rate limits and large histories; incomplete or outdated exchange-address labels.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Mixing activity and ambiguous ownership; unsupported bridges and restricted integration access.</a:t>
            </a:r>
          </a:p>
        </p:txBody>
      </p:sp>
      <p:sp>
        <p:nvSpPr>
          <p:cNvPr id="17416" name="">
            <a:extLst xmlns:a="http://schemas.openxmlformats.org/drawingml/2006/main">
              <a:ext uri="{FF2B5EF4-FFF2-40B4-BE49-F238E27FC236}">
                <a16:creationId xmlns:a16="http://schemas.microsoft.com/office/drawing/2014/main" id="{545A1D05-C483-4A0C-A225-D5DFE19C971C}"/>
              </a:ext>
            </a:extLst>
          </p:cNvPr>
          <p:cNvSpPr>
            <a:spLocks xmlns:a="http://schemas.openxmlformats.org/drawingml/2006/main" noGrp="1"/>
          </p:cNvSpPr>
          <p:nvPr/>
        </p:nvSpPr>
        <p:spPr>
          <a:xfrm xmlns:a="http://schemas.openxmlformats.org/drawingml/2006/main">
            <a:off x="609600" y="46005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Strategies for overcoming these challenges</a:t>
            </a:r>
          </a:p>
        </p:txBody>
      </p:sp>
      <p:sp>
        <p:nvSpPr>
          <p:cNvPr id="17417" name="">
            <a:extLst xmlns:a="http://schemas.openxmlformats.org/drawingml/2006/main">
              <a:ext uri="{FF2B5EF4-FFF2-40B4-BE49-F238E27FC236}">
                <a16:creationId xmlns:a16="http://schemas.microsoft.com/office/drawing/2014/main" id="{726D7DF5-6C41-4837-A364-4B7DF0A88215}"/>
              </a:ext>
            </a:extLst>
          </p:cNvPr>
          <p:cNvSpPr>
            <a:spLocks xmlns:a="http://schemas.openxmlformats.org/drawingml/2006/main" noGrp="1"/>
          </p:cNvSpPr>
          <p:nvPr/>
        </p:nvSpPr>
        <p:spPr>
          <a:xfrm xmlns:a="http://schemas.openxmlformats.org/drawingml/2006/main">
            <a:off x="723900" y="5010150"/>
            <a:ext cx="108013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Use indexing, caching and bounded traversal; retain label sources and mark tracing gaps.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Validate precision, coverage, false positives and latency before expanding the deployment.</a:t>
            </a:r>
          </a:p>
        </p:txBody>
      </p:sp>
      <p:pic>
        <p:nvPicPr>
          <p:cNvPr id="17430" name=""/>
          <p:cNvPicPr>
            <a:picLocks xmlns:a="http://schemas.openxmlformats.org/drawingml/2006/main" noChangeAspect="1"/>
          </p:cNvPicPr>
          <p:nvPr/>
        </p:nvPicPr>
        <p:blipFill>
          <a:blip xmlns:r="http://schemas.openxmlformats.org/officeDocument/2006/relationships" xmlns:a="http://schemas.openxmlformats.org/drawingml/2006/main" r:embed="R5e6e8ff6da7f462c"/>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95407436-80DB-4882-9181-7760FD5F5AAB}"/>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1885E9D4-615B-4F2E-B2C3-5D073D17EDB9}"/>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EE5B3003-2C54-13C6-9832-7637201064DE}" type="slidenum">
              <a:rPr sz="1275" b="1" i="0" u="none" cap="none" spc="0">
                <a:ln>
                  <a:noFill/>
                </a:ln>
                <a:solidFill>
                  <a:srgbClr val="FFFFFF"/>
                </a:solidFill>
                <a:latin typeface="Arial"/>
                <a:ea typeface="Arial"/>
                <a:cs typeface="Arial"/>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734DAD19-322C-4F8D-8EC8-E01B18D34A98}"/>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7412" name="">
            <a:extLst xmlns:a="http://schemas.openxmlformats.org/drawingml/2006/main">
              <a:ext uri="{FF2B5EF4-FFF2-40B4-BE49-F238E27FC236}">
                <a16:creationId xmlns:a16="http://schemas.microsoft.com/office/drawing/2014/main" id="{3D9C0DA6-654E-4B0E-A3BF-9E23D0493EFE}"/>
              </a:ext>
            </a:extLst>
          </p:cNvPr>
          <p:cNvSpPr>
            <a:spLocks xmlns:a="http://schemas.openxmlformats.org/drawingml/2006/main" noGrp="1"/>
          </p:cNvSpPr>
          <p:nvPr/>
        </p:nvSpPr>
        <p:spPr>
          <a:xfrm xmlns:a="http://schemas.openxmlformats.org/drawingml/2006/main">
            <a:off x="609600" y="14001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Potential impact on the target audience</a:t>
            </a:r>
          </a:p>
        </p:txBody>
      </p:sp>
      <p:sp>
        <p:nvSpPr>
          <p:cNvPr id="17413" name="">
            <a:extLst xmlns:a="http://schemas.openxmlformats.org/drawingml/2006/main">
              <a:ext uri="{FF2B5EF4-FFF2-40B4-BE49-F238E27FC236}">
                <a16:creationId xmlns:a16="http://schemas.microsoft.com/office/drawing/2014/main" id="{1E30F184-A1FC-4DFA-9E93-C96E6AE65936}"/>
              </a:ext>
            </a:extLst>
          </p:cNvPr>
          <p:cNvSpPr>
            <a:spLocks xmlns:a="http://schemas.openxmlformats.org/drawingml/2006/main" noGrp="1"/>
          </p:cNvSpPr>
          <p:nvPr/>
        </p:nvSpPr>
        <p:spPr>
          <a:xfrm xmlns:a="http://schemas.openxmlformats.org/drawingml/2006/main">
            <a:off x="723900" y="1876425"/>
            <a:ext cx="108013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Cybercrime investigators: prioritize cases with identifiable receiving VASPs and track new movement.</a:t>
            </a:r>
          </a:p>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Investigators and prosecutors: review transaction paths, attribution sources and analysis records.</a:t>
            </a:r>
          </a:p>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Financial intelligence units: triage activity using explainable patterns and evidence-linked indicators.</a:t>
            </a:r>
          </a:p>
        </p:txBody>
      </p:sp>
      <p:sp>
        <p:nvSpPr>
          <p:cNvPr id="17414" name="">
            <a:extLst xmlns:a="http://schemas.openxmlformats.org/drawingml/2006/main">
              <a:ext uri="{FF2B5EF4-FFF2-40B4-BE49-F238E27FC236}">
                <a16:creationId xmlns:a16="http://schemas.microsoft.com/office/drawing/2014/main" id="{56D1D923-7176-4261-AC08-4C1FF719EF59}"/>
              </a:ext>
            </a:extLst>
          </p:cNvPr>
          <p:cNvSpPr>
            <a:spLocks xmlns:a="http://schemas.openxmlformats.org/drawingml/2006/main" noGrp="1"/>
          </p:cNvSpPr>
          <p:nvPr/>
        </p:nvSpPr>
        <p:spPr>
          <a:xfrm xmlns:a="http://schemas.openxmlformats.org/drawingml/2006/main">
            <a:off x="609600" y="3886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Benefits of the solution (social, economic, environmental, etc.)</a:t>
            </a:r>
          </a:p>
        </p:txBody>
      </p:sp>
      <p:sp>
        <p:nvSpPr>
          <p:cNvPr id="17415" name="">
            <a:extLst xmlns:a="http://schemas.openxmlformats.org/drawingml/2006/main">
              <a:ext uri="{FF2B5EF4-FFF2-40B4-BE49-F238E27FC236}">
                <a16:creationId xmlns:a16="http://schemas.microsoft.com/office/drawing/2014/main" id="{3F20D452-429B-424F-B291-9964EBE922BD}"/>
              </a:ext>
            </a:extLst>
          </p:cNvPr>
          <p:cNvSpPr>
            <a:spLocks xmlns:a="http://schemas.openxmlformats.org/drawingml/2006/main" noGrp="1"/>
          </p:cNvSpPr>
          <p:nvPr/>
        </p:nvSpPr>
        <p:spPr>
          <a:xfrm xmlns:a="http://schemas.openxmlformats.org/drawingml/2006/main">
            <a:off x="723900" y="4324350"/>
            <a:ext cx="1080135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Social: support faster preservation and freezing requests through investigator-reviewed findings.</a:t>
            </a:r>
          </a:p>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Economic: reduce repetitive tracing effort with open-source components and shared infrastructure.</a:t>
            </a:r>
          </a:p>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Operational: standardize evidence reports and improve coordination with identified VASPs.</a:t>
            </a:r>
          </a:p>
        </p:txBody>
      </p:sp>
      <p:sp>
        <p:nvSpPr>
          <p:cNvPr id="17416" name="">
            <a:extLst xmlns:a="http://schemas.openxmlformats.org/drawingml/2006/main">
              <a:ext uri="{FF2B5EF4-FFF2-40B4-BE49-F238E27FC236}">
                <a16:creationId xmlns:a16="http://schemas.microsoft.com/office/drawing/2014/main" id="{1B15B373-0FC1-4607-BDDD-637A4C8C47A4}"/>
              </a:ext>
            </a:extLst>
          </p:cNvPr>
          <p:cNvSpPr>
            <a:spLocks xmlns:a="http://schemas.openxmlformats.org/drawingml/2006/main" noGrp="1"/>
          </p:cNvSpPr>
          <p:nvPr/>
        </p:nvSpPr>
        <p:spPr>
          <a:xfrm xmlns:a="http://schemas.openxmlformats.org/drawingml/2006/main">
            <a:off x="723900" y="6019800"/>
            <a:ext cx="10801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F497D"/>
                </a:solidFill>
                <a:latin typeface="Arial"/>
                <a:ea typeface="Arial"/>
                <a:cs typeface="Arial"/>
              </a:defRPr>
            </a:pPr>
            <a:r>
              <a:rPr sz="1500" b="0">
                <a:solidFill>
                  <a:srgbClr val="1F497D"/>
                </a:solidFill>
                <a:latin typeface="Arial"/>
                <a:ea typeface="Arial"/>
                <a:cs typeface="Arial"/>
              </a:rPr>
              <a:t>Expected benefits to be measured in pilots; fund recovery and attribution are not guaranteed.</a:t>
            </a:r>
          </a:p>
        </p:txBody>
      </p:sp>
      <p:pic>
        <p:nvPicPr>
          <p:cNvPr id="17428" name=""/>
          <p:cNvPicPr>
            <a:picLocks xmlns:a="http://schemas.openxmlformats.org/drawingml/2006/main" noChangeAspect="1"/>
          </p:cNvPicPr>
          <p:nvPr/>
        </p:nvPicPr>
        <p:blipFill>
          <a:blip xmlns:r="http://schemas.openxmlformats.org/officeDocument/2006/relationships" xmlns:a="http://schemas.openxmlformats.org/drawingml/2006/main" r:embed="R5500a31e9c20446f"/>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1236D1BC-E85A-4FA8-AE99-F9A897B5671D}"/>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75" b="1">
                <a:solidFill>
                  <a:srgbClr val="000000"/>
                </a:solidFill>
                <a:latin typeface="Times New Roman"/>
                <a:ea typeface="Times New Roman"/>
                <a:cs typeface="Times New Roman"/>
              </a:defRPr>
            </a:pPr>
            <a:r>
              <a:rPr sz="3075"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484B8A8B-8993-400E-B908-FC4F51ACEFB7}"/>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8C630A04-5A25-9E0C-9436-126091DB86B3}" type="slidenum">
              <a:rPr sz="1275" b="1" i="0" u="none" cap="none" spc="0">
                <a:ln>
                  <a:noFill/>
                </a:ln>
                <a:solidFill>
                  <a:srgbClr val="FFFFFF"/>
                </a:solidFill>
                <a:latin typeface="Arial"/>
                <a:ea typeface="Arial"/>
                <a:cs typeface="Arial"/>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203FADBD-C9BE-48DF-A2AF-955483C5C49B}"/>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7412" name="">
            <a:extLst xmlns:a="http://schemas.openxmlformats.org/drawingml/2006/main">
              <a:ext uri="{FF2B5EF4-FFF2-40B4-BE49-F238E27FC236}">
                <a16:creationId xmlns:a16="http://schemas.microsoft.com/office/drawing/2014/main" id="{76C56ED2-D0C1-490B-BCC8-B5DADA149BE0}"/>
              </a:ext>
            </a:extLst>
          </p:cNvPr>
          <p:cNvSpPr>
            <a:spLocks xmlns:a="http://schemas.openxmlformats.org/drawingml/2006/main" noGrp="1"/>
          </p:cNvSpPr>
          <p:nvPr/>
        </p:nvSpPr>
        <p:spPr>
          <a:xfrm xmlns:a="http://schemas.openxmlformats.org/drawingml/2006/main">
            <a:off x="609600" y="1343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Details / Links of the reference and research work</a:t>
            </a:r>
          </a:p>
        </p:txBody>
      </p:sp>
      <p:sp>
        <p:nvSpPr>
          <p:cNvPr id="17413" name="">
            <a:extLst xmlns:a="http://schemas.openxmlformats.org/drawingml/2006/main">
              <a:ext uri="{FF2B5EF4-FFF2-40B4-BE49-F238E27FC236}">
                <a16:creationId xmlns:a16="http://schemas.microsoft.com/office/drawing/2014/main" id="{E432F81C-2259-43A5-9689-9FB6990D1E98}"/>
              </a:ext>
            </a:extLst>
          </p:cNvPr>
          <p:cNvSpPr>
            <a:spLocks xmlns:a="http://schemas.openxmlformats.org/drawingml/2006/main" noGrp="1"/>
          </p:cNvSpPr>
          <p:nvPr/>
        </p:nvSpPr>
        <p:spPr>
          <a:xfrm xmlns:a="http://schemas.openxmlformats.org/drawingml/2006/main">
            <a:off x="619125" y="18097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Address clustering</a:t>
            </a:r>
          </a:p>
        </p:txBody>
      </p:sp>
      <p:sp>
        <p:nvSpPr>
          <p:cNvPr id="17414" name="">
            <a:extLst xmlns:a="http://schemas.openxmlformats.org/drawingml/2006/main">
              <a:ext uri="{FF2B5EF4-FFF2-40B4-BE49-F238E27FC236}">
                <a16:creationId xmlns:a16="http://schemas.microsoft.com/office/drawing/2014/main" id="{26EF5C53-A5E7-4B6B-B921-6F4EFF5D587B}"/>
              </a:ext>
            </a:extLst>
          </p:cNvPr>
          <p:cNvSpPr>
            <a:spLocks xmlns:a="http://schemas.openxmlformats.org/drawingml/2006/main" noGrp="1"/>
          </p:cNvSpPr>
          <p:nvPr/>
        </p:nvSpPr>
        <p:spPr>
          <a:xfrm xmlns:a="http://schemas.openxmlformats.org/drawingml/2006/main">
            <a:off x="2790825" y="18097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Meiklejohn et al. (2013), A Fistful of Bitcoins: Characterizing Payments Among Men with No Names.</a:t>
            </a:r>
          </a:p>
        </p:txBody>
      </p:sp>
      <p:sp>
        <p:nvSpPr>
          <p:cNvPr id="17415" name="">
            <a:extLst xmlns:a="http://schemas.openxmlformats.org/drawingml/2006/main">
              <a:ext uri="{FF2B5EF4-FFF2-40B4-BE49-F238E27FC236}">
                <a16:creationId xmlns:a16="http://schemas.microsoft.com/office/drawing/2014/main" id="{E65D8816-5FEE-4C16-B85B-6E1F42C7E307}"/>
              </a:ext>
            </a:extLst>
          </p:cNvPr>
          <p:cNvSpPr>
            <a:spLocks xmlns:a="http://schemas.openxmlformats.org/drawingml/2006/main" noGrp="1"/>
          </p:cNvSpPr>
          <p:nvPr/>
        </p:nvSpPr>
        <p:spPr>
          <a:xfrm xmlns:a="http://schemas.openxmlformats.org/drawingml/2006/main">
            <a:off x="2790825" y="22764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1db6b93f6bc5492a"/>
              </a:rPr>
              <a:t>ACM IMC paper</a:t>
            </a:r>
          </a:p>
        </p:txBody>
      </p:sp>
      <p:sp>
        <p:nvSpPr>
          <p:cNvPr id="17416" name="">
            <a:extLst xmlns:a="http://schemas.openxmlformats.org/drawingml/2006/main">
              <a:ext uri="{FF2B5EF4-FFF2-40B4-BE49-F238E27FC236}">
                <a16:creationId xmlns:a16="http://schemas.microsoft.com/office/drawing/2014/main" id="{CEE1A02D-299A-40BA-8F42-8A90227F5F49}"/>
              </a:ext>
            </a:extLst>
          </p:cNvPr>
          <p:cNvSpPr>
            <a:spLocks xmlns:a="http://schemas.openxmlformats.org/drawingml/2006/main" noGrp="1"/>
          </p:cNvSpPr>
          <p:nvPr/>
        </p:nvSpPr>
        <p:spPr>
          <a:xfrm xmlns:a="http://schemas.openxmlformats.org/drawingml/2006/main">
            <a:off x="619125" y="25336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ML-assisted analysis</a:t>
            </a:r>
          </a:p>
        </p:txBody>
      </p:sp>
      <p:sp>
        <p:nvSpPr>
          <p:cNvPr id="17417" name="">
            <a:extLst xmlns:a="http://schemas.openxmlformats.org/drawingml/2006/main">
              <a:ext uri="{FF2B5EF4-FFF2-40B4-BE49-F238E27FC236}">
                <a16:creationId xmlns:a16="http://schemas.microsoft.com/office/drawing/2014/main" id="{C56275D9-3770-407A-9F26-20AC8962EDD1}"/>
              </a:ext>
            </a:extLst>
          </p:cNvPr>
          <p:cNvSpPr>
            <a:spLocks xmlns:a="http://schemas.openxmlformats.org/drawingml/2006/main" noGrp="1"/>
          </p:cNvSpPr>
          <p:nvPr/>
        </p:nvSpPr>
        <p:spPr>
          <a:xfrm xmlns:a="http://schemas.openxmlformats.org/drawingml/2006/main">
            <a:off x="2790825" y="25336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Weber et al. (2019), Anti-Money Laundering in Bitcoin: Experimenting with Graph Convolutional Networks for Financial Forensics.</a:t>
            </a:r>
          </a:p>
        </p:txBody>
      </p:sp>
      <p:sp>
        <p:nvSpPr>
          <p:cNvPr id="17418" name="">
            <a:extLst xmlns:a="http://schemas.openxmlformats.org/drawingml/2006/main">
              <a:ext uri="{FF2B5EF4-FFF2-40B4-BE49-F238E27FC236}">
                <a16:creationId xmlns:a16="http://schemas.microsoft.com/office/drawing/2014/main" id="{B23CFA88-4B38-4A09-8441-23A3317E008E}"/>
              </a:ext>
            </a:extLst>
          </p:cNvPr>
          <p:cNvSpPr>
            <a:spLocks xmlns:a="http://schemas.openxmlformats.org/drawingml/2006/main" noGrp="1"/>
          </p:cNvSpPr>
          <p:nvPr/>
        </p:nvSpPr>
        <p:spPr>
          <a:xfrm xmlns:a="http://schemas.openxmlformats.org/drawingml/2006/main">
            <a:off x="2790825" y="30003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eab64ccf532c468a"/>
              </a:rPr>
              <a:t>arXiv:1908.02591</a:t>
            </a:r>
          </a:p>
        </p:txBody>
      </p:sp>
      <p:sp>
        <p:nvSpPr>
          <p:cNvPr id="17419" name="">
            <a:extLst xmlns:a="http://schemas.openxmlformats.org/drawingml/2006/main">
              <a:ext uri="{FF2B5EF4-FFF2-40B4-BE49-F238E27FC236}">
                <a16:creationId xmlns:a16="http://schemas.microsoft.com/office/drawing/2014/main" id="{C3B48D07-6969-4DF6-846B-92D233262C76}"/>
              </a:ext>
            </a:extLst>
          </p:cNvPr>
          <p:cNvSpPr>
            <a:spLocks xmlns:a="http://schemas.openxmlformats.org/drawingml/2006/main" noGrp="1"/>
          </p:cNvSpPr>
          <p:nvPr/>
        </p:nvSpPr>
        <p:spPr>
          <a:xfrm xmlns:a="http://schemas.openxmlformats.org/drawingml/2006/main">
            <a:off x="619125" y="32575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Blockchain data</a:t>
            </a:r>
          </a:p>
        </p:txBody>
      </p:sp>
      <p:sp>
        <p:nvSpPr>
          <p:cNvPr id="17420" name="">
            <a:extLst xmlns:a="http://schemas.openxmlformats.org/drawingml/2006/main">
              <a:ext uri="{FF2B5EF4-FFF2-40B4-BE49-F238E27FC236}">
                <a16:creationId xmlns:a16="http://schemas.microsoft.com/office/drawing/2014/main" id="{7DDE0555-E1CE-4597-A7AA-C6B75AFC55C9}"/>
              </a:ext>
            </a:extLst>
          </p:cNvPr>
          <p:cNvSpPr>
            <a:spLocks xmlns:a="http://schemas.openxmlformats.org/drawingml/2006/main" noGrp="1"/>
          </p:cNvSpPr>
          <p:nvPr/>
        </p:nvSpPr>
        <p:spPr>
          <a:xfrm xmlns:a="http://schemas.openxmlformats.org/drawingml/2006/main">
            <a:off x="2790825" y="32575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Blockstream Esplora: address and transaction API documentation.</a:t>
            </a:r>
          </a:p>
        </p:txBody>
      </p:sp>
      <p:sp>
        <p:nvSpPr>
          <p:cNvPr id="17421" name="">
            <a:extLst xmlns:a="http://schemas.openxmlformats.org/drawingml/2006/main">
              <a:ext uri="{FF2B5EF4-FFF2-40B4-BE49-F238E27FC236}">
                <a16:creationId xmlns:a16="http://schemas.microsoft.com/office/drawing/2014/main" id="{237529F6-18EC-4AD5-9C33-C88D012FDD1A}"/>
              </a:ext>
            </a:extLst>
          </p:cNvPr>
          <p:cNvSpPr>
            <a:spLocks xmlns:a="http://schemas.openxmlformats.org/drawingml/2006/main" noGrp="1"/>
          </p:cNvSpPr>
          <p:nvPr/>
        </p:nvSpPr>
        <p:spPr>
          <a:xfrm xmlns:a="http://schemas.openxmlformats.org/drawingml/2006/main">
            <a:off x="2790825" y="37242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6f5160cafee3407d"/>
              </a:rPr>
              <a:t>Official API documentation</a:t>
            </a:r>
          </a:p>
        </p:txBody>
      </p:sp>
      <p:sp>
        <p:nvSpPr>
          <p:cNvPr id="17422" name="">
            <a:extLst xmlns:a="http://schemas.openxmlformats.org/drawingml/2006/main">
              <a:ext uri="{FF2B5EF4-FFF2-40B4-BE49-F238E27FC236}">
                <a16:creationId xmlns:a16="http://schemas.microsoft.com/office/drawing/2014/main" id="{A7B6B857-A700-4E86-939C-3D12FE440152}"/>
              </a:ext>
            </a:extLst>
          </p:cNvPr>
          <p:cNvSpPr>
            <a:spLocks xmlns:a="http://schemas.openxmlformats.org/drawingml/2006/main" noGrp="1"/>
          </p:cNvSpPr>
          <p:nvPr/>
        </p:nvSpPr>
        <p:spPr>
          <a:xfrm xmlns:a="http://schemas.openxmlformats.org/drawingml/2006/main">
            <a:off x="619125" y="39814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Attribution sources</a:t>
            </a:r>
          </a:p>
        </p:txBody>
      </p:sp>
      <p:sp>
        <p:nvSpPr>
          <p:cNvPr id="17423" name="">
            <a:extLst xmlns:a="http://schemas.openxmlformats.org/drawingml/2006/main">
              <a:ext uri="{FF2B5EF4-FFF2-40B4-BE49-F238E27FC236}">
                <a16:creationId xmlns:a16="http://schemas.microsoft.com/office/drawing/2014/main" id="{6D7F2C58-8C11-41F6-B950-F61F15EA4E0E}"/>
              </a:ext>
            </a:extLst>
          </p:cNvPr>
          <p:cNvSpPr>
            <a:spLocks xmlns:a="http://schemas.openxmlformats.org/drawingml/2006/main" noGrp="1"/>
          </p:cNvSpPr>
          <p:nvPr/>
        </p:nvSpPr>
        <p:spPr>
          <a:xfrm xmlns:a="http://schemas.openxmlformats.org/drawingml/2006/main">
            <a:off x="2790825" y="39814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Binance, Our Commitment to Transparency (2022): published wallet disclosures.</a:t>
            </a:r>
          </a:p>
        </p:txBody>
      </p:sp>
      <p:sp>
        <p:nvSpPr>
          <p:cNvPr id="17424" name="">
            <a:extLst xmlns:a="http://schemas.openxmlformats.org/drawingml/2006/main">
              <a:ext uri="{FF2B5EF4-FFF2-40B4-BE49-F238E27FC236}">
                <a16:creationId xmlns:a16="http://schemas.microsoft.com/office/drawing/2014/main" id="{A2D15397-5BF5-4057-8B09-151C4F15E580}"/>
              </a:ext>
            </a:extLst>
          </p:cNvPr>
          <p:cNvSpPr>
            <a:spLocks xmlns:a="http://schemas.openxmlformats.org/drawingml/2006/main" noGrp="1"/>
          </p:cNvSpPr>
          <p:nvPr/>
        </p:nvSpPr>
        <p:spPr>
          <a:xfrm xmlns:a="http://schemas.openxmlformats.org/drawingml/2006/main">
            <a:off x="2790825" y="44481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70f7b6d2ce35491c"/>
              </a:rPr>
              <a:t>Historical disclosure; not a deposit-account registry</a:t>
            </a:r>
          </a:p>
        </p:txBody>
      </p:sp>
      <p:sp>
        <p:nvSpPr>
          <p:cNvPr id="17425" name="">
            <a:extLst xmlns:a="http://schemas.openxmlformats.org/drawingml/2006/main">
              <a:ext uri="{FF2B5EF4-FFF2-40B4-BE49-F238E27FC236}">
                <a16:creationId xmlns:a16="http://schemas.microsoft.com/office/drawing/2014/main" id="{03F5B8F2-E635-445A-9BC1-CB4019F3116A}"/>
              </a:ext>
            </a:extLst>
          </p:cNvPr>
          <p:cNvSpPr>
            <a:spLocks xmlns:a="http://schemas.openxmlformats.org/drawingml/2006/main" noGrp="1"/>
          </p:cNvSpPr>
          <p:nvPr/>
        </p:nvSpPr>
        <p:spPr>
          <a:xfrm xmlns:a="http://schemas.openxmlformats.org/drawingml/2006/main">
            <a:off x="619125" y="47053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AML context</a:t>
            </a:r>
          </a:p>
        </p:txBody>
      </p:sp>
      <p:sp>
        <p:nvSpPr>
          <p:cNvPr id="17426" name="">
            <a:extLst xmlns:a="http://schemas.openxmlformats.org/drawingml/2006/main">
              <a:ext uri="{FF2B5EF4-FFF2-40B4-BE49-F238E27FC236}">
                <a16:creationId xmlns:a16="http://schemas.microsoft.com/office/drawing/2014/main" id="{55227741-F049-4931-8BF9-E1512B7E146C}"/>
              </a:ext>
            </a:extLst>
          </p:cNvPr>
          <p:cNvSpPr>
            <a:spLocks xmlns:a="http://schemas.openxmlformats.org/drawingml/2006/main" noGrp="1"/>
          </p:cNvSpPr>
          <p:nvPr/>
        </p:nvSpPr>
        <p:spPr>
          <a:xfrm xmlns:a="http://schemas.openxmlformats.org/drawingml/2006/main">
            <a:off x="2790825" y="47053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FATF (2021), Updated Guidance for a Risk-Based Approach to Virtual Assets and VASPs.</a:t>
            </a:r>
          </a:p>
        </p:txBody>
      </p:sp>
      <p:sp>
        <p:nvSpPr>
          <p:cNvPr id="17427" name="">
            <a:extLst xmlns:a="http://schemas.openxmlformats.org/drawingml/2006/main">
              <a:ext uri="{FF2B5EF4-FFF2-40B4-BE49-F238E27FC236}">
                <a16:creationId xmlns:a16="http://schemas.microsoft.com/office/drawing/2014/main" id="{3E47343B-DD50-4DF4-BD5A-4B806A42BC14}"/>
              </a:ext>
            </a:extLst>
          </p:cNvPr>
          <p:cNvSpPr>
            <a:spLocks xmlns:a="http://schemas.openxmlformats.org/drawingml/2006/main" noGrp="1"/>
          </p:cNvSpPr>
          <p:nvPr/>
        </p:nvSpPr>
        <p:spPr>
          <a:xfrm xmlns:a="http://schemas.openxmlformats.org/drawingml/2006/main">
            <a:off x="2790825" y="51720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50406916815847d7"/>
              </a:rPr>
              <a:t>FATF guidance</a:t>
            </a:r>
          </a:p>
        </p:txBody>
      </p:sp>
      <p:sp>
        <p:nvSpPr>
          <p:cNvPr id="17428" name="">
            <a:extLst xmlns:a="http://schemas.openxmlformats.org/drawingml/2006/main">
              <a:ext uri="{FF2B5EF4-FFF2-40B4-BE49-F238E27FC236}">
                <a16:creationId xmlns:a16="http://schemas.microsoft.com/office/drawing/2014/main" id="{0855A479-E73F-4C4C-B4E0-31A7E065C644}"/>
              </a:ext>
            </a:extLst>
          </p:cNvPr>
          <p:cNvSpPr>
            <a:spLocks xmlns:a="http://schemas.openxmlformats.org/drawingml/2006/main" noGrp="1"/>
          </p:cNvSpPr>
          <p:nvPr/>
        </p:nvSpPr>
        <p:spPr>
          <a:xfrm xmlns:a="http://schemas.openxmlformats.org/drawingml/2006/main">
            <a:off x="619125" y="54292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Evidence handling</a:t>
            </a:r>
          </a:p>
        </p:txBody>
      </p:sp>
      <p:sp>
        <p:nvSpPr>
          <p:cNvPr id="17429" name="">
            <a:extLst xmlns:a="http://schemas.openxmlformats.org/drawingml/2006/main">
              <a:ext uri="{FF2B5EF4-FFF2-40B4-BE49-F238E27FC236}">
                <a16:creationId xmlns:a16="http://schemas.microsoft.com/office/drawing/2014/main" id="{748F42A9-F8F8-46D8-92D0-A3494523C805}"/>
              </a:ext>
            </a:extLst>
          </p:cNvPr>
          <p:cNvSpPr>
            <a:spLocks xmlns:a="http://schemas.openxmlformats.org/drawingml/2006/main" noGrp="1"/>
          </p:cNvSpPr>
          <p:nvPr/>
        </p:nvSpPr>
        <p:spPr>
          <a:xfrm xmlns:a="http://schemas.openxmlformats.org/drawingml/2006/main">
            <a:off x="2790825" y="54292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NIST SP 800-86 (2006), Guide to Integrating Forensic Techniques into Incident Response.</a:t>
            </a:r>
          </a:p>
        </p:txBody>
      </p:sp>
      <p:sp>
        <p:nvSpPr>
          <p:cNvPr id="17430" name="">
            <a:extLst xmlns:a="http://schemas.openxmlformats.org/drawingml/2006/main">
              <a:ext uri="{FF2B5EF4-FFF2-40B4-BE49-F238E27FC236}">
                <a16:creationId xmlns:a16="http://schemas.microsoft.com/office/drawing/2014/main" id="{4E86D702-6524-439C-94AD-366099828E20}"/>
              </a:ext>
            </a:extLst>
          </p:cNvPr>
          <p:cNvSpPr>
            <a:spLocks xmlns:a="http://schemas.openxmlformats.org/drawingml/2006/main" noGrp="1"/>
          </p:cNvSpPr>
          <p:nvPr/>
        </p:nvSpPr>
        <p:spPr>
          <a:xfrm xmlns:a="http://schemas.openxmlformats.org/drawingml/2006/main">
            <a:off x="2790825" y="58959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421a1ae5c26749b1"/>
              </a:rPr>
              <a:t>NIST guidance; not a guarantee of legal admissibility</a:t>
            </a:r>
          </a:p>
        </p:txBody>
      </p:sp>
      <p:pic>
        <p:nvPicPr>
          <p:cNvPr id="17456" name=""/>
          <p:cNvPicPr>
            <a:picLocks xmlns:a="http://schemas.openxmlformats.org/drawingml/2006/main" noChangeAspect="1"/>
          </p:cNvPicPr>
          <p:nvPr/>
        </p:nvPicPr>
        <p:blipFill>
          <a:blip xmlns:r="http://schemas.openxmlformats.org/officeDocument/2006/relationships" xmlns:a="http://schemas.openxmlformats.org/drawingml/2006/main" r:embed="R2b75d8ff8b3c483f"/>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2026-09-11T00:58:22.7780000Z</dcterms:created>
  <dcterms:modified xsi:type="dcterms:W3CDTF">2026-09-11T00:58:22.7780000Z</dcterms:modified>
</coreProperties>
</file>