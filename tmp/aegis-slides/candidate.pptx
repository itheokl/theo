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515d999ca44575" /><Relationship Type="http://schemas.openxmlformats.org/officeDocument/2006/relationships/extended-properties" Target="/docProps/app.xml" Id="R2667214d1f264fa1" /><Relationship Type="http://schemas.openxmlformats.org/officeDocument/2006/relationships/officeDocument" Target="/ppt/presentation.xml" Id="R9afc99d0cb8b4e29" /></Relationships>
</file>

<file path=ppt/presentation.xml><?xml version="1.0" encoding="utf-8"?>
<p:presentation xmlns:p="http://schemas.openxmlformats.org/presentationml/2006/main">
  <p:sldMasterIdLst>
    <p:sldMasterId xmlns:r="http://schemas.openxmlformats.org/officeDocument/2006/relationships" id="2147483648" r:id="Rf2adef3b5fd74f14"/>
  </p:sldMasterIdLst>
  <p:notesMasterIdLst>
    <p:notesMasterId xmlns:r="http://schemas.openxmlformats.org/officeDocument/2006/relationships" r:id="R0b0e522f874446f0"/>
  </p:notesMasterIdLst>
  <p:sldIdLst>
    <p:sldId xmlns:r="http://schemas.openxmlformats.org/officeDocument/2006/relationships" id="256" r:id="R6ac95144456a4fb1"/>
    <p:sldId xmlns:r="http://schemas.openxmlformats.org/officeDocument/2006/relationships" id="257" r:id="Rc234e6b5206b4b78"/>
    <p:sldId xmlns:r="http://schemas.openxmlformats.org/officeDocument/2006/relationships" id="258" r:id="R008964c71f0c47be"/>
    <p:sldId xmlns:r="http://schemas.openxmlformats.org/officeDocument/2006/relationships" id="259" r:id="Re6e5899aa0a14128"/>
    <p:sldId xmlns:r="http://schemas.openxmlformats.org/officeDocument/2006/relationships" id="260" r:id="R89add0b395f44842"/>
    <p:sldId xmlns:r="http://schemas.openxmlformats.org/officeDocument/2006/relationships" id="261" r:id="Rccb8e1a31ddc45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938830ea7454cdf" /><Relationship Type="http://schemas.openxmlformats.org/officeDocument/2006/relationships/slideMaster" Target="/ppt/slideMasters/slideMaster1.xml" Id="Rf2adef3b5fd74f14" /><Relationship Type="http://schemas.openxmlformats.org/officeDocument/2006/relationships/notesMaster" Target="/ppt/notesMasters/notesMaster1.xml" Id="R0b0e522f874446f0" /><Relationship Type="http://schemas.openxmlformats.org/officeDocument/2006/relationships/presProps" Target="/ppt/presProps.xml" Id="R9a879a7222c441ae" /><Relationship Type="http://schemas.openxmlformats.org/officeDocument/2006/relationships/viewProps" Target="/ppt/viewProps.xml" Id="Rc0191ace72ae4f8b" /><Relationship Type="http://schemas.openxmlformats.org/officeDocument/2006/relationships/tableStyles" Target="/ppt/tableStyles.xml" Id="R48d5ffc2be1e4a8a" /><Relationship Type="http://schemas.openxmlformats.org/officeDocument/2006/relationships/slide" Target="/ppt/slides/slide1.xml" Id="R6ac95144456a4fb1" /><Relationship Type="http://schemas.openxmlformats.org/officeDocument/2006/relationships/slide" Target="/ppt/slides/slide2.xml" Id="Rc234e6b5206b4b78" /><Relationship Type="http://schemas.openxmlformats.org/officeDocument/2006/relationships/slide" Target="/ppt/slides/slide3.xml" Id="R008964c71f0c47be" /><Relationship Type="http://schemas.openxmlformats.org/officeDocument/2006/relationships/slide" Target="/ppt/slides/slide4.xml" Id="Re6e5899aa0a14128" /><Relationship Type="http://schemas.openxmlformats.org/officeDocument/2006/relationships/slide" Target="/ppt/slides/slide5.xml" Id="R89add0b395f44842" /><Relationship Type="http://schemas.openxmlformats.org/officeDocument/2006/relationships/slide" Target="/ppt/slides/slide6.xml" Id="Rccb8e1a31ddc45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01c01f7b1f49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88f5daab9d41fa" /><Relationship Type="http://schemas.openxmlformats.org/officeDocument/2006/relationships/notesMaster" Target="/ppt/notesMasters/notesMaster1.xml" Id="R6acc4d1e5aa34e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67b53ec35648d2" /><Relationship Type="http://schemas.openxmlformats.org/officeDocument/2006/relationships/notesMaster" Target="/ppt/notesMasters/notesMaster1.xml" Id="R347efde7210d48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3555a106564070" /><Relationship Type="http://schemas.openxmlformats.org/officeDocument/2006/relationships/notesMaster" Target="/ppt/notesMasters/notesMaster1.xml" Id="R2693d89a377d42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762eee595748d3" /><Relationship Type="http://schemas.openxmlformats.org/officeDocument/2006/relationships/notesMaster" Target="/ppt/notesMasters/notesMaster1.xml" Id="Rd3a766af0d3944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c247d80de94869" /><Relationship Type="http://schemas.openxmlformats.org/officeDocument/2006/relationships/notesMaster" Target="/ppt/notesMasters/notesMaster1.xml" Id="R9851c834241c4c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9abd7aec174145" /><Relationship Type="http://schemas.openxmlformats.org/officeDocument/2006/relationships/notesMaster" Target="/ppt/notesMasters/notesMaster1.xml" Id="Rf46abda993dc42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differentiation: an integrated, revisable investigation package links the receiving-VASP path, source-labelled attribution, evidence strength and next action. This is a design proposition, not a world-first claim. Nearest is the first supported receiving VASP on a directed, time-consistent path within the investigated scope. A VASP label is not proof of a specific customer account or complicity in fraud. Monitoring responds to provider/indexer updates rather than promising zero latency.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algorithm: normalize complaint chain/address and available transaction/time context; build a directed transaction graph; traverse time-consistent paths under hop, value and runtime limits; query versioned address labels; treat common-input clustering as a separate inference and suppress unsafe merges for collaborative transactions. Bitcoin spend links connect outputs to later inputs, but assigning value through transactions with several inputs and outputs requires an explicit allocation assumption. Account-based transfers do not by themselves prove continuity of particular funds. Bridge correlation needs supported event/message identifiers, not amount similarity alone. Rank candidate paths using trace support and label provenance without inventing calibrated probabilities. Recompute affected findings when indexed transactions or labels change. https://github.com/Blockstream/esplora/blob/master/API.md ; https://conferences.sigcomm.org/imc/2013/papers/imc182-meiklejohnA.pdf ; https://arxiv.org/abs/1908.02591 . Workflow is an illustration of the proposed 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validation gates: first validate Bitcoin path construction and label-backed receiving-VASP matches. Add monitoring and test event-to-alert latency under stated load. Extend to EVM/TRON and bridge adapters only with independently labelled test cases. Use time/entity-separated evaluation where feasible, include exchange withdrawals and collaborative transactions as hard negatives, and report unresolved coverage alongside precision and false-positive rate. Record runtime and provider costs. Label ingestion must respect licensing and permitted uses. Public reserve disclosures support entity labels, not customer deposit-account identity. Authorized VASP cooperation and LEA integration are dependencies, not secured partnerships. Agency deployment will require encryption, role-based case access, audit logging and approved retention policies.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example is hypothetical and deliberately contains no actual addresses, fabricated transaction hashes or claimed recovery amounts. It illustrates the intended end-product output, not current implementation or measured evidence. A chronological path alone does not prove the same funds moved through each transaction; the report must expose any allocation or ownership assumptions. The VASP label must carry a documented source. Preservation or freezing action remains with authorized investigators and relevant parties. Expected social and economic benefits require pilot measurement.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86c44d281c4e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c687b4144449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9cfdf24bdd40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396fb7dd5849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16540bf6a541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6b83bd363840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d5d27ad7ad8412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f5ae19068b439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897f8b5b0634cb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3abfc1b8d324d8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1000a523971418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94CD1B-5770-405E-8358-06DA12FB955F}"/>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EB608AD-1784-4E5A-B158-CAA98591F6F6}"/>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323FC40-637F-4CC7-A9E7-633CA17949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CF679BF9-8C47-45D6-9868-0A9663CCB2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1E3B51B-3E8C-4F32-A803-5CF6C805744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32224E-C6FD-4E79-8CF6-546F7EB440B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7F93B98-3655-4B18-B705-9DF6C86664D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4796170-428C-4318-8584-AB05EF9783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C915E1B0-0E8F-4A96-8202-1419AAD915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C1A66D5-4B1F-4041-90F2-6A3B302B06D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43FCEA-CCC0-46A7-AB65-4A45CFAE0533}"/>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7198557-F006-4152-8E31-5CF85F2E3766}"/>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3387611-E9D1-4632-85B3-C1F7D1E72F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DE050A7F-5066-4AE8-B3FE-A7327D364C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78FBF1C-9E89-4331-A9C2-99EE53B431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87F47E-2038-433F-BBE7-81457E54ECB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E71E53C-FB0F-4352-9EED-423DBBEE0E4B}"/>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86E6BA28-4CC2-4861-B090-D5DE10E977C9}"/>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DB641684-7F13-4727-82AA-00DC748E8A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F75AE330-403D-4F5C-90D2-A4B5731454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0018C707-0A4D-487F-98AF-894AD42BB0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58EAEB-BBDD-4550-8FE9-21C7153B95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006EE2E-BD67-425B-9A5A-E09A981BC965}"/>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0AA4ADF-F357-4AA1-A853-A2EC1FA0EEB1}"/>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9216F75-127C-4147-98A8-AA1ADE6BAE5C}"/>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7BB1F6C-D2C3-4E51-8C73-B8065D92C056}"/>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9BDA82A6-48EF-4B81-BC5B-DBE4309F05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0E8CDC08-6401-4BEB-B746-9FA0622046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A4AE688C-7ACE-4454-B7DE-F3A401DC60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4C26B8-7DA0-4A70-A36A-F3F80DD887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9CA50E74-F0F7-4394-8521-BA32374CFB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4CA4A6D7-AA39-42FD-AF61-5DE0FEABE2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8713A1E6-9FE2-48FF-A55F-7EC66A6D70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ADBBB23D-2FF6-4894-9E86-0147ADA0D2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1E77D7DD-1C7A-4D55-80C5-DECF7DDA1A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4F4EEAB6-925A-456F-98A0-CD3B9CEF44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E2868B-2A3A-4CEF-9F23-5366726A4148}"/>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95FEBFB-E42A-4EF0-A7DF-6E3B7B4B06BE}"/>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0B0B20B-2C79-4DB4-973E-B5D9C1BFD1E4}"/>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0C196DE-FEEB-4129-B02A-F307DE1EAC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F1535446-48A8-4C83-980B-B5BEC44585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2924329-9178-447A-8632-242E14D4CD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CEC7B-07B3-4A50-A0E8-CC08A48464C1}"/>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504BE9C-C393-4878-9219-EDDD023CA3B0}"/>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08C6B56C-B4D2-4A88-8A7A-D456047B4A07}"/>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D46B9DFB-1607-4DFA-B41D-56D5F8B147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20126D7-2E5E-4F78-BE8C-6588515E7C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BEACDB3-EBB3-426E-882D-0249745E28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202C0F-2AD8-4E33-86C3-95AE06C17D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537AAB7-97BB-4013-B208-5B64B39E2E9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F1281AC-0ED7-4347-8C3F-AAAB6C2C65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A103A1C1-F7EE-488D-B3C5-EB642E1587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ECC944D-FBA6-442C-BB8B-890B8BCBC0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B2E6F17-FB96-4452-AACB-0C376A7C1BA5}"/>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1E1B902-C3BA-4847-BF06-DD371781CE1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EBF668E-6B30-4804-8278-33DA0E4DA7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1D65CC91-67D6-4A5F-86D9-5734F5AB93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A3F3864-13F2-4219-8882-94FFC8A772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bc846a9e93407d" /><Relationship Type="http://schemas.openxmlformats.org/officeDocument/2006/relationships/slideLayout" Target="/ppt/slideLayouts/slideLayout1.xml" Id="R1906841698a847c7" /><Relationship Type="http://schemas.openxmlformats.org/officeDocument/2006/relationships/slideLayout" Target="/ppt/slideLayouts/slideLayout2.xml" Id="Rbfe61151c0004688" /><Relationship Type="http://schemas.openxmlformats.org/officeDocument/2006/relationships/slideLayout" Target="/ppt/slideLayouts/slideLayout3.xml" Id="R137249b9754e4629" /><Relationship Type="http://schemas.openxmlformats.org/officeDocument/2006/relationships/slideLayout" Target="/ppt/slideLayouts/slideLayout4.xml" Id="Rfb793703cc5f44ca" /><Relationship Type="http://schemas.openxmlformats.org/officeDocument/2006/relationships/slideLayout" Target="/ppt/slideLayouts/slideLayout5.xml" Id="Rae9eacd0e6ad47dc" /><Relationship Type="http://schemas.openxmlformats.org/officeDocument/2006/relationships/slideLayout" Target="/ppt/slideLayouts/slideLayout6.xml" Id="Ra6e09adeac7f431e" /><Relationship Type="http://schemas.openxmlformats.org/officeDocument/2006/relationships/slideLayout" Target="/ppt/slideLayouts/slideLayout7.xml" Id="R95a4ecb018e74c00" /><Relationship Type="http://schemas.openxmlformats.org/officeDocument/2006/relationships/slideLayout" Target="/ppt/slideLayouts/slideLayout8.xml" Id="Red5f5c65ec454b0f" /><Relationship Type="http://schemas.openxmlformats.org/officeDocument/2006/relationships/slideLayout" Target="/ppt/slideLayouts/slideLayout9.xml" Id="R10e5fdddbe614f48" /><Relationship Type="http://schemas.openxmlformats.org/officeDocument/2006/relationships/slideLayout" Target="/ppt/slideLayouts/slideLayout10.xml" Id="R4e107418b9a64c5a" /><Relationship Type="http://schemas.openxmlformats.org/officeDocument/2006/relationships/slideLayout" Target="/ppt/slideLayouts/slideLayout11.xml" Id="R7fdc1d04523c4d7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3C654A4B-1AF1-4CE1-A4AC-CC17486A8F80}"/>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8A971C86-42D8-43EA-9556-15151E20F23C}"/>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C4B7166-EF11-4A5F-8309-5BFEC7F3C8B4}"/>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C1FB81ED-E608-4D2F-8145-43C6DBCE7623}"/>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8FDD6A9-9410-4066-A19E-7BF00FAEA545}"/>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06841698a847c7"/>
    <p:sldLayoutId xmlns:r="http://schemas.openxmlformats.org/officeDocument/2006/relationships" id="2147483650" r:id="Rbfe61151c0004688"/>
    <p:sldLayoutId xmlns:r="http://schemas.openxmlformats.org/officeDocument/2006/relationships" id="2147483651" r:id="R137249b9754e4629"/>
    <p:sldLayoutId xmlns:r="http://schemas.openxmlformats.org/officeDocument/2006/relationships" id="2147483652" r:id="Rfb793703cc5f44ca"/>
    <p:sldLayoutId xmlns:r="http://schemas.openxmlformats.org/officeDocument/2006/relationships" id="2147483653" r:id="Rae9eacd0e6ad47dc"/>
    <p:sldLayoutId xmlns:r="http://schemas.openxmlformats.org/officeDocument/2006/relationships" id="2147483654" r:id="Ra6e09adeac7f431e"/>
    <p:sldLayoutId xmlns:r="http://schemas.openxmlformats.org/officeDocument/2006/relationships" id="2147483655" r:id="R95a4ecb018e74c00"/>
    <p:sldLayoutId xmlns:r="http://schemas.openxmlformats.org/officeDocument/2006/relationships" id="2147483656" r:id="Red5f5c65ec454b0f"/>
    <p:sldLayoutId xmlns:r="http://schemas.openxmlformats.org/officeDocument/2006/relationships" id="2147483657" r:id="R10e5fdddbe614f48"/>
    <p:sldLayoutId xmlns:r="http://schemas.openxmlformats.org/officeDocument/2006/relationships" id="2147483658" r:id="R4e107418b9a64c5a"/>
    <p:sldLayoutId xmlns:r="http://schemas.openxmlformats.org/officeDocument/2006/relationships" id="2147483659" r:id="R7fdc1d04523c4d7c"/>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57fd3459a64e01" /><Relationship Type="http://schemas.openxmlformats.org/officeDocument/2006/relationships/image" Target="/ppt/media/image.png" Id="Rf9da62c5bff041fa" /><Relationship Type="http://schemas.openxmlformats.org/officeDocument/2006/relationships/image" Target="/ppt/media/image2.png" Id="Rd25c9284f4664957" /><Relationship Type="http://schemas.openxmlformats.org/officeDocument/2006/relationships/notesSlide" Target="/ppt/notesSlides/notesSlide1.xml" Id="R245003d210d140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2eb833660244c4b" /><Relationship Type="http://schemas.openxmlformats.org/officeDocument/2006/relationships/image" Target="/ppt/media/image3.png" Id="R511ef8c9f4e7465d" /><Relationship Type="http://schemas.openxmlformats.org/officeDocument/2006/relationships/notesSlide" Target="/ppt/notesSlides/notesSlide2.xml" Id="Re9b81148430640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ac99aeae1e14269" /><Relationship Type="http://schemas.openxmlformats.org/officeDocument/2006/relationships/image" Target="/ppt/media/image4.png" Id="Rbdd3471dbc3e4016" /><Relationship Type="http://schemas.openxmlformats.org/officeDocument/2006/relationships/image" Target="/ppt/media/image5.png" Id="Re10b0ccc90884ac7" /><Relationship Type="http://schemas.openxmlformats.org/officeDocument/2006/relationships/notesSlide" Target="/ppt/notesSlides/notesSlide3.xml" Id="Rd822eed06a594e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4a30d8aeb894856" /><Relationship Type="http://schemas.openxmlformats.org/officeDocument/2006/relationships/image" Target="/ppt/media/image6.png" Id="R90a12125107a4c0e" /><Relationship Type="http://schemas.openxmlformats.org/officeDocument/2006/relationships/notesSlide" Target="/ppt/notesSlides/notesSlide4.xml" Id="R5d0a4625a68d42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4ed0218f38143ce" /><Relationship Type="http://schemas.openxmlformats.org/officeDocument/2006/relationships/image" Target="/ppt/media/image7.png" Id="Rc8e9af453d2247d4" /><Relationship Type="http://schemas.openxmlformats.org/officeDocument/2006/relationships/notesSlide" Target="/ppt/notesSlides/notesSlide5.xml" Id="R82319846129546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889f66922d34fbd" /><Relationship Type="http://schemas.openxmlformats.org/officeDocument/2006/relationships/hyperlink" Target="https://conferences.sigcomm.org/imc/2013/papers/imc182-meiklejohnA.pdf" TargetMode="External" Id="R24b840a08a7d4a71" /><Relationship Type="http://schemas.openxmlformats.org/officeDocument/2006/relationships/hyperlink" Target="https://arxiv.org/abs/1908.02591" TargetMode="External" Id="R2d5e09c1da98480e" /><Relationship Type="http://schemas.openxmlformats.org/officeDocument/2006/relationships/hyperlink" Target="https://github.com/Blockstream/esplora/blob/master/API.md" TargetMode="External" Id="R4adda2c72d0f4d4e" /><Relationship Type="http://schemas.openxmlformats.org/officeDocument/2006/relationships/hyperlink" Target="https://www.binance.com/en-IN/blog/community/2895840147147652626" TargetMode="External" Id="Rcba94f395cad4d1c" /><Relationship Type="http://schemas.openxmlformats.org/officeDocument/2006/relationships/hyperlink" Target="https://www.fatf-gafi.org/en/publications/Fatfrecommendations/Guidance-rba-virtual-assets-2021.html" TargetMode="External" Id="Rb312744f915348c3" /><Relationship Type="http://schemas.openxmlformats.org/officeDocument/2006/relationships/hyperlink" Target="https://csrc.nist.gov/pubs/sp/800/86/final" TargetMode="External" Id="R7f06965e0e8c4d2e" /><Relationship Type="http://schemas.openxmlformats.org/officeDocument/2006/relationships/image" Target="/ppt/media/image8.png" Id="R7dc98e5ed25642b8" /><Relationship Type="http://schemas.openxmlformats.org/officeDocument/2006/relationships/notesSlide" Target="/ppt/notesSlides/notesSlide6.xml" Id="Rbad1d392663041e5"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9da62c5bff041fa"/>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F91B93A5-B493-430D-9837-16900E89865B}"/>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C9FF749B-7F56-40C5-81C3-38EC5BFE0FC5}"/>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26085049-E07E-4677-A52A-6668E82A11F8}"/>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sp>
        <p:nvSpPr>
          <p:cNvPr id="40" name="">
            <a:extLst xmlns:a="http://schemas.openxmlformats.org/drawingml/2006/main">
              <a:ext uri="{FF2B5EF4-FFF2-40B4-BE49-F238E27FC236}">
                <a16:creationId xmlns:a16="http://schemas.microsoft.com/office/drawing/2014/main" id="{024A73D7-B3AC-41DA-9CAE-FCFF8055B2CE}"/>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C8AED06D-D9CF-48A2-891A-ECBE8BD3CE69}"/>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8F24D325-8E99-491C-AA08-49157FC77DB2}"/>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0AEB3C89-2A43-4EF9-98AC-5ECAFC57C890}"/>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9ACB3452-B0A3-4D25-AD1F-6EC76D82A86F}"/>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386578BA-F71E-4C1F-B5D9-CF6D6AD7F2C4}"/>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Team ID: [ENTER REGISTERED TEAM ID]</a:t>
            </a:r>
          </a:p>
        </p:txBody>
      </p:sp>
      <p:sp>
        <p:nvSpPr>
          <p:cNvPr id="46" name="">
            <a:extLst xmlns:a="http://schemas.openxmlformats.org/drawingml/2006/main">
              <a:ext uri="{FF2B5EF4-FFF2-40B4-BE49-F238E27FC236}">
                <a16:creationId xmlns:a16="http://schemas.microsoft.com/office/drawing/2014/main" id="{D951FA86-1BA3-402A-BB47-103A58A2C6DE}"/>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d25c9284f4664957"/>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8507635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93D0306-E3A3-4445-8FAF-3955843E4F4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8441BBF5-9F68-48CB-A350-F0AD407A2BFE}"/>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72F6683C-2A7C-4152-B477-1152CD8F6FCD}"/>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CF60B3A3-394A-4BAC-B190-7E6864E2D851}"/>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5364" name="">
            <a:extLst xmlns:a="http://schemas.openxmlformats.org/drawingml/2006/main">
              <a:ext uri="{FF2B5EF4-FFF2-40B4-BE49-F238E27FC236}">
                <a16:creationId xmlns:a16="http://schemas.microsoft.com/office/drawing/2014/main" id="{110326D1-3269-4E62-9109-D339494F6818}"/>
              </a:ext>
            </a:extLst>
          </p:cNvPr>
          <p:cNvSpPr>
            <a:spLocks xmlns:a="http://schemas.openxmlformats.org/drawingml/2006/main" noGrp="1"/>
          </p:cNvSpPr>
          <p:nvPr/>
        </p:nvSpPr>
        <p:spPr>
          <a:xfrm xmlns:a="http://schemas.openxmlformats.org/drawingml/2006/main">
            <a:off x="609600" y="1304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Proposed Solution (Describe your Idea/Solution/Prototype)</a:t>
            </a:r>
          </a:p>
        </p:txBody>
      </p:sp>
      <p:sp>
        <p:nvSpPr>
          <p:cNvPr id="15365" name="">
            <a:extLst xmlns:a="http://schemas.openxmlformats.org/drawingml/2006/main">
              <a:ext uri="{FF2B5EF4-FFF2-40B4-BE49-F238E27FC236}">
                <a16:creationId xmlns:a16="http://schemas.microsoft.com/office/drawing/2014/main" id="{5857DC0B-636C-41FE-BE55-572AF9C3A71E}"/>
              </a:ext>
            </a:extLst>
          </p:cNvPr>
          <p:cNvSpPr>
            <a:spLocks xmlns:a="http://schemas.openxmlformats.org/drawingml/2006/main" noGrp="1"/>
          </p:cNvSpPr>
          <p:nvPr/>
        </p:nvSpPr>
        <p:spPr>
          <a:xfrm xmlns:a="http://schemas.openxmlformats.org/drawingml/2006/main">
            <a:off x="609600" y="178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66" name="">
            <a:extLst xmlns:a="http://schemas.openxmlformats.org/drawingml/2006/main">
              <a:ext uri="{FF2B5EF4-FFF2-40B4-BE49-F238E27FC236}">
                <a16:creationId xmlns:a16="http://schemas.microsoft.com/office/drawing/2014/main" id="{769BAAED-879A-4F41-BD12-7BB32574FA07}"/>
              </a:ext>
            </a:extLst>
          </p:cNvPr>
          <p:cNvSpPr>
            <a:spLocks xmlns:a="http://schemas.openxmlformats.org/drawingml/2006/main" noGrp="1"/>
          </p:cNvSpPr>
          <p:nvPr/>
        </p:nvSpPr>
        <p:spPr>
          <a:xfrm xmlns:a="http://schemas.openxmlformats.org/drawingml/2006/main">
            <a:off x="723900" y="2143125"/>
            <a:ext cx="108013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A reported wallet becomes an actionable receiving-VASP lead, with a reviewable fund trail.</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AEGIS will trace intermediary hops and identify the first supported receiving VASP on each path.</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Each finding will include transactions, amounts, timestamps, label sources and next actions.</a:t>
            </a:r>
          </a:p>
        </p:txBody>
      </p:sp>
      <p:sp>
        <p:nvSpPr>
          <p:cNvPr id="15367" name="">
            <a:extLst xmlns:a="http://schemas.openxmlformats.org/drawingml/2006/main">
              <a:ext uri="{FF2B5EF4-FFF2-40B4-BE49-F238E27FC236}">
                <a16:creationId xmlns:a16="http://schemas.microsoft.com/office/drawing/2014/main" id="{E33FA314-9153-4FBE-A87B-4D262E6F5D1B}"/>
              </a:ext>
            </a:extLst>
          </p:cNvPr>
          <p:cNvSpPr>
            <a:spLocks xmlns:a="http://schemas.openxmlformats.org/drawingml/2006/main" noGrp="1"/>
          </p:cNvSpPr>
          <p:nvPr/>
        </p:nvSpPr>
        <p:spPr>
          <a:xfrm xmlns:a="http://schemas.openxmlformats.org/drawingml/2006/main">
            <a:off x="609600" y="3571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How it addresses the problem</a:t>
            </a:r>
          </a:p>
        </p:txBody>
      </p:sp>
      <p:sp>
        <p:nvSpPr>
          <p:cNvPr id="15368" name="">
            <a:extLst xmlns:a="http://schemas.openxmlformats.org/drawingml/2006/main">
              <a:ext uri="{FF2B5EF4-FFF2-40B4-BE49-F238E27FC236}">
                <a16:creationId xmlns:a16="http://schemas.microsoft.com/office/drawing/2014/main" id="{A964E9AD-3717-47BE-A947-D80549C9F8DA}"/>
              </a:ext>
            </a:extLst>
          </p:cNvPr>
          <p:cNvSpPr>
            <a:spLocks xmlns:a="http://schemas.openxmlformats.org/drawingml/2006/main" noGrp="1"/>
          </p:cNvSpPr>
          <p:nvPr/>
        </p:nvSpPr>
        <p:spPr>
          <a:xfrm xmlns:a="http://schemas.openxmlformats.org/drawingml/2006/main">
            <a:off x="723900" y="3933825"/>
            <a:ext cx="10801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Continuous monitoring will alert investigators when funds move or an actionable destination appears.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A case-linked report will support preservation requests and coordination with the receiving VASP.</a:t>
            </a:r>
          </a:p>
        </p:txBody>
      </p:sp>
      <p:sp>
        <p:nvSpPr>
          <p:cNvPr id="15369" name="">
            <a:extLst xmlns:a="http://schemas.openxmlformats.org/drawingml/2006/main">
              <a:ext uri="{FF2B5EF4-FFF2-40B4-BE49-F238E27FC236}">
                <a16:creationId xmlns:a16="http://schemas.microsoft.com/office/drawing/2014/main" id="{B5E25079-F26E-456E-86A7-D6876F628269}"/>
              </a:ext>
            </a:extLst>
          </p:cNvPr>
          <p:cNvSpPr>
            <a:spLocks xmlns:a="http://schemas.openxmlformats.org/drawingml/2006/main" noGrp="1"/>
          </p:cNvSpPr>
          <p:nvPr/>
        </p:nvSpPr>
        <p:spPr>
          <a:xfrm xmlns:a="http://schemas.openxmlformats.org/drawingml/2006/main">
            <a:off x="609600" y="50673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Innovation and uniqueness of the solution</a:t>
            </a:r>
          </a:p>
        </p:txBody>
      </p:sp>
      <p:sp>
        <p:nvSpPr>
          <p:cNvPr id="15370" name="">
            <a:extLst xmlns:a="http://schemas.openxmlformats.org/drawingml/2006/main">
              <a:ext uri="{FF2B5EF4-FFF2-40B4-BE49-F238E27FC236}">
                <a16:creationId xmlns:a16="http://schemas.microsoft.com/office/drawing/2014/main" id="{E3FFD0E4-9280-4CFE-83B3-896855E0E433}"/>
              </a:ext>
            </a:extLst>
          </p:cNvPr>
          <p:cNvSpPr>
            <a:spLocks xmlns:a="http://schemas.openxmlformats.org/drawingml/2006/main" noGrp="1"/>
          </p:cNvSpPr>
          <p:nvPr/>
        </p:nvSpPr>
        <p:spPr>
          <a:xfrm xmlns:a="http://schemas.openxmlformats.org/drawingml/2006/main">
            <a:off x="723900" y="5429250"/>
            <a:ext cx="10801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An evidence-linked case package will connect attribution reasoning directly to investigative action.</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New transactions or revised labels will update findings while preserving the earlier analysis.</a:t>
            </a:r>
          </a:p>
        </p:txBody>
      </p:sp>
      <p:pic>
        <p:nvPicPr>
          <p:cNvPr id="15384" name=""/>
          <p:cNvPicPr>
            <a:picLocks xmlns:a="http://schemas.openxmlformats.org/drawingml/2006/main" noChangeAspect="1"/>
          </p:cNvPicPr>
          <p:nvPr/>
        </p:nvPicPr>
        <p:blipFill>
          <a:blip xmlns:r="http://schemas.openxmlformats.org/officeDocument/2006/relationships" xmlns:a="http://schemas.openxmlformats.org/drawingml/2006/main" r:embed="R511ef8c9f4e7465d"/>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8285512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5340B5E0-306A-4620-959D-4C5F360C76EF}"/>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DDD5C36D-F2FE-49BD-9EB9-0CB0644D187D}"/>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4943456B-59DF-4912-AF1B-5D9AF541E155}"/>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6D5A57D9-A747-44B4-8C4E-10B5FC2E24AE}"/>
              </a:ext>
            </a:extLst>
          </p:cNvPr>
          <p:cNvSpPr>
            <a:spLocks xmlns:a="http://schemas.openxmlformats.org/drawingml/2006/main" noGrp="1"/>
          </p:cNvSpPr>
          <p:nvPr/>
        </p:nvSpPr>
        <p:spPr>
          <a:xfrm xmlns:a="http://schemas.openxmlformats.org/drawingml/2006/main">
            <a:off x="609600" y="1323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Technologies to be used</a:t>
            </a:r>
          </a:p>
        </p:txBody>
      </p:sp>
      <p:sp>
        <p:nvSpPr>
          <p:cNvPr id="17413" name="">
            <a:extLst xmlns:a="http://schemas.openxmlformats.org/drawingml/2006/main">
              <a:ext uri="{FF2B5EF4-FFF2-40B4-BE49-F238E27FC236}">
                <a16:creationId xmlns:a16="http://schemas.microsoft.com/office/drawing/2014/main" id="{17646445-EEED-40D2-B541-CFB5DFA8B306}"/>
              </a:ext>
            </a:extLst>
          </p:cNvPr>
          <p:cNvSpPr>
            <a:spLocks xmlns:a="http://schemas.openxmlformats.org/drawingml/2006/main" noGrp="1"/>
          </p:cNvSpPr>
          <p:nvPr/>
        </p:nvSpPr>
        <p:spPr>
          <a:xfrm xmlns:a="http://schemas.openxmlformats.org/drawingml/2006/main">
            <a:off x="723900" y="1714500"/>
            <a:ext cx="1080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React + FastAPI, queued workers, a transaction index and versioned VASP-label storage.</a:t>
            </a:r>
          </a:p>
        </p:txBody>
      </p:sp>
      <p:sp>
        <p:nvSpPr>
          <p:cNvPr id="17414" name="">
            <a:extLst xmlns:a="http://schemas.openxmlformats.org/drawingml/2006/main">
              <a:ext uri="{FF2B5EF4-FFF2-40B4-BE49-F238E27FC236}">
                <a16:creationId xmlns:a16="http://schemas.microsoft.com/office/drawing/2014/main" id="{9883FB29-6638-4BDC-91A7-DCB7D1EBDB0E}"/>
              </a:ext>
            </a:extLst>
          </p:cNvPr>
          <p:cNvSpPr>
            <a:spLocks xmlns:a="http://schemas.openxmlformats.org/drawingml/2006/main" noGrp="1"/>
          </p:cNvSpPr>
          <p:nvPr/>
        </p:nvSpPr>
        <p:spPr>
          <a:xfrm xmlns:a="http://schemas.openxmlformats.org/drawingml/2006/main">
            <a:off x="609600" y="2200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Methodology and process for implementation</a:t>
            </a:r>
          </a:p>
        </p:txBody>
      </p:sp>
      <p:sp>
        <p:nvSpPr>
          <p:cNvPr id="17415" name="">
            <a:extLst xmlns:a="http://schemas.openxmlformats.org/drawingml/2006/main">
              <a:ext uri="{FF2B5EF4-FFF2-40B4-BE49-F238E27FC236}">
                <a16:creationId xmlns:a16="http://schemas.microsoft.com/office/drawing/2014/main" id="{CC8D71FB-D9B9-49E8-A213-B59BF916DCEF}"/>
              </a:ext>
            </a:extLst>
          </p:cNvPr>
          <p:cNvSpPr>
            <a:spLocks xmlns:a="http://schemas.openxmlformats.org/drawingml/2006/main" noGrp="1"/>
          </p:cNvSpPr>
          <p:nvPr/>
        </p:nvSpPr>
        <p:spPr>
          <a:xfrm xmlns:a="http://schemas.openxmlformats.org/drawingml/2006/main">
            <a:off x="723900" y="2609850"/>
            <a:ext cx="10801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Trace time-consistent outgoing paths. Track spend links on Bitcoin and transfer events on EVM/TRON.</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Match sourced labels, cautiously expand clusters and rank receiving candidates by evidence strength.</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Correlate supported bridge events. Explainable rules and evaluated ML will flag laundering patterns.</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bdd3471dbc3e4016"/>
          <a:srcRect xmlns:a="http://schemas.openxmlformats.org/drawingml/2006/main" l="0" t="23923" r="0" b="23923"/>
          <a:stretch xmlns:a="http://schemas.openxmlformats.org/drawingml/2006/main">
            <a:fillRect l="0" t="0" r="0" b="0"/>
          </a:stretch>
        </p:blipFill>
        <p:spPr>
          <a:xfrm xmlns:a="http://schemas.openxmlformats.org/drawingml/2006/main">
            <a:off x="523875" y="3981450"/>
            <a:ext cx="11144250" cy="1952625"/>
          </a:xfrm>
          <a:prstGeom xmlns:a="http://schemas.openxmlformats.org/drawingml/2006/main" prst="rect">
            <a:avLst/>
          </a:prstGeom>
        </p:spPr>
      </p:pic>
      <p:sp>
        <p:nvSpPr>
          <p:cNvPr id="17417" name="">
            <a:extLst xmlns:a="http://schemas.openxmlformats.org/drawingml/2006/main">
              <a:ext uri="{FF2B5EF4-FFF2-40B4-BE49-F238E27FC236}">
                <a16:creationId xmlns:a16="http://schemas.microsoft.com/office/drawing/2014/main" id="{21298C80-051B-4505-A78A-6C0089DD7140}"/>
              </a:ext>
            </a:extLst>
          </p:cNvPr>
          <p:cNvSpPr>
            <a:spLocks xmlns:a="http://schemas.openxmlformats.org/drawingml/2006/main" noGrp="1"/>
          </p:cNvSpPr>
          <p:nvPr/>
        </p:nvSpPr>
        <p:spPr>
          <a:xfrm xmlns:a="http://schemas.openxmlformats.org/drawingml/2006/main">
            <a:off x="723900" y="5991225"/>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F497D"/>
                </a:solidFill>
                <a:latin typeface="Arial"/>
                <a:ea typeface="Arial"/>
                <a:cs typeface="Arial"/>
              </a:defRPr>
            </a:pPr>
            <a:r>
              <a:rPr sz="1575" b="0">
                <a:solidFill>
                  <a:srgbClr val="1F497D"/>
                </a:solidFill>
                <a:latin typeface="Arial"/>
                <a:ea typeface="Arial"/>
                <a:cs typeface="Arial"/>
              </a:rPr>
              <a:t>Ambiguous ownership, mixing and unsupported bridges will remain explicit tracing gaps.</a:t>
            </a:r>
          </a:p>
        </p:txBody>
      </p:sp>
      <p:pic>
        <p:nvPicPr>
          <p:cNvPr id="17430" name=""/>
          <p:cNvPicPr>
            <a:picLocks xmlns:a="http://schemas.openxmlformats.org/drawingml/2006/main" noChangeAspect="1"/>
          </p:cNvPicPr>
          <p:nvPr/>
        </p:nvPicPr>
        <p:blipFill>
          <a:blip xmlns:r="http://schemas.openxmlformats.org/officeDocument/2006/relationships" xmlns:a="http://schemas.openxmlformats.org/drawingml/2006/main" r:embed="Re10b0ccc90884ac7"/>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9942856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C9D57649-F722-46D6-902E-03DB0A961655}"/>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CA6D43CC-3FD6-4647-AFC8-C50C1E7649FD}"/>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6FC46302-ED59-4092-89F7-6D6188CFF4D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24FAE39B-9B15-4053-9D58-53DB5CA64D05}"/>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Analysis of the feasibility of the idea</a:t>
            </a:r>
          </a:p>
        </p:txBody>
      </p:sp>
      <p:sp>
        <p:nvSpPr>
          <p:cNvPr id="17413" name="">
            <a:extLst xmlns:a="http://schemas.openxmlformats.org/drawingml/2006/main">
              <a:ext uri="{FF2B5EF4-FFF2-40B4-BE49-F238E27FC236}">
                <a16:creationId xmlns:a16="http://schemas.microsoft.com/office/drawing/2014/main" id="{7511B892-5A04-4BED-BA97-E78895E02E6B}"/>
              </a:ext>
            </a:extLst>
          </p:cNvPr>
          <p:cNvSpPr>
            <a:spLocks xmlns:a="http://schemas.openxmlformats.org/drawingml/2006/main" noGrp="1"/>
          </p:cNvSpPr>
          <p:nvPr/>
        </p:nvSpPr>
        <p:spPr>
          <a:xfrm xmlns:a="http://schemas.openxmlformats.org/drawingml/2006/main">
            <a:off x="723900" y="1724025"/>
            <a:ext cx="10801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Label supply: exchange disclosures and reviewed public labels, supplemented by authorized VASP data.</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Delivery: validate Bitcoin attribution first, then monitoring, EVM/TRON and supported bridge adapters.</a:t>
            </a:r>
          </a:p>
        </p:txBody>
      </p:sp>
      <p:sp>
        <p:nvSpPr>
          <p:cNvPr id="17414" name="">
            <a:extLst xmlns:a="http://schemas.openxmlformats.org/drawingml/2006/main">
              <a:ext uri="{FF2B5EF4-FFF2-40B4-BE49-F238E27FC236}">
                <a16:creationId xmlns:a16="http://schemas.microsoft.com/office/drawing/2014/main" id="{E1C8538C-38CB-40BA-AD35-ED24AA84D5C7}"/>
              </a:ext>
            </a:extLst>
          </p:cNvPr>
          <p:cNvSpPr>
            <a:spLocks xmlns:a="http://schemas.openxmlformats.org/drawingml/2006/main" noGrp="1"/>
          </p:cNvSpPr>
          <p:nvPr/>
        </p:nvSpPr>
        <p:spPr>
          <a:xfrm xmlns:a="http://schemas.openxmlformats.org/drawingml/2006/main">
            <a:off x="609600" y="2962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Potential challenges and risks</a:t>
            </a:r>
          </a:p>
        </p:txBody>
      </p:sp>
      <p:sp>
        <p:nvSpPr>
          <p:cNvPr id="17415" name="">
            <a:extLst xmlns:a="http://schemas.openxmlformats.org/drawingml/2006/main">
              <a:ext uri="{FF2B5EF4-FFF2-40B4-BE49-F238E27FC236}">
                <a16:creationId xmlns:a16="http://schemas.microsoft.com/office/drawing/2014/main" id="{2F27B926-8AD9-4834-8C65-4ACD312C19B4}"/>
              </a:ext>
            </a:extLst>
          </p:cNvPr>
          <p:cNvSpPr>
            <a:spLocks xmlns:a="http://schemas.openxmlformats.org/drawingml/2006/main" noGrp="1"/>
          </p:cNvSpPr>
          <p:nvPr/>
        </p:nvSpPr>
        <p:spPr>
          <a:xfrm xmlns:a="http://schemas.openxmlformats.org/drawingml/2006/main">
            <a:off x="723900" y="3343275"/>
            <a:ext cx="10801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Incomplete labels and ambiguous flows can produce missed matches or false attribution.</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Provider limits, sensitive case data and integration access constrain agency deployment.</a:t>
            </a:r>
          </a:p>
        </p:txBody>
      </p:sp>
      <p:sp>
        <p:nvSpPr>
          <p:cNvPr id="17416" name="">
            <a:extLst xmlns:a="http://schemas.openxmlformats.org/drawingml/2006/main">
              <a:ext uri="{FF2B5EF4-FFF2-40B4-BE49-F238E27FC236}">
                <a16:creationId xmlns:a16="http://schemas.microsoft.com/office/drawing/2014/main" id="{202C570E-A18B-47AD-8034-0DD548F6869E}"/>
              </a:ext>
            </a:extLst>
          </p:cNvPr>
          <p:cNvSpPr>
            <a:spLocks xmlns:a="http://schemas.openxmlformats.org/drawingml/2006/main" noGrp="1"/>
          </p:cNvSpPr>
          <p:nvPr/>
        </p:nvSpPr>
        <p:spPr>
          <a:xfrm xmlns:a="http://schemas.openxmlformats.org/drawingml/2006/main">
            <a:off x="609600" y="4495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Strategies for overcoming these challenges</a:t>
            </a:r>
          </a:p>
        </p:txBody>
      </p:sp>
      <p:sp>
        <p:nvSpPr>
          <p:cNvPr id="17417" name="">
            <a:extLst xmlns:a="http://schemas.openxmlformats.org/drawingml/2006/main">
              <a:ext uri="{FF2B5EF4-FFF2-40B4-BE49-F238E27FC236}">
                <a16:creationId xmlns:a16="http://schemas.microsoft.com/office/drawing/2014/main" id="{DFD01B02-1C30-47EA-9376-66992845E08B}"/>
              </a:ext>
            </a:extLst>
          </p:cNvPr>
          <p:cNvSpPr>
            <a:spLocks xmlns:a="http://schemas.openxmlformats.org/drawingml/2006/main" noGrp="1"/>
          </p:cNvSpPr>
          <p:nvPr/>
        </p:nvSpPr>
        <p:spPr>
          <a:xfrm xmlns:a="http://schemas.openxmlformats.org/drawingml/2006/main">
            <a:off x="723900" y="4886325"/>
            <a:ext cx="10801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Index incrementally, cache queries and version every label with its source and review date.</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Test on held-out labelled paths and hard negatives. Measure precision, coverage and alert latency.</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Protect cases with role-based access and audit logs. Use approved NCRP/SAHYOG interfaces.</a:t>
            </a:r>
          </a:p>
        </p:txBody>
      </p:sp>
      <p:pic>
        <p:nvPicPr>
          <p:cNvPr id="17430" name=""/>
          <p:cNvPicPr>
            <a:picLocks xmlns:a="http://schemas.openxmlformats.org/drawingml/2006/main" noChangeAspect="1"/>
          </p:cNvPicPr>
          <p:nvPr/>
        </p:nvPicPr>
        <p:blipFill>
          <a:blip xmlns:r="http://schemas.openxmlformats.org/officeDocument/2006/relationships" xmlns:a="http://schemas.openxmlformats.org/drawingml/2006/main" r:embed="R90a12125107a4c0e"/>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43034535-1E99-44CC-BE97-E11849DF9195}"/>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147A9895-B01A-4E5E-8776-347DDB02302C}"/>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224D523-0C2A-42E4-B017-F80749E12B8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3982B5AA-F06C-4F88-89B5-97EF56A78C64}"/>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Potential impact on the target audience</a:t>
            </a:r>
          </a:p>
        </p:txBody>
      </p:sp>
      <p:sp>
        <p:nvSpPr>
          <p:cNvPr id="17413" name="">
            <a:extLst xmlns:a="http://schemas.openxmlformats.org/drawingml/2006/main">
              <a:ext uri="{FF2B5EF4-FFF2-40B4-BE49-F238E27FC236}">
                <a16:creationId xmlns:a16="http://schemas.microsoft.com/office/drawing/2014/main" id="{D498D9C5-A8D1-4208-96C2-8B59ABF50D20}"/>
              </a:ext>
            </a:extLst>
          </p:cNvPr>
          <p:cNvSpPr>
            <a:spLocks xmlns:a="http://schemas.openxmlformats.org/drawingml/2006/main" noGrp="1"/>
          </p:cNvSpPr>
          <p:nvPr/>
        </p:nvSpPr>
        <p:spPr>
          <a:xfrm xmlns:a="http://schemas.openxmlformats.org/drawingml/2006/main">
            <a:off x="723900" y="1752600"/>
            <a:ext cx="10801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Investigators will receive a prioritized VASP lead with the evidence needed to review it.</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Case teams will share a reproducible report and receive alerts as the fund trail changes.</a:t>
            </a:r>
          </a:p>
        </p:txBody>
      </p:sp>
      <p:sp>
        <p:nvSpPr>
          <p:cNvPr id="17414" name="">
            <a:extLst xmlns:a="http://schemas.openxmlformats.org/drawingml/2006/main">
              <a:ext uri="{FF2B5EF4-FFF2-40B4-BE49-F238E27FC236}">
                <a16:creationId xmlns:a16="http://schemas.microsoft.com/office/drawing/2014/main" id="{B57BD66C-A5C5-41F5-B45D-32E8A043273C}"/>
              </a:ext>
            </a:extLst>
          </p:cNvPr>
          <p:cNvSpPr>
            <a:spLocks xmlns:a="http://schemas.openxmlformats.org/drawingml/2006/main" noGrp="1"/>
          </p:cNvSpPr>
          <p:nvPr/>
        </p:nvSpPr>
        <p:spPr>
          <a:xfrm xmlns:a="http://schemas.openxmlformats.org/drawingml/2006/main">
            <a:off x="609600" y="28003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Illustrative investigation outcome</a:t>
            </a:r>
          </a:p>
        </p:txBody>
      </p:sp>
      <p:sp>
        <p:nvSpPr>
          <p:cNvPr id="17415" name="">
            <a:extLst xmlns:a="http://schemas.openxmlformats.org/drawingml/2006/main">
              <a:ext uri="{FF2B5EF4-FFF2-40B4-BE49-F238E27FC236}">
                <a16:creationId xmlns:a16="http://schemas.microsoft.com/office/drawing/2014/main" id="{D9A4E5BD-3437-48BA-8F52-7CE624C790EB}"/>
              </a:ext>
            </a:extLst>
          </p:cNvPr>
          <p:cNvSpPr>
            <a:spLocks xmlns:a="http://schemas.openxmlformats.org/drawingml/2006/main" noGrp="1"/>
          </p:cNvSpPr>
          <p:nvPr/>
        </p:nvSpPr>
        <p:spPr>
          <a:xfrm xmlns:a="http://schemas.openxmlformats.org/drawingml/2006/main">
            <a:off x="723900" y="31718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1111"/>
                </a:solidFill>
                <a:latin typeface="Arial"/>
                <a:ea typeface="Arial"/>
                <a:cs typeface="Arial"/>
              </a:defRPr>
            </a:pPr>
            <a:r>
              <a:rPr sz="1800" b="0">
                <a:solidFill>
                  <a:srgbClr val="111111"/>
                </a:solidFill>
                <a:latin typeface="Arial"/>
                <a:ea typeface="Arial"/>
                <a:cs typeface="Arial"/>
              </a:rPr>
              <a:t>Reported Wallet A pays intermediary B. B later pays an address labelled to VASP X.</a:t>
            </a:r>
          </a:p>
        </p:txBody>
      </p:sp>
      <p:sp>
        <p:nvSpPr>
          <p:cNvPr id="17416" name="">
            <a:extLst xmlns:a="http://schemas.openxmlformats.org/drawingml/2006/main">
              <a:ext uri="{FF2B5EF4-FFF2-40B4-BE49-F238E27FC236}">
                <a16:creationId xmlns:a16="http://schemas.microsoft.com/office/drawing/2014/main" id="{C26DF888-E914-45C5-9B70-74E0EF2C968B}"/>
              </a:ext>
            </a:extLst>
          </p:cNvPr>
          <p:cNvSpPr>
            <a:spLocks xmlns:a="http://schemas.openxmlformats.org/drawingml/2006/main" noGrp="1"/>
          </p:cNvSpPr>
          <p:nvPr/>
        </p:nvSpPr>
        <p:spPr>
          <a:xfrm xmlns:a="http://schemas.openxmlformats.org/drawingml/2006/main">
            <a:off x="723900" y="35528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1111"/>
                </a:solidFill>
                <a:latin typeface="Arial"/>
                <a:ea typeface="Arial"/>
                <a:cs typeface="Arial"/>
              </a:defRPr>
            </a:pPr>
            <a:r>
              <a:rPr sz="1800" b="0">
                <a:solidFill>
                  <a:srgbClr val="111111"/>
                </a:solidFill>
                <a:latin typeface="Arial"/>
                <a:ea typeface="Arial"/>
                <a:cs typeface="Arial"/>
              </a:rPr>
              <a:t>Finding: VASP X candidate, two-hop path, transaction IDs, amounts and label provenance.</a:t>
            </a:r>
          </a:p>
        </p:txBody>
      </p:sp>
      <p:sp>
        <p:nvSpPr>
          <p:cNvPr id="17417" name="">
            <a:extLst xmlns:a="http://schemas.openxmlformats.org/drawingml/2006/main">
              <a:ext uri="{FF2B5EF4-FFF2-40B4-BE49-F238E27FC236}">
                <a16:creationId xmlns:a16="http://schemas.microsoft.com/office/drawing/2014/main" id="{4B9D1EE4-B0D9-46AC-8800-C5E811F61C16}"/>
              </a:ext>
            </a:extLst>
          </p:cNvPr>
          <p:cNvSpPr>
            <a:spLocks xmlns:a="http://schemas.openxmlformats.org/drawingml/2006/main" noGrp="1"/>
          </p:cNvSpPr>
          <p:nvPr/>
        </p:nvSpPr>
        <p:spPr>
          <a:xfrm xmlns:a="http://schemas.openxmlformats.org/drawingml/2006/main">
            <a:off x="723900" y="39338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1111"/>
                </a:solidFill>
                <a:latin typeface="Arial"/>
                <a:ea typeface="Arial"/>
                <a:cs typeface="Arial"/>
              </a:defRPr>
            </a:pPr>
            <a:r>
              <a:rPr sz="1800" b="0">
                <a:solidFill>
                  <a:srgbClr val="111111"/>
                </a:solidFill>
                <a:latin typeface="Arial"/>
                <a:ea typeface="Arial"/>
                <a:cs typeface="Arial"/>
              </a:rPr>
              <a:t>Next action: investigator reviews the finding and prepares a VASP preservation request.</a:t>
            </a:r>
          </a:p>
        </p:txBody>
      </p:sp>
      <p:sp>
        <p:nvSpPr>
          <p:cNvPr id="17418" name="">
            <a:extLst xmlns:a="http://schemas.openxmlformats.org/drawingml/2006/main">
              <a:ext uri="{FF2B5EF4-FFF2-40B4-BE49-F238E27FC236}">
                <a16:creationId xmlns:a16="http://schemas.microsoft.com/office/drawing/2014/main" id="{3FD28C31-A020-4F5D-876F-C44B2CFA6CCC}"/>
              </a:ext>
            </a:extLst>
          </p:cNvPr>
          <p:cNvSpPr>
            <a:spLocks xmlns:a="http://schemas.openxmlformats.org/drawingml/2006/main" noGrp="1"/>
          </p:cNvSpPr>
          <p:nvPr/>
        </p:nvSpPr>
        <p:spPr>
          <a:xfrm xmlns:a="http://schemas.openxmlformats.org/drawingml/2006/main">
            <a:off x="723900" y="4324350"/>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F497D"/>
                </a:solidFill>
                <a:latin typeface="Arial"/>
                <a:ea typeface="Arial"/>
                <a:cs typeface="Arial"/>
              </a:defRPr>
            </a:pPr>
            <a:r>
              <a:rPr sz="1500" b="0">
                <a:solidFill>
                  <a:srgbClr val="1F497D"/>
                </a:solidFill>
                <a:latin typeface="Arial"/>
                <a:ea typeface="Arial"/>
                <a:cs typeface="Arial"/>
              </a:rPr>
              <a:t>Illustration only. VASP X is fictional, and the path is not a demonstrated fraud case.</a:t>
            </a:r>
          </a:p>
        </p:txBody>
      </p:sp>
      <p:sp>
        <p:nvSpPr>
          <p:cNvPr id="17419" name="">
            <a:extLst xmlns:a="http://schemas.openxmlformats.org/drawingml/2006/main">
              <a:ext uri="{FF2B5EF4-FFF2-40B4-BE49-F238E27FC236}">
                <a16:creationId xmlns:a16="http://schemas.microsoft.com/office/drawing/2014/main" id="{BFEF5DF9-B0F6-4C9B-9C33-0D046378B766}"/>
              </a:ext>
            </a:extLst>
          </p:cNvPr>
          <p:cNvSpPr>
            <a:spLocks xmlns:a="http://schemas.openxmlformats.org/drawingml/2006/main" noGrp="1"/>
          </p:cNvSpPr>
          <p:nvPr/>
        </p:nvSpPr>
        <p:spPr>
          <a:xfrm xmlns:a="http://schemas.openxmlformats.org/drawingml/2006/main">
            <a:off x="609600" y="4772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Benefits of the solution (social, economic, environmental, etc.)</a:t>
            </a:r>
          </a:p>
        </p:txBody>
      </p:sp>
      <p:sp>
        <p:nvSpPr>
          <p:cNvPr id="17420" name="">
            <a:extLst xmlns:a="http://schemas.openxmlformats.org/drawingml/2006/main">
              <a:ext uri="{FF2B5EF4-FFF2-40B4-BE49-F238E27FC236}">
                <a16:creationId xmlns:a16="http://schemas.microsoft.com/office/drawing/2014/main" id="{F8858D04-C7CA-4C62-9ACF-733BE840484F}"/>
              </a:ext>
            </a:extLst>
          </p:cNvPr>
          <p:cNvSpPr>
            <a:spLocks xmlns:a="http://schemas.openxmlformats.org/drawingml/2006/main" noGrp="1"/>
          </p:cNvSpPr>
          <p:nvPr/>
        </p:nvSpPr>
        <p:spPr>
          <a:xfrm xmlns:a="http://schemas.openxmlformats.org/drawingml/2006/main">
            <a:off x="723900" y="5153025"/>
            <a:ext cx="108013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Social: help investigators act on suspected fraud proceeds while retaining human review.</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Economic: reduce repeated tracing work through shared indexing and reusable case reports.</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Operational: support consistent VASP coordination with a documented, auditable fund trail.</a:t>
            </a:r>
          </a:p>
        </p:txBody>
      </p:sp>
      <p:pic>
        <p:nvPicPr>
          <p:cNvPr id="17436" name=""/>
          <p:cNvPicPr>
            <a:picLocks xmlns:a="http://schemas.openxmlformats.org/drawingml/2006/main" noChangeAspect="1"/>
          </p:cNvPicPr>
          <p:nvPr/>
        </p:nvPicPr>
        <p:blipFill>
          <a:blip xmlns:r="http://schemas.openxmlformats.org/officeDocument/2006/relationships" xmlns:a="http://schemas.openxmlformats.org/drawingml/2006/main" r:embed="Rc8e9af453d2247d4"/>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CC5EFEEB-A773-4FA2-90B4-0E903FC91D5A}"/>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B175AB43-297B-4F53-8D37-97789B9E7D23}"/>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DB0A4E66-5EC6-4B96-8AC7-29AB17337401}"/>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E586E8B8-ABE7-4BDD-8253-99519D32F55A}"/>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E0C90394-482C-45F2-A4DE-9B8AB23AC7A9}"/>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46C28EE8-6B8A-4839-86F5-17CE8ABA34BD}"/>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55E36330-1841-445F-83DD-D9450FD5B5F3}"/>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24b840a08a7d4a71"/>
              </a:rPr>
              <a:t>ACM IMC paper</a:t>
            </a:r>
          </a:p>
        </p:txBody>
      </p:sp>
      <p:sp>
        <p:nvSpPr>
          <p:cNvPr id="17416" name="">
            <a:extLst xmlns:a="http://schemas.openxmlformats.org/drawingml/2006/main">
              <a:ext uri="{FF2B5EF4-FFF2-40B4-BE49-F238E27FC236}">
                <a16:creationId xmlns:a16="http://schemas.microsoft.com/office/drawing/2014/main" id="{664832BF-EC12-4A17-84DA-229F0C58C642}"/>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1C2DE84E-06C4-42E9-A933-AEAB32EC0E95}"/>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B8300372-16CB-48E9-85B3-47F10FABE184}"/>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2d5e09c1da98480e"/>
              </a:rPr>
              <a:t>arXiv:1908.02591</a:t>
            </a:r>
          </a:p>
        </p:txBody>
      </p:sp>
      <p:sp>
        <p:nvSpPr>
          <p:cNvPr id="17419" name="">
            <a:extLst xmlns:a="http://schemas.openxmlformats.org/drawingml/2006/main">
              <a:ext uri="{FF2B5EF4-FFF2-40B4-BE49-F238E27FC236}">
                <a16:creationId xmlns:a16="http://schemas.microsoft.com/office/drawing/2014/main" id="{1B7E334D-9C30-4617-B6DC-67474529F4BE}"/>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97F8C410-3BA0-441E-A0F2-94978BBA672F}"/>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3B418EA0-5F52-4057-BC9C-265F98F23BCA}"/>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4adda2c72d0f4d4e"/>
              </a:rPr>
              <a:t>Official API documentation</a:t>
            </a:r>
          </a:p>
        </p:txBody>
      </p:sp>
      <p:sp>
        <p:nvSpPr>
          <p:cNvPr id="17422" name="">
            <a:extLst xmlns:a="http://schemas.openxmlformats.org/drawingml/2006/main">
              <a:ext uri="{FF2B5EF4-FFF2-40B4-BE49-F238E27FC236}">
                <a16:creationId xmlns:a16="http://schemas.microsoft.com/office/drawing/2014/main" id="{35562F32-BBDC-475B-B231-658F30228275}"/>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9C97DFA7-B0F9-4ACC-9BC9-D6179D9325D8}"/>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EBE321F5-8D49-4488-B89A-9E85752C2E1E}"/>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cba94f395cad4d1c"/>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E2DE6CC4-9412-4720-A4AA-B7C3CC186D58}"/>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924E2274-C069-4D68-A838-03753AFDB888}"/>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99550484-4BCC-4C23-8F56-DB1287009F4B}"/>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b312744f915348c3"/>
              </a:rPr>
              <a:t>FATF guidance</a:t>
            </a:r>
          </a:p>
        </p:txBody>
      </p:sp>
      <p:sp>
        <p:nvSpPr>
          <p:cNvPr id="17428" name="">
            <a:extLst xmlns:a="http://schemas.openxmlformats.org/drawingml/2006/main">
              <a:ext uri="{FF2B5EF4-FFF2-40B4-BE49-F238E27FC236}">
                <a16:creationId xmlns:a16="http://schemas.microsoft.com/office/drawing/2014/main" id="{813DBC1E-B718-469C-8C54-8632214FD69A}"/>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22329C73-B937-41E4-BA91-6422A5DF0B8B}"/>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508D4201-B8D7-47F2-A68F-CCB7527A82CC}"/>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7f06965e0e8c4d2e"/>
              </a:rPr>
              <a:t>NIST guidance; not a guarantee of legal admissibility</a:t>
            </a: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7dc98e5ed25642b8"/>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2026-09-11T01:38:32.0610000Z</dcterms:created>
  <dcterms:modified xsi:type="dcterms:W3CDTF">2026-09-11T01:38:32.0610000Z</dcterms:modified>
</coreProperties>
</file>