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2ba0d7d8fac4f80" /><Relationship Type="http://schemas.openxmlformats.org/officeDocument/2006/relationships/extended-properties" Target="/docProps/app.xml" Id="R8b5e1af065974524" /><Relationship Type="http://schemas.openxmlformats.org/officeDocument/2006/relationships/officeDocument" Target="/ppt/presentation.xml" Id="R778ec5b03aec42f5" /></Relationships>
</file>

<file path=ppt/presentation.xml><?xml version="1.0" encoding="utf-8"?>
<p:presentation xmlns:p="http://schemas.openxmlformats.org/presentationml/2006/main">
  <p:sldMasterIdLst>
    <p:sldMasterId xmlns:r="http://schemas.openxmlformats.org/officeDocument/2006/relationships" id="2147483648" r:id="R26c21bfa261b428c"/>
  </p:sldMasterIdLst>
  <p:notesMasterIdLst>
    <p:notesMasterId xmlns:r="http://schemas.openxmlformats.org/officeDocument/2006/relationships" r:id="Rebd40a7e86e34b19"/>
  </p:notesMasterIdLst>
  <p:sldIdLst>
    <p:sldId xmlns:r="http://schemas.openxmlformats.org/officeDocument/2006/relationships" id="256" r:id="R4ac27a9b890f4623"/>
    <p:sldId xmlns:r="http://schemas.openxmlformats.org/officeDocument/2006/relationships" id="257" r:id="R9bc97a25bff74649"/>
    <p:sldId xmlns:r="http://schemas.openxmlformats.org/officeDocument/2006/relationships" id="258" r:id="Ra99def8c4b254fc0"/>
    <p:sldId xmlns:r="http://schemas.openxmlformats.org/officeDocument/2006/relationships" id="259" r:id="R5ecfdf87c26e4664"/>
    <p:sldId xmlns:r="http://schemas.openxmlformats.org/officeDocument/2006/relationships" id="260" r:id="R41aa8ed5e79c4a5c"/>
    <p:sldId xmlns:r="http://schemas.openxmlformats.org/officeDocument/2006/relationships" id="261" r:id="R1899e8d446494c8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f3de7bfe10414038" /><Relationship Type="http://schemas.openxmlformats.org/officeDocument/2006/relationships/slideMaster" Target="/ppt/slideMasters/slideMaster1.xml" Id="R26c21bfa261b428c" /><Relationship Type="http://schemas.openxmlformats.org/officeDocument/2006/relationships/notesMaster" Target="/ppt/notesMasters/notesMaster1.xml" Id="Rebd40a7e86e34b19" /><Relationship Type="http://schemas.openxmlformats.org/officeDocument/2006/relationships/presProps" Target="/ppt/presProps.xml" Id="R0e0f18fb791d4627" /><Relationship Type="http://schemas.openxmlformats.org/officeDocument/2006/relationships/viewProps" Target="/ppt/viewProps.xml" Id="R1c88a5f759784389" /><Relationship Type="http://schemas.openxmlformats.org/officeDocument/2006/relationships/tableStyles" Target="/ppt/tableStyles.xml" Id="Rb48cf86588a74701" /><Relationship Type="http://schemas.openxmlformats.org/officeDocument/2006/relationships/slide" Target="/ppt/slides/slide1.xml" Id="R4ac27a9b890f4623" /><Relationship Type="http://schemas.openxmlformats.org/officeDocument/2006/relationships/slide" Target="/ppt/slides/slide2.xml" Id="R9bc97a25bff74649" /><Relationship Type="http://schemas.openxmlformats.org/officeDocument/2006/relationships/slide" Target="/ppt/slides/slide3.xml" Id="Ra99def8c4b254fc0" /><Relationship Type="http://schemas.openxmlformats.org/officeDocument/2006/relationships/slide" Target="/ppt/slides/slide4.xml" Id="R5ecfdf87c26e4664" /><Relationship Type="http://schemas.openxmlformats.org/officeDocument/2006/relationships/slide" Target="/ppt/slides/slide5.xml" Id="R41aa8ed5e79c4a5c" /><Relationship Type="http://schemas.openxmlformats.org/officeDocument/2006/relationships/slide" Target="/ppt/slides/slide6.xml" Id="R1899e8d446494c8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1dfdda2a60f4d7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4c7d6e290974f61" /><Relationship Type="http://schemas.openxmlformats.org/officeDocument/2006/relationships/notesMaster" Target="/ppt/notesMasters/notesMaster1.xml" Id="R7e48ad073ef34dbd" /></Relationships>
</file>

<file path=ppt/notesSlides/_rels/notesSlide2.xml.rels>&#65279;<?xml version="1.0" encoding="utf-8"?><Relationships xmlns="http://schemas.openxmlformats.org/package/2006/relationships"><Relationship Type="http://schemas.openxmlformats.org/officeDocument/2006/relationships/slide" Target="/ppt/slides/slide2.xml" Id="R026bae7e57634ada" /><Relationship Type="http://schemas.openxmlformats.org/officeDocument/2006/relationships/notesMaster" Target="/ppt/notesMasters/notesMaster1.xml" Id="R495b3b8c149c4b86" /></Relationships>
</file>

<file path=ppt/notesSlides/_rels/notesSlide3.xml.rels>&#65279;<?xml version="1.0" encoding="utf-8"?><Relationships xmlns="http://schemas.openxmlformats.org/package/2006/relationships"><Relationship Type="http://schemas.openxmlformats.org/officeDocument/2006/relationships/slide" Target="/ppt/slides/slide3.xml" Id="R9df7ad5ef380454b" /><Relationship Type="http://schemas.openxmlformats.org/officeDocument/2006/relationships/notesMaster" Target="/ppt/notesMasters/notesMaster1.xml" Id="Rc16399e08d0a46a4" /></Relationships>
</file>

<file path=ppt/notesSlides/_rels/notesSlide4.xml.rels>&#65279;<?xml version="1.0" encoding="utf-8"?><Relationships xmlns="http://schemas.openxmlformats.org/package/2006/relationships"><Relationship Type="http://schemas.openxmlformats.org/officeDocument/2006/relationships/slide" Target="/ppt/slides/slide4.xml" Id="Rf06cf645ab844845" /><Relationship Type="http://schemas.openxmlformats.org/officeDocument/2006/relationships/notesMaster" Target="/ppt/notesMasters/notesMaster1.xml" Id="R54e45a9f0f384618" /></Relationships>
</file>

<file path=ppt/notesSlides/_rels/notesSlide5.xml.rels>&#65279;<?xml version="1.0" encoding="utf-8"?><Relationships xmlns="http://schemas.openxmlformats.org/package/2006/relationships"><Relationship Type="http://schemas.openxmlformats.org/officeDocument/2006/relationships/slide" Target="/ppt/slides/slide5.xml" Id="R682773d5bbbb4981" /><Relationship Type="http://schemas.openxmlformats.org/officeDocument/2006/relationships/notesMaster" Target="/ppt/notesMasters/notesMaster1.xml" Id="Rfbacebf29eac427d" /></Relationships>
</file>

<file path=ppt/notesSlides/_rels/notesSlide6.xml.rels>&#65279;<?xml version="1.0" encoding="utf-8"?><Relationships xmlns="http://schemas.openxmlformats.org/package/2006/relationships"><Relationship Type="http://schemas.openxmlformats.org/officeDocument/2006/relationships/slide" Target="/ppt/slides/slide6.xml" Id="Rec55cf51c62847b9" /><Relationship Type="http://schemas.openxmlformats.org/officeDocument/2006/relationships/notesMaster" Target="/ppt/notesMasters/notesMaster1.xml" Id="R59d764a9dfcb44c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 ID is intentionally left for the team to complete before submission. Problem statement title supplied by the user.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Proposed full-system endpoint, not a claim that every feature is implemented. Nearest means the first supported receiving VASP along a directed, time-consistent traced path. VASP attribution depends on label coverage; customer deposit-account ownership may require VASP confirmation. NCRP/SAHYOG access and interfaces require approval.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Workflow diagram generated with the built-in image-generation tool to illustrate the proposed design; it is not a system screenshot. Blockchain documentation: https://github.com/Blockstream/esplora/blob/master/API.md . The proposed cross-chain layer will correlate supported bridge events; separate chain adapters alone do not establish cross-chain continuity. ML models require labelled evaluation and remain assistive, not proof of wrongdoing.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Prototype scope checked against local source on 10 September 2026: backend/app/api/demo.py uses direction both, depth 1, max_nodes 80 and max_edges 160. Frontend exposes PDF and CSV export. This is not production certification or full exchange coverage. Proposed endpoint features are explicitly planned. No timing, accuracy or cost benchmarks are claimed.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These are intended impacts, not measured outcomes. AEGIS supports investigators; it does not freeze assets, issue legal orders or guarantee recovery. Open-source software still incurs infrastructure, indexing and data-access costs.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Meiklejohn et al. (2013), A Fistful of Bitcoins: Characterizing Payments Among Men with No Names.</a:t>
            </a:r>
            <a:endParaRPr/>
          </a:p>
          <a:p xmlns:a="http://schemas.openxmlformats.org/drawingml/2006/main">
            <a:pPr>
              <a:spcBef>
                <a:spcPct val="0"/>
              </a:spcBef>
              <a:buNone/>
            </a:pPr>
            <a:r>
              <a:t>https://conferences.sigcomm.org/imc/2013/papers/imc182-meiklejohnA.pdf</a:t>
            </a:r>
            <a:endParaRPr/>
          </a:p>
          <a:p xmlns:a="http://schemas.openxmlformats.org/drawingml/2006/main">
            <a:pPr>
              <a:spcBef>
                <a:spcPct val="0"/>
              </a:spcBef>
              <a:buNone/>
            </a:pPr>
            <a:r>
              <a:t/>
            </a:r>
            <a:endParaRPr/>
          </a:p>
          <a:p xmlns:a="http://schemas.openxmlformats.org/drawingml/2006/main">
            <a:pPr>
              <a:spcBef>
                <a:spcPct val="0"/>
              </a:spcBef>
              <a:buNone/>
            </a:pPr>
            <a:r>
              <a:t>Weber et al. (2019), Anti-Money Laundering in Bitcoin: Experimenting with Graph Convolutional Networks for Financial Forensics.</a:t>
            </a:r>
            <a:endParaRPr/>
          </a:p>
          <a:p xmlns:a="http://schemas.openxmlformats.org/drawingml/2006/main">
            <a:pPr>
              <a:spcBef>
                <a:spcPct val="0"/>
              </a:spcBef>
              <a:buNone/>
            </a:pPr>
            <a:r>
              <a:t>https://arxiv.org/abs/1908.02591</a:t>
            </a:r>
            <a:endParaRPr/>
          </a:p>
          <a:p xmlns:a="http://schemas.openxmlformats.org/drawingml/2006/main">
            <a:pPr>
              <a:spcBef>
                <a:spcPct val="0"/>
              </a:spcBef>
              <a:buNone/>
            </a:pPr>
            <a:r>
              <a:t/>
            </a:r>
            <a:endParaRPr/>
          </a:p>
          <a:p xmlns:a="http://schemas.openxmlformats.org/drawingml/2006/main">
            <a:pPr>
              <a:spcBef>
                <a:spcPct val="0"/>
              </a:spcBef>
              <a:buNone/>
            </a:pPr>
            <a:r>
              <a:t>Blockstream Esplora: address and transaction API documentation.</a:t>
            </a:r>
            <a:endParaRPr/>
          </a:p>
          <a:p xmlns:a="http://schemas.openxmlformats.org/drawingml/2006/main">
            <a:pPr>
              <a:spcBef>
                <a:spcPct val="0"/>
              </a:spcBef>
              <a:buNone/>
            </a:pPr>
            <a:r>
              <a:t>https://github.com/Blockstream/esplora/blob/master/API.md</a:t>
            </a:r>
            <a:endParaRPr/>
          </a:p>
          <a:p xmlns:a="http://schemas.openxmlformats.org/drawingml/2006/main">
            <a:pPr>
              <a:spcBef>
                <a:spcPct val="0"/>
              </a:spcBef>
              <a:buNone/>
            </a:pPr>
            <a:r>
              <a:t/>
            </a:r>
            <a:endParaRPr/>
          </a:p>
          <a:p xmlns:a="http://schemas.openxmlformats.org/drawingml/2006/main">
            <a:pPr>
              <a:spcBef>
                <a:spcPct val="0"/>
              </a:spcBef>
              <a:buNone/>
            </a:pPr>
            <a:r>
              <a:t>Binance, Our Commitment to Transparency (2022): published wallet disclosures.</a:t>
            </a:r>
            <a:endParaRPr/>
          </a:p>
          <a:p xmlns:a="http://schemas.openxmlformats.org/drawingml/2006/main">
            <a:pPr>
              <a:spcBef>
                <a:spcPct val="0"/>
              </a:spcBef>
              <a:buNone/>
            </a:pPr>
            <a:r>
              <a:t>https://www.binance.com/en-IN/blog/community/2895840147147652626</a:t>
            </a:r>
            <a:endParaRPr/>
          </a:p>
          <a:p xmlns:a="http://schemas.openxmlformats.org/drawingml/2006/main">
            <a:pPr>
              <a:spcBef>
                <a:spcPct val="0"/>
              </a:spcBef>
              <a:buNone/>
            </a:pPr>
            <a:r>
              <a:t/>
            </a:r>
            <a:endParaRPr/>
          </a:p>
          <a:p xmlns:a="http://schemas.openxmlformats.org/drawingml/2006/main">
            <a:pPr>
              <a:spcBef>
                <a:spcPct val="0"/>
              </a:spcBef>
              <a:buNone/>
            </a:pPr>
            <a:r>
              <a:t>FATF (2021), Updated Guidance for a Risk-Based Approach to Virtual Assets and VASPs.</a:t>
            </a:r>
            <a:endParaRPr/>
          </a:p>
          <a:p xmlns:a="http://schemas.openxmlformats.org/drawingml/2006/main">
            <a:pPr>
              <a:spcBef>
                <a:spcPct val="0"/>
              </a:spcBef>
              <a:buNone/>
            </a:pPr>
            <a:r>
              <a:t>https://www.fatf-gafi.org/en/publications/Fatfrecommendations/Guidance-rba-virtual-assets-2021.html</a:t>
            </a:r>
            <a:endParaRPr/>
          </a:p>
          <a:p xmlns:a="http://schemas.openxmlformats.org/drawingml/2006/main">
            <a:pPr>
              <a:spcBef>
                <a:spcPct val="0"/>
              </a:spcBef>
              <a:buNone/>
            </a:pPr>
            <a:r>
              <a:t/>
            </a:r>
            <a:endParaRPr/>
          </a:p>
          <a:p xmlns:a="http://schemas.openxmlformats.org/drawingml/2006/main">
            <a:pPr>
              <a:spcBef>
                <a:spcPct val="0"/>
              </a:spcBef>
              <a:buNone/>
            </a:pPr>
            <a:r>
              <a:t>NIST SP 800-86 (2006), Guide to Integrating Forensic Techniques into Incident Response.</a:t>
            </a:r>
            <a:endParaRPr/>
          </a:p>
          <a:p xmlns:a="http://schemas.openxmlformats.org/drawingml/2006/main">
            <a:pPr>
              <a:spcBef>
                <a:spcPct val="0"/>
              </a:spcBef>
              <a:buNone/>
            </a:pPr>
            <a:r>
              <a:t>https://csrc.nist.gov/pubs/sp/800/86/final</a:t>
            </a:r>
            <a:endParaRPr/>
          </a:p>
          <a:p xmlns:a="http://schemas.openxmlformats.org/drawingml/2006/main">
            <a:pPr>
              <a:spcBef>
                <a:spcPct val="0"/>
              </a:spcBef>
              <a:buNone/>
            </a:pPr>
            <a:r>
              <a:t/>
            </a:r>
            <a:endParaRPr/>
          </a:p>
          <a:p xmlns:a="http://schemas.openxmlformats.org/drawingml/2006/main">
            <a:pPr>
              <a:spcBef>
                <a:spcPct val="0"/>
              </a:spcBef>
              <a:buNone/>
            </a:pPr>
            <a:r>
              <a:t>Sources checked 10 September 2026. Research supports proposed methods, not product accuracy claims. Historical reserve disclosures do not establish customer deposit-account ownership.</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fd9ed198dbf46b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9abea2787394ef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472bd48722c4f9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b1cc261653b44d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b2ca19d27a44ae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dd646549c694511"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5cbb3e3b9230481e"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e77d21f9307445ae"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73bd7bb6da7d4443"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0ee2b02061fa48f4"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5d71de267cb0429b"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F5BAA55-3989-4060-BBAA-75E1ED445C18}"/>
              </a:ext>
            </a:extLst>
          </p:cNvPr>
          <p:cNvSpPr>
            <a:spLocks xmlns:a="http://schemas.openxmlformats.org/drawingml/2006/main" noGrp="1"/>
          </p:cNvSpPr>
          <p:nvPr>
            <p:ph type="ctrTitle" idx="0"/>
          </p:nvPr>
        </p:nvSpPr>
        <p:spPr>
          <a:xfrm xmlns:a="http://schemas.openxmlformats.org/drawingml/2006/main">
            <a:off x="914400" y="2130428"/>
            <a:ext cx="103632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D4D6C232-2ACC-48F1-AF11-53B5672B963E}"/>
              </a:ext>
            </a:extLst>
          </p:cNvPr>
          <p:cNvSpPr>
            <a:spLocks xmlns:a="http://schemas.openxmlformats.org/drawingml/2006/main" noGrp="1"/>
          </p:cNvSpPr>
          <p:nvPr>
            <p:ph type="subTitle" idx="1"/>
          </p:nvPr>
        </p:nvSpPr>
        <p:spPr>
          <a:xfrm xmlns:a="http://schemas.openxmlformats.org/drawingml/2006/main">
            <a:off x="1828800" y="3886200"/>
            <a:ext cx="85344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0B3583E9-4C39-460A-9D63-E0F9DEE8E2F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E60792E3-D524-454C-8AFD-A91972900BCB}" type="datetime1">
              <a:t>6/2/2026</a:t>
            </a:fld>
            <a:endParaRPr/>
          </a:p>
        </p:txBody>
      </p:sp>
      <p:sp>
        <p:nvSpPr>
          <p:cNvPr id="5" name="Footer Placeholder 4">
            <a:extLst xmlns:a="http://schemas.openxmlformats.org/drawingml/2006/main">
              <a:ext uri="{FF2B5EF4-FFF2-40B4-BE49-F238E27FC236}">
                <a16:creationId xmlns:a16="http://schemas.microsoft.com/office/drawing/2014/main" id="{D8EA34B1-D58B-46F8-B79C-E84C7AC0546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A311EC8C-0460-4A06-BB61-B5DAF126299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5B7E1BAA-A38D-40DE-B22C-DF9BD7D82058}"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5219359-5F76-4A58-B1EE-3CC6771A9A0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D56201DB-8A80-4231-B28F-ED60D554EB39}"/>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FE952A57-5ED9-4C9D-BB30-E9AAA6DFADE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708B7524-32A2-4C20-A58C-BC3BAA1042FC}" type="datetime1">
              <a:t>6/2/2026</a:t>
            </a:fld>
            <a:endParaRPr/>
          </a:p>
        </p:txBody>
      </p:sp>
      <p:sp>
        <p:nvSpPr>
          <p:cNvPr id="5" name="Footer Placeholder 4">
            <a:extLst xmlns:a="http://schemas.openxmlformats.org/drawingml/2006/main">
              <a:ext uri="{FF2B5EF4-FFF2-40B4-BE49-F238E27FC236}">
                <a16:creationId xmlns:a16="http://schemas.microsoft.com/office/drawing/2014/main" id="{FB4632A7-4E52-44AB-89F2-A62899AE80A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C984E73B-B7CA-4ADF-B30B-7741DD1C99C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677C3CE7-23F7-4828-823C-E0205DF2CF97}"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46ADEBA-F544-47CB-9B61-B96FF2F8C0FD}"/>
              </a:ext>
            </a:extLst>
          </p:cNvPr>
          <p:cNvSpPr>
            <a:spLocks xmlns:a="http://schemas.openxmlformats.org/drawingml/2006/main" noGrp="1"/>
          </p:cNvSpPr>
          <p:nvPr>
            <p:ph type="title" idx="0"/>
          </p:nvPr>
        </p:nvSpPr>
        <p:spPr>
          <a:xfrm xmlns:a="http://schemas.openxmlformats.org/drawingml/2006/main">
            <a:off x="963084" y="4406903"/>
            <a:ext cx="103632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7BF9512B-EFB9-43E6-9BC4-139C0D519DCF}"/>
              </a:ext>
            </a:extLst>
          </p:cNvPr>
          <p:cNvSpPr>
            <a:spLocks xmlns:a="http://schemas.openxmlformats.org/drawingml/2006/main" noGrp="1"/>
          </p:cNvSpPr>
          <p:nvPr>
            <p:ph type="body" idx="1"/>
          </p:nvPr>
        </p:nvSpPr>
        <p:spPr>
          <a:xfrm xmlns:a="http://schemas.openxmlformats.org/drawingml/2006/main">
            <a:off x="963084" y="2906713"/>
            <a:ext cx="103632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ABA0DAAA-E901-4816-A5D6-897C093FAAE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1E994447-D6B2-43BB-A877-57F1A267B999}" type="datetime1">
              <a:t>6/2/2026</a:t>
            </a:fld>
            <a:endParaRPr/>
          </a:p>
        </p:txBody>
      </p:sp>
      <p:sp>
        <p:nvSpPr>
          <p:cNvPr id="5" name="Footer Placeholder 4">
            <a:extLst xmlns:a="http://schemas.openxmlformats.org/drawingml/2006/main">
              <a:ext uri="{FF2B5EF4-FFF2-40B4-BE49-F238E27FC236}">
                <a16:creationId xmlns:a16="http://schemas.microsoft.com/office/drawing/2014/main" id="{836CA14D-E9FF-4EB9-8C21-DCD8917198B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B134070A-03C2-41F4-B520-8231DD38D25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41DB31D2-2A87-4F4C-A9AD-05C6CC2B321D}"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D44936A-884C-45F6-9099-8D41BE1FB51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92692A05-958C-485F-BA0F-F140F1C1D633}"/>
              </a:ext>
            </a:extLst>
          </p:cNvPr>
          <p:cNvSpPr>
            <a:spLocks xmlns:a="http://schemas.openxmlformats.org/drawingml/2006/main" noGrp="1"/>
          </p:cNvSpPr>
          <p:nvPr>
            <p:ph idx="1"/>
          </p:nvPr>
        </p:nvSpPr>
        <p:spPr>
          <a:xfrm xmlns:a="http://schemas.openxmlformats.org/drawingml/2006/main">
            <a:off x="609600" y="1600203"/>
            <a:ext cx="53848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9D09B6D3-D0F4-47A8-8343-D48F6153CC98}"/>
              </a:ext>
            </a:extLst>
          </p:cNvPr>
          <p:cNvSpPr>
            <a:spLocks xmlns:a="http://schemas.openxmlformats.org/drawingml/2006/main" noGrp="1"/>
          </p:cNvSpPr>
          <p:nvPr>
            <p:ph idx="2"/>
          </p:nvPr>
        </p:nvSpPr>
        <p:spPr>
          <a:xfrm xmlns:a="http://schemas.openxmlformats.org/drawingml/2006/main">
            <a:off x="6197600" y="1600203"/>
            <a:ext cx="53848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3">
            <a:extLst xmlns:a="http://schemas.openxmlformats.org/drawingml/2006/main">
              <a:ext uri="{FF2B5EF4-FFF2-40B4-BE49-F238E27FC236}">
                <a16:creationId xmlns:a16="http://schemas.microsoft.com/office/drawing/2014/main" id="{B666EEB9-BB6B-415D-BD5E-57BAC476A2A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68920E16-BD35-483C-AA6B-346FC7E46DEA}" type="datetime1">
              <a:t>6/2/2026</a:t>
            </a:fld>
            <a:endParaRPr/>
          </a:p>
        </p:txBody>
      </p:sp>
      <p:sp>
        <p:nvSpPr>
          <p:cNvPr id="6" name="Footer Placeholder 4">
            <a:extLst xmlns:a="http://schemas.openxmlformats.org/drawingml/2006/main">
              <a:ext uri="{FF2B5EF4-FFF2-40B4-BE49-F238E27FC236}">
                <a16:creationId xmlns:a16="http://schemas.microsoft.com/office/drawing/2014/main" id="{D279BC41-ED30-47B9-AB58-F31212F25A9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D96C0799-3681-49CA-80E0-D1098E52DDF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E1FC16D9-1635-4844-816A-0A8A2160FADA}"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639F37B-2401-4573-B59D-5E2FB5D15BD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79BDE94C-61BC-446D-9803-0E8B9F5AF117}"/>
              </a:ext>
            </a:extLst>
          </p:cNvPr>
          <p:cNvSpPr>
            <a:spLocks xmlns:a="http://schemas.openxmlformats.org/drawingml/2006/main" noGrp="1"/>
          </p:cNvSpPr>
          <p:nvPr>
            <p:ph type="body" idx="1"/>
          </p:nvPr>
        </p:nvSpPr>
        <p:spPr>
          <a:xfrm xmlns:a="http://schemas.openxmlformats.org/drawingml/2006/main">
            <a:off x="609600" y="1535113"/>
            <a:ext cx="5386917"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B5C885FF-E5EC-4399-B42F-3B46631C5C2A}"/>
              </a:ext>
            </a:extLst>
          </p:cNvPr>
          <p:cNvSpPr>
            <a:spLocks xmlns:a="http://schemas.openxmlformats.org/drawingml/2006/main" noGrp="1"/>
          </p:cNvSpPr>
          <p:nvPr>
            <p:ph idx="2"/>
          </p:nvPr>
        </p:nvSpPr>
        <p:spPr>
          <a:xfrm xmlns:a="http://schemas.openxmlformats.org/drawingml/2006/main">
            <a:off x="609600" y="2174875"/>
            <a:ext cx="5386917"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8B3C9E42-E62E-4540-B1BF-C57DC03D685D}"/>
              </a:ext>
            </a:extLst>
          </p:cNvPr>
          <p:cNvSpPr>
            <a:spLocks xmlns:a="http://schemas.openxmlformats.org/drawingml/2006/main" noGrp="1"/>
          </p:cNvSpPr>
          <p:nvPr>
            <p:ph type="body" idx="3"/>
          </p:nvPr>
        </p:nvSpPr>
        <p:spPr>
          <a:xfrm xmlns:a="http://schemas.openxmlformats.org/drawingml/2006/main">
            <a:off x="6193369" y="1535113"/>
            <a:ext cx="5389033"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F34C90DE-31D0-4F23-A442-84639FBBC262}"/>
              </a:ext>
            </a:extLst>
          </p:cNvPr>
          <p:cNvSpPr>
            <a:spLocks xmlns:a="http://schemas.openxmlformats.org/drawingml/2006/main" noGrp="1"/>
          </p:cNvSpPr>
          <p:nvPr>
            <p:ph idx="4"/>
          </p:nvPr>
        </p:nvSpPr>
        <p:spPr>
          <a:xfrm xmlns:a="http://schemas.openxmlformats.org/drawingml/2006/main">
            <a:off x="6193369" y="2174875"/>
            <a:ext cx="5389033"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3">
            <a:extLst xmlns:a="http://schemas.openxmlformats.org/drawingml/2006/main">
              <a:ext uri="{FF2B5EF4-FFF2-40B4-BE49-F238E27FC236}">
                <a16:creationId xmlns:a16="http://schemas.microsoft.com/office/drawing/2014/main" id="{0B47DC2C-E763-447E-ACCB-B62A7DFC8AA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2FEAC6F8-5103-4FC0-A69E-5C6AE6469DA8}" type="datetime1">
              <a:t>6/2/2026</a:t>
            </a:fld>
            <a:endParaRPr/>
          </a:p>
        </p:txBody>
      </p:sp>
      <p:sp>
        <p:nvSpPr>
          <p:cNvPr id="8" name="Footer Placeholder 4">
            <a:extLst xmlns:a="http://schemas.openxmlformats.org/drawingml/2006/main">
              <a:ext uri="{FF2B5EF4-FFF2-40B4-BE49-F238E27FC236}">
                <a16:creationId xmlns:a16="http://schemas.microsoft.com/office/drawing/2014/main" id="{4B190660-D6C2-4F01-9AD6-9FD2575617F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9" name="Slide Number Placeholder 5">
            <a:extLst xmlns:a="http://schemas.openxmlformats.org/drawingml/2006/main">
              <a:ext uri="{FF2B5EF4-FFF2-40B4-BE49-F238E27FC236}">
                <a16:creationId xmlns:a16="http://schemas.microsoft.com/office/drawing/2014/main" id="{B65983A7-A4B2-4E9F-8204-803D09017B9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71C4100A-98DE-4944-910A-A93F5CA9F724}"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909CF6A-ED17-46AE-8982-BC749F735F9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3">
            <a:extLst xmlns:a="http://schemas.openxmlformats.org/drawingml/2006/main">
              <a:ext uri="{FF2B5EF4-FFF2-40B4-BE49-F238E27FC236}">
                <a16:creationId xmlns:a16="http://schemas.microsoft.com/office/drawing/2014/main" id="{BD716974-D26F-4928-A84C-27544D37244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C60C6921-0627-4C8F-83D5-0CF936D2FFDD}" type="datetime1">
              <a:t>6/2/2026</a:t>
            </a:fld>
            <a:endParaRPr/>
          </a:p>
        </p:txBody>
      </p:sp>
      <p:sp>
        <p:nvSpPr>
          <p:cNvPr id="4" name="Footer Placeholder 4">
            <a:extLst xmlns:a="http://schemas.openxmlformats.org/drawingml/2006/main">
              <a:ext uri="{FF2B5EF4-FFF2-40B4-BE49-F238E27FC236}">
                <a16:creationId xmlns:a16="http://schemas.microsoft.com/office/drawing/2014/main" id="{BFE5667C-99D0-4385-84A4-4CC6B14EDAD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5" name="Slide Number Placeholder 5">
            <a:extLst xmlns:a="http://schemas.openxmlformats.org/drawingml/2006/main">
              <a:ext uri="{FF2B5EF4-FFF2-40B4-BE49-F238E27FC236}">
                <a16:creationId xmlns:a16="http://schemas.microsoft.com/office/drawing/2014/main" id="{5346B357-584E-4B19-88F7-F19EBA1273E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6A63342B-5A73-45DC-864D-086DE78037E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3">
            <a:extLst xmlns:a="http://schemas.openxmlformats.org/drawingml/2006/main">
              <a:ext uri="{FF2B5EF4-FFF2-40B4-BE49-F238E27FC236}">
                <a16:creationId xmlns:a16="http://schemas.microsoft.com/office/drawing/2014/main" id="{3FE88825-DF18-4A59-9380-54C02F2CBDA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2FF08AD7-8103-40F8-983C-E2BA6BB9CBE0}" type="datetime1">
              <a:t>6/2/2026</a:t>
            </a:fld>
            <a:endParaRPr/>
          </a:p>
        </p:txBody>
      </p:sp>
      <p:sp>
        <p:nvSpPr>
          <p:cNvPr id="3" name="Footer Placeholder 4">
            <a:extLst xmlns:a="http://schemas.openxmlformats.org/drawingml/2006/main">
              <a:ext uri="{FF2B5EF4-FFF2-40B4-BE49-F238E27FC236}">
                <a16:creationId xmlns:a16="http://schemas.microsoft.com/office/drawing/2014/main" id="{B140686B-8DA1-4575-B4F6-9D9895E6656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4" name="Slide Number Placeholder 5">
            <a:extLst xmlns:a="http://schemas.openxmlformats.org/drawingml/2006/main">
              <a:ext uri="{FF2B5EF4-FFF2-40B4-BE49-F238E27FC236}">
                <a16:creationId xmlns:a16="http://schemas.microsoft.com/office/drawing/2014/main" id="{EED45E7B-876A-47A1-A382-2BD3AADC93E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B635AFB3-1ACD-44AC-8702-86B1729DF035}"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3D6117C-19DE-4BAF-915F-39FC73679903}"/>
              </a:ext>
            </a:extLst>
          </p:cNvPr>
          <p:cNvSpPr>
            <a:spLocks xmlns:a="http://schemas.openxmlformats.org/drawingml/2006/main" noGrp="1"/>
          </p:cNvSpPr>
          <p:nvPr>
            <p:ph type="title" idx="0"/>
          </p:nvPr>
        </p:nvSpPr>
        <p:spPr>
          <a:xfrm xmlns:a="http://schemas.openxmlformats.org/drawingml/2006/main">
            <a:off x="609602" y="273050"/>
            <a:ext cx="4011084"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37729D3D-BB59-4DE6-AB0E-C1A051E4A3B2}"/>
              </a:ext>
            </a:extLst>
          </p:cNvPr>
          <p:cNvSpPr>
            <a:spLocks xmlns:a="http://schemas.openxmlformats.org/drawingml/2006/main" noGrp="1"/>
          </p:cNvSpPr>
          <p:nvPr>
            <p:ph idx="1"/>
          </p:nvPr>
        </p:nvSpPr>
        <p:spPr>
          <a:xfrm xmlns:a="http://schemas.openxmlformats.org/drawingml/2006/main">
            <a:off x="4766733" y="273053"/>
            <a:ext cx="6815667"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B381F80F-A75C-4396-BBF8-5DB3D3990B57}"/>
              </a:ext>
            </a:extLst>
          </p:cNvPr>
          <p:cNvSpPr>
            <a:spLocks xmlns:a="http://schemas.openxmlformats.org/drawingml/2006/main" noGrp="1"/>
          </p:cNvSpPr>
          <p:nvPr>
            <p:ph type="body" idx="2"/>
          </p:nvPr>
        </p:nvSpPr>
        <p:spPr>
          <a:xfrm xmlns:a="http://schemas.openxmlformats.org/drawingml/2006/main">
            <a:off x="609602" y="1435103"/>
            <a:ext cx="4011084"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3">
            <a:extLst xmlns:a="http://schemas.openxmlformats.org/drawingml/2006/main">
              <a:ext uri="{FF2B5EF4-FFF2-40B4-BE49-F238E27FC236}">
                <a16:creationId xmlns:a16="http://schemas.microsoft.com/office/drawing/2014/main" id="{8375F6D9-13AF-466E-A65E-41F89C8F73A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DF8C06B4-9380-4A4D-AF49-A3596E17DAF5}" type="datetime1">
              <a:t>6/2/2026</a:t>
            </a:fld>
            <a:endParaRPr/>
          </a:p>
        </p:txBody>
      </p:sp>
      <p:sp>
        <p:nvSpPr>
          <p:cNvPr id="6" name="Footer Placeholder 4">
            <a:extLst xmlns:a="http://schemas.openxmlformats.org/drawingml/2006/main">
              <a:ext uri="{FF2B5EF4-FFF2-40B4-BE49-F238E27FC236}">
                <a16:creationId xmlns:a16="http://schemas.microsoft.com/office/drawing/2014/main" id="{7E7926D3-06F5-4894-8C06-E851B7543F0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77539ABB-286D-4B1E-8B54-64A9403D8D5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05CF15F3-5E77-4C57-9E21-50D6D1D6C022}"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B4EE6C2-537A-4E39-B79C-D5B024FFE5DB}"/>
              </a:ext>
            </a:extLst>
          </p:cNvPr>
          <p:cNvSpPr>
            <a:spLocks xmlns:a="http://schemas.openxmlformats.org/drawingml/2006/main" noGrp="1"/>
          </p:cNvSpPr>
          <p:nvPr>
            <p:ph type="title" idx="0"/>
          </p:nvPr>
        </p:nvSpPr>
        <p:spPr>
          <a:xfrm xmlns:a="http://schemas.openxmlformats.org/drawingml/2006/main">
            <a:off x="2389717" y="4800600"/>
            <a:ext cx="73152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DC11E097-5C61-47F3-9DAE-E44779FA0E3C}"/>
              </a:ext>
            </a:extLst>
          </p:cNvPr>
          <p:cNvSpPr>
            <a:spLocks xmlns:a="http://schemas.openxmlformats.org/drawingml/2006/main" noGrp="1"/>
          </p:cNvSpPr>
          <p:nvPr>
            <p:ph type="pic" idx="1"/>
          </p:nvPr>
        </p:nvSpPr>
        <p:spPr>
          <a:xfrm xmlns:a="http://schemas.openxmlformats.org/drawingml/2006/main">
            <a:off x="2389717" y="612775"/>
            <a:ext cx="7315200" cy="4114800"/>
          </a:xfrm>
        </p:spPr>
        <p:txBody>
          <a:bodyPr xmlns:a="http://schemas.openxmlformats.org/drawingml/2006/main">
            <a:normAutofit/>
          </a:bodyPr>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pPr lvl="0">
              <a:buNone/>
            </a:pPr>
            <a:endParaRPr/>
          </a:p>
        </p:txBody>
      </p:sp>
      <p:sp>
        <p:nvSpPr>
          <p:cNvPr id="4" name="Text Placeholder 3">
            <a:extLst xmlns:a="http://schemas.openxmlformats.org/drawingml/2006/main">
              <a:ext uri="{FF2B5EF4-FFF2-40B4-BE49-F238E27FC236}">
                <a16:creationId xmlns:a16="http://schemas.microsoft.com/office/drawing/2014/main" id="{0B8EAA2A-0EEF-49E6-A069-C3A6802117FE}"/>
              </a:ext>
            </a:extLst>
          </p:cNvPr>
          <p:cNvSpPr>
            <a:spLocks xmlns:a="http://schemas.openxmlformats.org/drawingml/2006/main" noGrp="1"/>
          </p:cNvSpPr>
          <p:nvPr>
            <p:ph type="body" idx="2"/>
          </p:nvPr>
        </p:nvSpPr>
        <p:spPr>
          <a:xfrm xmlns:a="http://schemas.openxmlformats.org/drawingml/2006/main">
            <a:off x="2389717" y="5367338"/>
            <a:ext cx="73152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3">
            <a:extLst xmlns:a="http://schemas.openxmlformats.org/drawingml/2006/main">
              <a:ext uri="{FF2B5EF4-FFF2-40B4-BE49-F238E27FC236}">
                <a16:creationId xmlns:a16="http://schemas.microsoft.com/office/drawing/2014/main" id="{C4800D53-F7D9-4D36-B4A2-724615E5FCC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EF7FDEF1-C582-4E22-9E77-D68326471F28}" type="datetime1">
              <a:t>6/2/2026</a:t>
            </a:fld>
            <a:endParaRPr/>
          </a:p>
        </p:txBody>
      </p:sp>
      <p:sp>
        <p:nvSpPr>
          <p:cNvPr id="6" name="Footer Placeholder 4">
            <a:extLst xmlns:a="http://schemas.openxmlformats.org/drawingml/2006/main">
              <a:ext uri="{FF2B5EF4-FFF2-40B4-BE49-F238E27FC236}">
                <a16:creationId xmlns:a16="http://schemas.microsoft.com/office/drawing/2014/main" id="{5C3B2D18-ADBD-404D-91A6-278A5AAF7CF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C447B0CD-7EF9-46BC-9A90-B72DB7CEF12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1242169A-B3C7-4FB6-967F-AF95F4EB3315}"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61B58A6-CCB8-408C-8B1C-A66F94A0E27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25E485FA-5BB2-4A68-95A0-E4CACF58821A}"/>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4C3202E4-332C-4006-92D9-E35BBADBBD8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053C3A68-6922-42D3-8905-ECC2D82A3469}" type="datetime1">
              <a:t>6/2/2026</a:t>
            </a:fld>
            <a:endParaRPr/>
          </a:p>
        </p:txBody>
      </p:sp>
      <p:sp>
        <p:nvSpPr>
          <p:cNvPr id="5" name="Footer Placeholder 4">
            <a:extLst xmlns:a="http://schemas.openxmlformats.org/drawingml/2006/main">
              <a:ext uri="{FF2B5EF4-FFF2-40B4-BE49-F238E27FC236}">
                <a16:creationId xmlns:a16="http://schemas.microsoft.com/office/drawing/2014/main" id="{98E9E3CE-4AF3-415B-BD28-E65FAADFFF8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090415F5-9AB9-4CC6-AD1A-54747BF52BF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94FDD027-5576-4F27-AAB6-1D994836EE78}"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FAB2A4C9-4FBE-455D-B9DA-06A6FF6E9E47}"/>
              </a:ext>
            </a:extLst>
          </p:cNvPr>
          <p:cNvSpPr>
            <a:spLocks xmlns:a="http://schemas.openxmlformats.org/drawingml/2006/main" noGrp="1"/>
          </p:cNvSpPr>
          <p:nvPr>
            <p:ph type="title" idx="0"/>
          </p:nvPr>
        </p:nvSpPr>
        <p:spPr>
          <a:xfrm xmlns:a="http://schemas.openxmlformats.org/drawingml/2006/main">
            <a:off x="8839200" y="274641"/>
            <a:ext cx="27432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3CED152B-F971-448C-A4A6-CBC80B033579}"/>
              </a:ext>
            </a:extLst>
          </p:cNvPr>
          <p:cNvSpPr>
            <a:spLocks xmlns:a="http://schemas.openxmlformats.org/drawingml/2006/main" noGrp="1"/>
          </p:cNvSpPr>
          <p:nvPr>
            <p:ph type="body" idx="1"/>
          </p:nvPr>
        </p:nvSpPr>
        <p:spPr>
          <a:xfrm xmlns:a="http://schemas.openxmlformats.org/drawingml/2006/main">
            <a:off x="609600" y="274641"/>
            <a:ext cx="80264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853E1ADC-8247-45C4-A5ED-C6C42BEFB8A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CB69E9F4-7604-4950-A8B2-8ACDEDB1506E}" type="datetime1">
              <a:t>6/2/2026</a:t>
            </a:fld>
            <a:endParaRPr/>
          </a:p>
        </p:txBody>
      </p:sp>
      <p:sp>
        <p:nvSpPr>
          <p:cNvPr id="5" name="Footer Placeholder 4">
            <a:extLst xmlns:a="http://schemas.openxmlformats.org/drawingml/2006/main">
              <a:ext uri="{FF2B5EF4-FFF2-40B4-BE49-F238E27FC236}">
                <a16:creationId xmlns:a16="http://schemas.microsoft.com/office/drawing/2014/main" id="{D59FA05F-7255-45BB-8516-BC341B46AE5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4E394AC0-B60F-4E07-A018-A7B67357304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2957CE61-8714-431B-A40A-01B1C5541AB7}"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6cab626d37d4c7b" /><Relationship Type="http://schemas.openxmlformats.org/officeDocument/2006/relationships/slideLayout" Target="/ppt/slideLayouts/slideLayout1.xml" Id="R78f32e5e5fef4c46" /><Relationship Type="http://schemas.openxmlformats.org/officeDocument/2006/relationships/slideLayout" Target="/ppt/slideLayouts/slideLayout2.xml" Id="Re686853dee4e43f2" /><Relationship Type="http://schemas.openxmlformats.org/officeDocument/2006/relationships/slideLayout" Target="/ppt/slideLayouts/slideLayout3.xml" Id="R933f975f281d4a0f" /><Relationship Type="http://schemas.openxmlformats.org/officeDocument/2006/relationships/slideLayout" Target="/ppt/slideLayouts/slideLayout4.xml" Id="Rf082458a599f4b12" /><Relationship Type="http://schemas.openxmlformats.org/officeDocument/2006/relationships/slideLayout" Target="/ppt/slideLayouts/slideLayout5.xml" Id="R1917c891df914793" /><Relationship Type="http://schemas.openxmlformats.org/officeDocument/2006/relationships/slideLayout" Target="/ppt/slideLayouts/slideLayout6.xml" Id="R947e38fcf213411d" /><Relationship Type="http://schemas.openxmlformats.org/officeDocument/2006/relationships/slideLayout" Target="/ppt/slideLayouts/slideLayout7.xml" Id="R46e2a2c6f46344e0" /><Relationship Type="http://schemas.openxmlformats.org/officeDocument/2006/relationships/slideLayout" Target="/ppt/slideLayouts/slideLayout8.xml" Id="R19a7bceb01204a83" /><Relationship Type="http://schemas.openxmlformats.org/officeDocument/2006/relationships/slideLayout" Target="/ppt/slideLayouts/slideLayout9.xml" Id="R8b41383ba2b449b3" /><Relationship Type="http://schemas.openxmlformats.org/officeDocument/2006/relationships/slideLayout" Target="/ppt/slideLayouts/slideLayout10.xml" Id="R4e6603f53a3d4d40" /><Relationship Type="http://schemas.openxmlformats.org/officeDocument/2006/relationships/slideLayout" Target="/ppt/slideLayouts/slideLayout11.xml" Id="R5268f6048ff343ec"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1026" name="Title Placeholder 1">
            <a:extLst xmlns:a="http://schemas.openxmlformats.org/drawingml/2006/main">
              <a:ext uri="{FF2B5EF4-FFF2-40B4-BE49-F238E27FC236}">
                <a16:creationId xmlns:a16="http://schemas.microsoft.com/office/drawing/2014/main" id="{7D6D42F0-BF1F-4687-95CD-76C0357C658A}"/>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91440" tIns="45720" rIns="91440" bIns="45720" anchor="ctr"/>
          <a:lstStyle xmlns:a="http://schemas.openxmlformats.org/drawingml/2006/main"/>
          <a:p xmlns:a="http://schemas.openxmlformats.org/drawingml/2006/main">
            <a:pPr lvl="0">
              <a:buNone/>
            </a:pPr>
            <a:r>
              <a:t>Click to edit Master title style</a:t>
            </a:r>
          </a:p>
        </p:txBody>
      </p:sp>
      <p:sp>
        <p:nvSpPr>
          <p:cNvPr id="1027" name="Text Placeholder 2">
            <a:extLst xmlns:a="http://schemas.openxmlformats.org/drawingml/2006/main">
              <a:ext uri="{FF2B5EF4-FFF2-40B4-BE49-F238E27FC236}">
                <a16:creationId xmlns:a16="http://schemas.microsoft.com/office/drawing/2014/main" id="{A9E5DA0F-AD9E-4061-A62C-71B56E5B9C2D}"/>
              </a:ext>
            </a:extLst>
          </p:cNvPr>
          <p:cNvSpPr>
            <a:spLocks xmlns:a="http://schemas.openxmlformats.org/drawingml/2006/main" noGrp="1"/>
          </p:cNvSpPr>
          <p:nvPr>
            <p:ph type="body" idx="1"/>
          </p:nvPr>
        </p:nvSpPr>
        <p:spPr>
          <a:xfrm xmlns:a="http://schemas.openxmlformats.org/drawingml/2006/main">
            <a:off x="609600" y="1095375"/>
            <a:ext cx="10972800" cy="5030788"/>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91440" tIns="45720" rIns="91440" bIns="45720" ancho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1FBFEB44-2B72-41FF-B9C2-ECE79522DA70}"/>
              </a:ext>
            </a:extLst>
          </p:cNvPr>
          <p:cNvSpPr>
            <a:spLocks xmlns:a="http://schemas.openxmlformats.org/drawingml/2006/main" noGrp="1"/>
          </p:cNvSpPr>
          <p:nvPr>
            <p:ph type="dt" idx="2"/>
          </p:nvPr>
        </p:nvSpPr>
        <p:spPr>
          <a:xfrm xmlns:a="http://schemas.openxmlformats.org/drawingml/2006/main">
            <a:off x="609600" y="6356353"/>
            <a:ext cx="2844800" cy="365125"/>
          </a:xfrm>
          <a:prstGeom xmlns:a="http://schemas.openxmlformats.org/drawingml/2006/main" prst="rect">
            <a:avLst/>
          </a:prstGeom>
        </p:spPr>
        <p:txBody>
          <a:bodyPr xmlns:a="http://schemas.openxmlformats.org/drawingml/2006/main" vert="horz" wrap="square" lIns="91440" tIns="45720" rIns="91440" bIns="45720" anchor="ctr"/>
          <a:lstStyle xmlns:a="http://schemas.openxmlformats.org/drawingml/2006/main">
            <a:lvl1pPr>
              <a:buNone/>
              <a:defRPr sz="1200">
                <a:solidFill>
                  <a:srgbClr val="898989"/>
                </a:solidFill>
                <a:latin typeface="TradeGothic"/>
                <a:ea typeface="TradeGothic"/>
                <a:cs typeface="TradeGothic"/>
              </a:defRPr>
            </a:lvl1pPr>
          </a:lstStyle>
          <a:p xmlns:a="http://schemas.openxmlformats.org/drawingml/2006/main">
            <a:fld id="{780A9602-A9A9-453F-AEF1-37B5837E02CD}" type="datetime1">
              <a:t>6/2/2026</a:t>
            </a:fld>
            <a:endParaRPr/>
          </a:p>
        </p:txBody>
      </p:sp>
      <p:sp>
        <p:nvSpPr>
          <p:cNvPr id="5" name="Footer Placeholder 4">
            <a:extLst xmlns:a="http://schemas.openxmlformats.org/drawingml/2006/main">
              <a:ext uri="{FF2B5EF4-FFF2-40B4-BE49-F238E27FC236}">
                <a16:creationId xmlns:a16="http://schemas.microsoft.com/office/drawing/2014/main" id="{65C35343-C0A9-4519-8D87-9844531E2503}"/>
              </a:ext>
            </a:extLst>
          </p:cNvPr>
          <p:cNvSpPr>
            <a:spLocks xmlns:a="http://schemas.openxmlformats.org/drawingml/2006/main" noGrp="1"/>
          </p:cNvSpPr>
          <p:nvPr>
            <p:ph type="ftr" idx="3"/>
          </p:nvPr>
        </p:nvSpPr>
        <p:spPr>
          <a:xfrm xmlns:a="http://schemas.openxmlformats.org/drawingml/2006/main">
            <a:off x="4165600" y="6356353"/>
            <a:ext cx="3860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spcBef>
                <a:spcPts val="0"/>
              </a:spcBef>
              <a:spcAft>
                <a:spcPts val="0"/>
              </a:spcAft>
              <a:buNone/>
              <a:defRPr sz="1200">
                <a:solidFill>
                  <a:schemeClr val="tx1">
                    <a:tint val="75000"/>
                  </a:schemeClr>
                </a:solidFill>
                <a:latin typeface="TradeGothic"/>
                <a:ea typeface="TradeGothic"/>
                <a:cs typeface="TradeGothic"/>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7B7BCC15-E3D4-4812-9EF5-B3343368C8C3}"/>
              </a:ext>
            </a:extLst>
          </p:cNvPr>
          <p:cNvSpPr>
            <a:spLocks xmlns:a="http://schemas.openxmlformats.org/drawingml/2006/main" noGrp="1"/>
          </p:cNvSpPr>
          <p:nvPr>
            <p:ph type="sldNum" idx="4"/>
          </p:nvPr>
        </p:nvSpPr>
        <p:spPr>
          <a:xfrm xmlns:a="http://schemas.openxmlformats.org/drawingml/2006/main">
            <a:off x="8737600" y="6356353"/>
            <a:ext cx="2844800" cy="365125"/>
          </a:xfrm>
          <a:prstGeom xmlns:a="http://schemas.openxmlformats.org/drawingml/2006/main" prst="rect">
            <a:avLst/>
          </a:prstGeom>
        </p:spPr>
        <p:txBody>
          <a:bodyPr xmlns:a="http://schemas.openxmlformats.org/drawingml/2006/main" vert="horz" wrap="square" lIns="91440" tIns="45720" rIns="91440" bIns="45720" anchor="ctr"/>
          <a:lstStyle xmlns:a="http://schemas.openxmlformats.org/drawingml/2006/main">
            <a:lvl1pPr algn="r">
              <a:buNone/>
              <a:defRPr sz="1200">
                <a:solidFill>
                  <a:srgbClr val="898989"/>
                </a:solidFill>
                <a:latin typeface="TradeGothic"/>
                <a:ea typeface="TradeGothic"/>
                <a:cs typeface="TradeGothic"/>
              </a:defRPr>
            </a:lvl1pPr>
          </a:lstStyle>
          <a:p xmlns:a="http://schemas.openxmlformats.org/drawingml/2006/main">
            <a:fld id="{1411BA53-830D-4830-BB65-E58DBE17D0B7}"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8f32e5e5fef4c46"/>
    <p:sldLayoutId xmlns:r="http://schemas.openxmlformats.org/officeDocument/2006/relationships" id="2147483650" r:id="Re686853dee4e43f2"/>
    <p:sldLayoutId xmlns:r="http://schemas.openxmlformats.org/officeDocument/2006/relationships" id="2147483651" r:id="R933f975f281d4a0f"/>
    <p:sldLayoutId xmlns:r="http://schemas.openxmlformats.org/officeDocument/2006/relationships" id="2147483652" r:id="Rf082458a599f4b12"/>
    <p:sldLayoutId xmlns:r="http://schemas.openxmlformats.org/officeDocument/2006/relationships" id="2147483653" r:id="R1917c891df914793"/>
    <p:sldLayoutId xmlns:r="http://schemas.openxmlformats.org/officeDocument/2006/relationships" id="2147483654" r:id="R947e38fcf213411d"/>
    <p:sldLayoutId xmlns:r="http://schemas.openxmlformats.org/officeDocument/2006/relationships" id="2147483655" r:id="R46e2a2c6f46344e0"/>
    <p:sldLayoutId xmlns:r="http://schemas.openxmlformats.org/officeDocument/2006/relationships" id="2147483656" r:id="R19a7bceb01204a83"/>
    <p:sldLayoutId xmlns:r="http://schemas.openxmlformats.org/officeDocument/2006/relationships" id="2147483657" r:id="R8b41383ba2b449b3"/>
    <p:sldLayoutId xmlns:r="http://schemas.openxmlformats.org/officeDocument/2006/relationships" id="2147483658" r:id="R4e6603f53a3d4d40"/>
    <p:sldLayoutId xmlns:r="http://schemas.openxmlformats.org/officeDocument/2006/relationships" id="2147483659" r:id="R5268f6048ff343ec"/>
  </p:sldLayoutIdLst>
  <p:hf hdr="0" dt="0"/>
  <p:txStyles>
    <p:titleStyle>
      <a:lvl1pPr xmlns:a="http://schemas.openxmlformats.org/drawingml/2006/main" algn="ctr" defTabSz="457200">
        <a:spcBef>
          <a:spcPct val="0"/>
        </a:spcBef>
        <a:spcAft>
          <a:spcPct val="0"/>
        </a:spcAft>
        <a:buNone/>
        <a:defRPr sz="4400" kern="1200">
          <a:solidFill>
            <a:schemeClr val="tx1"/>
          </a:solidFill>
          <a:latin typeface="TradeGothic"/>
          <a:ea typeface="TradeGothic"/>
          <a:cs typeface="TradeGothic"/>
        </a:defRPr>
      </a:lvl1pPr>
      <a:lvl2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2pPr>
      <a:lvl3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3pPr>
      <a:lvl4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4pPr>
      <a:lvl5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5pPr>
      <a:lvl6pPr xmlns:a="http://schemas.openxmlformats.org/drawingml/2006/main" marL="457200" algn="ctr" defTabSz="457200">
        <a:spcBef>
          <a:spcPct val="0"/>
        </a:spcBef>
        <a:spcAft>
          <a:spcPct val="0"/>
        </a:spcAft>
        <a:buNone/>
        <a:defRPr sz="4400">
          <a:solidFill>
            <a:schemeClr val="tx1"/>
          </a:solidFill>
          <a:latin typeface="TradeGothic"/>
          <a:ea typeface="TradeGothic"/>
          <a:cs typeface="TradeGothic"/>
        </a:defRPr>
      </a:lvl6pPr>
      <a:lvl7pPr xmlns:a="http://schemas.openxmlformats.org/drawingml/2006/main" marL="914400" algn="ctr" defTabSz="457200">
        <a:spcBef>
          <a:spcPct val="0"/>
        </a:spcBef>
        <a:spcAft>
          <a:spcPct val="0"/>
        </a:spcAft>
        <a:buNone/>
        <a:defRPr sz="4400">
          <a:solidFill>
            <a:schemeClr val="tx1"/>
          </a:solidFill>
          <a:latin typeface="TradeGothic"/>
          <a:ea typeface="TradeGothic"/>
          <a:cs typeface="TradeGothic"/>
        </a:defRPr>
      </a:lvl7pPr>
      <a:lvl8pPr xmlns:a="http://schemas.openxmlformats.org/drawingml/2006/main" marL="1371600" algn="ctr" defTabSz="457200">
        <a:spcBef>
          <a:spcPct val="0"/>
        </a:spcBef>
        <a:spcAft>
          <a:spcPct val="0"/>
        </a:spcAft>
        <a:buNone/>
        <a:defRPr sz="4400">
          <a:solidFill>
            <a:schemeClr val="tx1"/>
          </a:solidFill>
          <a:latin typeface="TradeGothic"/>
          <a:ea typeface="TradeGothic"/>
          <a:cs typeface="TradeGothic"/>
        </a:defRPr>
      </a:lvl8pPr>
      <a:lvl9pPr xmlns:a="http://schemas.openxmlformats.org/drawingml/2006/main" marL="1828800" algn="ctr" defTabSz="457200">
        <a:spcBef>
          <a:spcPct val="0"/>
        </a:spcBef>
        <a:spcAft>
          <a:spcPct val="0"/>
        </a:spcAft>
        <a:buNone/>
        <a:defRPr sz="4400">
          <a:solidFill>
            <a:schemeClr val="tx1"/>
          </a:solidFill>
          <a:latin typeface="TradeGothic"/>
          <a:ea typeface="TradeGothic"/>
          <a:cs typeface="TradeGothic"/>
        </a:defRPr>
      </a:lvl9pPr>
    </p:titleStyle>
    <p:bodyStyle>
      <a:lvl1pPr xmlns:a="http://schemas.openxmlformats.org/drawingml/2006/main" marL="342900" indent="-342900" algn="l" defTabSz="457200">
        <a:spcBef>
          <a:spcPct val="20000"/>
        </a:spcBef>
        <a:spcAft>
          <a:spcPct val="0"/>
        </a:spcAft>
        <a:buFont typeface="Arial"/>
        <a:buChar char="•"/>
        <a:defRPr sz="3200" kern="1200">
          <a:solidFill>
            <a:schemeClr val="tx1"/>
          </a:solidFill>
          <a:latin typeface="TradeGothic"/>
          <a:ea typeface="TradeGothic"/>
          <a:cs typeface="TradeGothic"/>
        </a:defRPr>
      </a:lvl1pPr>
      <a:lvl2pPr xmlns:a="http://schemas.openxmlformats.org/drawingml/2006/main" marL="742950" indent="-285750" algn="l" defTabSz="457200">
        <a:spcBef>
          <a:spcPct val="20000"/>
        </a:spcBef>
        <a:spcAft>
          <a:spcPct val="0"/>
        </a:spcAft>
        <a:buFont typeface="Arial"/>
        <a:buChar char="–"/>
        <a:defRPr sz="2800" kern="1200">
          <a:solidFill>
            <a:schemeClr val="tx1"/>
          </a:solidFill>
          <a:latin typeface="TradeGothic"/>
          <a:ea typeface="TradeGothic"/>
          <a:cs typeface="TradeGothic"/>
        </a:defRPr>
      </a:lvl2pPr>
      <a:lvl3pPr xmlns:a="http://schemas.openxmlformats.org/drawingml/2006/main" marL="1143000" indent="-228600" algn="l" defTabSz="457200">
        <a:spcBef>
          <a:spcPct val="20000"/>
        </a:spcBef>
        <a:spcAft>
          <a:spcPct val="0"/>
        </a:spcAft>
        <a:buFont typeface="Arial"/>
        <a:buChar char="•"/>
        <a:defRPr sz="2400" kern="1200">
          <a:solidFill>
            <a:schemeClr val="tx1"/>
          </a:solidFill>
          <a:latin typeface="TradeGothic"/>
          <a:ea typeface="TradeGothic"/>
          <a:cs typeface="TradeGothic"/>
        </a:defRPr>
      </a:lvl3pPr>
      <a:lvl4pPr xmlns:a="http://schemas.openxmlformats.org/drawingml/2006/main" marL="1600200" indent="-228600" algn="l" defTabSz="457200">
        <a:spcBef>
          <a:spcPct val="20000"/>
        </a:spcBef>
        <a:spcAft>
          <a:spcPct val="0"/>
        </a:spcAft>
        <a:buFont typeface="Arial"/>
        <a:buChar char="–"/>
        <a:defRPr sz="2000" kern="1200">
          <a:solidFill>
            <a:schemeClr val="tx1"/>
          </a:solidFill>
          <a:latin typeface="TradeGothic"/>
          <a:ea typeface="TradeGothic"/>
          <a:cs typeface="TradeGothic"/>
        </a:defRPr>
      </a:lvl4pPr>
      <a:lvl5pPr xmlns:a="http://schemas.openxmlformats.org/drawingml/2006/main" marL="2057400" indent="-228600" algn="l" defTabSz="457200">
        <a:spcBef>
          <a:spcPct val="20000"/>
        </a:spcBef>
        <a:spcAft>
          <a:spcPct val="0"/>
        </a:spcAft>
        <a:buFont typeface="Arial"/>
        <a:buChar char="»"/>
        <a:defRPr sz="2000" kern="1200">
          <a:solidFill>
            <a:schemeClr val="tx1"/>
          </a:solidFill>
          <a:latin typeface="TradeGothic"/>
          <a:ea typeface="TradeGothic"/>
          <a:cs typeface="TradeGothic"/>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8952afa158a405c" /><Relationship Type="http://schemas.openxmlformats.org/officeDocument/2006/relationships/image" Target="/ppt/media/image.png" Id="Re5192cd378c84d3e" /><Relationship Type="http://schemas.openxmlformats.org/officeDocument/2006/relationships/image" Target="/ppt/media/image2.png" Id="Rac5d842585bd4f61" /><Relationship Type="http://schemas.openxmlformats.org/officeDocument/2006/relationships/notesSlide" Target="/ppt/notesSlides/notesSlide1.xml" Id="R22402a4e2b244c6e"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744b85bdca9949de" /><Relationship Type="http://schemas.openxmlformats.org/officeDocument/2006/relationships/image" Target="/ppt/media/image2.png" Id="R8525febbab024ea0" /><Relationship Type="http://schemas.openxmlformats.org/officeDocument/2006/relationships/notesSlide" Target="/ppt/notesSlides/notesSlide2.xml" Id="R8c1694f69b4f47fe"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4e95ffc03aae4517" /><Relationship Type="http://schemas.openxmlformats.org/officeDocument/2006/relationships/image" Target="/ppt/media/image2.png" Id="R7f90c445b4a64554" /><Relationship Type="http://schemas.openxmlformats.org/officeDocument/2006/relationships/image" Target="/ppt/media/image3.png" Id="R18589b54c201495e" /><Relationship Type="http://schemas.openxmlformats.org/officeDocument/2006/relationships/notesSlide" Target="/ppt/notesSlides/notesSlide3.xml" Id="R0d5426b0c38a4cb1"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697531a9d7764b6e" /><Relationship Type="http://schemas.openxmlformats.org/officeDocument/2006/relationships/image" Target="/ppt/media/image2.png" Id="R37ac9a8211f24eb3" /><Relationship Type="http://schemas.openxmlformats.org/officeDocument/2006/relationships/notesSlide" Target="/ppt/notesSlides/notesSlide4.xml" Id="R0da5292c5e364331"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1d2f335fc541401e" /><Relationship Type="http://schemas.openxmlformats.org/officeDocument/2006/relationships/image" Target="/ppt/media/image2.png" Id="R26496d188587494b" /><Relationship Type="http://schemas.openxmlformats.org/officeDocument/2006/relationships/notesSlide" Target="/ppt/notesSlides/notesSlide5.xml" Id="Rbbfde2d041844004"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44389ada7a8e4bc5" /><Relationship Type="http://schemas.openxmlformats.org/officeDocument/2006/relationships/image" Target="/ppt/media/image2.png" Id="R0c7dfd5eb0614da7" /><Relationship Type="http://schemas.openxmlformats.org/officeDocument/2006/relationships/hyperlink" Target="https://conferences.sigcomm.org/imc/2013/papers/imc182-meiklejohnA.pdf" TargetMode="External" Id="R1ce79412df014bd9" /><Relationship Type="http://schemas.openxmlformats.org/officeDocument/2006/relationships/hyperlink" Target="https://arxiv.org/abs/1908.02591" TargetMode="External" Id="R6bb9dc8c4d384b08" /><Relationship Type="http://schemas.openxmlformats.org/officeDocument/2006/relationships/hyperlink" Target="https://github.com/Blockstream/esplora/blob/master/API.md" TargetMode="External" Id="R18683b7c5e514cf8" /><Relationship Type="http://schemas.openxmlformats.org/officeDocument/2006/relationships/hyperlink" Target="https://www.binance.com/en-IN/blog/community/2895840147147652626" TargetMode="External" Id="R042c82704c694fc3" /><Relationship Type="http://schemas.openxmlformats.org/officeDocument/2006/relationships/hyperlink" Target="https://www.fatf-gafi.org/en/publications/Fatfrecommendations/Guidance-rba-virtual-assets-2021.html" TargetMode="External" Id="Rf1e810bc528d46ae" /><Relationship Type="http://schemas.openxmlformats.org/officeDocument/2006/relationships/hyperlink" Target="https://csrc.nist.gov/pubs/sp/800/86/final" TargetMode="External" Id="Rb441deedff1f4185" /><Relationship Type="http://schemas.openxmlformats.org/officeDocument/2006/relationships/notesSlide" Target="/ppt/notesSlides/notesSlide6.xml" Id="R0df0380d60304d0b" /></Relationships>
</file>

<file path=ppt/slides/slide1.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useBgFill="1">
        <p:nvSpPr>
          <p:cNvPr id="36" name="Rectangle 24">
            <a:extLst xmlns:a="http://schemas.openxmlformats.org/drawingml/2006/main">
              <a:ext uri="{FF2B5EF4-FFF2-40B4-BE49-F238E27FC236}">
                <a16:creationId xmlns:a16="http://schemas.microsoft.com/office/drawing/2014/main" id="{3E443FD7-A66B-4AA0-872D-B088B9BC5F17}"/>
              </a:ext>
            </a:extLst>
          </p:cNvPr>
          <p:cNvSpPr>
            <a:spLocks xmlns:a="http://schemas.openxmlformats.org/drawingml/2006/main" noGrp="1"/>
          </p:cNvSpPr>
          <p:nvPr/>
        </p:nvSpPr>
        <p:spPr>
          <a:xfrm xmlns:a="http://schemas.openxmlformats.org/drawingml/2006/main">
            <a:off x="1524000" y="0"/>
            <a:ext cx="9144000" cy="6858000"/>
          </a:xfrm>
          <a:prstGeom xmlns:a="http://schemas.openxmlformats.org/drawingml/2006/main" prst="rect">
            <a:avLst/>
          </a:prstGeom>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7" name="Freeform: Shape 26">
            <a:extLst xmlns:a="http://schemas.openxmlformats.org/drawingml/2006/main">
              <a:ext uri="{FF2B5EF4-FFF2-40B4-BE49-F238E27FC236}">
                <a16:creationId xmlns:a16="http://schemas.microsoft.com/office/drawing/2014/main" id="{C04BE0EF-3561-49B4-9A29-F283168A91C7}"/>
              </a:ext>
            </a:extLst>
          </p:cNvPr>
          <p:cNvSpPr>
            <a:spLocks xmlns:a="http://schemas.openxmlformats.org/drawingml/2006/main" noGrp="1"/>
          </p:cNvSpPr>
          <p:nvPr/>
        </p:nvSpPr>
        <p:spPr>
          <a:xfrm xmlns:a="http://schemas.openxmlformats.org/drawingml/2006/main">
            <a:off x="5656780" y="851521"/>
            <a:ext cx="4638605" cy="5154967"/>
          </a:xfrm>
          <a:custGeom xmlns:a="http://schemas.openxmlformats.org/drawingml/2006/main">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xmlns:a="http://schemas.openxmlformats.org/drawingml/2006/main">
            <a:schemeClr val="tx1">
              <a:lumMod val="50000"/>
              <a:lumOff val="50000"/>
              <a:alpha val="1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pic>
        <p:nvPicPr>
          <p:cNvPr id="49" name="Picture 4"/>
          <p:cNvPicPr>
            <a:picLocks xmlns:a="http://schemas.openxmlformats.org/drawingml/2006/main" noChangeAspect="1"/>
          </p:cNvPicPr>
          <p:nvPr/>
        </p:nvPicPr>
        <p:blipFill rotWithShape="1">
          <a:blip xmlns:r="http://schemas.openxmlformats.org/officeDocument/2006/relationships" xmlns:a="http://schemas.openxmlformats.org/drawingml/2006/main" r:embed="Re5192cd378c84d3e"/>
          <a:srcRect xmlns:a="http://schemas.openxmlformats.org/drawingml/2006/main" l="0" t="0" r="59916" b="0"/>
          <a:stretch xmlns:a="http://schemas.openxmlformats.org/drawingml/2006/main"/>
        </p:blipFill>
        <p:spPr>
          <a:xfrm xmlns:a="http://schemas.openxmlformats.org/drawingml/2006/main">
            <a:off x="6854891" y="1715881"/>
            <a:ext cx="3203509" cy="3426237"/>
          </a:xfrm>
          <a:prstGeom xmlns:a="http://schemas.openxmlformats.org/drawingml/2006/main" prst="rect">
            <a:avLst/>
          </a:prstGeom>
        </p:spPr>
      </p:pic>
      <p:sp>
        <p:nvSpPr>
          <p:cNvPr id="4" name="Subtitle 3">
            <a:extLst xmlns:a="http://schemas.openxmlformats.org/drawingml/2006/main">
              <a:ext uri="{FF2B5EF4-FFF2-40B4-BE49-F238E27FC236}">
                <a16:creationId xmlns:a16="http://schemas.microsoft.com/office/drawing/2014/main" id="{3D9C25EE-E3BE-4505-B7F1-4AB0A8388A3B}"/>
              </a:ext>
            </a:extLst>
          </p:cNvPr>
          <p:cNvSpPr>
            <a:spLocks xmlns:a="http://schemas.openxmlformats.org/drawingml/2006/main" noGrp="1"/>
          </p:cNvSpPr>
          <p:nvPr>
            <p:ph type="subTitle" idx="1"/>
          </p:nvPr>
        </p:nvSpPr>
        <p:spPr>
          <a:xfrm xmlns:a="http://schemas.openxmlformats.org/drawingml/2006/main">
            <a:off x="1238250" y="1143000"/>
            <a:ext cx="8534400" cy="609600"/>
          </a:xfrm>
        </p:spPr>
        <p:txBody>
          <a:bodyPr xmlns:a="http://schemas.openxmlformats.org/drawingml/2006/main" wrap="square" lIns="0" tIns="0" rIns="0" bIns="0" anchor="t">
            <a:noAutofit/>
          </a:bodyPr>
          <a:lstStyle xmlns:a="http://schemas.openxmlformats.org/drawingml/2006/main"/>
          <a:p xmlns:a="http://schemas.openxmlformats.org/drawingml/2006/main">
            <a:pPr algn="ctr">
              <a:defRPr sz="2850" b="1">
                <a:solidFill>
                  <a:srgbClr val="777777"/>
                </a:solidFill>
                <a:latin typeface="Times New Roman"/>
                <a:ea typeface="Times New Roman"/>
                <a:cs typeface="Times New Roman"/>
              </a:defRPr>
            </a:pPr>
            <a:r>
              <a:rPr sz="2850" b="1">
                <a:solidFill>
                  <a:srgbClr val="777777"/>
                </a:solidFill>
                <a:latin typeface="Times New Roman"/>
                <a:ea typeface="Times New Roman"/>
                <a:cs typeface="Times New Roman"/>
              </a:rPr>
              <a:t>TITLE PAGE</a:t>
            </a:r>
            <a:endParaRPr b="1">
              <a:solidFill>
                <a:schemeClr val="tx1"/>
              </a:solidFill>
              <a:latin typeface="Times New Roman"/>
              <a:ea typeface="Times New Roman"/>
              <a:cs typeface="Times New Roman"/>
            </a:endParaRPr>
          </a:p>
        </p:txBody>
      </p:sp>
      <p:sp>
        <p:nvSpPr>
          <p:cNvPr id="8" name="Title 7">
            <a:extLst xmlns:a="http://schemas.openxmlformats.org/drawingml/2006/main">
              <a:ext uri="{FF2B5EF4-FFF2-40B4-BE49-F238E27FC236}">
                <a16:creationId xmlns:a16="http://schemas.microsoft.com/office/drawing/2014/main" id="{044CE18A-C1BE-45EC-8D44-BD0EB01B4FD7}"/>
              </a:ext>
            </a:extLst>
          </p:cNvPr>
          <p:cNvSpPr>
            <a:spLocks xmlns:a="http://schemas.openxmlformats.org/drawingml/2006/main" noGrp="1"/>
          </p:cNvSpPr>
          <p:nvPr>
            <p:ph type="ctrTitle" idx="0"/>
          </p:nvPr>
        </p:nvSpPr>
        <p:spPr>
          <a:xfrm xmlns:a="http://schemas.openxmlformats.org/drawingml/2006/main">
            <a:off x="323850" y="190500"/>
            <a:ext cx="9353550" cy="781050"/>
          </a:xfrm>
        </p:spPr>
        <p:txBody>
          <a:bodyPr xmlns:a="http://schemas.openxmlformats.org/drawingml/2006/main" wrap="square" lIns="0" tIns="0" rIns="0" bIns="0" anchor="t">
            <a:noAutofit/>
          </a:bodyPr>
          <a:lstStyle xmlns:a="http://schemas.openxmlformats.org/drawingml/2006/main"/>
          <a:p xmlns:a="http://schemas.openxmlformats.org/drawingml/2006/main">
            <a:pPr algn="ctr">
              <a:defRPr sz="3450" b="1">
                <a:solidFill>
                  <a:srgbClr val="1F497D"/>
                </a:solidFill>
                <a:latin typeface="Arial"/>
                <a:ea typeface="Arial"/>
                <a:cs typeface="Arial"/>
              </a:defRPr>
            </a:pPr>
            <a:r>
              <a:rPr sz="3450" b="1">
                <a:solidFill>
                  <a:srgbClr val="1F497D"/>
                </a:solidFill>
                <a:latin typeface="Arial"/>
                <a:ea typeface="Arial"/>
                <a:cs typeface="Arial"/>
              </a:rPr>
              <a:t>SMART INDIA HACKATHON 2026</a:t>
            </a:r>
            <a:endParaRPr sz="4000" b="1">
              <a:solidFill>
                <a:schemeClr val="tx2"/>
              </a:solidFill>
              <a:latin typeface="Garamond"/>
              <a:ea typeface="Garamond"/>
              <a:cs typeface="Garamond"/>
            </a:endParaRPr>
          </a:p>
        </p:txBody>
      </p:sp>
      <p:sp>
        <p:nvSpPr>
          <p:cNvPr id="10" name="TextBox 9">
            <a:extLst xmlns:a="http://schemas.openxmlformats.org/drawingml/2006/main">
              <a:ext uri="{FF2B5EF4-FFF2-40B4-BE49-F238E27FC236}">
                <a16:creationId xmlns:a16="http://schemas.microsoft.com/office/drawing/2014/main" id="{180C1B71-FEFF-49D6-AF61-4F8279A775A5}"/>
              </a:ext>
            </a:extLst>
          </p:cNvPr>
          <p:cNvSpPr>
            <a:spLocks xmlns:a="http://schemas.openxmlformats.org/drawingml/2006/main" noGrp="1"/>
          </p:cNvSpPr>
          <p:nvPr/>
        </p:nvSpPr>
        <p:spPr>
          <a:xfrm xmlns:a="http://schemas.openxmlformats.org/drawingml/2006/main">
            <a:off x="331286" y="2076450"/>
            <a:ext cx="5924550" cy="470301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
            </a:r>
            <a:endParaRPr/>
          </a:p>
        </p:txBody>
      </p:sp>
      <p:pic>
        <p:nvPicPr>
          <p:cNvPr id="53" name="Picture 1"/>
          <p:cNvPicPr>
            <a:picLocks xmlns:a="http://schemas.openxmlformats.org/drawingml/2006/main" noChangeAspect="1"/>
          </p:cNvPicPr>
          <p:nvPr/>
        </p:nvPicPr>
        <p:blipFill>
          <a:blip xmlns:r="http://schemas.openxmlformats.org/officeDocument/2006/relationships" xmlns:a="http://schemas.openxmlformats.org/drawingml/2006/main" r:embed="Rac5d842585bd4f61"/>
          <a:stretch xmlns:a="http://schemas.openxmlformats.org/drawingml/2006/main"/>
        </p:blipFill>
        <p:spPr>
          <a:xfrm xmlns:a="http://schemas.openxmlformats.org/drawingml/2006/main">
            <a:off x="9780080" y="1528"/>
            <a:ext cx="2249805" cy="1062316"/>
          </a:xfrm>
          <a:prstGeom xmlns:a="http://schemas.openxmlformats.org/drawingml/2006/main" prst="rect">
            <a:avLst/>
          </a:prstGeom>
        </p:spPr>
      </p:pic>
      <p:sp>
        <p:nvSpPr>
          <p:cNvPr id="40" name="">
            <a:extLst xmlns:a="http://schemas.openxmlformats.org/drawingml/2006/main">
              <a:ext uri="{FF2B5EF4-FFF2-40B4-BE49-F238E27FC236}">
                <a16:creationId xmlns:a16="http://schemas.microsoft.com/office/drawing/2014/main" id="{7C92E304-4496-4295-87E7-113E5379817A}"/>
              </a:ext>
            </a:extLst>
          </p:cNvPr>
          <p:cNvSpPr>
            <a:spLocks xmlns:a="http://schemas.openxmlformats.org/drawingml/2006/main" noGrp="1"/>
          </p:cNvSpPr>
          <p:nvPr/>
        </p:nvSpPr>
        <p:spPr>
          <a:xfrm xmlns:a="http://schemas.openxmlformats.org/drawingml/2006/main">
            <a:off x="419100" y="2257425"/>
            <a:ext cx="619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11111"/>
                </a:solidFill>
                <a:latin typeface="Arial"/>
                <a:ea typeface="Arial"/>
                <a:cs typeface="Arial"/>
              </a:defRPr>
            </a:pPr>
            <a:r>
              <a:rPr sz="1950" b="1">
                <a:solidFill>
                  <a:srgbClr val="111111"/>
                </a:solidFill>
                <a:latin typeface="Arial"/>
                <a:ea typeface="Arial"/>
                <a:cs typeface="Arial"/>
              </a:rPr>
              <a:t>Problem Statement ID: SIH26183</a:t>
            </a:r>
          </a:p>
        </p:txBody>
      </p:sp>
      <p:sp>
        <p:nvSpPr>
          <p:cNvPr id="41" name="">
            <a:extLst xmlns:a="http://schemas.openxmlformats.org/drawingml/2006/main">
              <a:ext uri="{FF2B5EF4-FFF2-40B4-BE49-F238E27FC236}">
                <a16:creationId xmlns:a16="http://schemas.microsoft.com/office/drawing/2014/main" id="{AE7D2F2A-F4B5-4465-AD9C-3993E92501F3}"/>
              </a:ext>
            </a:extLst>
          </p:cNvPr>
          <p:cNvSpPr>
            <a:spLocks xmlns:a="http://schemas.openxmlformats.org/drawingml/2006/main" noGrp="1"/>
          </p:cNvSpPr>
          <p:nvPr/>
        </p:nvSpPr>
        <p:spPr>
          <a:xfrm xmlns:a="http://schemas.openxmlformats.org/drawingml/2006/main">
            <a:off x="419100" y="2724150"/>
            <a:ext cx="619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11111"/>
                </a:solidFill>
                <a:latin typeface="Arial"/>
                <a:ea typeface="Arial"/>
                <a:cs typeface="Arial"/>
              </a:defRPr>
            </a:pPr>
            <a:r>
              <a:rPr sz="1950" b="1">
                <a:solidFill>
                  <a:srgbClr val="111111"/>
                </a:solidFill>
                <a:latin typeface="Arial"/>
                <a:ea typeface="Arial"/>
                <a:cs typeface="Arial"/>
              </a:rPr>
              <a:t>Problem Statement Title</a:t>
            </a:r>
          </a:p>
        </p:txBody>
      </p:sp>
      <p:sp>
        <p:nvSpPr>
          <p:cNvPr id="42" name="">
            <a:extLst xmlns:a="http://schemas.openxmlformats.org/drawingml/2006/main">
              <a:ext uri="{FF2B5EF4-FFF2-40B4-BE49-F238E27FC236}">
                <a16:creationId xmlns:a16="http://schemas.microsoft.com/office/drawing/2014/main" id="{BF23006E-E5F4-4CAA-B140-BFB2714E3F08}"/>
              </a:ext>
            </a:extLst>
          </p:cNvPr>
          <p:cNvSpPr>
            <a:spLocks xmlns:a="http://schemas.openxmlformats.org/drawingml/2006/main" noGrp="1"/>
          </p:cNvSpPr>
          <p:nvPr/>
        </p:nvSpPr>
        <p:spPr>
          <a:xfrm xmlns:a="http://schemas.openxmlformats.org/drawingml/2006/main">
            <a:off x="419100" y="3105150"/>
            <a:ext cx="6105525"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11111"/>
                </a:solidFill>
                <a:latin typeface="Arial"/>
                <a:ea typeface="Arial"/>
                <a:cs typeface="Arial"/>
              </a:defRPr>
            </a:pPr>
            <a:r>
              <a:rPr sz="1875" b="0">
                <a:solidFill>
                  <a:srgbClr val="111111"/>
                </a:solidFill>
                <a:latin typeface="Arial"/>
                <a:ea typeface="Arial"/>
                <a:cs typeface="Arial"/>
              </a:rPr>
              <a:t>Real-Time Identification of Fraud-Linked Cryptocurrency Exchanges from Victim-Reported Suspect Wallet Addresses through Automated Blockchain Analytics</a:t>
            </a:r>
          </a:p>
        </p:txBody>
      </p:sp>
      <p:sp>
        <p:nvSpPr>
          <p:cNvPr id="43" name="">
            <a:extLst xmlns:a="http://schemas.openxmlformats.org/drawingml/2006/main">
              <a:ext uri="{FF2B5EF4-FFF2-40B4-BE49-F238E27FC236}">
                <a16:creationId xmlns:a16="http://schemas.microsoft.com/office/drawing/2014/main" id="{CE460B20-BBFD-4F12-929F-3E5BD8E4809A}"/>
              </a:ext>
            </a:extLst>
          </p:cNvPr>
          <p:cNvSpPr>
            <a:spLocks xmlns:a="http://schemas.openxmlformats.org/drawingml/2006/main" noGrp="1"/>
          </p:cNvSpPr>
          <p:nvPr/>
        </p:nvSpPr>
        <p:spPr>
          <a:xfrm xmlns:a="http://schemas.openxmlformats.org/drawingml/2006/main">
            <a:off x="419100" y="4600575"/>
            <a:ext cx="619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11111"/>
                </a:solidFill>
                <a:latin typeface="Arial"/>
                <a:ea typeface="Arial"/>
                <a:cs typeface="Arial"/>
              </a:defRPr>
            </a:pPr>
            <a:r>
              <a:rPr sz="1875" b="1">
                <a:solidFill>
                  <a:srgbClr val="111111"/>
                </a:solidFill>
                <a:latin typeface="Arial"/>
                <a:ea typeface="Arial"/>
                <a:cs typeface="Arial"/>
              </a:rPr>
              <a:t>Theme: Blockchain &amp; Cybersecurity</a:t>
            </a:r>
          </a:p>
        </p:txBody>
      </p:sp>
      <p:sp>
        <p:nvSpPr>
          <p:cNvPr id="44" name="">
            <a:extLst xmlns:a="http://schemas.openxmlformats.org/drawingml/2006/main">
              <a:ext uri="{FF2B5EF4-FFF2-40B4-BE49-F238E27FC236}">
                <a16:creationId xmlns:a16="http://schemas.microsoft.com/office/drawing/2014/main" id="{D1304B7A-73D2-477F-B528-650A962A303B}"/>
              </a:ext>
            </a:extLst>
          </p:cNvPr>
          <p:cNvSpPr>
            <a:spLocks xmlns:a="http://schemas.openxmlformats.org/drawingml/2006/main" noGrp="1"/>
          </p:cNvSpPr>
          <p:nvPr/>
        </p:nvSpPr>
        <p:spPr>
          <a:xfrm xmlns:a="http://schemas.openxmlformats.org/drawingml/2006/main">
            <a:off x="419100" y="5019675"/>
            <a:ext cx="619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11111"/>
                </a:solidFill>
                <a:latin typeface="Arial"/>
                <a:ea typeface="Arial"/>
                <a:cs typeface="Arial"/>
              </a:defRPr>
            </a:pPr>
            <a:r>
              <a:rPr sz="1875" b="1">
                <a:solidFill>
                  <a:srgbClr val="111111"/>
                </a:solidFill>
                <a:latin typeface="Arial"/>
                <a:ea typeface="Arial"/>
                <a:cs typeface="Arial"/>
              </a:rPr>
              <a:t>PS Category: Software</a:t>
            </a:r>
          </a:p>
        </p:txBody>
      </p:sp>
      <p:sp>
        <p:nvSpPr>
          <p:cNvPr id="45" name="">
            <a:extLst xmlns:a="http://schemas.openxmlformats.org/drawingml/2006/main">
              <a:ext uri="{FF2B5EF4-FFF2-40B4-BE49-F238E27FC236}">
                <a16:creationId xmlns:a16="http://schemas.microsoft.com/office/drawing/2014/main" id="{188028BF-2595-4E0F-81D3-52B803C07F51}"/>
              </a:ext>
            </a:extLst>
          </p:cNvPr>
          <p:cNvSpPr>
            <a:spLocks xmlns:a="http://schemas.openxmlformats.org/drawingml/2006/main" noGrp="1"/>
          </p:cNvSpPr>
          <p:nvPr/>
        </p:nvSpPr>
        <p:spPr>
          <a:xfrm xmlns:a="http://schemas.openxmlformats.org/drawingml/2006/main">
            <a:off x="419100" y="5438775"/>
            <a:ext cx="619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F497D"/>
                </a:solidFill>
                <a:latin typeface="Arial"/>
                <a:ea typeface="Arial"/>
                <a:cs typeface="Arial"/>
              </a:defRPr>
            </a:pPr>
            <a:r>
              <a:rPr sz="1875" b="1">
                <a:solidFill>
                  <a:srgbClr val="1F497D"/>
                </a:solidFill>
                <a:latin typeface="Arial"/>
                <a:ea typeface="Arial"/>
                <a:cs typeface="Arial"/>
              </a:rPr>
              <a:t>Team ID: [ENTER REGISTERED TEAM ID]</a:t>
            </a:r>
          </a:p>
        </p:txBody>
      </p:sp>
      <p:sp>
        <p:nvSpPr>
          <p:cNvPr id="46" name="">
            <a:extLst xmlns:a="http://schemas.openxmlformats.org/drawingml/2006/main">
              <a:ext uri="{FF2B5EF4-FFF2-40B4-BE49-F238E27FC236}">
                <a16:creationId xmlns:a16="http://schemas.microsoft.com/office/drawing/2014/main" id="{065B9173-DE46-4AD9-91CD-464617D78547}"/>
              </a:ext>
            </a:extLst>
          </p:cNvPr>
          <p:cNvSpPr>
            <a:spLocks xmlns:a="http://schemas.openxmlformats.org/drawingml/2006/main" noGrp="1"/>
          </p:cNvSpPr>
          <p:nvPr/>
        </p:nvSpPr>
        <p:spPr>
          <a:xfrm xmlns:a="http://schemas.openxmlformats.org/drawingml/2006/main">
            <a:off x="419100" y="5857875"/>
            <a:ext cx="61912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11111"/>
                </a:solidFill>
                <a:latin typeface="Arial"/>
                <a:ea typeface="Arial"/>
                <a:cs typeface="Arial"/>
              </a:defRPr>
            </a:pPr>
            <a:r>
              <a:rPr sz="1875" b="1">
                <a:solidFill>
                  <a:srgbClr val="111111"/>
                </a:solidFill>
                <a:latin typeface="Arial"/>
                <a:ea typeface="Arial"/>
                <a:cs typeface="Arial"/>
              </a:rPr>
              <a:t>Team Name (Registered on portal):</a:t>
            </a:r>
          </a:p>
          <a:p xmlns:a="http://schemas.openxmlformats.org/drawingml/2006/main">
            <a:pPr algn="l">
              <a:defRPr sz="1875" b="1">
                <a:solidFill>
                  <a:srgbClr val="111111"/>
                </a:solidFill>
                <a:latin typeface="Arial"/>
                <a:ea typeface="Arial"/>
                <a:cs typeface="Arial"/>
              </a:defRPr>
            </a:pPr>
            <a:r>
              <a:rPr sz="1875" b="1">
                <a:solidFill>
                  <a:srgbClr val="111111"/>
                </a:solidFill>
                <a:latin typeface="Arial"/>
                <a:ea typeface="Arial"/>
                <a:cs typeface="Arial"/>
              </a:rPr>
              <a:t>COLD COFFEE</a:t>
            </a:r>
          </a:p>
        </p:txBody>
      </p:sp>
    </p:spTree>
    <p:extLst>
      <p:ext uri="{BB962C8B-B14F-4D97-AF65-F5344CB8AC3E}">
        <p14:creationId xmlns:p14="http://schemas.microsoft.com/office/powerpoint/2010/main" val="197559779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9" name="Rectangle 8">
            <a:extLst xmlns:a="http://schemas.openxmlformats.org/drawingml/2006/main">
              <a:ext uri="{FF2B5EF4-FFF2-40B4-BE49-F238E27FC236}">
                <a16:creationId xmlns:a16="http://schemas.microsoft.com/office/drawing/2014/main" id="{3AE9BFC9-8A06-4730-B81B-A03B05676C3A}"/>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endParaRPr>
              <a:solidFill>
                <a:schemeClr val="accent2">
                  <a:lumMod val="75000"/>
                </a:schemeClr>
              </a:solidFill>
              <a:latin typeface="+mn-lt"/>
              <a:ea typeface="+mn-lt"/>
              <a:cs typeface="+mn-lt"/>
            </a:endParaRPr>
          </a:p>
        </p:txBody>
      </p:sp>
      <p:sp>
        <p:nvSpPr>
          <p:cNvPr id="15361" name="Title 1">
            <a:extLst xmlns:a="http://schemas.openxmlformats.org/drawingml/2006/main">
              <a:ext uri="{FF2B5EF4-FFF2-40B4-BE49-F238E27FC236}">
                <a16:creationId xmlns:a16="http://schemas.microsoft.com/office/drawing/2014/main" id="{33FB9C9C-9E7E-4F89-B246-77226C110264}"/>
              </a:ext>
            </a:extLst>
          </p:cNvPr>
          <p:cNvSpPr>
            <a:spLocks xmlns:a="http://schemas.openxmlformats.org/drawingml/2006/main" noGrp="1"/>
          </p:cNvSpPr>
          <p:nvPr>
            <p:ph type="title" idx="0"/>
          </p:nvPr>
        </p:nvSpPr>
        <p:spPr>
          <a:xfrm xmlns:a="http://schemas.openxmlformats.org/drawingml/2006/main">
            <a:off x="1752600" y="247650"/>
            <a:ext cx="7924800" cy="723900"/>
          </a:xfrm>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3450" b="1">
                <a:solidFill>
                  <a:srgbClr val="000000"/>
                </a:solidFill>
                <a:latin typeface="Times New Roman"/>
                <a:ea typeface="Times New Roman"/>
                <a:cs typeface="Times New Roman"/>
              </a:defRPr>
            </a:pPr>
            <a:r>
              <a:rPr sz="3450" b="1">
                <a:solidFill>
                  <a:srgbClr val="000000"/>
                </a:solidFill>
                <a:latin typeface="Times New Roman"/>
                <a:ea typeface="Times New Roman"/>
                <a:cs typeface="Times New Roman"/>
              </a:rPr>
              <a:t>AEGIS FORENSICS</a:t>
            </a:r>
          </a:p>
        </p:txBody>
      </p:sp>
      <p:sp>
        <p:nvSpPr>
          <p:cNvPr id="6" name="Slide Number Placeholder 5">
            <a:extLst xmlns:a="http://schemas.openxmlformats.org/drawingml/2006/main">
              <a:ext uri="{FF2B5EF4-FFF2-40B4-BE49-F238E27FC236}">
                <a16:creationId xmlns:a16="http://schemas.microsoft.com/office/drawing/2014/main" id="{C37F2370-D5EC-4B9F-A141-7DA9CC21D7F1}"/>
              </a:ext>
            </a:extLst>
          </p:cNvPr>
          <p:cNvSpPr>
            <a:spLocks xmlns:a="http://schemas.openxmlformats.org/drawingml/2006/main" noGrp="1"/>
          </p:cNvSpPr>
          <p:nvPr>
            <p:ph type="sldNum" idx="12"/>
          </p:nvPr>
        </p:nvSpPr>
        <p:spPr>
          <a:xfrm xmlns:a="http://schemas.openxmlformats.org/drawingml/2006/main">
            <a:off x="11382375" y="6457950"/>
            <a:ext cx="381000" cy="238125"/>
          </a:xfrm>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FFFFFF"/>
                </a:solidFill>
                <a:latin typeface="Arial"/>
                <a:ea typeface="Arial"/>
                <a:cs typeface="Arial"/>
              </a:defRPr>
            </a:pPr>
            <a:fld id="{E2598689-54C9-18A7-3A19-ED76AA08988F}" type="slidenum">
              <a:rPr sz="1275" b="1">
                <a:solidFill>
                  <a:srgbClr val="FFFFFF"/>
                </a:solidFill>
                <a:latin typeface="Arial"/>
                <a:ea typeface="Arial"/>
                <a:cs typeface="Arial"/>
              </a:rPr>
              <a:t>2</a:t>
            </a:fld>
            <a:endParaRPr b="1">
              <a:solidFill>
                <a:schemeClr val="bg1"/>
              </a:solidFill>
            </a:endParaRPr>
          </a:p>
        </p:txBody>
      </p:sp>
      <p:sp>
        <p:nvSpPr>
          <p:cNvPr id="7" name="Footer Placeholder 6">
            <a:extLst xmlns:a="http://schemas.openxmlformats.org/drawingml/2006/main">
              <a:ext uri="{FF2B5EF4-FFF2-40B4-BE49-F238E27FC236}">
                <a16:creationId xmlns:a16="http://schemas.microsoft.com/office/drawing/2014/main" id="{E1C5F615-7416-433F-8EBE-A01C7B095857}"/>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a:buNone/>
            </a:pPr>
            <a:r>
              <a:rPr>
                <a:solidFill>
                  <a:schemeClr val="bg1"/>
                </a:solidFill>
              </a:rPr>
              <a:t>@SIH Idea submission- Template</a:t>
            </a:r>
            <a:endParaRPr>
              <a:solidFill>
                <a:schemeClr val="bg1"/>
              </a:solidFill>
            </a:endParaRPr>
          </a:p>
        </p:txBody>
      </p:sp>
      <p:sp>
        <p:nvSpPr>
          <p:cNvPr id="10" name="Oval 9">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56" y="252222"/>
            <a:ext cx="1251871" cy="807339"/>
          </a:xfrm>
          <a:prstGeom xmlns:a="http://schemas.openxmlformats.org/drawingml/2006/main" prst="ellipse">
            <a:avLst/>
          </a:prstGeom>
          <a:solidFill xmlns:a="http://schemas.openxmlformats.org/drawingml/2006/main">
            <a:srgbClr val="FFFFFF"/>
          </a:solidFill>
          <a:ln xmlns:a="http://schemas.openxmlformats.org/drawingml/2006/main" w="19050">
            <a:solidFill>
              <a:srgbClr val="8064A2"/>
            </a:solidFill>
          </a:ln>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COLD</a:t>
            </a:r>
            <a:endParaRPr/>
          </a:p>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COFFEE</a:t>
            </a:r>
            <a:endParaRPr/>
          </a:p>
        </p:txBody>
      </p:sp>
      <p:pic>
        <p:nvPicPr>
          <p:cNvPr id="15376" name="Picture 10"/>
          <p:cNvPicPr>
            <a:picLocks xmlns:a="http://schemas.openxmlformats.org/drawingml/2006/main" noChangeAspect="1"/>
          </p:cNvPicPr>
          <p:nvPr/>
        </p:nvPicPr>
        <p:blipFill>
          <a:blip xmlns:r="http://schemas.openxmlformats.org/officeDocument/2006/relationships" xmlns:a="http://schemas.openxmlformats.org/drawingml/2006/main" r:embed="R8525febbab024ea0"/>
          <a:stretch xmlns:a="http://schemas.openxmlformats.org/drawingml/2006/main"/>
        </p:blipFill>
        <p:spPr>
          <a:xfrm xmlns:a="http://schemas.openxmlformats.org/drawingml/2006/main">
            <a:off x="9780080" y="1528"/>
            <a:ext cx="2249805" cy="1062316"/>
          </a:xfrm>
          <a:prstGeom xmlns:a="http://schemas.openxmlformats.org/drawingml/2006/main" prst="rect">
            <a:avLst/>
          </a:prstGeom>
        </p:spPr>
      </p:pic>
      <p:sp>
        <p:nvSpPr>
          <p:cNvPr id="15364" name="">
            <a:extLst xmlns:a="http://schemas.openxmlformats.org/drawingml/2006/main">
              <a:ext uri="{FF2B5EF4-FFF2-40B4-BE49-F238E27FC236}">
                <a16:creationId xmlns:a16="http://schemas.microsoft.com/office/drawing/2014/main" id="{734A3AC8-AE4D-4380-B9BD-D60CF1D74994}"/>
              </a:ext>
            </a:extLst>
          </p:cNvPr>
          <p:cNvSpPr>
            <a:spLocks xmlns:a="http://schemas.openxmlformats.org/drawingml/2006/main" noGrp="1"/>
          </p:cNvSpPr>
          <p:nvPr/>
        </p:nvSpPr>
        <p:spPr>
          <a:xfrm xmlns:a="http://schemas.openxmlformats.org/drawingml/2006/main">
            <a:off x="609600" y="130492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F497D"/>
                </a:solidFill>
                <a:latin typeface="Arial"/>
                <a:ea typeface="Arial"/>
                <a:cs typeface="Arial"/>
              </a:defRPr>
            </a:pPr>
            <a:r>
              <a:rPr sz="2175" b="1">
                <a:solidFill>
                  <a:srgbClr val="1F497D"/>
                </a:solidFill>
                <a:latin typeface="Arial"/>
                <a:ea typeface="Arial"/>
                <a:cs typeface="Arial"/>
              </a:rPr>
              <a:t>Proposed Solution (Describe your Idea/Solution/Prototype)</a:t>
            </a:r>
          </a:p>
        </p:txBody>
      </p:sp>
      <p:sp>
        <p:nvSpPr>
          <p:cNvPr id="15365" name="">
            <a:extLst xmlns:a="http://schemas.openxmlformats.org/drawingml/2006/main">
              <a:ext uri="{FF2B5EF4-FFF2-40B4-BE49-F238E27FC236}">
                <a16:creationId xmlns:a16="http://schemas.microsoft.com/office/drawing/2014/main" id="{CCCDFD92-E041-4A08-88FA-8AE2E6623848}"/>
              </a:ext>
            </a:extLst>
          </p:cNvPr>
          <p:cNvSpPr>
            <a:spLocks xmlns:a="http://schemas.openxmlformats.org/drawingml/2006/main" noGrp="1"/>
          </p:cNvSpPr>
          <p:nvPr/>
        </p:nvSpPr>
        <p:spPr>
          <a:xfrm xmlns:a="http://schemas.openxmlformats.org/drawingml/2006/main">
            <a:off x="609600" y="17811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F497D"/>
                </a:solidFill>
                <a:latin typeface="Arial"/>
                <a:ea typeface="Arial"/>
                <a:cs typeface="Arial"/>
              </a:defRPr>
            </a:pPr>
            <a:r>
              <a:rPr sz="1950" b="1">
                <a:solidFill>
                  <a:srgbClr val="1F497D"/>
                </a:solidFill>
                <a:latin typeface="Arial"/>
                <a:ea typeface="Arial"/>
                <a:cs typeface="Arial"/>
              </a:rPr>
              <a:t>Detailed explanation of the proposed solution</a:t>
            </a:r>
          </a:p>
        </p:txBody>
      </p:sp>
      <p:sp>
        <p:nvSpPr>
          <p:cNvPr id="15366" name="">
            <a:extLst xmlns:a="http://schemas.openxmlformats.org/drawingml/2006/main">
              <a:ext uri="{FF2B5EF4-FFF2-40B4-BE49-F238E27FC236}">
                <a16:creationId xmlns:a16="http://schemas.microsoft.com/office/drawing/2014/main" id="{7A40672B-22AF-41BC-8C29-95D92EF5B53A}"/>
              </a:ext>
            </a:extLst>
          </p:cNvPr>
          <p:cNvSpPr>
            <a:spLocks xmlns:a="http://schemas.openxmlformats.org/drawingml/2006/main" noGrp="1"/>
          </p:cNvSpPr>
          <p:nvPr/>
        </p:nvSpPr>
        <p:spPr>
          <a:xfrm xmlns:a="http://schemas.openxmlformats.org/drawingml/2006/main">
            <a:off x="723900" y="2143125"/>
            <a:ext cx="1080135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190500" indent="-127000" algn="l">
              <a:spcAft>
                <a:spcPts val="700"/>
              </a:spcAft>
              <a:buChar char="•"/>
              <a:defRPr sz="1875" b="0">
                <a:solidFill>
                  <a:srgbClr val="111111"/>
                </a:solidFill>
                <a:latin typeface="Arial"/>
                <a:ea typeface="Arial"/>
                <a:cs typeface="Arial"/>
              </a:defRPr>
            </a:pPr>
            <a:r>
              <a:rPr sz="1875" b="0">
                <a:solidFill>
                  <a:srgbClr val="111111"/>
                </a:solidFill>
                <a:latin typeface="Arial"/>
                <a:ea typeface="Arial"/>
                <a:cs typeface="Arial"/>
              </a:rPr>
              <a:t>Ingest victim-reported addresses and trace outgoing funds through intermediary wallets.</a:t>
            </a:r>
          </a:p>
          <a:p xmlns:a="http://schemas.openxmlformats.org/drawingml/2006/main">
            <a:pPr marL="190500" indent="-127000" algn="l">
              <a:spcAft>
                <a:spcPts val="700"/>
              </a:spcAft>
              <a:buChar char="•"/>
              <a:defRPr sz="1875" b="0">
                <a:solidFill>
                  <a:srgbClr val="111111"/>
                </a:solidFill>
                <a:latin typeface="Arial"/>
                <a:ea typeface="Arial"/>
                <a:cs typeface="Arial"/>
              </a:defRPr>
            </a:pPr>
            <a:r>
              <a:rPr sz="1875" b="0">
                <a:solidFill>
                  <a:srgbClr val="111111"/>
                </a:solidFill>
                <a:latin typeface="Arial"/>
                <a:ea typeface="Arial"/>
                <a:cs typeface="Arial"/>
              </a:rPr>
              <a:t>Identify the nearest supported receiving exchange/VASP with its deposit transaction and path.</a:t>
            </a:r>
          </a:p>
          <a:p xmlns:a="http://schemas.openxmlformats.org/drawingml/2006/main">
            <a:pPr marL="190500" indent="-127000" algn="l">
              <a:spcAft>
                <a:spcPts val="700"/>
              </a:spcAft>
              <a:buChar char="•"/>
              <a:defRPr sz="1875" b="0">
                <a:solidFill>
                  <a:srgbClr val="111111"/>
                </a:solidFill>
                <a:latin typeface="Arial"/>
                <a:ea typeface="Arial"/>
                <a:cs typeface="Arial"/>
              </a:defRPr>
            </a:pPr>
            <a:r>
              <a:rPr sz="1875" b="0">
                <a:solidFill>
                  <a:srgbClr val="111111"/>
                </a:solidFill>
                <a:latin typeface="Arial"/>
                <a:ea typeface="Arial"/>
                <a:cs typeface="Arial"/>
              </a:rPr>
              <a:t>Monitor subsequent movement and generate alerts with standardized investigation reports.</a:t>
            </a:r>
          </a:p>
        </p:txBody>
      </p:sp>
      <p:sp>
        <p:nvSpPr>
          <p:cNvPr id="15367" name="">
            <a:extLst xmlns:a="http://schemas.openxmlformats.org/drawingml/2006/main">
              <a:ext uri="{FF2B5EF4-FFF2-40B4-BE49-F238E27FC236}">
                <a16:creationId xmlns:a16="http://schemas.microsoft.com/office/drawing/2014/main" id="{5A1C2CCC-D1B8-4104-816C-0417E44CDBDE}"/>
              </a:ext>
            </a:extLst>
          </p:cNvPr>
          <p:cNvSpPr>
            <a:spLocks xmlns:a="http://schemas.openxmlformats.org/drawingml/2006/main" noGrp="1"/>
          </p:cNvSpPr>
          <p:nvPr/>
        </p:nvSpPr>
        <p:spPr>
          <a:xfrm xmlns:a="http://schemas.openxmlformats.org/drawingml/2006/main">
            <a:off x="609600" y="359092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F497D"/>
                </a:solidFill>
                <a:latin typeface="Arial"/>
                <a:ea typeface="Arial"/>
                <a:cs typeface="Arial"/>
              </a:defRPr>
            </a:pPr>
            <a:r>
              <a:rPr sz="1950" b="1">
                <a:solidFill>
                  <a:srgbClr val="1F497D"/>
                </a:solidFill>
                <a:latin typeface="Arial"/>
                <a:ea typeface="Arial"/>
                <a:cs typeface="Arial"/>
              </a:rPr>
              <a:t>How it addresses the problem</a:t>
            </a:r>
          </a:p>
        </p:txBody>
      </p:sp>
      <p:sp>
        <p:nvSpPr>
          <p:cNvPr id="15368" name="">
            <a:extLst xmlns:a="http://schemas.openxmlformats.org/drawingml/2006/main">
              <a:ext uri="{FF2B5EF4-FFF2-40B4-BE49-F238E27FC236}">
                <a16:creationId xmlns:a16="http://schemas.microsoft.com/office/drawing/2014/main" id="{BD155294-543A-4E39-A522-10572D72E13F}"/>
              </a:ext>
            </a:extLst>
          </p:cNvPr>
          <p:cNvSpPr>
            <a:spLocks xmlns:a="http://schemas.openxmlformats.org/drawingml/2006/main" noGrp="1"/>
          </p:cNvSpPr>
          <p:nvPr/>
        </p:nvSpPr>
        <p:spPr>
          <a:xfrm xmlns:a="http://schemas.openxmlformats.org/drawingml/2006/main">
            <a:off x="723900" y="3952875"/>
            <a:ext cx="108013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190500" indent="-127000" algn="l">
              <a:spcAft>
                <a:spcPts val="700"/>
              </a:spcAft>
              <a:buChar char="•"/>
              <a:defRPr sz="1875" b="0">
                <a:solidFill>
                  <a:srgbClr val="111111"/>
                </a:solidFill>
                <a:latin typeface="Arial"/>
                <a:ea typeface="Arial"/>
                <a:cs typeface="Arial"/>
              </a:defRPr>
            </a:pPr>
            <a:r>
              <a:rPr sz="1875" b="0">
                <a:solidFill>
                  <a:srgbClr val="111111"/>
                </a:solidFill>
                <a:latin typeface="Arial"/>
                <a:ea typeface="Arial"/>
                <a:cs typeface="Arial"/>
              </a:rPr>
              <a:t>Give investigators transaction hashes, amounts, timestamps and sourced attribution evidence.</a:t>
            </a:r>
          </a:p>
          <a:p xmlns:a="http://schemas.openxmlformats.org/drawingml/2006/main">
            <a:pPr marL="190500" indent="-127000" algn="l">
              <a:spcAft>
                <a:spcPts val="700"/>
              </a:spcAft>
              <a:buChar char="•"/>
              <a:defRPr sz="1875" b="0">
                <a:solidFill>
                  <a:srgbClr val="111111"/>
                </a:solidFill>
                <a:latin typeface="Arial"/>
                <a:ea typeface="Arial"/>
                <a:cs typeface="Arial"/>
              </a:defRPr>
            </a:pPr>
            <a:r>
              <a:rPr sz="1875" b="0">
                <a:solidFill>
                  <a:srgbClr val="111111"/>
                </a:solidFill>
                <a:latin typeface="Arial"/>
                <a:ea typeface="Arial"/>
                <a:cs typeface="Arial"/>
              </a:rPr>
              <a:t>Recommend follow-up actions; plan NCRP/SAHYOG integration through approved interfaces.</a:t>
            </a:r>
          </a:p>
        </p:txBody>
      </p:sp>
      <p:sp>
        <p:nvSpPr>
          <p:cNvPr id="15369" name="">
            <a:extLst xmlns:a="http://schemas.openxmlformats.org/drawingml/2006/main">
              <a:ext uri="{FF2B5EF4-FFF2-40B4-BE49-F238E27FC236}">
                <a16:creationId xmlns:a16="http://schemas.microsoft.com/office/drawing/2014/main" id="{E8DC0290-FF7C-4AC7-9B25-EBAF2DDF908A}"/>
              </a:ext>
            </a:extLst>
          </p:cNvPr>
          <p:cNvSpPr>
            <a:spLocks xmlns:a="http://schemas.openxmlformats.org/drawingml/2006/main" noGrp="1"/>
          </p:cNvSpPr>
          <p:nvPr/>
        </p:nvSpPr>
        <p:spPr>
          <a:xfrm xmlns:a="http://schemas.openxmlformats.org/drawingml/2006/main">
            <a:off x="609600" y="50292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F497D"/>
                </a:solidFill>
                <a:latin typeface="Arial"/>
                <a:ea typeface="Arial"/>
                <a:cs typeface="Arial"/>
              </a:defRPr>
            </a:pPr>
            <a:r>
              <a:rPr sz="1950" b="1">
                <a:solidFill>
                  <a:srgbClr val="1F497D"/>
                </a:solidFill>
                <a:latin typeface="Arial"/>
                <a:ea typeface="Arial"/>
                <a:cs typeface="Arial"/>
              </a:rPr>
              <a:t>Innovation and uniqueness of the solution</a:t>
            </a:r>
          </a:p>
        </p:txBody>
      </p:sp>
      <p:sp>
        <p:nvSpPr>
          <p:cNvPr id="15370" name="">
            <a:extLst xmlns:a="http://schemas.openxmlformats.org/drawingml/2006/main">
              <a:ext uri="{FF2B5EF4-FFF2-40B4-BE49-F238E27FC236}">
                <a16:creationId xmlns:a16="http://schemas.microsoft.com/office/drawing/2014/main" id="{01479CF5-4579-44CA-B483-DCDB630A99AC}"/>
              </a:ext>
            </a:extLst>
          </p:cNvPr>
          <p:cNvSpPr>
            <a:spLocks xmlns:a="http://schemas.openxmlformats.org/drawingml/2006/main" noGrp="1"/>
          </p:cNvSpPr>
          <p:nvPr/>
        </p:nvSpPr>
        <p:spPr>
          <a:xfrm xmlns:a="http://schemas.openxmlformats.org/drawingml/2006/main">
            <a:off x="723900" y="5381625"/>
            <a:ext cx="108013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190500" indent="-127000" algn="l">
              <a:spcAft>
                <a:spcPts val="700"/>
              </a:spcAft>
              <a:buChar char="•"/>
              <a:defRPr sz="1800" b="0">
                <a:solidFill>
                  <a:srgbClr val="111111"/>
                </a:solidFill>
                <a:latin typeface="Arial"/>
                <a:ea typeface="Arial"/>
                <a:cs typeface="Arial"/>
              </a:defRPr>
            </a:pPr>
            <a:r>
              <a:rPr sz="1800" b="0">
                <a:solidFill>
                  <a:srgbClr val="111111"/>
                </a:solidFill>
                <a:latin typeface="Arial"/>
                <a:ea typeface="Arial"/>
                <a:cs typeface="Arial"/>
              </a:rPr>
              <a:t>Combine receiving-VASP discovery with evidence provenance and movement monitoring.</a:t>
            </a:r>
          </a:p>
          <a:p xmlns:a="http://schemas.openxmlformats.org/drawingml/2006/main">
            <a:pPr marL="190500" indent="-127000" algn="l">
              <a:spcAft>
                <a:spcPts val="700"/>
              </a:spcAft>
              <a:buChar char="•"/>
              <a:defRPr sz="1800" b="0">
                <a:solidFill>
                  <a:srgbClr val="111111"/>
                </a:solidFill>
                <a:latin typeface="Arial"/>
                <a:ea typeface="Arial"/>
                <a:cs typeface="Arial"/>
              </a:defRPr>
            </a:pPr>
            <a:r>
              <a:rPr sz="1800" b="0">
                <a:solidFill>
                  <a:srgbClr val="111111"/>
                </a:solidFill>
                <a:latin typeface="Arial"/>
                <a:ea typeface="Arial"/>
                <a:cs typeface="Arial"/>
              </a:rPr>
              <a:t>Keep observed facts, inferred links and unresolved paths distinct for investigator review.</a:t>
            </a:r>
          </a:p>
        </p:txBody>
      </p:sp>
    </p:spTree>
    <p:extLst>
      <p:ext uri="{BB962C8B-B14F-4D97-AF65-F5344CB8AC3E}">
        <p14:creationId xmlns:p14="http://schemas.microsoft.com/office/powerpoint/2010/main" val="79512282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endParaRPr>
              <a:solidFill>
                <a:schemeClr val="accent2">
                  <a:lumMod val="75000"/>
                </a:schemeClr>
              </a:solidFill>
              <a:latin typeface="+mn-lt"/>
              <a:ea typeface="+mn-lt"/>
              <a:cs typeface="+mn-lt"/>
            </a:endParaRPr>
          </a:p>
        </p:txBody>
      </p:sp>
      <p:sp>
        <p:nvSpPr>
          <p:cNvPr id="17409" name="Title 1">
            <a:extLst xmlns:a="http://schemas.openxmlformats.org/drawingml/2006/main">
              <a:ext uri="{FF2B5EF4-FFF2-40B4-BE49-F238E27FC236}">
                <a16:creationId xmlns:a16="http://schemas.microsoft.com/office/drawing/2014/main" id="{2F6BA1C2-A283-4AF8-8C03-A0A819A5A1D0}"/>
              </a:ext>
            </a:extLst>
          </p:cNvPr>
          <p:cNvSpPr>
            <a:spLocks xmlns:a="http://schemas.openxmlformats.org/drawingml/2006/main" noGrp="1"/>
          </p:cNvSpPr>
          <p:nvPr>
            <p:ph type="title" idx="0"/>
          </p:nvPr>
        </p:nvSpPr>
        <p:spPr>
          <a:xfrm xmlns:a="http://schemas.openxmlformats.org/drawingml/2006/main">
            <a:off x="1752600" y="247650"/>
            <a:ext cx="7924800" cy="723900"/>
          </a:xfrm>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3450" b="1">
                <a:solidFill>
                  <a:srgbClr val="000000"/>
                </a:solidFill>
                <a:latin typeface="Times New Roman"/>
                <a:ea typeface="Times New Roman"/>
                <a:cs typeface="Times New Roman"/>
              </a:defRPr>
            </a:pPr>
            <a:r>
              <a:rPr sz="3450" b="1">
                <a:solidFill>
                  <a:srgbClr val="000000"/>
                </a:solidFill>
                <a:latin typeface="Times New Roman"/>
                <a:ea typeface="Times New Roman"/>
                <a:cs typeface="Times New Roman"/>
              </a:rPr>
              <a:t>TECHNICAL APPROACH</a:t>
            </a:r>
          </a:p>
        </p:txBody>
      </p:sp>
      <p:sp>
        <p:nvSpPr>
          <p:cNvPr id="6" name="Slide Number Placeholder 5">
            <a:extLst xmlns:a="http://schemas.openxmlformats.org/drawingml/2006/main">
              <a:ext uri="{FF2B5EF4-FFF2-40B4-BE49-F238E27FC236}">
                <a16:creationId xmlns:a16="http://schemas.microsoft.com/office/drawing/2014/main" id="{96E5B7CC-2812-4806-9DE3-4249B1090936}"/>
              </a:ext>
            </a:extLst>
          </p:cNvPr>
          <p:cNvSpPr>
            <a:spLocks xmlns:a="http://schemas.openxmlformats.org/drawingml/2006/main" noGrp="1"/>
          </p:cNvSpPr>
          <p:nvPr>
            <p:ph type="sldNum" idx="12"/>
          </p:nvPr>
        </p:nvSpPr>
        <p:spPr>
          <a:xfrm xmlns:a="http://schemas.openxmlformats.org/drawingml/2006/main">
            <a:off x="11382375" y="6457950"/>
            <a:ext cx="381000" cy="238125"/>
          </a:xfrm>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FFFFFF"/>
                </a:solidFill>
                <a:latin typeface="Arial"/>
                <a:ea typeface="Arial"/>
                <a:cs typeface="Arial"/>
              </a:defRPr>
            </a:pPr>
            <a:fld id="{202359C0-8A7A-196E-DD58-8E6569619F09}" type="slidenum">
              <a:rPr sz="1275" b="1">
                <a:solidFill>
                  <a:srgbClr val="FFFFFF"/>
                </a:solidFill>
                <a:latin typeface="Arial"/>
                <a:ea typeface="Arial"/>
                <a:cs typeface="Arial"/>
              </a:rPr>
              <a:t>3</a:t>
            </a:fld>
            <a:endParaRPr b="1">
              <a:solidFill>
                <a:schemeClr val="bg1"/>
              </a:solidFill>
            </a:endParaRPr>
          </a:p>
        </p:txBody>
      </p:sp>
      <p:sp>
        <p:nvSpPr>
          <p:cNvPr id="7" name="Footer Placeholder 6">
            <a:extLst xmlns:a="http://schemas.openxmlformats.org/drawingml/2006/main">
              <a:ext uri="{FF2B5EF4-FFF2-40B4-BE49-F238E27FC236}">
                <a16:creationId xmlns:a16="http://schemas.microsoft.com/office/drawing/2014/main" id="{2F8C1B33-FF5A-46EC-AC1D-A6B1E334278F}"/>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a:buNone/>
            </a:pPr>
            <a:r>
              <a:rPr>
                <a:solidFill>
                  <a:schemeClr val="bg1"/>
                </a:solidFill>
              </a:rPr>
              <a:t>@SIH Idea submission- Template</a:t>
            </a:r>
            <a:endParaRPr>
              <a:solidFill>
                <a:schemeClr val="bg1"/>
              </a:solidFill>
            </a:endParaRPr>
          </a:p>
        </p:txBody>
      </p:sp>
      <p:sp>
        <p:nvSpPr>
          <p:cNvPr id="11" name="Oval 10">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56" y="252222"/>
            <a:ext cx="1251871" cy="807339"/>
          </a:xfrm>
          <a:prstGeom xmlns:a="http://schemas.openxmlformats.org/drawingml/2006/main" prst="ellipse">
            <a:avLst/>
          </a:prstGeom>
          <a:solidFill xmlns:a="http://schemas.openxmlformats.org/drawingml/2006/main">
            <a:srgbClr val="FFFFFF"/>
          </a:solidFill>
          <a:ln xmlns:a="http://schemas.openxmlformats.org/drawingml/2006/main" w="19050">
            <a:solidFill>
              <a:srgbClr val="8064A2"/>
            </a:solidFill>
          </a:ln>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COLD</a:t>
            </a:r>
            <a:endParaRPr/>
          </a:p>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COFFEE</a:t>
            </a:r>
            <a:endParaRPr/>
          </a:p>
        </p:txBody>
      </p:sp>
      <p:pic>
        <p:nvPicPr>
          <p:cNvPr id="17422" name="Picture 11"/>
          <p:cNvPicPr>
            <a:picLocks xmlns:a="http://schemas.openxmlformats.org/drawingml/2006/main" noChangeAspect="1"/>
          </p:cNvPicPr>
          <p:nvPr/>
        </p:nvPicPr>
        <p:blipFill>
          <a:blip xmlns:r="http://schemas.openxmlformats.org/officeDocument/2006/relationships" xmlns:a="http://schemas.openxmlformats.org/drawingml/2006/main" r:embed="R7f90c445b4a64554"/>
          <a:stretch xmlns:a="http://schemas.openxmlformats.org/drawingml/2006/main"/>
        </p:blipFill>
        <p:spPr>
          <a:xfrm xmlns:a="http://schemas.openxmlformats.org/drawingml/2006/main">
            <a:off x="9780080" y="1528"/>
            <a:ext cx="2249805" cy="1062316"/>
          </a:xfrm>
          <a:prstGeom xmlns:a="http://schemas.openxmlformats.org/drawingml/2006/main" prst="rect">
            <a:avLst/>
          </a:prstGeom>
        </p:spPr>
      </p:pic>
      <p:sp>
        <p:nvSpPr>
          <p:cNvPr id="17412" name="">
            <a:extLst xmlns:a="http://schemas.openxmlformats.org/drawingml/2006/main">
              <a:ext uri="{FF2B5EF4-FFF2-40B4-BE49-F238E27FC236}">
                <a16:creationId xmlns:a16="http://schemas.microsoft.com/office/drawing/2014/main" id="{C5C77C05-AE74-42DE-9B87-607C1B4AFE94}"/>
              </a:ext>
            </a:extLst>
          </p:cNvPr>
          <p:cNvSpPr>
            <a:spLocks xmlns:a="http://schemas.openxmlformats.org/drawingml/2006/main" noGrp="1"/>
          </p:cNvSpPr>
          <p:nvPr/>
        </p:nvSpPr>
        <p:spPr>
          <a:xfrm xmlns:a="http://schemas.openxmlformats.org/drawingml/2006/main">
            <a:off x="609600" y="13335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F497D"/>
                </a:solidFill>
                <a:latin typeface="Arial"/>
                <a:ea typeface="Arial"/>
                <a:cs typeface="Arial"/>
              </a:defRPr>
            </a:pPr>
            <a:r>
              <a:rPr sz="2175" b="1">
                <a:solidFill>
                  <a:srgbClr val="1F497D"/>
                </a:solidFill>
                <a:latin typeface="Arial"/>
                <a:ea typeface="Arial"/>
                <a:cs typeface="Arial"/>
              </a:rPr>
              <a:t>Technologies to be used</a:t>
            </a:r>
          </a:p>
        </p:txBody>
      </p:sp>
      <p:sp>
        <p:nvSpPr>
          <p:cNvPr id="17413" name="">
            <a:extLst xmlns:a="http://schemas.openxmlformats.org/drawingml/2006/main">
              <a:ext uri="{FF2B5EF4-FFF2-40B4-BE49-F238E27FC236}">
                <a16:creationId xmlns:a16="http://schemas.microsoft.com/office/drawing/2014/main" id="{EE6F0116-2673-4DE1-AD0A-86E61CCE1C4D}"/>
              </a:ext>
            </a:extLst>
          </p:cNvPr>
          <p:cNvSpPr>
            <a:spLocks xmlns:a="http://schemas.openxmlformats.org/drawingml/2006/main" noGrp="1"/>
          </p:cNvSpPr>
          <p:nvPr/>
        </p:nvSpPr>
        <p:spPr>
          <a:xfrm xmlns:a="http://schemas.openxmlformats.org/drawingml/2006/main">
            <a:off x="723900" y="1743075"/>
            <a:ext cx="1080135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190500" indent="-127000" algn="l">
              <a:spcAft>
                <a:spcPts val="700"/>
              </a:spcAft>
              <a:buChar char="•"/>
              <a:defRPr sz="1875" b="0">
                <a:solidFill>
                  <a:srgbClr val="111111"/>
                </a:solidFill>
                <a:latin typeface="Arial"/>
                <a:ea typeface="Arial"/>
                <a:cs typeface="Arial"/>
              </a:defRPr>
            </a:pPr>
            <a:r>
              <a:rPr sz="1875" b="0">
                <a:solidFill>
                  <a:srgbClr val="111111"/>
                </a:solidFill>
                <a:latin typeface="Arial"/>
                <a:ea typeface="Arial"/>
                <a:cs typeface="Arial"/>
              </a:rPr>
              <a:t>React dashboard; Python/FastAPI services; queued workers and persistent case storage.</a:t>
            </a:r>
          </a:p>
          <a:p xmlns:a="http://schemas.openxmlformats.org/drawingml/2006/main">
            <a:pPr marL="190500" indent="-127000" algn="l">
              <a:spcAft>
                <a:spcPts val="700"/>
              </a:spcAft>
              <a:buChar char="•"/>
              <a:defRPr sz="1875" b="0">
                <a:solidFill>
                  <a:srgbClr val="111111"/>
                </a:solidFill>
                <a:latin typeface="Arial"/>
                <a:ea typeface="Arial"/>
                <a:cs typeface="Arial"/>
              </a:defRPr>
            </a:pPr>
            <a:r>
              <a:rPr sz="1875" b="0">
                <a:solidFill>
                  <a:srgbClr val="111111"/>
                </a:solidFill>
                <a:latin typeface="Arial"/>
                <a:ea typeface="Arial"/>
                <a:cs typeface="Arial"/>
              </a:rPr>
              <a:t>Bitcoin, EVM and TRON adapters; incremental indexing and versioned VASP address labels.</a:t>
            </a:r>
          </a:p>
          <a:p xmlns:a="http://schemas.openxmlformats.org/drawingml/2006/main">
            <a:pPr marL="190500" indent="-127000" algn="l">
              <a:spcAft>
                <a:spcPts val="700"/>
              </a:spcAft>
              <a:buChar char="•"/>
              <a:defRPr sz="1875" b="0">
                <a:solidFill>
                  <a:srgbClr val="111111"/>
                </a:solidFill>
                <a:latin typeface="Arial"/>
                <a:ea typeface="Arial"/>
                <a:cs typeface="Arial"/>
              </a:defRPr>
            </a:pPr>
            <a:r>
              <a:rPr sz="1875" b="0">
                <a:solidFill>
                  <a:srgbClr val="111111"/>
                </a:solidFill>
                <a:latin typeface="Arial"/>
                <a:ea typeface="Arial"/>
                <a:cs typeface="Arial"/>
              </a:rPr>
              <a:t>Bounded graph search, cautious clustering, explainable rules and evaluated ML risk detection.</a:t>
            </a:r>
          </a:p>
        </p:txBody>
      </p:sp>
      <p:sp>
        <p:nvSpPr>
          <p:cNvPr id="17414" name="">
            <a:extLst xmlns:a="http://schemas.openxmlformats.org/drawingml/2006/main">
              <a:ext uri="{FF2B5EF4-FFF2-40B4-BE49-F238E27FC236}">
                <a16:creationId xmlns:a16="http://schemas.microsoft.com/office/drawing/2014/main" id="{71D49B44-6E88-4945-8244-7C66FF920A5E}"/>
              </a:ext>
            </a:extLst>
          </p:cNvPr>
          <p:cNvSpPr>
            <a:spLocks xmlns:a="http://schemas.openxmlformats.org/drawingml/2006/main" noGrp="1"/>
          </p:cNvSpPr>
          <p:nvPr/>
        </p:nvSpPr>
        <p:spPr>
          <a:xfrm xmlns:a="http://schemas.openxmlformats.org/drawingml/2006/main">
            <a:off x="609600" y="32004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F497D"/>
                </a:solidFill>
                <a:latin typeface="Arial"/>
                <a:ea typeface="Arial"/>
                <a:cs typeface="Arial"/>
              </a:defRPr>
            </a:pPr>
            <a:r>
              <a:rPr sz="2175" b="1">
                <a:solidFill>
                  <a:srgbClr val="1F497D"/>
                </a:solidFill>
                <a:latin typeface="Arial"/>
                <a:ea typeface="Arial"/>
                <a:cs typeface="Arial"/>
              </a:rPr>
              <a:t>Methodology and process for implementation</a:t>
            </a:r>
          </a:p>
        </p:txBody>
      </p:sp>
      <p:pic>
        <p:nvPicPr>
          <p:cNvPr id="17426" name=""/>
          <p:cNvPicPr>
            <a:picLocks xmlns:a="http://schemas.openxmlformats.org/drawingml/2006/main" noChangeAspect="1"/>
          </p:cNvPicPr>
          <p:nvPr/>
        </p:nvPicPr>
        <p:blipFill>
          <a:blip xmlns:r="http://schemas.openxmlformats.org/officeDocument/2006/relationships" xmlns:a="http://schemas.openxmlformats.org/drawingml/2006/main" r:embed="R18589b54c201495e"/>
          <a:srcRect xmlns:a="http://schemas.openxmlformats.org/drawingml/2006/main" l="0" t="19216" r="0" b="19216"/>
          <a:stretch xmlns:a="http://schemas.openxmlformats.org/drawingml/2006/main">
            <a:fillRect l="0" t="0" r="0" b="0"/>
          </a:stretch>
        </p:blipFill>
        <p:spPr>
          <a:xfrm xmlns:a="http://schemas.openxmlformats.org/drawingml/2006/main">
            <a:off x="523875" y="3590925"/>
            <a:ext cx="11144250" cy="2305050"/>
          </a:xfrm>
          <a:prstGeom xmlns:a="http://schemas.openxmlformats.org/drawingml/2006/main" prst="rect">
            <a:avLst/>
          </a:prstGeom>
        </p:spPr>
      </p:pic>
      <p:sp>
        <p:nvSpPr>
          <p:cNvPr id="17416" name="">
            <a:extLst xmlns:a="http://schemas.openxmlformats.org/drawingml/2006/main">
              <a:ext uri="{FF2B5EF4-FFF2-40B4-BE49-F238E27FC236}">
                <a16:creationId xmlns:a16="http://schemas.microsoft.com/office/drawing/2014/main" id="{FEB720ED-4F81-4A00-B92E-083EBE7170C8}"/>
              </a:ext>
            </a:extLst>
          </p:cNvPr>
          <p:cNvSpPr>
            <a:spLocks xmlns:a="http://schemas.openxmlformats.org/drawingml/2006/main" noGrp="1"/>
          </p:cNvSpPr>
          <p:nvPr/>
        </p:nvSpPr>
        <p:spPr>
          <a:xfrm xmlns:a="http://schemas.openxmlformats.org/drawingml/2006/main">
            <a:off x="619125" y="5953125"/>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1F497D"/>
                </a:solidFill>
                <a:latin typeface="Arial"/>
                <a:ea typeface="Arial"/>
                <a:cs typeface="Arial"/>
              </a:defRPr>
            </a:pPr>
            <a:r>
              <a:rPr sz="1650" b="0">
                <a:solidFill>
                  <a:srgbClr val="1F497D"/>
                </a:solidFill>
                <a:latin typeface="Arial"/>
                <a:ea typeface="Arial"/>
                <a:cs typeface="Arial"/>
              </a:rPr>
              <a:t>Planned integration: complaint APIs and NCRP/SAHYOG, subject to approved access.</a:t>
            </a:r>
          </a:p>
        </p:txBody>
      </p:sp>
    </p:spTree>
    <p:extLst>
      <p:ext uri="{BB962C8B-B14F-4D97-AF65-F5344CB8AC3E}">
        <p14:creationId xmlns:p14="http://schemas.microsoft.com/office/powerpoint/2010/main" val="661405947"/>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575ABC74-2683-4776-9A31-12E58596C0C2}"/>
              </a:ext>
            </a:extLst>
          </p:cNvPr>
          <p:cNvSpPr>
            <a:spLocks xmlns:a="http://schemas.openxmlformats.org/drawingml/2006/main" noGrp="1"/>
          </p:cNvSpPr>
          <p:nvPr>
            <p:ph type="title" idx="0"/>
          </p:nvPr>
        </p:nvSpPr>
        <p:spPr>
          <a:xfrm xmlns:a="http://schemas.openxmlformats.org/drawingml/2006/main">
            <a:off x="1752600" y="247650"/>
            <a:ext cx="7924800" cy="723900"/>
          </a:xfrm>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3075" b="1">
                <a:solidFill>
                  <a:srgbClr val="000000"/>
                </a:solidFill>
                <a:latin typeface="Times New Roman"/>
                <a:ea typeface="Times New Roman"/>
                <a:cs typeface="Times New Roman"/>
              </a:defRPr>
            </a:pPr>
            <a:r>
              <a:rPr sz="3075" b="1">
                <a:solidFill>
                  <a:srgbClr val="000000"/>
                </a:solidFill>
                <a:latin typeface="Times New Roman"/>
                <a:ea typeface="Times New Roman"/>
                <a:cs typeface="Times New Roman"/>
              </a:rPr>
              <a:t>FEASIBILITY AND VIABILITY</a:t>
            </a:r>
          </a:p>
        </p:txBody>
      </p:sp>
      <p:sp>
        <p:nvSpPr>
          <p:cNvPr id="6" name="Slide Number Placeholder 5">
            <a:extLst xmlns:a="http://schemas.openxmlformats.org/drawingml/2006/main">
              <a:ext uri="{FF2B5EF4-FFF2-40B4-BE49-F238E27FC236}">
                <a16:creationId xmlns:a16="http://schemas.microsoft.com/office/drawing/2014/main" id="{203EB90E-7984-4BDA-8A8A-18A1FDA0836D}"/>
              </a:ext>
            </a:extLst>
          </p:cNvPr>
          <p:cNvSpPr>
            <a:spLocks xmlns:a="http://schemas.openxmlformats.org/drawingml/2006/main" noGrp="1"/>
          </p:cNvSpPr>
          <p:nvPr>
            <p:ph type="sldNum" idx="12"/>
          </p:nvPr>
        </p:nvSpPr>
        <p:spPr>
          <a:xfrm xmlns:a="http://schemas.openxmlformats.org/drawingml/2006/main">
            <a:off x="11382375" y="6457950"/>
            <a:ext cx="381000" cy="238125"/>
          </a:xfrm>
        </p:spPr>
        <p:txBody>
          <a:bodyPr xmlns:a="http://schemas.openxmlformats.org/drawingml/2006/main" wrap="square" lIns="0" tIns="0" rIns="0" bIns="0" anchor="t">
            <a:noAutofit/>
          </a:bodyPr>
          <a:lstStyle xmlns:a="http://schemas.openxmlformats.org/drawingml/2006/main"/>
          <a:p xmlns:a="http://schemas.openxmlformats.org/drawingml/2006/main">
            <a:pPr marL="0" marR="0" lvl="0" indent="0" algn="l" defTabSz="457200">
              <a:lnSpc>
                <a:spcPct val="100000"/>
              </a:lnSpc>
              <a:spcBef>
                <a:spcPct val="0"/>
              </a:spcBef>
              <a:spcAft>
                <a:spcPct val="0"/>
              </a:spcAft>
              <a:buClrTx/>
              <a:buSzTx/>
              <a:buFontTx/>
              <a:buNone/>
              <a:defRPr sz="1275" b="1">
                <a:solidFill>
                  <a:srgbClr val="FFFFFF"/>
                </a:solidFill>
                <a:latin typeface="Arial"/>
                <a:ea typeface="Arial"/>
                <a:cs typeface="Arial"/>
              </a:defRPr>
            </a:pPr>
            <a:fld id="{EFD6AB9A-5F9E-5F59-51AB-3C8734130965}" type="slidenum">
              <a:rPr sz="1275" b="1" i="0" u="none" cap="none" spc="0">
                <a:ln>
                  <a:noFill/>
                </a:ln>
                <a:solidFill>
                  <a:srgbClr val="FFFFFF"/>
                </a:solidFill>
                <a:latin typeface="Arial"/>
                <a:ea typeface="Arial"/>
                <a:cs typeface="Arial"/>
              </a:rPr>
              <a:t>4</a:t>
            </a:fld>
            <a:endParaRPr sz="1200" b="1" i="0" u="non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B777A4FB-7E0A-4637-8252-679682373A92}"/>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r>
              <a:rPr sz="1200" b="0" i="0" u="none" cap="none" spc="0">
                <a:ln>
                  <a:noFill/>
                </a:ln>
                <a:solidFill>
                  <a:prstClr val="white"/>
                </a:solidFill>
                <a:latin typeface="TradeGothic"/>
                <a:ea typeface="TradeGothic"/>
                <a:cs typeface="TradeGothic"/>
              </a:rPr>
              <a:t>@SIH Idea submission- Template</a:t>
            </a:r>
            <a:endParaRPr sz="1200" b="0" i="0" u="none" kern="1200" cap="none" spc="0" baseline="0">
              <a:ln>
                <a:noFill/>
              </a:ln>
              <a:solidFill>
                <a:prstClr val="white"/>
              </a:solidFill>
              <a:latin typeface="TradeGothic"/>
              <a:ea typeface="TradeGothic"/>
              <a:cs typeface="TradeGothic"/>
            </a:endParaRPr>
          </a:p>
        </p:txBody>
      </p:sp>
      <p:sp>
        <p:nvSpPr>
          <p:cNvPr id="12" name="Oval 11">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56" y="252222"/>
            <a:ext cx="1251871" cy="807339"/>
          </a:xfrm>
          <a:prstGeom xmlns:a="http://schemas.openxmlformats.org/drawingml/2006/main" prst="ellipse">
            <a:avLst/>
          </a:prstGeom>
          <a:solidFill xmlns:a="http://schemas.openxmlformats.org/drawingml/2006/main">
            <a:srgbClr val="FFFFFF"/>
          </a:solidFill>
          <a:ln xmlns:a="http://schemas.openxmlformats.org/drawingml/2006/main" w="19050">
            <a:solidFill>
              <a:srgbClr val="8064A2"/>
            </a:solidFill>
          </a:ln>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COLD</a:t>
            </a:r>
            <a:endParaRPr/>
          </a:p>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COFFEE</a:t>
            </a:r>
            <a:endParaRPr/>
          </a:p>
        </p:txBody>
      </p:sp>
      <p:pic>
        <p:nvPicPr>
          <p:cNvPr id="17423" name="Picture 10"/>
          <p:cNvPicPr>
            <a:picLocks xmlns:a="http://schemas.openxmlformats.org/drawingml/2006/main" noChangeAspect="1"/>
          </p:cNvPicPr>
          <p:nvPr/>
        </p:nvPicPr>
        <p:blipFill>
          <a:blip xmlns:r="http://schemas.openxmlformats.org/officeDocument/2006/relationships" xmlns:a="http://schemas.openxmlformats.org/drawingml/2006/main" r:embed="R37ac9a8211f24eb3"/>
          <a:stretch xmlns:a="http://schemas.openxmlformats.org/drawingml/2006/main"/>
        </p:blipFill>
        <p:spPr>
          <a:xfrm xmlns:a="http://schemas.openxmlformats.org/drawingml/2006/main">
            <a:off x="9780080" y="1528"/>
            <a:ext cx="2249805" cy="1062316"/>
          </a:xfrm>
          <a:prstGeom xmlns:a="http://schemas.openxmlformats.org/drawingml/2006/main" prst="rect">
            <a:avLst/>
          </a:prstGeom>
        </p:spPr>
      </p:pic>
      <p:sp>
        <p:nvSpPr>
          <p:cNvPr id="17412" name="">
            <a:extLst xmlns:a="http://schemas.openxmlformats.org/drawingml/2006/main">
              <a:ext uri="{FF2B5EF4-FFF2-40B4-BE49-F238E27FC236}">
                <a16:creationId xmlns:a16="http://schemas.microsoft.com/office/drawing/2014/main" id="{CEE50638-9E88-436E-AEF0-DB696DF3A99C}"/>
              </a:ext>
            </a:extLst>
          </p:cNvPr>
          <p:cNvSpPr>
            <a:spLocks xmlns:a="http://schemas.openxmlformats.org/drawingml/2006/main" noGrp="1"/>
          </p:cNvSpPr>
          <p:nvPr/>
        </p:nvSpPr>
        <p:spPr>
          <a:xfrm xmlns:a="http://schemas.openxmlformats.org/drawingml/2006/main">
            <a:off x="609600" y="134302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F497D"/>
                </a:solidFill>
                <a:latin typeface="Arial"/>
                <a:ea typeface="Arial"/>
                <a:cs typeface="Arial"/>
              </a:defRPr>
            </a:pPr>
            <a:r>
              <a:rPr sz="2175" b="1">
                <a:solidFill>
                  <a:srgbClr val="1F497D"/>
                </a:solidFill>
                <a:latin typeface="Arial"/>
                <a:ea typeface="Arial"/>
                <a:cs typeface="Arial"/>
              </a:rPr>
              <a:t>Analysis of the feasibility of the idea</a:t>
            </a:r>
          </a:p>
        </p:txBody>
      </p:sp>
      <p:sp>
        <p:nvSpPr>
          <p:cNvPr id="17413" name="">
            <a:extLst xmlns:a="http://schemas.openxmlformats.org/drawingml/2006/main">
              <a:ext uri="{FF2B5EF4-FFF2-40B4-BE49-F238E27FC236}">
                <a16:creationId xmlns:a16="http://schemas.microsoft.com/office/drawing/2014/main" id="{EB71E957-EAC7-454F-B33D-C736191ED509}"/>
              </a:ext>
            </a:extLst>
          </p:cNvPr>
          <p:cNvSpPr>
            <a:spLocks xmlns:a="http://schemas.openxmlformats.org/drawingml/2006/main" noGrp="1"/>
          </p:cNvSpPr>
          <p:nvPr/>
        </p:nvSpPr>
        <p:spPr>
          <a:xfrm xmlns:a="http://schemas.openxmlformats.org/drawingml/2006/main">
            <a:off x="723900" y="1762125"/>
            <a:ext cx="108013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190500" indent="-127000" algn="l">
              <a:spcAft>
                <a:spcPts val="700"/>
              </a:spcAft>
              <a:buChar char="•"/>
              <a:defRPr sz="1875" b="0">
                <a:solidFill>
                  <a:srgbClr val="111111"/>
                </a:solidFill>
                <a:latin typeface="Arial"/>
                <a:ea typeface="Arial"/>
                <a:cs typeface="Arial"/>
              </a:defRPr>
            </a:pPr>
            <a:r>
              <a:rPr sz="1875" b="0">
                <a:solidFill>
                  <a:srgbClr val="111111"/>
                </a:solidFill>
                <a:latin typeface="Arial"/>
                <a:ea typeface="Arial"/>
                <a:cs typeface="Arial"/>
              </a:rPr>
              <a:t>Prototype foundation: bounded Bitcoin tracing, incoming/outgoing graph views and PDF/CSV export.</a:t>
            </a:r>
          </a:p>
          <a:p xmlns:a="http://schemas.openxmlformats.org/drawingml/2006/main">
            <a:pPr marL="190500" indent="-127000" algn="l">
              <a:spcAft>
                <a:spcPts val="700"/>
              </a:spcAft>
              <a:buChar char="•"/>
              <a:defRPr sz="1875" b="0">
                <a:solidFill>
                  <a:srgbClr val="111111"/>
                </a:solidFill>
                <a:latin typeface="Arial"/>
                <a:ea typeface="Arial"/>
                <a:cs typeface="Arial"/>
              </a:defRPr>
            </a:pPr>
            <a:r>
              <a:rPr sz="1875" b="0">
                <a:solidFill>
                  <a:srgbClr val="111111"/>
                </a:solidFill>
                <a:latin typeface="Arial"/>
                <a:ea typeface="Arial"/>
                <a:cs typeface="Arial"/>
              </a:rPr>
              <a:t>Planned endpoint: multi-hop VASP discovery, monitoring, additional chains and LEA integration.</a:t>
            </a:r>
          </a:p>
        </p:txBody>
      </p:sp>
      <p:sp>
        <p:nvSpPr>
          <p:cNvPr id="17414" name="">
            <a:extLst xmlns:a="http://schemas.openxmlformats.org/drawingml/2006/main">
              <a:ext uri="{FF2B5EF4-FFF2-40B4-BE49-F238E27FC236}">
                <a16:creationId xmlns:a16="http://schemas.microsoft.com/office/drawing/2014/main" id="{2713AC11-6FA3-4F24-814E-7233732579F2}"/>
              </a:ext>
            </a:extLst>
          </p:cNvPr>
          <p:cNvSpPr>
            <a:spLocks xmlns:a="http://schemas.openxmlformats.org/drawingml/2006/main" noGrp="1"/>
          </p:cNvSpPr>
          <p:nvPr/>
        </p:nvSpPr>
        <p:spPr>
          <a:xfrm xmlns:a="http://schemas.openxmlformats.org/drawingml/2006/main">
            <a:off x="609600" y="30099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F497D"/>
                </a:solidFill>
                <a:latin typeface="Arial"/>
                <a:ea typeface="Arial"/>
                <a:cs typeface="Arial"/>
              </a:defRPr>
            </a:pPr>
            <a:r>
              <a:rPr sz="2175" b="1">
                <a:solidFill>
                  <a:srgbClr val="1F497D"/>
                </a:solidFill>
                <a:latin typeface="Arial"/>
                <a:ea typeface="Arial"/>
                <a:cs typeface="Arial"/>
              </a:rPr>
              <a:t>Potential challenges and risks</a:t>
            </a:r>
          </a:p>
        </p:txBody>
      </p:sp>
      <p:sp>
        <p:nvSpPr>
          <p:cNvPr id="17415" name="">
            <a:extLst xmlns:a="http://schemas.openxmlformats.org/drawingml/2006/main">
              <a:ext uri="{FF2B5EF4-FFF2-40B4-BE49-F238E27FC236}">
                <a16:creationId xmlns:a16="http://schemas.microsoft.com/office/drawing/2014/main" id="{1CCC0C3D-D3CC-455B-A03E-DD0C1560A99B}"/>
              </a:ext>
            </a:extLst>
          </p:cNvPr>
          <p:cNvSpPr>
            <a:spLocks xmlns:a="http://schemas.openxmlformats.org/drawingml/2006/main" noGrp="1"/>
          </p:cNvSpPr>
          <p:nvPr/>
        </p:nvSpPr>
        <p:spPr>
          <a:xfrm xmlns:a="http://schemas.openxmlformats.org/drawingml/2006/main">
            <a:off x="723900" y="3419475"/>
            <a:ext cx="108013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190500" indent="-127000" algn="l">
              <a:spcAft>
                <a:spcPts val="700"/>
              </a:spcAft>
              <a:buChar char="•"/>
              <a:defRPr sz="1875" b="0">
                <a:solidFill>
                  <a:srgbClr val="111111"/>
                </a:solidFill>
                <a:latin typeface="Arial"/>
                <a:ea typeface="Arial"/>
                <a:cs typeface="Arial"/>
              </a:defRPr>
            </a:pPr>
            <a:r>
              <a:rPr sz="1875" b="0">
                <a:solidFill>
                  <a:srgbClr val="111111"/>
                </a:solidFill>
                <a:latin typeface="Arial"/>
                <a:ea typeface="Arial"/>
                <a:cs typeface="Arial"/>
              </a:rPr>
              <a:t>Rate limits and large histories; incomplete or outdated exchange-address labels.</a:t>
            </a:r>
          </a:p>
          <a:p xmlns:a="http://schemas.openxmlformats.org/drawingml/2006/main">
            <a:pPr marL="190500" indent="-127000" algn="l">
              <a:spcAft>
                <a:spcPts val="700"/>
              </a:spcAft>
              <a:buChar char="•"/>
              <a:defRPr sz="1875" b="0">
                <a:solidFill>
                  <a:srgbClr val="111111"/>
                </a:solidFill>
                <a:latin typeface="Arial"/>
                <a:ea typeface="Arial"/>
                <a:cs typeface="Arial"/>
              </a:defRPr>
            </a:pPr>
            <a:r>
              <a:rPr sz="1875" b="0">
                <a:solidFill>
                  <a:srgbClr val="111111"/>
                </a:solidFill>
                <a:latin typeface="Arial"/>
                <a:ea typeface="Arial"/>
                <a:cs typeface="Arial"/>
              </a:rPr>
              <a:t>Mixing activity and ambiguous ownership; unsupported bridges and restricted integration access.</a:t>
            </a:r>
          </a:p>
        </p:txBody>
      </p:sp>
      <p:sp>
        <p:nvSpPr>
          <p:cNvPr id="17416" name="">
            <a:extLst xmlns:a="http://schemas.openxmlformats.org/drawingml/2006/main">
              <a:ext uri="{FF2B5EF4-FFF2-40B4-BE49-F238E27FC236}">
                <a16:creationId xmlns:a16="http://schemas.microsoft.com/office/drawing/2014/main" id="{2A3BBE42-E32B-49C5-AD6A-A39D34E35591}"/>
              </a:ext>
            </a:extLst>
          </p:cNvPr>
          <p:cNvSpPr>
            <a:spLocks xmlns:a="http://schemas.openxmlformats.org/drawingml/2006/main" noGrp="1"/>
          </p:cNvSpPr>
          <p:nvPr/>
        </p:nvSpPr>
        <p:spPr>
          <a:xfrm xmlns:a="http://schemas.openxmlformats.org/drawingml/2006/main">
            <a:off x="609600" y="46005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F497D"/>
                </a:solidFill>
                <a:latin typeface="Arial"/>
                <a:ea typeface="Arial"/>
                <a:cs typeface="Arial"/>
              </a:defRPr>
            </a:pPr>
            <a:r>
              <a:rPr sz="2175" b="1">
                <a:solidFill>
                  <a:srgbClr val="1F497D"/>
                </a:solidFill>
                <a:latin typeface="Arial"/>
                <a:ea typeface="Arial"/>
                <a:cs typeface="Arial"/>
              </a:rPr>
              <a:t>Strategies for overcoming these challenges</a:t>
            </a:r>
          </a:p>
        </p:txBody>
      </p:sp>
      <p:sp>
        <p:nvSpPr>
          <p:cNvPr id="17417" name="">
            <a:extLst xmlns:a="http://schemas.openxmlformats.org/drawingml/2006/main">
              <a:ext uri="{FF2B5EF4-FFF2-40B4-BE49-F238E27FC236}">
                <a16:creationId xmlns:a16="http://schemas.microsoft.com/office/drawing/2014/main" id="{A2FA63DD-1C3A-4359-9D39-4D503CA9E30B}"/>
              </a:ext>
            </a:extLst>
          </p:cNvPr>
          <p:cNvSpPr>
            <a:spLocks xmlns:a="http://schemas.openxmlformats.org/drawingml/2006/main" noGrp="1"/>
          </p:cNvSpPr>
          <p:nvPr/>
        </p:nvSpPr>
        <p:spPr>
          <a:xfrm xmlns:a="http://schemas.openxmlformats.org/drawingml/2006/main">
            <a:off x="723900" y="5010150"/>
            <a:ext cx="108013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190500" indent="-127000" algn="l">
              <a:spcAft>
                <a:spcPts val="700"/>
              </a:spcAft>
              <a:buChar char="•"/>
              <a:defRPr sz="1875" b="0">
                <a:solidFill>
                  <a:srgbClr val="111111"/>
                </a:solidFill>
                <a:latin typeface="Arial"/>
                <a:ea typeface="Arial"/>
                <a:cs typeface="Arial"/>
              </a:defRPr>
            </a:pPr>
            <a:r>
              <a:rPr sz="1875" b="0">
                <a:solidFill>
                  <a:srgbClr val="111111"/>
                </a:solidFill>
                <a:latin typeface="Arial"/>
                <a:ea typeface="Arial"/>
                <a:cs typeface="Arial"/>
              </a:rPr>
              <a:t>Use indexing, caching and bounded traversal; retain label sources and mark tracing gaps.</a:t>
            </a:r>
          </a:p>
          <a:p xmlns:a="http://schemas.openxmlformats.org/drawingml/2006/main">
            <a:pPr marL="190500" indent="-127000" algn="l">
              <a:spcAft>
                <a:spcPts val="700"/>
              </a:spcAft>
              <a:buChar char="•"/>
              <a:defRPr sz="1875" b="0">
                <a:solidFill>
                  <a:srgbClr val="111111"/>
                </a:solidFill>
                <a:latin typeface="Arial"/>
                <a:ea typeface="Arial"/>
                <a:cs typeface="Arial"/>
              </a:defRPr>
            </a:pPr>
            <a:r>
              <a:rPr sz="1875" b="0">
                <a:solidFill>
                  <a:srgbClr val="111111"/>
                </a:solidFill>
                <a:latin typeface="Arial"/>
                <a:ea typeface="Arial"/>
                <a:cs typeface="Arial"/>
              </a:rPr>
              <a:t>Validate precision, coverage, false positives and latency before expanding the deployment.</a:t>
            </a:r>
          </a:p>
        </p:txBody>
      </p:sp>
    </p:spTree>
    <p:extLst>
      <p:ext uri="{BB962C8B-B14F-4D97-AF65-F5344CB8AC3E}">
        <p14:creationId xmlns:p14="http://schemas.microsoft.com/office/powerpoint/2010/main" val="375338791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8E1B3788-79A5-4BEE-9F0D-B43BF5D478B5}"/>
              </a:ext>
            </a:extLst>
          </p:cNvPr>
          <p:cNvSpPr>
            <a:spLocks xmlns:a="http://schemas.openxmlformats.org/drawingml/2006/main" noGrp="1"/>
          </p:cNvSpPr>
          <p:nvPr>
            <p:ph type="title" idx="0"/>
          </p:nvPr>
        </p:nvSpPr>
        <p:spPr>
          <a:xfrm xmlns:a="http://schemas.openxmlformats.org/drawingml/2006/main">
            <a:off x="1752600" y="247650"/>
            <a:ext cx="7924800" cy="723900"/>
          </a:xfrm>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3450" b="1">
                <a:solidFill>
                  <a:srgbClr val="000000"/>
                </a:solidFill>
                <a:latin typeface="Times New Roman"/>
                <a:ea typeface="Times New Roman"/>
                <a:cs typeface="Times New Roman"/>
              </a:defRPr>
            </a:pPr>
            <a:r>
              <a:rPr sz="3450" b="1">
                <a:solidFill>
                  <a:srgbClr val="000000"/>
                </a:solidFill>
                <a:latin typeface="Times New Roman"/>
                <a:ea typeface="Times New Roman"/>
                <a:cs typeface="Times New Roman"/>
              </a:rPr>
              <a:t>IMPACT AND BENEFITS</a:t>
            </a:r>
          </a:p>
        </p:txBody>
      </p:sp>
      <p:sp>
        <p:nvSpPr>
          <p:cNvPr id="6" name="Slide Number Placeholder 5">
            <a:extLst xmlns:a="http://schemas.openxmlformats.org/drawingml/2006/main">
              <a:ext uri="{FF2B5EF4-FFF2-40B4-BE49-F238E27FC236}">
                <a16:creationId xmlns:a16="http://schemas.microsoft.com/office/drawing/2014/main" id="{B729F88E-78AA-4015-8672-B55F36181FF1}"/>
              </a:ext>
            </a:extLst>
          </p:cNvPr>
          <p:cNvSpPr>
            <a:spLocks xmlns:a="http://schemas.openxmlformats.org/drawingml/2006/main" noGrp="1"/>
          </p:cNvSpPr>
          <p:nvPr>
            <p:ph type="sldNum" idx="12"/>
          </p:nvPr>
        </p:nvSpPr>
        <p:spPr>
          <a:xfrm xmlns:a="http://schemas.openxmlformats.org/drawingml/2006/main">
            <a:off x="11382375" y="6457950"/>
            <a:ext cx="381000" cy="238125"/>
          </a:xfrm>
        </p:spPr>
        <p:txBody>
          <a:bodyPr xmlns:a="http://schemas.openxmlformats.org/drawingml/2006/main" wrap="square" lIns="0" tIns="0" rIns="0" bIns="0" anchor="t">
            <a:noAutofit/>
          </a:bodyPr>
          <a:lstStyle xmlns:a="http://schemas.openxmlformats.org/drawingml/2006/main"/>
          <a:p xmlns:a="http://schemas.openxmlformats.org/drawingml/2006/main">
            <a:pPr marL="0" marR="0" lvl="0" indent="0" algn="l" defTabSz="457200">
              <a:lnSpc>
                <a:spcPct val="100000"/>
              </a:lnSpc>
              <a:spcBef>
                <a:spcPct val="0"/>
              </a:spcBef>
              <a:spcAft>
                <a:spcPct val="0"/>
              </a:spcAft>
              <a:buClrTx/>
              <a:buSzTx/>
              <a:buFontTx/>
              <a:buNone/>
              <a:defRPr sz="1275" b="1">
                <a:solidFill>
                  <a:srgbClr val="FFFFFF"/>
                </a:solidFill>
                <a:latin typeface="Arial"/>
                <a:ea typeface="Arial"/>
                <a:cs typeface="Arial"/>
              </a:defRPr>
            </a:pPr>
            <a:fld id="{EE5B3003-2C54-13C6-9832-7637201064DE}" type="slidenum">
              <a:rPr sz="1275" b="1" i="0" u="none" cap="none" spc="0">
                <a:ln>
                  <a:noFill/>
                </a:ln>
                <a:solidFill>
                  <a:srgbClr val="FFFFFF"/>
                </a:solidFill>
                <a:latin typeface="Arial"/>
                <a:ea typeface="Arial"/>
                <a:cs typeface="Arial"/>
              </a:rPr>
              <a:t>5</a:t>
            </a:fld>
            <a:endParaRPr sz="1200" b="1" i="0" u="non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40FDC14C-5B89-4F8F-A06D-94035CF84594}"/>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r>
              <a:rPr sz="1200" b="0" i="0" u="none" cap="none" spc="0">
                <a:ln>
                  <a:noFill/>
                </a:ln>
                <a:solidFill>
                  <a:prstClr val="white"/>
                </a:solidFill>
                <a:latin typeface="TradeGothic"/>
                <a:ea typeface="TradeGothic"/>
                <a:cs typeface="TradeGothic"/>
              </a:rPr>
              <a:t>@SIH Idea submission- Template</a:t>
            </a:r>
            <a:endParaRPr sz="1200" b="0" i="0" u="none" kern="1200" cap="none" spc="0" baseline="0">
              <a:ln>
                <a:noFill/>
              </a:ln>
              <a:solidFill>
                <a:prstClr val="white"/>
              </a:solidFill>
              <a:latin typeface="TradeGothic"/>
              <a:ea typeface="TradeGothic"/>
              <a:cs typeface="TradeGothic"/>
            </a:endParaRPr>
          </a:p>
        </p:txBody>
      </p:sp>
      <p:sp>
        <p:nvSpPr>
          <p:cNvPr id="12" name="Oval 11">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56" y="252222"/>
            <a:ext cx="1251871" cy="807339"/>
          </a:xfrm>
          <a:prstGeom xmlns:a="http://schemas.openxmlformats.org/drawingml/2006/main" prst="ellipse">
            <a:avLst/>
          </a:prstGeom>
          <a:solidFill xmlns:a="http://schemas.openxmlformats.org/drawingml/2006/main">
            <a:srgbClr val="FFFFFF"/>
          </a:solidFill>
          <a:ln xmlns:a="http://schemas.openxmlformats.org/drawingml/2006/main" w="19050">
            <a:solidFill>
              <a:srgbClr val="8064A2"/>
            </a:solidFill>
          </a:ln>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COLD</a:t>
            </a:r>
            <a:endParaRPr/>
          </a:p>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COFFEE</a:t>
            </a:r>
            <a:endParaRPr/>
          </a:p>
        </p:txBody>
      </p:sp>
      <p:pic>
        <p:nvPicPr>
          <p:cNvPr id="17422" name="Picture 10"/>
          <p:cNvPicPr>
            <a:picLocks xmlns:a="http://schemas.openxmlformats.org/drawingml/2006/main" noChangeAspect="1"/>
          </p:cNvPicPr>
          <p:nvPr/>
        </p:nvPicPr>
        <p:blipFill>
          <a:blip xmlns:r="http://schemas.openxmlformats.org/officeDocument/2006/relationships" xmlns:a="http://schemas.openxmlformats.org/drawingml/2006/main" r:embed="R26496d188587494b"/>
          <a:stretch xmlns:a="http://schemas.openxmlformats.org/drawingml/2006/main"/>
        </p:blipFill>
        <p:spPr>
          <a:xfrm xmlns:a="http://schemas.openxmlformats.org/drawingml/2006/main">
            <a:off x="9780080" y="1528"/>
            <a:ext cx="2249805" cy="1062316"/>
          </a:xfrm>
          <a:prstGeom xmlns:a="http://schemas.openxmlformats.org/drawingml/2006/main" prst="rect">
            <a:avLst/>
          </a:prstGeom>
        </p:spPr>
      </p:pic>
      <p:sp>
        <p:nvSpPr>
          <p:cNvPr id="17412" name="">
            <a:extLst xmlns:a="http://schemas.openxmlformats.org/drawingml/2006/main">
              <a:ext uri="{FF2B5EF4-FFF2-40B4-BE49-F238E27FC236}">
                <a16:creationId xmlns:a16="http://schemas.microsoft.com/office/drawing/2014/main" id="{011AB408-85B8-475E-8651-7E9111DE7AC1}"/>
              </a:ext>
            </a:extLst>
          </p:cNvPr>
          <p:cNvSpPr>
            <a:spLocks xmlns:a="http://schemas.openxmlformats.org/drawingml/2006/main" noGrp="1"/>
          </p:cNvSpPr>
          <p:nvPr/>
        </p:nvSpPr>
        <p:spPr>
          <a:xfrm xmlns:a="http://schemas.openxmlformats.org/drawingml/2006/main">
            <a:off x="609600" y="14001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F497D"/>
                </a:solidFill>
                <a:latin typeface="Arial"/>
                <a:ea typeface="Arial"/>
                <a:cs typeface="Arial"/>
              </a:defRPr>
            </a:pPr>
            <a:r>
              <a:rPr sz="2175" b="1">
                <a:solidFill>
                  <a:srgbClr val="1F497D"/>
                </a:solidFill>
                <a:latin typeface="Arial"/>
                <a:ea typeface="Arial"/>
                <a:cs typeface="Arial"/>
              </a:rPr>
              <a:t>Potential impact on the target audience</a:t>
            </a:r>
          </a:p>
        </p:txBody>
      </p:sp>
      <p:sp>
        <p:nvSpPr>
          <p:cNvPr id="17413" name="">
            <a:extLst xmlns:a="http://schemas.openxmlformats.org/drawingml/2006/main">
              <a:ext uri="{FF2B5EF4-FFF2-40B4-BE49-F238E27FC236}">
                <a16:creationId xmlns:a16="http://schemas.microsoft.com/office/drawing/2014/main" id="{F5BC2EC1-80AD-4CC1-929C-542FDE42B108}"/>
              </a:ext>
            </a:extLst>
          </p:cNvPr>
          <p:cNvSpPr>
            <a:spLocks xmlns:a="http://schemas.openxmlformats.org/drawingml/2006/main" noGrp="1"/>
          </p:cNvSpPr>
          <p:nvPr/>
        </p:nvSpPr>
        <p:spPr>
          <a:xfrm xmlns:a="http://schemas.openxmlformats.org/drawingml/2006/main">
            <a:off x="723900" y="1876425"/>
            <a:ext cx="1080135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190500" indent="-127000" algn="l">
              <a:spcAft>
                <a:spcPts val="700"/>
              </a:spcAft>
              <a:buChar char="•"/>
              <a:defRPr sz="1950" b="0">
                <a:solidFill>
                  <a:srgbClr val="111111"/>
                </a:solidFill>
                <a:latin typeface="Arial"/>
                <a:ea typeface="Arial"/>
                <a:cs typeface="Arial"/>
              </a:defRPr>
            </a:pPr>
            <a:r>
              <a:rPr sz="1950" b="0">
                <a:solidFill>
                  <a:srgbClr val="111111"/>
                </a:solidFill>
                <a:latin typeface="Arial"/>
                <a:ea typeface="Arial"/>
                <a:cs typeface="Arial"/>
              </a:rPr>
              <a:t>Cybercrime investigators: prioritize cases with identifiable receiving VASPs and track new movement.</a:t>
            </a:r>
          </a:p>
          <a:p xmlns:a="http://schemas.openxmlformats.org/drawingml/2006/main">
            <a:pPr marL="190500" indent="-127000" algn="l">
              <a:spcAft>
                <a:spcPts val="700"/>
              </a:spcAft>
              <a:buChar char="•"/>
              <a:defRPr sz="1950" b="0">
                <a:solidFill>
                  <a:srgbClr val="111111"/>
                </a:solidFill>
                <a:latin typeface="Arial"/>
                <a:ea typeface="Arial"/>
                <a:cs typeface="Arial"/>
              </a:defRPr>
            </a:pPr>
            <a:r>
              <a:rPr sz="1950" b="0">
                <a:solidFill>
                  <a:srgbClr val="111111"/>
                </a:solidFill>
                <a:latin typeface="Arial"/>
                <a:ea typeface="Arial"/>
                <a:cs typeface="Arial"/>
              </a:rPr>
              <a:t>Investigators and prosecutors: review transaction paths, attribution sources and analysis records.</a:t>
            </a:r>
          </a:p>
          <a:p xmlns:a="http://schemas.openxmlformats.org/drawingml/2006/main">
            <a:pPr marL="190500" indent="-127000" algn="l">
              <a:spcAft>
                <a:spcPts val="700"/>
              </a:spcAft>
              <a:buChar char="•"/>
              <a:defRPr sz="1950" b="0">
                <a:solidFill>
                  <a:srgbClr val="111111"/>
                </a:solidFill>
                <a:latin typeface="Arial"/>
                <a:ea typeface="Arial"/>
                <a:cs typeface="Arial"/>
              </a:defRPr>
            </a:pPr>
            <a:r>
              <a:rPr sz="1950" b="0">
                <a:solidFill>
                  <a:srgbClr val="111111"/>
                </a:solidFill>
                <a:latin typeface="Arial"/>
                <a:ea typeface="Arial"/>
                <a:cs typeface="Arial"/>
              </a:rPr>
              <a:t>Financial intelligence units: triage activity using explainable patterns and evidence-linked indicators.</a:t>
            </a:r>
          </a:p>
        </p:txBody>
      </p:sp>
      <p:sp>
        <p:nvSpPr>
          <p:cNvPr id="17414" name="">
            <a:extLst xmlns:a="http://schemas.openxmlformats.org/drawingml/2006/main">
              <a:ext uri="{FF2B5EF4-FFF2-40B4-BE49-F238E27FC236}">
                <a16:creationId xmlns:a16="http://schemas.microsoft.com/office/drawing/2014/main" id="{B71F3223-C181-40BF-9689-E73287F18C47}"/>
              </a:ext>
            </a:extLst>
          </p:cNvPr>
          <p:cNvSpPr>
            <a:spLocks xmlns:a="http://schemas.openxmlformats.org/drawingml/2006/main" noGrp="1"/>
          </p:cNvSpPr>
          <p:nvPr/>
        </p:nvSpPr>
        <p:spPr>
          <a:xfrm xmlns:a="http://schemas.openxmlformats.org/drawingml/2006/main">
            <a:off x="609600" y="38862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F497D"/>
                </a:solidFill>
                <a:latin typeface="Arial"/>
                <a:ea typeface="Arial"/>
                <a:cs typeface="Arial"/>
              </a:defRPr>
            </a:pPr>
            <a:r>
              <a:rPr sz="2025" b="1">
                <a:solidFill>
                  <a:srgbClr val="1F497D"/>
                </a:solidFill>
                <a:latin typeface="Arial"/>
                <a:ea typeface="Arial"/>
                <a:cs typeface="Arial"/>
              </a:rPr>
              <a:t>Benefits of the solution (social, economic, environmental, etc.)</a:t>
            </a:r>
          </a:p>
        </p:txBody>
      </p:sp>
      <p:sp>
        <p:nvSpPr>
          <p:cNvPr id="17415" name="">
            <a:extLst xmlns:a="http://schemas.openxmlformats.org/drawingml/2006/main">
              <a:ext uri="{FF2B5EF4-FFF2-40B4-BE49-F238E27FC236}">
                <a16:creationId xmlns:a16="http://schemas.microsoft.com/office/drawing/2014/main" id="{F8085345-218D-4644-89D9-3229F84EF10B}"/>
              </a:ext>
            </a:extLst>
          </p:cNvPr>
          <p:cNvSpPr>
            <a:spLocks xmlns:a="http://schemas.openxmlformats.org/drawingml/2006/main" noGrp="1"/>
          </p:cNvSpPr>
          <p:nvPr/>
        </p:nvSpPr>
        <p:spPr>
          <a:xfrm xmlns:a="http://schemas.openxmlformats.org/drawingml/2006/main">
            <a:off x="723900" y="4324350"/>
            <a:ext cx="10801350" cy="1647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190500" indent="-127000" algn="l">
              <a:spcAft>
                <a:spcPts val="700"/>
              </a:spcAft>
              <a:buChar char="•"/>
              <a:defRPr sz="1950" b="0">
                <a:solidFill>
                  <a:srgbClr val="111111"/>
                </a:solidFill>
                <a:latin typeface="Arial"/>
                <a:ea typeface="Arial"/>
                <a:cs typeface="Arial"/>
              </a:defRPr>
            </a:pPr>
            <a:r>
              <a:rPr sz="1950" b="0">
                <a:solidFill>
                  <a:srgbClr val="111111"/>
                </a:solidFill>
                <a:latin typeface="Arial"/>
                <a:ea typeface="Arial"/>
                <a:cs typeface="Arial"/>
              </a:rPr>
              <a:t>Social: support faster preservation and freezing requests through investigator-reviewed findings.</a:t>
            </a:r>
          </a:p>
          <a:p xmlns:a="http://schemas.openxmlformats.org/drawingml/2006/main">
            <a:pPr marL="190500" indent="-127000" algn="l">
              <a:spcAft>
                <a:spcPts val="700"/>
              </a:spcAft>
              <a:buChar char="•"/>
              <a:defRPr sz="1950" b="0">
                <a:solidFill>
                  <a:srgbClr val="111111"/>
                </a:solidFill>
                <a:latin typeface="Arial"/>
                <a:ea typeface="Arial"/>
                <a:cs typeface="Arial"/>
              </a:defRPr>
            </a:pPr>
            <a:r>
              <a:rPr sz="1950" b="0">
                <a:solidFill>
                  <a:srgbClr val="111111"/>
                </a:solidFill>
                <a:latin typeface="Arial"/>
                <a:ea typeface="Arial"/>
                <a:cs typeface="Arial"/>
              </a:rPr>
              <a:t>Economic: reduce repetitive tracing effort with open-source components and shared infrastructure.</a:t>
            </a:r>
          </a:p>
          <a:p xmlns:a="http://schemas.openxmlformats.org/drawingml/2006/main">
            <a:pPr marL="190500" indent="-127000" algn="l">
              <a:spcAft>
                <a:spcPts val="700"/>
              </a:spcAft>
              <a:buChar char="•"/>
              <a:defRPr sz="1950" b="0">
                <a:solidFill>
                  <a:srgbClr val="111111"/>
                </a:solidFill>
                <a:latin typeface="Arial"/>
                <a:ea typeface="Arial"/>
                <a:cs typeface="Arial"/>
              </a:defRPr>
            </a:pPr>
            <a:r>
              <a:rPr sz="1950" b="0">
                <a:solidFill>
                  <a:srgbClr val="111111"/>
                </a:solidFill>
                <a:latin typeface="Arial"/>
                <a:ea typeface="Arial"/>
                <a:cs typeface="Arial"/>
              </a:rPr>
              <a:t>Operational: standardize evidence reports and improve coordination with identified VASPs.</a:t>
            </a:r>
          </a:p>
        </p:txBody>
      </p:sp>
      <p:sp>
        <p:nvSpPr>
          <p:cNvPr id="17416" name="">
            <a:extLst xmlns:a="http://schemas.openxmlformats.org/drawingml/2006/main">
              <a:ext uri="{FF2B5EF4-FFF2-40B4-BE49-F238E27FC236}">
                <a16:creationId xmlns:a16="http://schemas.microsoft.com/office/drawing/2014/main" id="{F903C504-4FAC-452E-ADFE-7EB26D1DEC91}"/>
              </a:ext>
            </a:extLst>
          </p:cNvPr>
          <p:cNvSpPr>
            <a:spLocks xmlns:a="http://schemas.openxmlformats.org/drawingml/2006/main" noGrp="1"/>
          </p:cNvSpPr>
          <p:nvPr/>
        </p:nvSpPr>
        <p:spPr>
          <a:xfrm xmlns:a="http://schemas.openxmlformats.org/drawingml/2006/main">
            <a:off x="723900" y="6019800"/>
            <a:ext cx="10801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1F497D"/>
                </a:solidFill>
                <a:latin typeface="Arial"/>
                <a:ea typeface="Arial"/>
                <a:cs typeface="Arial"/>
              </a:defRPr>
            </a:pPr>
            <a:r>
              <a:rPr sz="1500" b="0">
                <a:solidFill>
                  <a:srgbClr val="1F497D"/>
                </a:solidFill>
                <a:latin typeface="Arial"/>
                <a:ea typeface="Arial"/>
                <a:cs typeface="Arial"/>
              </a:rPr>
              <a:t>Expected benefits to be measured in pilots; fund recovery and attribution are not guaranteed.</a:t>
            </a:r>
          </a:p>
        </p:txBody>
      </p:sp>
    </p:spTree>
    <p:extLst>
      <p:ext uri="{BB962C8B-B14F-4D97-AF65-F5344CB8AC3E}">
        <p14:creationId xmlns:p14="http://schemas.microsoft.com/office/powerpoint/2010/main" val="299714414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299043FB-43F9-4384-B13E-7D972064FEC0}"/>
              </a:ext>
            </a:extLst>
          </p:cNvPr>
          <p:cNvSpPr>
            <a:spLocks xmlns:a="http://schemas.openxmlformats.org/drawingml/2006/main" noGrp="1"/>
          </p:cNvSpPr>
          <p:nvPr>
            <p:ph type="title" idx="0"/>
          </p:nvPr>
        </p:nvSpPr>
        <p:spPr>
          <a:xfrm xmlns:a="http://schemas.openxmlformats.org/drawingml/2006/main">
            <a:off x="1752600" y="247650"/>
            <a:ext cx="7924800" cy="723900"/>
          </a:xfrm>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3075" b="1">
                <a:solidFill>
                  <a:srgbClr val="000000"/>
                </a:solidFill>
                <a:latin typeface="Times New Roman"/>
                <a:ea typeface="Times New Roman"/>
                <a:cs typeface="Times New Roman"/>
              </a:defRPr>
            </a:pPr>
            <a:r>
              <a:rPr sz="3075" b="1">
                <a:solidFill>
                  <a:srgbClr val="000000"/>
                </a:solidFill>
                <a:latin typeface="Times New Roman"/>
                <a:ea typeface="Times New Roman"/>
                <a:cs typeface="Times New Roman"/>
              </a:rPr>
              <a:t>RESEARCH AND REFERENCES</a:t>
            </a:r>
          </a:p>
        </p:txBody>
      </p:sp>
      <p:sp>
        <p:nvSpPr>
          <p:cNvPr id="6" name="Slide Number Placeholder 5">
            <a:extLst xmlns:a="http://schemas.openxmlformats.org/drawingml/2006/main">
              <a:ext uri="{FF2B5EF4-FFF2-40B4-BE49-F238E27FC236}">
                <a16:creationId xmlns:a16="http://schemas.microsoft.com/office/drawing/2014/main" id="{F791C498-22A1-4C4B-A97C-A6C50491C55B}"/>
              </a:ext>
            </a:extLst>
          </p:cNvPr>
          <p:cNvSpPr>
            <a:spLocks xmlns:a="http://schemas.openxmlformats.org/drawingml/2006/main" noGrp="1"/>
          </p:cNvSpPr>
          <p:nvPr>
            <p:ph type="sldNum" idx="12"/>
          </p:nvPr>
        </p:nvSpPr>
        <p:spPr>
          <a:xfrm xmlns:a="http://schemas.openxmlformats.org/drawingml/2006/main">
            <a:off x="11382375" y="6457950"/>
            <a:ext cx="381000" cy="238125"/>
          </a:xfrm>
        </p:spPr>
        <p:txBody>
          <a:bodyPr xmlns:a="http://schemas.openxmlformats.org/drawingml/2006/main" wrap="square" lIns="0" tIns="0" rIns="0" bIns="0" anchor="t">
            <a:noAutofit/>
          </a:bodyPr>
          <a:lstStyle xmlns:a="http://schemas.openxmlformats.org/drawingml/2006/main"/>
          <a:p xmlns:a="http://schemas.openxmlformats.org/drawingml/2006/main">
            <a:pPr marL="0" marR="0" lvl="0" indent="0" algn="l" defTabSz="457200">
              <a:lnSpc>
                <a:spcPct val="100000"/>
              </a:lnSpc>
              <a:spcBef>
                <a:spcPct val="0"/>
              </a:spcBef>
              <a:spcAft>
                <a:spcPct val="0"/>
              </a:spcAft>
              <a:buClrTx/>
              <a:buSzTx/>
              <a:buFontTx/>
              <a:buNone/>
              <a:defRPr sz="1275" b="1">
                <a:solidFill>
                  <a:srgbClr val="FFFFFF"/>
                </a:solidFill>
                <a:latin typeface="Arial"/>
                <a:ea typeface="Arial"/>
                <a:cs typeface="Arial"/>
              </a:defRPr>
            </a:pPr>
            <a:fld id="{8C630A04-5A25-9E0C-9436-126091DB86B3}" type="slidenum">
              <a:rPr sz="1275" b="1" i="0" u="none" cap="none" spc="0">
                <a:ln>
                  <a:noFill/>
                </a:ln>
                <a:solidFill>
                  <a:srgbClr val="FFFFFF"/>
                </a:solidFill>
                <a:latin typeface="Arial"/>
                <a:ea typeface="Arial"/>
                <a:cs typeface="Arial"/>
              </a:rPr>
              <a:t>6</a:t>
            </a:fld>
            <a:endParaRPr sz="1200" b="1" i="0" u="non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429F32C4-F6C8-4648-BE09-8FEC0AF8136C}"/>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r>
              <a:rPr sz="1200" b="0" i="0" u="none" cap="none" spc="0">
                <a:ln>
                  <a:noFill/>
                </a:ln>
                <a:solidFill>
                  <a:prstClr val="white"/>
                </a:solidFill>
                <a:latin typeface="TradeGothic"/>
                <a:ea typeface="TradeGothic"/>
                <a:cs typeface="TradeGothic"/>
              </a:rPr>
              <a:t>@SIH Idea submission- Template</a:t>
            </a:r>
            <a:endParaRPr sz="1200" b="0" i="0" u="none" kern="1200" cap="none" spc="0" baseline="0">
              <a:ln>
                <a:noFill/>
              </a:ln>
              <a:solidFill>
                <a:prstClr val="white"/>
              </a:solidFill>
              <a:latin typeface="TradeGothic"/>
              <a:ea typeface="TradeGothic"/>
              <a:cs typeface="TradeGothic"/>
            </a:endParaRPr>
          </a:p>
        </p:txBody>
      </p:sp>
      <p:sp>
        <p:nvSpPr>
          <p:cNvPr id="9" name="Oval 8">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56" y="252222"/>
            <a:ext cx="1251871" cy="807339"/>
          </a:xfrm>
          <a:prstGeom xmlns:a="http://schemas.openxmlformats.org/drawingml/2006/main" prst="ellipse">
            <a:avLst/>
          </a:prstGeom>
          <a:solidFill xmlns:a="http://schemas.openxmlformats.org/drawingml/2006/main">
            <a:srgbClr val="FFFFFF"/>
          </a:solidFill>
          <a:ln xmlns:a="http://schemas.openxmlformats.org/drawingml/2006/main" w="19050">
            <a:solidFill>
              <a:srgbClr val="8064A2"/>
            </a:solidFill>
          </a:ln>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COLD</a:t>
            </a:r>
            <a:endParaRPr/>
          </a:p>
          <a:p xmlns:a="http://schemas.openxmlformats.org/drawingml/2006/main">
            <a:pPr algn="ctr">
              <a:buNone/>
              <a:defRPr sz="1425" b="1">
                <a:solidFill>
                  <a:srgbClr val="111111"/>
                </a:solidFill>
                <a:latin typeface="Arial"/>
                <a:ea typeface="Arial"/>
                <a:cs typeface="Arial"/>
              </a:defRPr>
            </a:pPr>
            <a:r>
              <a:rPr sz="1425" b="1">
                <a:solidFill>
                  <a:srgbClr val="111111"/>
                </a:solidFill>
                <a:latin typeface="Arial"/>
                <a:ea typeface="Arial"/>
                <a:cs typeface="Arial"/>
              </a:rPr>
              <a:t>COFFEE</a:t>
            </a:r>
            <a:endParaRPr/>
          </a:p>
        </p:txBody>
      </p:sp>
      <p:pic>
        <p:nvPicPr>
          <p:cNvPr id="17436" name="Picture 11"/>
          <p:cNvPicPr>
            <a:picLocks xmlns:a="http://schemas.openxmlformats.org/drawingml/2006/main" noChangeAspect="1"/>
          </p:cNvPicPr>
          <p:nvPr/>
        </p:nvPicPr>
        <p:blipFill>
          <a:blip xmlns:r="http://schemas.openxmlformats.org/officeDocument/2006/relationships" xmlns:a="http://schemas.openxmlformats.org/drawingml/2006/main" r:embed="R0c7dfd5eb0614da7"/>
          <a:stretch xmlns:a="http://schemas.openxmlformats.org/drawingml/2006/main"/>
        </p:blipFill>
        <p:spPr>
          <a:xfrm xmlns:a="http://schemas.openxmlformats.org/drawingml/2006/main">
            <a:off x="9780080" y="1528"/>
            <a:ext cx="2249805" cy="1062316"/>
          </a:xfrm>
          <a:prstGeom xmlns:a="http://schemas.openxmlformats.org/drawingml/2006/main" prst="rect">
            <a:avLst/>
          </a:prstGeom>
        </p:spPr>
      </p:pic>
      <p:sp>
        <p:nvSpPr>
          <p:cNvPr id="17412" name="">
            <a:extLst xmlns:a="http://schemas.openxmlformats.org/drawingml/2006/main">
              <a:ext uri="{FF2B5EF4-FFF2-40B4-BE49-F238E27FC236}">
                <a16:creationId xmlns:a16="http://schemas.microsoft.com/office/drawing/2014/main" id="{BAB7EC39-CA1C-483B-9115-C08A01F7E2E6}"/>
              </a:ext>
            </a:extLst>
          </p:cNvPr>
          <p:cNvSpPr>
            <a:spLocks xmlns:a="http://schemas.openxmlformats.org/drawingml/2006/main" noGrp="1"/>
          </p:cNvSpPr>
          <p:nvPr/>
        </p:nvSpPr>
        <p:spPr>
          <a:xfrm xmlns:a="http://schemas.openxmlformats.org/drawingml/2006/main">
            <a:off x="609600" y="134302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F497D"/>
                </a:solidFill>
                <a:latin typeface="Arial"/>
                <a:ea typeface="Arial"/>
                <a:cs typeface="Arial"/>
              </a:defRPr>
            </a:pPr>
            <a:r>
              <a:rPr sz="2175" b="1">
                <a:solidFill>
                  <a:srgbClr val="1F497D"/>
                </a:solidFill>
                <a:latin typeface="Arial"/>
                <a:ea typeface="Arial"/>
                <a:cs typeface="Arial"/>
              </a:rPr>
              <a:t>Details / Links of the reference and research work</a:t>
            </a:r>
          </a:p>
        </p:txBody>
      </p:sp>
      <p:sp>
        <p:nvSpPr>
          <p:cNvPr id="17413" name="">
            <a:extLst xmlns:a="http://schemas.openxmlformats.org/drawingml/2006/main">
              <a:ext uri="{FF2B5EF4-FFF2-40B4-BE49-F238E27FC236}">
                <a16:creationId xmlns:a16="http://schemas.microsoft.com/office/drawing/2014/main" id="{7D902FB0-484A-4523-8FDA-C73002991BED}"/>
              </a:ext>
            </a:extLst>
          </p:cNvPr>
          <p:cNvSpPr>
            <a:spLocks xmlns:a="http://schemas.openxmlformats.org/drawingml/2006/main" noGrp="1"/>
          </p:cNvSpPr>
          <p:nvPr/>
        </p:nvSpPr>
        <p:spPr>
          <a:xfrm xmlns:a="http://schemas.openxmlformats.org/drawingml/2006/main">
            <a:off x="619125" y="1809750"/>
            <a:ext cx="20669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F497D"/>
                </a:solidFill>
                <a:latin typeface="Arial"/>
                <a:ea typeface="Arial"/>
                <a:cs typeface="Arial"/>
              </a:defRPr>
            </a:pPr>
            <a:r>
              <a:rPr sz="1725" b="1">
                <a:solidFill>
                  <a:srgbClr val="1F497D"/>
                </a:solidFill>
                <a:latin typeface="Arial"/>
                <a:ea typeface="Arial"/>
                <a:cs typeface="Arial"/>
              </a:rPr>
              <a:t>Address clustering</a:t>
            </a:r>
          </a:p>
        </p:txBody>
      </p:sp>
      <p:sp>
        <p:nvSpPr>
          <p:cNvPr id="17414" name="">
            <a:extLst xmlns:a="http://schemas.openxmlformats.org/drawingml/2006/main">
              <a:ext uri="{FF2B5EF4-FFF2-40B4-BE49-F238E27FC236}">
                <a16:creationId xmlns:a16="http://schemas.microsoft.com/office/drawing/2014/main" id="{A9F623C2-4C9B-4488-BB99-6FA27FCE28DB}"/>
              </a:ext>
            </a:extLst>
          </p:cNvPr>
          <p:cNvSpPr>
            <a:spLocks xmlns:a="http://schemas.openxmlformats.org/drawingml/2006/main" noGrp="1"/>
          </p:cNvSpPr>
          <p:nvPr/>
        </p:nvSpPr>
        <p:spPr>
          <a:xfrm xmlns:a="http://schemas.openxmlformats.org/drawingml/2006/main">
            <a:off x="2790825" y="1809750"/>
            <a:ext cx="8639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Meiklejohn et al. (2013), A Fistful of Bitcoins: Characterizing Payments Among Men with No Names.</a:t>
            </a:r>
          </a:p>
        </p:txBody>
      </p:sp>
      <p:sp>
        <p:nvSpPr>
          <p:cNvPr id="17415" name="">
            <a:extLst xmlns:a="http://schemas.openxmlformats.org/drawingml/2006/main">
              <a:ext uri="{FF2B5EF4-FFF2-40B4-BE49-F238E27FC236}">
                <a16:creationId xmlns:a16="http://schemas.microsoft.com/office/drawing/2014/main" id="{D168C7BF-4CE8-4986-AA72-8BD65B0C810B}"/>
              </a:ext>
            </a:extLst>
          </p:cNvPr>
          <p:cNvSpPr>
            <a:spLocks xmlns:a="http://schemas.openxmlformats.org/drawingml/2006/main" noGrp="1"/>
          </p:cNvSpPr>
          <p:nvPr/>
        </p:nvSpPr>
        <p:spPr>
          <a:xfrm xmlns:a="http://schemas.openxmlformats.org/drawingml/2006/main">
            <a:off x="2790825" y="2276475"/>
            <a:ext cx="8639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1F497D"/>
                </a:solidFill>
                <a:latin typeface="Arial"/>
                <a:ea typeface="Arial"/>
                <a:cs typeface="Arial"/>
              </a:defRPr>
            </a:pPr>
            <a:r>
              <a:rPr sz="1425" b="0">
                <a:solidFill>
                  <a:srgbClr val="1F497D"/>
                </a:solidFill>
                <a:latin typeface="Arial"/>
                <a:ea typeface="Arial"/>
                <a:cs typeface="Arial"/>
                <a:hlinkClick xmlns:r="http://schemas.openxmlformats.org/officeDocument/2006/relationships" r:id="R1ce79412df014bd9"/>
              </a:rPr>
              <a:t>ACM IMC paper</a:t>
            </a:r>
          </a:p>
        </p:txBody>
      </p:sp>
      <p:sp>
        <p:nvSpPr>
          <p:cNvPr id="17416" name="">
            <a:extLst xmlns:a="http://schemas.openxmlformats.org/drawingml/2006/main">
              <a:ext uri="{FF2B5EF4-FFF2-40B4-BE49-F238E27FC236}">
                <a16:creationId xmlns:a16="http://schemas.microsoft.com/office/drawing/2014/main" id="{9F57E092-18B1-4A80-BDFB-0880A6173367}"/>
              </a:ext>
            </a:extLst>
          </p:cNvPr>
          <p:cNvSpPr>
            <a:spLocks xmlns:a="http://schemas.openxmlformats.org/drawingml/2006/main" noGrp="1"/>
          </p:cNvSpPr>
          <p:nvPr/>
        </p:nvSpPr>
        <p:spPr>
          <a:xfrm xmlns:a="http://schemas.openxmlformats.org/drawingml/2006/main">
            <a:off x="619125" y="2533650"/>
            <a:ext cx="20669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F497D"/>
                </a:solidFill>
                <a:latin typeface="Arial"/>
                <a:ea typeface="Arial"/>
                <a:cs typeface="Arial"/>
              </a:defRPr>
            </a:pPr>
            <a:r>
              <a:rPr sz="1725" b="1">
                <a:solidFill>
                  <a:srgbClr val="1F497D"/>
                </a:solidFill>
                <a:latin typeface="Arial"/>
                <a:ea typeface="Arial"/>
                <a:cs typeface="Arial"/>
              </a:rPr>
              <a:t>ML-assisted analysis</a:t>
            </a:r>
          </a:p>
        </p:txBody>
      </p:sp>
      <p:sp>
        <p:nvSpPr>
          <p:cNvPr id="17417" name="">
            <a:extLst xmlns:a="http://schemas.openxmlformats.org/drawingml/2006/main">
              <a:ext uri="{FF2B5EF4-FFF2-40B4-BE49-F238E27FC236}">
                <a16:creationId xmlns:a16="http://schemas.microsoft.com/office/drawing/2014/main" id="{1EC7A88E-76CE-4D93-81E4-3C7FD0D1966D}"/>
              </a:ext>
            </a:extLst>
          </p:cNvPr>
          <p:cNvSpPr>
            <a:spLocks xmlns:a="http://schemas.openxmlformats.org/drawingml/2006/main" noGrp="1"/>
          </p:cNvSpPr>
          <p:nvPr/>
        </p:nvSpPr>
        <p:spPr>
          <a:xfrm xmlns:a="http://schemas.openxmlformats.org/drawingml/2006/main">
            <a:off x="2790825" y="2533650"/>
            <a:ext cx="8639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Weber et al. (2019), Anti-Money Laundering in Bitcoin: Experimenting with Graph Convolutional Networks for Financial Forensics.</a:t>
            </a:r>
          </a:p>
        </p:txBody>
      </p:sp>
      <p:sp>
        <p:nvSpPr>
          <p:cNvPr id="17418" name="">
            <a:extLst xmlns:a="http://schemas.openxmlformats.org/drawingml/2006/main">
              <a:ext uri="{FF2B5EF4-FFF2-40B4-BE49-F238E27FC236}">
                <a16:creationId xmlns:a16="http://schemas.microsoft.com/office/drawing/2014/main" id="{1857D598-2269-4C54-A8B6-0A8F0238B1BB}"/>
              </a:ext>
            </a:extLst>
          </p:cNvPr>
          <p:cNvSpPr>
            <a:spLocks xmlns:a="http://schemas.openxmlformats.org/drawingml/2006/main" noGrp="1"/>
          </p:cNvSpPr>
          <p:nvPr/>
        </p:nvSpPr>
        <p:spPr>
          <a:xfrm xmlns:a="http://schemas.openxmlformats.org/drawingml/2006/main">
            <a:off x="2790825" y="3000375"/>
            <a:ext cx="8639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1F497D"/>
                </a:solidFill>
                <a:latin typeface="Arial"/>
                <a:ea typeface="Arial"/>
                <a:cs typeface="Arial"/>
              </a:defRPr>
            </a:pPr>
            <a:r>
              <a:rPr sz="1425" b="0">
                <a:solidFill>
                  <a:srgbClr val="1F497D"/>
                </a:solidFill>
                <a:latin typeface="Arial"/>
                <a:ea typeface="Arial"/>
                <a:cs typeface="Arial"/>
                <a:hlinkClick xmlns:r="http://schemas.openxmlformats.org/officeDocument/2006/relationships" r:id="R6bb9dc8c4d384b08"/>
              </a:rPr>
              <a:t>arXiv:1908.02591</a:t>
            </a:r>
          </a:p>
        </p:txBody>
      </p:sp>
      <p:sp>
        <p:nvSpPr>
          <p:cNvPr id="17419" name="">
            <a:extLst xmlns:a="http://schemas.openxmlformats.org/drawingml/2006/main">
              <a:ext uri="{FF2B5EF4-FFF2-40B4-BE49-F238E27FC236}">
                <a16:creationId xmlns:a16="http://schemas.microsoft.com/office/drawing/2014/main" id="{0F9B171A-4952-4990-91BE-54E5B3B82BAD}"/>
              </a:ext>
            </a:extLst>
          </p:cNvPr>
          <p:cNvSpPr>
            <a:spLocks xmlns:a="http://schemas.openxmlformats.org/drawingml/2006/main" noGrp="1"/>
          </p:cNvSpPr>
          <p:nvPr/>
        </p:nvSpPr>
        <p:spPr>
          <a:xfrm xmlns:a="http://schemas.openxmlformats.org/drawingml/2006/main">
            <a:off x="619125" y="3257550"/>
            <a:ext cx="20669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F497D"/>
                </a:solidFill>
                <a:latin typeface="Arial"/>
                <a:ea typeface="Arial"/>
                <a:cs typeface="Arial"/>
              </a:defRPr>
            </a:pPr>
            <a:r>
              <a:rPr sz="1725" b="1">
                <a:solidFill>
                  <a:srgbClr val="1F497D"/>
                </a:solidFill>
                <a:latin typeface="Arial"/>
                <a:ea typeface="Arial"/>
                <a:cs typeface="Arial"/>
              </a:rPr>
              <a:t>Blockchain data</a:t>
            </a:r>
          </a:p>
        </p:txBody>
      </p:sp>
      <p:sp>
        <p:nvSpPr>
          <p:cNvPr id="17420" name="">
            <a:extLst xmlns:a="http://schemas.openxmlformats.org/drawingml/2006/main">
              <a:ext uri="{FF2B5EF4-FFF2-40B4-BE49-F238E27FC236}">
                <a16:creationId xmlns:a16="http://schemas.microsoft.com/office/drawing/2014/main" id="{64A9F8E5-4E32-4FF7-BB70-F1EB7906AABA}"/>
              </a:ext>
            </a:extLst>
          </p:cNvPr>
          <p:cNvSpPr>
            <a:spLocks xmlns:a="http://schemas.openxmlformats.org/drawingml/2006/main" noGrp="1"/>
          </p:cNvSpPr>
          <p:nvPr/>
        </p:nvSpPr>
        <p:spPr>
          <a:xfrm xmlns:a="http://schemas.openxmlformats.org/drawingml/2006/main">
            <a:off x="2790825" y="3257550"/>
            <a:ext cx="8639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Blockstream Esplora: address and transaction API documentation.</a:t>
            </a:r>
          </a:p>
        </p:txBody>
      </p:sp>
      <p:sp>
        <p:nvSpPr>
          <p:cNvPr id="17421" name="">
            <a:extLst xmlns:a="http://schemas.openxmlformats.org/drawingml/2006/main">
              <a:ext uri="{FF2B5EF4-FFF2-40B4-BE49-F238E27FC236}">
                <a16:creationId xmlns:a16="http://schemas.microsoft.com/office/drawing/2014/main" id="{6030849E-2459-4165-AFFB-793EC894C345}"/>
              </a:ext>
            </a:extLst>
          </p:cNvPr>
          <p:cNvSpPr>
            <a:spLocks xmlns:a="http://schemas.openxmlformats.org/drawingml/2006/main" noGrp="1"/>
          </p:cNvSpPr>
          <p:nvPr/>
        </p:nvSpPr>
        <p:spPr>
          <a:xfrm xmlns:a="http://schemas.openxmlformats.org/drawingml/2006/main">
            <a:off x="2790825" y="3724275"/>
            <a:ext cx="8639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1F497D"/>
                </a:solidFill>
                <a:latin typeface="Arial"/>
                <a:ea typeface="Arial"/>
                <a:cs typeface="Arial"/>
              </a:defRPr>
            </a:pPr>
            <a:r>
              <a:rPr sz="1425" b="0">
                <a:solidFill>
                  <a:srgbClr val="1F497D"/>
                </a:solidFill>
                <a:latin typeface="Arial"/>
                <a:ea typeface="Arial"/>
                <a:cs typeface="Arial"/>
                <a:hlinkClick xmlns:r="http://schemas.openxmlformats.org/officeDocument/2006/relationships" r:id="R18683b7c5e514cf8"/>
              </a:rPr>
              <a:t>Official API documentation</a:t>
            </a:r>
          </a:p>
        </p:txBody>
      </p:sp>
      <p:sp>
        <p:nvSpPr>
          <p:cNvPr id="17422" name="">
            <a:extLst xmlns:a="http://schemas.openxmlformats.org/drawingml/2006/main">
              <a:ext uri="{FF2B5EF4-FFF2-40B4-BE49-F238E27FC236}">
                <a16:creationId xmlns:a16="http://schemas.microsoft.com/office/drawing/2014/main" id="{6F611100-8D8A-4EAB-9733-8D88BFF71AD4}"/>
              </a:ext>
            </a:extLst>
          </p:cNvPr>
          <p:cNvSpPr>
            <a:spLocks xmlns:a="http://schemas.openxmlformats.org/drawingml/2006/main" noGrp="1"/>
          </p:cNvSpPr>
          <p:nvPr/>
        </p:nvSpPr>
        <p:spPr>
          <a:xfrm xmlns:a="http://schemas.openxmlformats.org/drawingml/2006/main">
            <a:off x="619125" y="3981450"/>
            <a:ext cx="20669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F497D"/>
                </a:solidFill>
                <a:latin typeface="Arial"/>
                <a:ea typeface="Arial"/>
                <a:cs typeface="Arial"/>
              </a:defRPr>
            </a:pPr>
            <a:r>
              <a:rPr sz="1725" b="1">
                <a:solidFill>
                  <a:srgbClr val="1F497D"/>
                </a:solidFill>
                <a:latin typeface="Arial"/>
                <a:ea typeface="Arial"/>
                <a:cs typeface="Arial"/>
              </a:rPr>
              <a:t>Attribution sources</a:t>
            </a:r>
          </a:p>
        </p:txBody>
      </p:sp>
      <p:sp>
        <p:nvSpPr>
          <p:cNvPr id="17423" name="">
            <a:extLst xmlns:a="http://schemas.openxmlformats.org/drawingml/2006/main">
              <a:ext uri="{FF2B5EF4-FFF2-40B4-BE49-F238E27FC236}">
                <a16:creationId xmlns:a16="http://schemas.microsoft.com/office/drawing/2014/main" id="{576CF382-DBEE-48D1-B6CF-DF1AE5E67F80}"/>
              </a:ext>
            </a:extLst>
          </p:cNvPr>
          <p:cNvSpPr>
            <a:spLocks xmlns:a="http://schemas.openxmlformats.org/drawingml/2006/main" noGrp="1"/>
          </p:cNvSpPr>
          <p:nvPr/>
        </p:nvSpPr>
        <p:spPr>
          <a:xfrm xmlns:a="http://schemas.openxmlformats.org/drawingml/2006/main">
            <a:off x="2790825" y="3981450"/>
            <a:ext cx="8639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Binance, Our Commitment to Transparency (2022): published wallet disclosures.</a:t>
            </a:r>
          </a:p>
        </p:txBody>
      </p:sp>
      <p:sp>
        <p:nvSpPr>
          <p:cNvPr id="17424" name="">
            <a:extLst xmlns:a="http://schemas.openxmlformats.org/drawingml/2006/main">
              <a:ext uri="{FF2B5EF4-FFF2-40B4-BE49-F238E27FC236}">
                <a16:creationId xmlns:a16="http://schemas.microsoft.com/office/drawing/2014/main" id="{7BB72F65-D6C0-4416-B435-38721C68A7C4}"/>
              </a:ext>
            </a:extLst>
          </p:cNvPr>
          <p:cNvSpPr>
            <a:spLocks xmlns:a="http://schemas.openxmlformats.org/drawingml/2006/main" noGrp="1"/>
          </p:cNvSpPr>
          <p:nvPr/>
        </p:nvSpPr>
        <p:spPr>
          <a:xfrm xmlns:a="http://schemas.openxmlformats.org/drawingml/2006/main">
            <a:off x="2790825" y="4448175"/>
            <a:ext cx="8639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1F497D"/>
                </a:solidFill>
                <a:latin typeface="Arial"/>
                <a:ea typeface="Arial"/>
                <a:cs typeface="Arial"/>
              </a:defRPr>
            </a:pPr>
            <a:r>
              <a:rPr sz="1425" b="0">
                <a:solidFill>
                  <a:srgbClr val="1F497D"/>
                </a:solidFill>
                <a:latin typeface="Arial"/>
                <a:ea typeface="Arial"/>
                <a:cs typeface="Arial"/>
                <a:hlinkClick xmlns:r="http://schemas.openxmlformats.org/officeDocument/2006/relationships" r:id="R042c82704c694fc3"/>
              </a:rPr>
              <a:t>Historical disclosure; not a deposit-account registry</a:t>
            </a:r>
          </a:p>
        </p:txBody>
      </p:sp>
      <p:sp>
        <p:nvSpPr>
          <p:cNvPr id="17425" name="">
            <a:extLst xmlns:a="http://schemas.openxmlformats.org/drawingml/2006/main">
              <a:ext uri="{FF2B5EF4-FFF2-40B4-BE49-F238E27FC236}">
                <a16:creationId xmlns:a16="http://schemas.microsoft.com/office/drawing/2014/main" id="{A8FD7B1B-C851-4B73-87AA-6CABC8B8DF6C}"/>
              </a:ext>
            </a:extLst>
          </p:cNvPr>
          <p:cNvSpPr>
            <a:spLocks xmlns:a="http://schemas.openxmlformats.org/drawingml/2006/main" noGrp="1"/>
          </p:cNvSpPr>
          <p:nvPr/>
        </p:nvSpPr>
        <p:spPr>
          <a:xfrm xmlns:a="http://schemas.openxmlformats.org/drawingml/2006/main">
            <a:off x="619125" y="4705350"/>
            <a:ext cx="20669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F497D"/>
                </a:solidFill>
                <a:latin typeface="Arial"/>
                <a:ea typeface="Arial"/>
                <a:cs typeface="Arial"/>
              </a:defRPr>
            </a:pPr>
            <a:r>
              <a:rPr sz="1725" b="1">
                <a:solidFill>
                  <a:srgbClr val="1F497D"/>
                </a:solidFill>
                <a:latin typeface="Arial"/>
                <a:ea typeface="Arial"/>
                <a:cs typeface="Arial"/>
              </a:rPr>
              <a:t>AML context</a:t>
            </a:r>
          </a:p>
        </p:txBody>
      </p:sp>
      <p:sp>
        <p:nvSpPr>
          <p:cNvPr id="17426" name="">
            <a:extLst xmlns:a="http://schemas.openxmlformats.org/drawingml/2006/main">
              <a:ext uri="{FF2B5EF4-FFF2-40B4-BE49-F238E27FC236}">
                <a16:creationId xmlns:a16="http://schemas.microsoft.com/office/drawing/2014/main" id="{56B74E26-94CA-4B6D-8AF3-62D311527C24}"/>
              </a:ext>
            </a:extLst>
          </p:cNvPr>
          <p:cNvSpPr>
            <a:spLocks xmlns:a="http://schemas.openxmlformats.org/drawingml/2006/main" noGrp="1"/>
          </p:cNvSpPr>
          <p:nvPr/>
        </p:nvSpPr>
        <p:spPr>
          <a:xfrm xmlns:a="http://schemas.openxmlformats.org/drawingml/2006/main">
            <a:off x="2790825" y="4705350"/>
            <a:ext cx="8639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FATF (2021), Updated Guidance for a Risk-Based Approach to Virtual Assets and VASPs.</a:t>
            </a:r>
          </a:p>
        </p:txBody>
      </p:sp>
      <p:sp>
        <p:nvSpPr>
          <p:cNvPr id="17427" name="">
            <a:extLst xmlns:a="http://schemas.openxmlformats.org/drawingml/2006/main">
              <a:ext uri="{FF2B5EF4-FFF2-40B4-BE49-F238E27FC236}">
                <a16:creationId xmlns:a16="http://schemas.microsoft.com/office/drawing/2014/main" id="{BBD32AD2-8A6F-4BCC-8BAF-A4995036562E}"/>
              </a:ext>
            </a:extLst>
          </p:cNvPr>
          <p:cNvSpPr>
            <a:spLocks xmlns:a="http://schemas.openxmlformats.org/drawingml/2006/main" noGrp="1"/>
          </p:cNvSpPr>
          <p:nvPr/>
        </p:nvSpPr>
        <p:spPr>
          <a:xfrm xmlns:a="http://schemas.openxmlformats.org/drawingml/2006/main">
            <a:off x="2790825" y="5172075"/>
            <a:ext cx="8639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1F497D"/>
                </a:solidFill>
                <a:latin typeface="Arial"/>
                <a:ea typeface="Arial"/>
                <a:cs typeface="Arial"/>
              </a:defRPr>
            </a:pPr>
            <a:r>
              <a:rPr sz="1425" b="0">
                <a:solidFill>
                  <a:srgbClr val="1F497D"/>
                </a:solidFill>
                <a:latin typeface="Arial"/>
                <a:ea typeface="Arial"/>
                <a:cs typeface="Arial"/>
                <a:hlinkClick xmlns:r="http://schemas.openxmlformats.org/officeDocument/2006/relationships" r:id="Rf1e810bc528d46ae"/>
              </a:rPr>
              <a:t>FATF guidance</a:t>
            </a:r>
          </a:p>
        </p:txBody>
      </p:sp>
      <p:sp>
        <p:nvSpPr>
          <p:cNvPr id="17428" name="">
            <a:extLst xmlns:a="http://schemas.openxmlformats.org/drawingml/2006/main">
              <a:ext uri="{FF2B5EF4-FFF2-40B4-BE49-F238E27FC236}">
                <a16:creationId xmlns:a16="http://schemas.microsoft.com/office/drawing/2014/main" id="{C16A5759-6A7F-426A-8FF6-6EAA6B90A09A}"/>
              </a:ext>
            </a:extLst>
          </p:cNvPr>
          <p:cNvSpPr>
            <a:spLocks xmlns:a="http://schemas.openxmlformats.org/drawingml/2006/main" noGrp="1"/>
          </p:cNvSpPr>
          <p:nvPr/>
        </p:nvSpPr>
        <p:spPr>
          <a:xfrm xmlns:a="http://schemas.openxmlformats.org/drawingml/2006/main">
            <a:off x="619125" y="5429250"/>
            <a:ext cx="20669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F497D"/>
                </a:solidFill>
                <a:latin typeface="Arial"/>
                <a:ea typeface="Arial"/>
                <a:cs typeface="Arial"/>
              </a:defRPr>
            </a:pPr>
            <a:r>
              <a:rPr sz="1725" b="1">
                <a:solidFill>
                  <a:srgbClr val="1F497D"/>
                </a:solidFill>
                <a:latin typeface="Arial"/>
                <a:ea typeface="Arial"/>
                <a:cs typeface="Arial"/>
              </a:rPr>
              <a:t>Evidence handling</a:t>
            </a:r>
          </a:p>
        </p:txBody>
      </p:sp>
      <p:sp>
        <p:nvSpPr>
          <p:cNvPr id="17429" name="">
            <a:extLst xmlns:a="http://schemas.openxmlformats.org/drawingml/2006/main">
              <a:ext uri="{FF2B5EF4-FFF2-40B4-BE49-F238E27FC236}">
                <a16:creationId xmlns:a16="http://schemas.microsoft.com/office/drawing/2014/main" id="{93D98EC8-CF89-498F-8204-1FBF63937536}"/>
              </a:ext>
            </a:extLst>
          </p:cNvPr>
          <p:cNvSpPr>
            <a:spLocks xmlns:a="http://schemas.openxmlformats.org/drawingml/2006/main" noGrp="1"/>
          </p:cNvSpPr>
          <p:nvPr/>
        </p:nvSpPr>
        <p:spPr>
          <a:xfrm xmlns:a="http://schemas.openxmlformats.org/drawingml/2006/main">
            <a:off x="2790825" y="5429250"/>
            <a:ext cx="8639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111111"/>
                </a:solidFill>
                <a:latin typeface="Arial"/>
                <a:ea typeface="Arial"/>
                <a:cs typeface="Arial"/>
              </a:defRPr>
            </a:pPr>
            <a:r>
              <a:rPr sz="1575" b="0">
                <a:solidFill>
                  <a:srgbClr val="111111"/>
                </a:solidFill>
                <a:latin typeface="Arial"/>
                <a:ea typeface="Arial"/>
                <a:cs typeface="Arial"/>
              </a:rPr>
              <a:t>NIST SP 800-86 (2006), Guide to Integrating Forensic Techniques into Incident Response.</a:t>
            </a:r>
          </a:p>
        </p:txBody>
      </p:sp>
      <p:sp>
        <p:nvSpPr>
          <p:cNvPr id="17430" name="">
            <a:extLst xmlns:a="http://schemas.openxmlformats.org/drawingml/2006/main">
              <a:ext uri="{FF2B5EF4-FFF2-40B4-BE49-F238E27FC236}">
                <a16:creationId xmlns:a16="http://schemas.microsoft.com/office/drawing/2014/main" id="{0BD8B873-B947-4C91-AEAC-42B84BF22FA9}"/>
              </a:ext>
            </a:extLst>
          </p:cNvPr>
          <p:cNvSpPr>
            <a:spLocks xmlns:a="http://schemas.openxmlformats.org/drawingml/2006/main" noGrp="1"/>
          </p:cNvSpPr>
          <p:nvPr/>
        </p:nvSpPr>
        <p:spPr>
          <a:xfrm xmlns:a="http://schemas.openxmlformats.org/drawingml/2006/main">
            <a:off x="2790825" y="5895975"/>
            <a:ext cx="86391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1F497D"/>
                </a:solidFill>
                <a:latin typeface="Arial"/>
                <a:ea typeface="Arial"/>
                <a:cs typeface="Arial"/>
              </a:defRPr>
            </a:pPr>
            <a:r>
              <a:rPr sz="1425" b="0">
                <a:solidFill>
                  <a:srgbClr val="1F497D"/>
                </a:solidFill>
                <a:latin typeface="Arial"/>
                <a:ea typeface="Arial"/>
                <a:cs typeface="Arial"/>
                <a:hlinkClick xmlns:r="http://schemas.openxmlformats.org/officeDocument/2006/relationships" r:id="Rb441deedff1f4185"/>
              </a:rPr>
              <a:t>NIST guidance; not a guarantee of legal admissibility</a:t>
            </a:r>
          </a:p>
        </p:txBody>
      </p:sp>
    </p:spTree>
    <p:extLst>
      <p:ext uri="{BB962C8B-B14F-4D97-AF65-F5344CB8AC3E}">
        <p14:creationId xmlns:p14="http://schemas.microsoft.com/office/powerpoint/2010/main" val="3916788613"/>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2026-09-10T17:34:38.2690000Z</dcterms:created>
  <dcterms:modified xsi:type="dcterms:W3CDTF">2026-09-10T17:34:38.2690000Z</dcterms:modified>
</coreProperties>
</file>