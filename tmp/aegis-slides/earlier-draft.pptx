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0845961be24d4f" /><Relationship Type="http://schemas.openxmlformats.org/officeDocument/2006/relationships/extended-properties" Target="/docProps/app.xml" Id="R9dc5b19a01c04a12" /><Relationship Type="http://schemas.openxmlformats.org/officeDocument/2006/relationships/officeDocument" Target="/ppt/presentation.xml" Id="Re2f5d8454e664334" /></Relationships>
</file>

<file path=ppt/presentation.xml><?xml version="1.0" encoding="utf-8"?>
<p:presentation xmlns:p="http://schemas.openxmlformats.org/presentationml/2006/main">
  <p:sldMasterIdLst>
    <p:sldMasterId xmlns:r="http://schemas.openxmlformats.org/officeDocument/2006/relationships" id="2147483648" r:id="Rfa5c4eb8ad30443e"/>
  </p:sldMasterIdLst>
  <p:notesMasterIdLst>
    <p:notesMasterId xmlns:r="http://schemas.openxmlformats.org/officeDocument/2006/relationships" r:id="Rc99223ba6a344d63"/>
  </p:notesMasterIdLst>
  <p:sldIdLst>
    <p:sldId xmlns:r="http://schemas.openxmlformats.org/officeDocument/2006/relationships" id="256" r:id="R603cb16d38ff4ce4"/>
    <p:sldId xmlns:r="http://schemas.openxmlformats.org/officeDocument/2006/relationships" id="257" r:id="R48c5574bd8dc4135"/>
    <p:sldId xmlns:r="http://schemas.openxmlformats.org/officeDocument/2006/relationships" id="258" r:id="R8139ba46be564ae7"/>
    <p:sldId xmlns:r="http://schemas.openxmlformats.org/officeDocument/2006/relationships" id="259" r:id="Rad8a280167a24eb4"/>
    <p:sldId xmlns:r="http://schemas.openxmlformats.org/officeDocument/2006/relationships" id="260" r:id="R68b9b671bbf74172"/>
    <p:sldId xmlns:r="http://schemas.openxmlformats.org/officeDocument/2006/relationships" id="261" r:id="Ra5f329ae955b4e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db468e4db62430a" /><Relationship Type="http://schemas.openxmlformats.org/officeDocument/2006/relationships/slideMaster" Target="/ppt/slideMasters/slideMaster1.xml" Id="Rfa5c4eb8ad30443e" /><Relationship Type="http://schemas.openxmlformats.org/officeDocument/2006/relationships/notesMaster" Target="/ppt/notesMasters/notesMaster1.xml" Id="Rc99223ba6a344d63" /><Relationship Type="http://schemas.openxmlformats.org/officeDocument/2006/relationships/presProps" Target="/ppt/presProps.xml" Id="R5b5464a9aae049a6" /><Relationship Type="http://schemas.openxmlformats.org/officeDocument/2006/relationships/viewProps" Target="/ppt/viewProps.xml" Id="Ra52e3fd6fb274c22" /><Relationship Type="http://schemas.openxmlformats.org/officeDocument/2006/relationships/tableStyles" Target="/ppt/tableStyles.xml" Id="R02a3fad2b3e442e6" /><Relationship Type="http://schemas.openxmlformats.org/officeDocument/2006/relationships/slide" Target="/ppt/slides/slide1.xml" Id="R603cb16d38ff4ce4" /><Relationship Type="http://schemas.openxmlformats.org/officeDocument/2006/relationships/slide" Target="/ppt/slides/slide2.xml" Id="R48c5574bd8dc4135" /><Relationship Type="http://schemas.openxmlformats.org/officeDocument/2006/relationships/slide" Target="/ppt/slides/slide3.xml" Id="R8139ba46be564ae7" /><Relationship Type="http://schemas.openxmlformats.org/officeDocument/2006/relationships/slide" Target="/ppt/slides/slide4.xml" Id="Rad8a280167a24eb4" /><Relationship Type="http://schemas.openxmlformats.org/officeDocument/2006/relationships/slide" Target="/ppt/slides/slide5.xml" Id="R68b9b671bbf74172" /><Relationship Type="http://schemas.openxmlformats.org/officeDocument/2006/relationships/slide" Target="/ppt/slides/slide6.xml" Id="Ra5f329ae955b4e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0a29b56d1e48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4883fcf4bf4cfd" /><Relationship Type="http://schemas.openxmlformats.org/officeDocument/2006/relationships/notesMaster" Target="/ppt/notesMasters/notesMaster1.xml" Id="Re8f313f97bc846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71c5f18a944d6b" /><Relationship Type="http://schemas.openxmlformats.org/officeDocument/2006/relationships/notesMaster" Target="/ppt/notesMasters/notesMaster1.xml" Id="Ra5168cd09d7744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b93fa0d7034df0" /><Relationship Type="http://schemas.openxmlformats.org/officeDocument/2006/relationships/notesMaster" Target="/ppt/notesMasters/notesMaster1.xml" Id="R4faa3fde967244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c0e597e8e244b1" /><Relationship Type="http://schemas.openxmlformats.org/officeDocument/2006/relationships/notesMaster" Target="/ppt/notesMasters/notesMaster1.xml" Id="R14e27228e2d245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f8c08532f346a0" /><Relationship Type="http://schemas.openxmlformats.org/officeDocument/2006/relationships/notesMaster" Target="/ppt/notesMasters/notesMaster1.xml" Id="Rac184f20ccfb46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6408211b9841cb" /><Relationship Type="http://schemas.openxmlformats.org/officeDocument/2006/relationships/notesMaster" Target="/ppt/notesMasters/notesMaster1.xml" Id="R328ecdbc23a54b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full-system endpoint, not a claim that every feature is implemented. Nearest means the first supported receiving VASP along a directed, time-consistent traced path. VASP attribution depends on label coverage; customer deposit-account ownership may require VASP confirmation. NCRP/SAHYOG access and interfaces require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Workflow diagram generated with the built-in image-generation tool to illustrate the proposed design; it is not a system screenshot. Blockchain documentation: https://github.com/Blockstream/esplora/blob/master/API.md . The proposed cross-chain layer will correlate supported bridge events; separate chain adapters alone do not establish cross-chain continuity. ML models require labelled evaluation and remain assistive, not proof of wrongdoing.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Prototype scope checked against local source on 10 September 2026: backend/app/api/demo.py uses direction both, depth 1, max_nodes 80 and max_edges 160. Frontend exposes PDF and CSV export. This is not production certification or full exchange coverage. Proposed endpoint features are explicitly planned. No timing, accuracy or cost benchmarks are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These are intended impacts, not measured outcomes. AEGIS supports investigators; it does not freeze assets, issue legal orders or guarantee recovery. Open-source software still incurs infrastructure, indexing and data-access costs.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263101084a40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5ab747b40540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af41ae1f2242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305bbf7cdf45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b9b7102b5f44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77099a9f9e415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3141e6d6c374ed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7129250a15346b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00d9fab0c0b441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77811af86a2482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322eba6a66642d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4EC0D5-13F2-47C3-8B64-28B77C4E302E}"/>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006BCB8-4F48-47AA-BDEA-F34A4CC7956B}"/>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468CB49C-CE8C-449A-8E09-08C0F00D7E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8F0566E4-58C5-4140-BFFD-67704B616C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61D4961-017C-4B40-89C5-607783EBCF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A9F06BC-46D9-45B7-98F6-5E78C0D3884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4FE27DB-B4E5-45B0-9DEE-83C25C8C4DB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BEED72E-F50A-42E5-869E-8CD793F157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4BA404B9-C61D-4E78-A05C-0F99C16745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48F32AC-A5CE-45FB-856D-6CE053AD2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29CA95-6146-4897-86E7-F1B7F1F48CD4}"/>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DEF7DF3-3A86-4374-9F34-92290B73A1D8}"/>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71147EE-DD71-4437-9C9D-9C7A2C0F9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8B76616F-5127-449D-8048-21667A95DC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965E7FF-93C3-4C82-BFBD-FC2FC12519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61C0E8-F803-4FF6-A6E8-A5A87222252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F44900A-EB77-4EE9-81EB-BFA1537B4DDC}"/>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BA541A8B-0298-4085-9E14-F67643789F0F}"/>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9D267547-2BD4-4BD3-9134-0328D8BD27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6D007ECB-38B2-42C7-9B7F-D509BC65E7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281D3CAC-C86E-4290-BFDB-3B22D21C03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2A0258-2223-4F3F-92FF-95DBCDD150B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95A5586-6CC9-42F0-ADB1-21A768AA06E7}"/>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0A2977B-D5DC-474E-B297-13C8C23B3B29}"/>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2D84D07-52F8-4C9B-909D-5CB19B92C5B3}"/>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EB8B94C-1620-471C-BDD2-0486D66EA124}"/>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4D5A4C3D-99F8-4537-9978-A606F9A22E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EC6C67B9-6F78-4B21-8CAB-CB9527EE9A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CCBE56D-F69E-446D-8B8B-8BFE237C20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B6D561-D00E-40B0-8C62-BC55A86F07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CB650F15-4972-4026-ADD4-81DF174541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0E0B9688-B20E-44F6-8FF9-31BBA21070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20CBF14B-6B88-462F-855F-47A4634461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41D40A4D-9655-497A-BDED-EBF4021B94F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177B71D8-7E9B-479E-A544-3A165131BF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0EAC9E6C-3870-4FBC-A646-C1E50FBF55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4AC04F-09EA-45EB-9BA7-0CD8CB13AA2D}"/>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8EB8D2F-EE98-476D-890C-EEAA5EDD1743}"/>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03A6465-B24C-4FE0-AF41-D1C1A0B5C09D}"/>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64D23771-D104-439C-B9B3-0FCAC68647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78A8EE53-4203-4DC2-9D3D-51262DB97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B70BA36-48BF-48C7-8C9A-C25F19AAC1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99959D-EE5E-460C-A0FA-37DF812ACB20}"/>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FE7E970-2A57-4847-AFF8-A0C79661501E}"/>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6F66C766-E239-4E1A-8B23-9130D14A4885}"/>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200F51C5-EB1F-4F10-BEF4-E3DC7CA249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DEBB090A-BB3C-4663-9320-13ADCE800A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73A3BA5-ACE4-4EF2-BC43-A996BFF56F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34DB2B-DA5E-4D31-9869-56701D4BD62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7FC10ED-1AFD-4E43-8067-46D7245AC2C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0936F50-D681-4ED7-A00E-E92BC3DC1A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2233188-C727-492D-A0D3-9C94946C25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D65018A2-7D27-4FF7-8519-608915B327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19FD1CC-B172-484F-9B31-813524DDC6EA}"/>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A277D10-D5E1-45EF-9E7F-1B6243B137C1}"/>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6713275-AB2C-4112-87FB-DE60D526B0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D1C0580A-6837-476E-BEC0-B311F6CBDB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39EA909-BAB7-4551-954A-13D050385B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79db8fe5224298" /><Relationship Type="http://schemas.openxmlformats.org/officeDocument/2006/relationships/slideLayout" Target="/ppt/slideLayouts/slideLayout1.xml" Id="Rbad7a75e5fec46b3" /><Relationship Type="http://schemas.openxmlformats.org/officeDocument/2006/relationships/slideLayout" Target="/ppt/slideLayouts/slideLayout2.xml" Id="Rc1324c2e578a4de8" /><Relationship Type="http://schemas.openxmlformats.org/officeDocument/2006/relationships/slideLayout" Target="/ppt/slideLayouts/slideLayout3.xml" Id="R1b9bee096e3d4aed" /><Relationship Type="http://schemas.openxmlformats.org/officeDocument/2006/relationships/slideLayout" Target="/ppt/slideLayouts/slideLayout4.xml" Id="Rff9da3eb0ab64f27" /><Relationship Type="http://schemas.openxmlformats.org/officeDocument/2006/relationships/slideLayout" Target="/ppt/slideLayouts/slideLayout5.xml" Id="R024c95ff35aa4612" /><Relationship Type="http://schemas.openxmlformats.org/officeDocument/2006/relationships/slideLayout" Target="/ppt/slideLayouts/slideLayout6.xml" Id="R1457f90e8bdc430d" /><Relationship Type="http://schemas.openxmlformats.org/officeDocument/2006/relationships/slideLayout" Target="/ppt/slideLayouts/slideLayout7.xml" Id="R895a650300644afc" /><Relationship Type="http://schemas.openxmlformats.org/officeDocument/2006/relationships/slideLayout" Target="/ppt/slideLayouts/slideLayout8.xml" Id="Reec26ab9b74448a9" /><Relationship Type="http://schemas.openxmlformats.org/officeDocument/2006/relationships/slideLayout" Target="/ppt/slideLayouts/slideLayout9.xml" Id="Ra8341c977b7a4b90" /><Relationship Type="http://schemas.openxmlformats.org/officeDocument/2006/relationships/slideLayout" Target="/ppt/slideLayouts/slideLayout10.xml" Id="R0def403ee98241f2" /><Relationship Type="http://schemas.openxmlformats.org/officeDocument/2006/relationships/slideLayout" Target="/ppt/slideLayouts/slideLayout11.xml" Id="R64e30e96105a448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1C9922A4-1FDE-4E37-B67D-4EA54442A31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7E2A738C-411A-4033-938C-6DF1EF5859CF}"/>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F8E47E5-F602-4EA3-A01F-D0B3467A2E7C}"/>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AE2A0014-A59E-4020-B459-A9514E6C467F}"/>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9078887-38CA-4D19-9F99-740F424F0475}"/>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d7a75e5fec46b3"/>
    <p:sldLayoutId xmlns:r="http://schemas.openxmlformats.org/officeDocument/2006/relationships" id="2147483650" r:id="Rc1324c2e578a4de8"/>
    <p:sldLayoutId xmlns:r="http://schemas.openxmlformats.org/officeDocument/2006/relationships" id="2147483651" r:id="R1b9bee096e3d4aed"/>
    <p:sldLayoutId xmlns:r="http://schemas.openxmlformats.org/officeDocument/2006/relationships" id="2147483652" r:id="Rff9da3eb0ab64f27"/>
    <p:sldLayoutId xmlns:r="http://schemas.openxmlformats.org/officeDocument/2006/relationships" id="2147483653" r:id="R024c95ff35aa4612"/>
    <p:sldLayoutId xmlns:r="http://schemas.openxmlformats.org/officeDocument/2006/relationships" id="2147483654" r:id="R1457f90e8bdc430d"/>
    <p:sldLayoutId xmlns:r="http://schemas.openxmlformats.org/officeDocument/2006/relationships" id="2147483655" r:id="R895a650300644afc"/>
    <p:sldLayoutId xmlns:r="http://schemas.openxmlformats.org/officeDocument/2006/relationships" id="2147483656" r:id="Reec26ab9b74448a9"/>
    <p:sldLayoutId xmlns:r="http://schemas.openxmlformats.org/officeDocument/2006/relationships" id="2147483657" r:id="Ra8341c977b7a4b90"/>
    <p:sldLayoutId xmlns:r="http://schemas.openxmlformats.org/officeDocument/2006/relationships" id="2147483658" r:id="R0def403ee98241f2"/>
    <p:sldLayoutId xmlns:r="http://schemas.openxmlformats.org/officeDocument/2006/relationships" id="2147483659" r:id="R64e30e96105a4484"/>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788f62529b4f04" /><Relationship Type="http://schemas.openxmlformats.org/officeDocument/2006/relationships/image" Target="/ppt/media/image.png" Id="R3b82a46d4cba41cb" /><Relationship Type="http://schemas.openxmlformats.org/officeDocument/2006/relationships/image" Target="/ppt/media/image2.png" Id="Re40a11f0ed504d74" /><Relationship Type="http://schemas.openxmlformats.org/officeDocument/2006/relationships/notesSlide" Target="/ppt/notesSlides/notesSlide1.xml" Id="R2841167ab0a943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3e5d0f954f44f44" /><Relationship Type="http://schemas.openxmlformats.org/officeDocument/2006/relationships/image" Target="/ppt/media/image2.png" Id="Rdc39b55338784621" /><Relationship Type="http://schemas.openxmlformats.org/officeDocument/2006/relationships/notesSlide" Target="/ppt/notesSlides/notesSlide2.xml" Id="R86962508953144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5d36826d5dc4990" /><Relationship Type="http://schemas.openxmlformats.org/officeDocument/2006/relationships/image" Target="/ppt/media/image2.png" Id="Re5504c05ee6c44eb" /><Relationship Type="http://schemas.openxmlformats.org/officeDocument/2006/relationships/image" Target="/ppt/media/image3.png" Id="Rbc21bcd019fd4469" /><Relationship Type="http://schemas.openxmlformats.org/officeDocument/2006/relationships/notesSlide" Target="/ppt/notesSlides/notesSlide3.xml" Id="R814c80359d2b4b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c89a9a793504061" /><Relationship Type="http://schemas.openxmlformats.org/officeDocument/2006/relationships/image" Target="/ppt/media/image2.png" Id="Rc213e8ff4f724dc9" /><Relationship Type="http://schemas.openxmlformats.org/officeDocument/2006/relationships/notesSlide" Target="/ppt/notesSlides/notesSlide4.xml" Id="Rc64b84f237b447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ba256a8e78849ef" /><Relationship Type="http://schemas.openxmlformats.org/officeDocument/2006/relationships/image" Target="/ppt/media/image2.png" Id="R9f4d7f0d2bd241be" /><Relationship Type="http://schemas.openxmlformats.org/officeDocument/2006/relationships/notesSlide" Target="/ppt/notesSlides/notesSlide5.xml" Id="R7e399b7f77ad47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effad999248495e" /><Relationship Type="http://schemas.openxmlformats.org/officeDocument/2006/relationships/image" Target="/ppt/media/image2.png" Id="R0fb1da0e728b4e5a" /><Relationship Type="http://schemas.openxmlformats.org/officeDocument/2006/relationships/hyperlink" Target="https://conferences.sigcomm.org/imc/2013/papers/imc182-meiklejohnA.pdf" TargetMode="External" Id="R92b637d2b9c04247" /><Relationship Type="http://schemas.openxmlformats.org/officeDocument/2006/relationships/hyperlink" Target="https://arxiv.org/abs/1908.02591" TargetMode="External" Id="R6a05f93400fd49ce" /><Relationship Type="http://schemas.openxmlformats.org/officeDocument/2006/relationships/hyperlink" Target="https://github.com/Blockstream/esplora/blob/master/API.md" TargetMode="External" Id="R8df4c77b3c9942c7" /><Relationship Type="http://schemas.openxmlformats.org/officeDocument/2006/relationships/hyperlink" Target="https://www.binance.com/en-IN/blog/community/2895840147147652626" TargetMode="External" Id="Rd648721fa2e64ec5" /><Relationship Type="http://schemas.openxmlformats.org/officeDocument/2006/relationships/hyperlink" Target="https://www.fatf-gafi.org/en/publications/Fatfrecommendations/Guidance-rba-virtual-assets-2021.html" TargetMode="External" Id="R903e1644c0724696" /><Relationship Type="http://schemas.openxmlformats.org/officeDocument/2006/relationships/hyperlink" Target="https://csrc.nist.gov/pubs/sp/800/86/final" TargetMode="External" Id="R334b123cd6314ed7" /><Relationship Type="http://schemas.openxmlformats.org/officeDocument/2006/relationships/notesSlide" Target="/ppt/notesSlides/notesSlide6.xml" Id="R5c523a2917ca4abe"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9"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3b82a46d4cba41cb"/>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BA6F7745-7AC3-40E2-AF87-152F4BAC729F}"/>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D88BD898-0428-48CC-8A67-965732B3AD57}"/>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0EC39356-34F6-4143-BB71-9A7D4F3F4A86}"/>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pic>
        <p:nvPicPr>
          <p:cNvPr id="53" name="Picture 1"/>
          <p:cNvPicPr>
            <a:picLocks xmlns:a="http://schemas.openxmlformats.org/drawingml/2006/main" noChangeAspect="1"/>
          </p:cNvPicPr>
          <p:nvPr/>
        </p:nvPicPr>
        <p:blipFill>
          <a:blip xmlns:r="http://schemas.openxmlformats.org/officeDocument/2006/relationships" xmlns:a="http://schemas.openxmlformats.org/drawingml/2006/main" r:embed="Re40a11f0ed504d7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3291D837-3082-4FA5-B664-B9124DB0A80B}"/>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CA6D8BD1-FE79-44FC-B5C0-0C9F5099062F}"/>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080D40EF-820C-441C-BDF2-45A306DA7DF8}"/>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65830FC5-2C35-40D1-9922-6B3BD9FFD4EB}"/>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C160F9F9-B7A3-434E-B9FF-E5B9C2D306D7}"/>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D0B42C3B-6D63-46AA-AC4A-3F9FF44647D9}"/>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Team ID: [ENTER REGISTERED TEAM ID]</a:t>
            </a:r>
          </a:p>
        </p:txBody>
      </p:sp>
      <p:sp>
        <p:nvSpPr>
          <p:cNvPr id="46" name="">
            <a:extLst xmlns:a="http://schemas.openxmlformats.org/drawingml/2006/main">
              <a:ext uri="{FF2B5EF4-FFF2-40B4-BE49-F238E27FC236}">
                <a16:creationId xmlns:a16="http://schemas.microsoft.com/office/drawing/2014/main" id="{35E0EE4B-7B90-498D-B2F9-644FC7225DCF}"/>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spTree>
    <p:extLst>
      <p:ext uri="{BB962C8B-B14F-4D97-AF65-F5344CB8AC3E}">
        <p14:creationId xmlns:p14="http://schemas.microsoft.com/office/powerpoint/2010/main" val="1925650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4048495A-7203-4EC3-A819-7BAC4A73F614}"/>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4E0914B7-B59F-45C5-8115-33EAD53ED17A}"/>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EAFD847A-CA82-49BE-B216-538924EFB9DF}"/>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FDCA639A-A0D6-4AE4-99F7-80EDB6EC902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5376" name="Picture 10"/>
          <p:cNvPicPr>
            <a:picLocks xmlns:a="http://schemas.openxmlformats.org/drawingml/2006/main" noChangeAspect="1"/>
          </p:cNvPicPr>
          <p:nvPr/>
        </p:nvPicPr>
        <p:blipFill>
          <a:blip xmlns:r="http://schemas.openxmlformats.org/officeDocument/2006/relationships" xmlns:a="http://schemas.openxmlformats.org/drawingml/2006/main" r:embed="Rdc39b5533878462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AADF9B14-0298-4D0A-B230-FD5BA1314C3D}"/>
              </a:ext>
            </a:extLst>
          </p:cNvPr>
          <p:cNvSpPr>
            <a:spLocks xmlns:a="http://schemas.openxmlformats.org/drawingml/2006/main" noGrp="1"/>
          </p:cNvSpPr>
          <p:nvPr/>
        </p:nvSpPr>
        <p:spPr>
          <a:xfrm xmlns:a="http://schemas.openxmlformats.org/drawingml/2006/main">
            <a:off x="609600" y="1304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Proposed Solution (Describe your Idea/Solution/Prototype)</a:t>
            </a:r>
          </a:p>
        </p:txBody>
      </p:sp>
      <p:sp>
        <p:nvSpPr>
          <p:cNvPr id="15365" name="">
            <a:extLst xmlns:a="http://schemas.openxmlformats.org/drawingml/2006/main">
              <a:ext uri="{FF2B5EF4-FFF2-40B4-BE49-F238E27FC236}">
                <a16:creationId xmlns:a16="http://schemas.microsoft.com/office/drawing/2014/main" id="{32FC8ACE-9877-4916-B220-979DDC1B30FB}"/>
              </a:ext>
            </a:extLst>
          </p:cNvPr>
          <p:cNvSpPr>
            <a:spLocks xmlns:a="http://schemas.openxmlformats.org/drawingml/2006/main" noGrp="1"/>
          </p:cNvSpPr>
          <p:nvPr/>
        </p:nvSpPr>
        <p:spPr>
          <a:xfrm xmlns:a="http://schemas.openxmlformats.org/drawingml/2006/main">
            <a:off x="609600" y="178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66" name="">
            <a:extLst xmlns:a="http://schemas.openxmlformats.org/drawingml/2006/main">
              <a:ext uri="{FF2B5EF4-FFF2-40B4-BE49-F238E27FC236}">
                <a16:creationId xmlns:a16="http://schemas.microsoft.com/office/drawing/2014/main" id="{B9E3D7C2-6216-4A47-AD30-81AEE963305C}"/>
              </a:ext>
            </a:extLst>
          </p:cNvPr>
          <p:cNvSpPr>
            <a:spLocks xmlns:a="http://schemas.openxmlformats.org/drawingml/2006/main" noGrp="1"/>
          </p:cNvSpPr>
          <p:nvPr/>
        </p:nvSpPr>
        <p:spPr>
          <a:xfrm xmlns:a="http://schemas.openxmlformats.org/drawingml/2006/main">
            <a:off x="723900" y="2143125"/>
            <a:ext cx="10801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Ingest victim-reported addresses and trace outgoing funds through intermediary wallets.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Identify the nearest supported receiving exchange/VASP with its deposit transaction and path.</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Monitor subsequent movement and generate alerts with standardized investigation reports.</a:t>
            </a:r>
          </a:p>
        </p:txBody>
      </p:sp>
      <p:sp>
        <p:nvSpPr>
          <p:cNvPr id="15367" name="">
            <a:extLst xmlns:a="http://schemas.openxmlformats.org/drawingml/2006/main">
              <a:ext uri="{FF2B5EF4-FFF2-40B4-BE49-F238E27FC236}">
                <a16:creationId xmlns:a16="http://schemas.microsoft.com/office/drawing/2014/main" id="{E94938B1-84B9-46CD-9D9F-D90EB1029E2D}"/>
              </a:ext>
            </a:extLst>
          </p:cNvPr>
          <p:cNvSpPr>
            <a:spLocks xmlns:a="http://schemas.openxmlformats.org/drawingml/2006/main" noGrp="1"/>
          </p:cNvSpPr>
          <p:nvPr/>
        </p:nvSpPr>
        <p:spPr>
          <a:xfrm xmlns:a="http://schemas.openxmlformats.org/drawingml/2006/main">
            <a:off x="609600" y="3590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How it addresses the problem</a:t>
            </a:r>
          </a:p>
        </p:txBody>
      </p:sp>
      <p:sp>
        <p:nvSpPr>
          <p:cNvPr id="15368" name="">
            <a:extLst xmlns:a="http://schemas.openxmlformats.org/drawingml/2006/main">
              <a:ext uri="{FF2B5EF4-FFF2-40B4-BE49-F238E27FC236}">
                <a16:creationId xmlns:a16="http://schemas.microsoft.com/office/drawing/2014/main" id="{D175BC42-C0D6-42AF-9483-B79F0C327576}"/>
              </a:ext>
            </a:extLst>
          </p:cNvPr>
          <p:cNvSpPr>
            <a:spLocks xmlns:a="http://schemas.openxmlformats.org/drawingml/2006/main" noGrp="1"/>
          </p:cNvSpPr>
          <p:nvPr/>
        </p:nvSpPr>
        <p:spPr>
          <a:xfrm xmlns:a="http://schemas.openxmlformats.org/drawingml/2006/main">
            <a:off x="723900" y="3952875"/>
            <a:ext cx="10801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Give investigators transaction hashes, amounts, timestamps and sourced attribution evidence.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Recommend follow-up actions; plan NCRP/SAHYOG integration through approved interfaces.</a:t>
            </a:r>
          </a:p>
        </p:txBody>
      </p:sp>
      <p:sp>
        <p:nvSpPr>
          <p:cNvPr id="15369" name="">
            <a:extLst xmlns:a="http://schemas.openxmlformats.org/drawingml/2006/main">
              <a:ext uri="{FF2B5EF4-FFF2-40B4-BE49-F238E27FC236}">
                <a16:creationId xmlns:a16="http://schemas.microsoft.com/office/drawing/2014/main" id="{2C457EAF-9866-48A0-8C43-7CD81FADFDDD}"/>
              </a:ext>
            </a:extLst>
          </p:cNvPr>
          <p:cNvSpPr>
            <a:spLocks xmlns:a="http://schemas.openxmlformats.org/drawingml/2006/main" noGrp="1"/>
          </p:cNvSpPr>
          <p:nvPr/>
        </p:nvSpPr>
        <p:spPr>
          <a:xfrm xmlns:a="http://schemas.openxmlformats.org/drawingml/2006/main">
            <a:off x="609600" y="5029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Innovation and uniqueness of the solution</a:t>
            </a:r>
          </a:p>
        </p:txBody>
      </p:sp>
      <p:sp>
        <p:nvSpPr>
          <p:cNvPr id="15370" name="">
            <a:extLst xmlns:a="http://schemas.openxmlformats.org/drawingml/2006/main">
              <a:ext uri="{FF2B5EF4-FFF2-40B4-BE49-F238E27FC236}">
                <a16:creationId xmlns:a16="http://schemas.microsoft.com/office/drawing/2014/main" id="{37A763C8-8B7E-40E4-89DB-F93D2390E63D}"/>
              </a:ext>
            </a:extLst>
          </p:cNvPr>
          <p:cNvSpPr>
            <a:spLocks xmlns:a="http://schemas.openxmlformats.org/drawingml/2006/main" noGrp="1"/>
          </p:cNvSpPr>
          <p:nvPr/>
        </p:nvSpPr>
        <p:spPr>
          <a:xfrm xmlns:a="http://schemas.openxmlformats.org/drawingml/2006/main">
            <a:off x="723900" y="5381625"/>
            <a:ext cx="10801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Combine receiving-VASP discovery with evidence provenance and movement monitoring.</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Keep observed facts, inferred links and unresolved paths distinct for investigator review.</a:t>
            </a:r>
          </a:p>
        </p:txBody>
      </p:sp>
    </p:spTree>
    <p:extLst>
      <p:ext uri="{BB962C8B-B14F-4D97-AF65-F5344CB8AC3E}">
        <p14:creationId xmlns:p14="http://schemas.microsoft.com/office/powerpoint/2010/main" val="5015647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8A9B7930-AF62-4B4D-A5BD-D8C4F8009EA0}"/>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BE03AF4F-B2B6-4B78-83D3-0C02FF9DC7C7}"/>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130DA7A6-C252-43BB-9D8A-C3AE4B70D86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22" name="Picture 11"/>
          <p:cNvPicPr>
            <a:picLocks xmlns:a="http://schemas.openxmlformats.org/drawingml/2006/main" noChangeAspect="1"/>
          </p:cNvPicPr>
          <p:nvPr/>
        </p:nvPicPr>
        <p:blipFill>
          <a:blip xmlns:r="http://schemas.openxmlformats.org/officeDocument/2006/relationships" xmlns:a="http://schemas.openxmlformats.org/drawingml/2006/main" r:embed="Re5504c05ee6c44e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A6DBD1DB-85ED-4CEF-9E04-97965AC4A861}"/>
              </a:ext>
            </a:extLst>
          </p:cNvPr>
          <p:cNvSpPr>
            <a:spLocks xmlns:a="http://schemas.openxmlformats.org/drawingml/2006/main" noGrp="1"/>
          </p:cNvSpPr>
          <p:nvPr/>
        </p:nvSpPr>
        <p:spPr>
          <a:xfrm xmlns:a="http://schemas.openxmlformats.org/drawingml/2006/main">
            <a:off x="609600" y="1333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Technologies to be used</a:t>
            </a:r>
          </a:p>
        </p:txBody>
      </p:sp>
      <p:sp>
        <p:nvSpPr>
          <p:cNvPr id="17413" name="">
            <a:extLst xmlns:a="http://schemas.openxmlformats.org/drawingml/2006/main">
              <a:ext uri="{FF2B5EF4-FFF2-40B4-BE49-F238E27FC236}">
                <a16:creationId xmlns:a16="http://schemas.microsoft.com/office/drawing/2014/main" id="{95A0BA84-C5B2-4E23-B547-025A316E0530}"/>
              </a:ext>
            </a:extLst>
          </p:cNvPr>
          <p:cNvSpPr>
            <a:spLocks xmlns:a="http://schemas.openxmlformats.org/drawingml/2006/main" noGrp="1"/>
          </p:cNvSpPr>
          <p:nvPr/>
        </p:nvSpPr>
        <p:spPr>
          <a:xfrm xmlns:a="http://schemas.openxmlformats.org/drawingml/2006/main">
            <a:off x="723900" y="1743075"/>
            <a:ext cx="108013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React dashboard; Python/FastAPI services; queued workers and persistent case storage.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Bitcoin, EVM and TRON adapters; incremental indexing and versioned VASP 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Bounded graph search, cautious clustering, explainable rules and evaluated ML risk detection.</a:t>
            </a:r>
          </a:p>
        </p:txBody>
      </p:sp>
      <p:sp>
        <p:nvSpPr>
          <p:cNvPr id="17414" name="">
            <a:extLst xmlns:a="http://schemas.openxmlformats.org/drawingml/2006/main">
              <a:ext uri="{FF2B5EF4-FFF2-40B4-BE49-F238E27FC236}">
                <a16:creationId xmlns:a16="http://schemas.microsoft.com/office/drawing/2014/main" id="{9440089F-D873-4661-8982-4243FCF4822B}"/>
              </a:ext>
            </a:extLst>
          </p:cNvPr>
          <p:cNvSpPr>
            <a:spLocks xmlns:a="http://schemas.openxmlformats.org/drawingml/2006/main" noGrp="1"/>
          </p:cNvSpPr>
          <p:nvPr/>
        </p:nvSpPr>
        <p:spPr>
          <a:xfrm xmlns:a="http://schemas.openxmlformats.org/drawingml/2006/main">
            <a:off x="609600" y="3200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Methodology and process for implementation</a:t>
            </a:r>
          </a:p>
        </p:txBody>
      </p:sp>
      <p:pic>
        <p:nvPicPr>
          <p:cNvPr id="17426" name=""/>
          <p:cNvPicPr>
            <a:picLocks xmlns:a="http://schemas.openxmlformats.org/drawingml/2006/main" noChangeAspect="1"/>
          </p:cNvPicPr>
          <p:nvPr/>
        </p:nvPicPr>
        <p:blipFill>
          <a:blip xmlns:r="http://schemas.openxmlformats.org/officeDocument/2006/relationships" xmlns:a="http://schemas.openxmlformats.org/drawingml/2006/main" r:embed="Rbc21bcd019fd4469"/>
          <a:srcRect xmlns:a="http://schemas.openxmlformats.org/drawingml/2006/main" l="0" t="19216" r="0" b="19216"/>
          <a:stretch xmlns:a="http://schemas.openxmlformats.org/drawingml/2006/main">
            <a:fillRect l="0" t="0" r="0" b="0"/>
          </a:stretch>
        </p:blipFill>
        <p:spPr>
          <a:xfrm xmlns:a="http://schemas.openxmlformats.org/drawingml/2006/main">
            <a:off x="523875" y="3590925"/>
            <a:ext cx="11144250" cy="2305050"/>
          </a:xfrm>
          <a:prstGeom xmlns:a="http://schemas.openxmlformats.org/drawingml/2006/main" prst="rect">
            <a:avLst/>
          </a:prstGeom>
        </p:spPr>
      </p:pic>
      <p:sp>
        <p:nvSpPr>
          <p:cNvPr id="17416" name="">
            <a:extLst xmlns:a="http://schemas.openxmlformats.org/drawingml/2006/main">
              <a:ext uri="{FF2B5EF4-FFF2-40B4-BE49-F238E27FC236}">
                <a16:creationId xmlns:a16="http://schemas.microsoft.com/office/drawing/2014/main" id="{99238B87-04D0-43B4-93CB-20A5BD896294}"/>
              </a:ext>
            </a:extLst>
          </p:cNvPr>
          <p:cNvSpPr>
            <a:spLocks xmlns:a="http://schemas.openxmlformats.org/drawingml/2006/main" noGrp="1"/>
          </p:cNvSpPr>
          <p:nvPr/>
        </p:nvSpPr>
        <p:spPr>
          <a:xfrm xmlns:a="http://schemas.openxmlformats.org/drawingml/2006/main">
            <a:off x="619125" y="59531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Planned integration: complaint APIs and NCRP/SAHYOG, subject to approved access.</a:t>
            </a:r>
          </a:p>
        </p:txBody>
      </p:sp>
    </p:spTree>
    <p:extLst>
      <p:ext uri="{BB962C8B-B14F-4D97-AF65-F5344CB8AC3E}">
        <p14:creationId xmlns:p14="http://schemas.microsoft.com/office/powerpoint/2010/main" val="152439797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00681869-118E-4961-AC6F-3D6B70BF5A1E}"/>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3AA91AA4-EE8F-4D74-8055-B8E1EE58361D}"/>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9884830-452D-466B-BED1-5955B93A35A0}"/>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23" name="Picture 10"/>
          <p:cNvPicPr>
            <a:picLocks xmlns:a="http://schemas.openxmlformats.org/drawingml/2006/main" noChangeAspect="1"/>
          </p:cNvPicPr>
          <p:nvPr/>
        </p:nvPicPr>
        <p:blipFill>
          <a:blip xmlns:r="http://schemas.openxmlformats.org/officeDocument/2006/relationships" xmlns:a="http://schemas.openxmlformats.org/drawingml/2006/main" r:embed="Rc213e8ff4f724dc9"/>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7FC33A85-1550-4430-9298-8A335DD17B2E}"/>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Analysis of the feasibility of the idea</a:t>
            </a:r>
          </a:p>
        </p:txBody>
      </p:sp>
      <p:sp>
        <p:nvSpPr>
          <p:cNvPr id="17413" name="">
            <a:extLst xmlns:a="http://schemas.openxmlformats.org/drawingml/2006/main">
              <a:ext uri="{FF2B5EF4-FFF2-40B4-BE49-F238E27FC236}">
                <a16:creationId xmlns:a16="http://schemas.microsoft.com/office/drawing/2014/main" id="{FAC50859-55F9-4185-8B1B-9AAFC18BC09D}"/>
              </a:ext>
            </a:extLst>
          </p:cNvPr>
          <p:cNvSpPr>
            <a:spLocks xmlns:a="http://schemas.openxmlformats.org/drawingml/2006/main" noGrp="1"/>
          </p:cNvSpPr>
          <p:nvPr/>
        </p:nvSpPr>
        <p:spPr>
          <a:xfrm xmlns:a="http://schemas.openxmlformats.org/drawingml/2006/main">
            <a:off x="723900" y="1762125"/>
            <a:ext cx="10801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Prototype foundation: bounded Bitcoin tracing, incoming/outgoing graph views and PDF/CSV export.</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Planned endpoint: multi-hop VASP discovery, monitoring, additional chains and LEA integration.</a:t>
            </a:r>
          </a:p>
        </p:txBody>
      </p:sp>
      <p:sp>
        <p:nvSpPr>
          <p:cNvPr id="17414" name="">
            <a:extLst xmlns:a="http://schemas.openxmlformats.org/drawingml/2006/main">
              <a:ext uri="{FF2B5EF4-FFF2-40B4-BE49-F238E27FC236}">
                <a16:creationId xmlns:a16="http://schemas.microsoft.com/office/drawing/2014/main" id="{B5548112-E3BD-41DF-A7F4-96A70DE3049E}"/>
              </a:ext>
            </a:extLst>
          </p:cNvPr>
          <p:cNvSpPr>
            <a:spLocks xmlns:a="http://schemas.openxmlformats.org/drawingml/2006/main" noGrp="1"/>
          </p:cNvSpPr>
          <p:nvPr/>
        </p:nvSpPr>
        <p:spPr>
          <a:xfrm xmlns:a="http://schemas.openxmlformats.org/drawingml/2006/main">
            <a:off x="609600" y="3009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challenges and risks</a:t>
            </a:r>
          </a:p>
        </p:txBody>
      </p:sp>
      <p:sp>
        <p:nvSpPr>
          <p:cNvPr id="17415" name="">
            <a:extLst xmlns:a="http://schemas.openxmlformats.org/drawingml/2006/main">
              <a:ext uri="{FF2B5EF4-FFF2-40B4-BE49-F238E27FC236}">
                <a16:creationId xmlns:a16="http://schemas.microsoft.com/office/drawing/2014/main" id="{52B734B0-3234-4EF8-BB3A-DC3BC1723F84}"/>
              </a:ext>
            </a:extLst>
          </p:cNvPr>
          <p:cNvSpPr>
            <a:spLocks xmlns:a="http://schemas.openxmlformats.org/drawingml/2006/main" noGrp="1"/>
          </p:cNvSpPr>
          <p:nvPr/>
        </p:nvSpPr>
        <p:spPr>
          <a:xfrm xmlns:a="http://schemas.openxmlformats.org/drawingml/2006/main">
            <a:off x="723900" y="3419475"/>
            <a:ext cx="10801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Rate limits and large histories; incomplete or outdated exchange-address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Mixing activity and ambiguous ownership; unsupported bridges and restricted integration access.</a:t>
            </a:r>
          </a:p>
        </p:txBody>
      </p:sp>
      <p:sp>
        <p:nvSpPr>
          <p:cNvPr id="17416" name="">
            <a:extLst xmlns:a="http://schemas.openxmlformats.org/drawingml/2006/main">
              <a:ext uri="{FF2B5EF4-FFF2-40B4-BE49-F238E27FC236}">
                <a16:creationId xmlns:a16="http://schemas.microsoft.com/office/drawing/2014/main" id="{640C02C7-4510-4E46-8B35-6EEC60C4F176}"/>
              </a:ext>
            </a:extLst>
          </p:cNvPr>
          <p:cNvSpPr>
            <a:spLocks xmlns:a="http://schemas.openxmlformats.org/drawingml/2006/main" noGrp="1"/>
          </p:cNvSpPr>
          <p:nvPr/>
        </p:nvSpPr>
        <p:spPr>
          <a:xfrm xmlns:a="http://schemas.openxmlformats.org/drawingml/2006/main">
            <a:off x="609600" y="4600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Strategies for overcoming these challenges</a:t>
            </a:r>
          </a:p>
        </p:txBody>
      </p:sp>
      <p:sp>
        <p:nvSpPr>
          <p:cNvPr id="17417" name="">
            <a:extLst xmlns:a="http://schemas.openxmlformats.org/drawingml/2006/main">
              <a:ext uri="{FF2B5EF4-FFF2-40B4-BE49-F238E27FC236}">
                <a16:creationId xmlns:a16="http://schemas.microsoft.com/office/drawing/2014/main" id="{6351DB83-103F-4C7C-80C0-B063C3BCE121}"/>
              </a:ext>
            </a:extLst>
          </p:cNvPr>
          <p:cNvSpPr>
            <a:spLocks xmlns:a="http://schemas.openxmlformats.org/drawingml/2006/main" noGrp="1"/>
          </p:cNvSpPr>
          <p:nvPr/>
        </p:nvSpPr>
        <p:spPr>
          <a:xfrm xmlns:a="http://schemas.openxmlformats.org/drawingml/2006/main">
            <a:off x="723900" y="5010150"/>
            <a:ext cx="108013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Use indexing, caching and bounded traversal; retain label sources and mark tracing gaps.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Validate precision, coverage, false positives and latency before expanding the deployment.</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7371E8B5-D52F-4954-AA7C-65572B3AD073}"/>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064076E1-6CCA-4B90-8769-DBAD8B780954}"/>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348AF7A-0012-4CB5-93F0-60833187C76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22" name="Picture 10"/>
          <p:cNvPicPr>
            <a:picLocks xmlns:a="http://schemas.openxmlformats.org/drawingml/2006/main" noChangeAspect="1"/>
          </p:cNvPicPr>
          <p:nvPr/>
        </p:nvPicPr>
        <p:blipFill>
          <a:blip xmlns:r="http://schemas.openxmlformats.org/officeDocument/2006/relationships" xmlns:a="http://schemas.openxmlformats.org/drawingml/2006/main" r:embed="R9f4d7f0d2bd241be"/>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EF55CF65-6F08-4B2E-ADB9-BA699DE6407F}"/>
              </a:ext>
            </a:extLst>
          </p:cNvPr>
          <p:cNvSpPr>
            <a:spLocks xmlns:a="http://schemas.openxmlformats.org/drawingml/2006/main" noGrp="1"/>
          </p:cNvSpPr>
          <p:nvPr/>
        </p:nvSpPr>
        <p:spPr>
          <a:xfrm xmlns:a="http://schemas.openxmlformats.org/drawingml/2006/main">
            <a:off x="609600" y="1400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impact on the target audience</a:t>
            </a:r>
          </a:p>
        </p:txBody>
      </p:sp>
      <p:sp>
        <p:nvSpPr>
          <p:cNvPr id="17413" name="">
            <a:extLst xmlns:a="http://schemas.openxmlformats.org/drawingml/2006/main">
              <a:ext uri="{FF2B5EF4-FFF2-40B4-BE49-F238E27FC236}">
                <a16:creationId xmlns:a16="http://schemas.microsoft.com/office/drawing/2014/main" id="{1A2D722C-2BE5-4491-A989-9E1801638E72}"/>
              </a:ext>
            </a:extLst>
          </p:cNvPr>
          <p:cNvSpPr>
            <a:spLocks xmlns:a="http://schemas.openxmlformats.org/drawingml/2006/main" noGrp="1"/>
          </p:cNvSpPr>
          <p:nvPr/>
        </p:nvSpPr>
        <p:spPr>
          <a:xfrm xmlns:a="http://schemas.openxmlformats.org/drawingml/2006/main">
            <a:off x="723900" y="1876425"/>
            <a:ext cx="108013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Cybercrime investigators: prioritize cases with identifiable receiving VASPs and track new movement.</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Investigators and prosecutors: review transaction paths, attribution sources and analysis records.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Financial intelligence units: triage activity using explainable patterns and evidence-linked indicators.</a:t>
            </a:r>
          </a:p>
        </p:txBody>
      </p:sp>
      <p:sp>
        <p:nvSpPr>
          <p:cNvPr id="17414" name="">
            <a:extLst xmlns:a="http://schemas.openxmlformats.org/drawingml/2006/main">
              <a:ext uri="{FF2B5EF4-FFF2-40B4-BE49-F238E27FC236}">
                <a16:creationId xmlns:a16="http://schemas.microsoft.com/office/drawing/2014/main" id="{23C8C84C-C7EF-4CE6-ACF0-627DB622152A}"/>
              </a:ext>
            </a:extLst>
          </p:cNvPr>
          <p:cNvSpPr>
            <a:spLocks xmlns:a="http://schemas.openxmlformats.org/drawingml/2006/main" noGrp="1"/>
          </p:cNvSpPr>
          <p:nvPr/>
        </p:nvSpPr>
        <p:spPr>
          <a:xfrm xmlns:a="http://schemas.openxmlformats.org/drawingml/2006/main">
            <a:off x="609600" y="3886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Benefits of the solution (social, economic, environmental, etc.)</a:t>
            </a:r>
          </a:p>
        </p:txBody>
      </p:sp>
      <p:sp>
        <p:nvSpPr>
          <p:cNvPr id="17415" name="">
            <a:extLst xmlns:a="http://schemas.openxmlformats.org/drawingml/2006/main">
              <a:ext uri="{FF2B5EF4-FFF2-40B4-BE49-F238E27FC236}">
                <a16:creationId xmlns:a16="http://schemas.microsoft.com/office/drawing/2014/main" id="{EE80DC97-C0C0-4537-980A-614959555F5F}"/>
              </a:ext>
            </a:extLst>
          </p:cNvPr>
          <p:cNvSpPr>
            <a:spLocks xmlns:a="http://schemas.openxmlformats.org/drawingml/2006/main" noGrp="1"/>
          </p:cNvSpPr>
          <p:nvPr/>
        </p:nvSpPr>
        <p:spPr>
          <a:xfrm xmlns:a="http://schemas.openxmlformats.org/drawingml/2006/main">
            <a:off x="723900" y="4324350"/>
            <a:ext cx="108013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Social: support faster preservation and freezing requests through investigator-reviewed findings.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Economic: reduce repetitive tracing effort with open-source components and shared infrastructure.</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Operational: standardize evidence reports and improve coordination with identified VASPs.</a:t>
            </a:r>
          </a:p>
        </p:txBody>
      </p:sp>
      <p:sp>
        <p:nvSpPr>
          <p:cNvPr id="17416" name="">
            <a:extLst xmlns:a="http://schemas.openxmlformats.org/drawingml/2006/main">
              <a:ext uri="{FF2B5EF4-FFF2-40B4-BE49-F238E27FC236}">
                <a16:creationId xmlns:a16="http://schemas.microsoft.com/office/drawing/2014/main" id="{73D4BE75-1DF1-44B2-B1E8-2A7C35627D6F}"/>
              </a:ext>
            </a:extLst>
          </p:cNvPr>
          <p:cNvSpPr>
            <a:spLocks xmlns:a="http://schemas.openxmlformats.org/drawingml/2006/main" noGrp="1"/>
          </p:cNvSpPr>
          <p:nvPr/>
        </p:nvSpPr>
        <p:spPr>
          <a:xfrm xmlns:a="http://schemas.openxmlformats.org/drawingml/2006/main">
            <a:off x="723900" y="6019800"/>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F497D"/>
                </a:solidFill>
                <a:latin typeface="Arial"/>
                <a:ea typeface="Arial"/>
                <a:cs typeface="Arial"/>
              </a:defRPr>
            </a:pPr>
            <a:r>
              <a:rPr sz="1500" b="0">
                <a:solidFill>
                  <a:srgbClr val="1F497D"/>
                </a:solidFill>
                <a:latin typeface="Arial"/>
                <a:ea typeface="Arial"/>
                <a:cs typeface="Arial"/>
              </a:rPr>
              <a:t>Expected benefits to be measured in pilots; fund recovery and attribution are not guaranteed.</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289A31B2-468D-4B18-80F0-E799EA3A0AB0}"/>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2F99BF2B-C8C6-4045-8C52-41BB9E5DD36B}"/>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8FC7D290-A0C3-4109-B69B-E867532525F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36" name="Picture 11"/>
          <p:cNvPicPr>
            <a:picLocks xmlns:a="http://schemas.openxmlformats.org/drawingml/2006/main" noChangeAspect="1"/>
          </p:cNvPicPr>
          <p:nvPr/>
        </p:nvPicPr>
        <p:blipFill>
          <a:blip xmlns:r="http://schemas.openxmlformats.org/officeDocument/2006/relationships" xmlns:a="http://schemas.openxmlformats.org/drawingml/2006/main" r:embed="R0fb1da0e728b4e5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FD0DF6C1-C64A-47A5-9848-A47FA19AFC86}"/>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C5823A67-9EA7-46C7-A445-77DCAFABDA5D}"/>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A7C62950-A7EA-478B-87C1-8D0149CC62A9}"/>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E864D5B7-80A2-491A-874E-376F2E3447CC}"/>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92b637d2b9c04247"/>
              </a:rPr>
              <a:t>ACM IMC paper</a:t>
            </a:r>
          </a:p>
        </p:txBody>
      </p:sp>
      <p:sp>
        <p:nvSpPr>
          <p:cNvPr id="17416" name="">
            <a:extLst xmlns:a="http://schemas.openxmlformats.org/drawingml/2006/main">
              <a:ext uri="{FF2B5EF4-FFF2-40B4-BE49-F238E27FC236}">
                <a16:creationId xmlns:a16="http://schemas.microsoft.com/office/drawing/2014/main" id="{2C660BE5-2080-4F47-9150-C05650170966}"/>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01C9F7C5-7EFE-43AE-A023-190288FA6973}"/>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5147E972-21BD-4E47-864A-01A682CAE984}"/>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6a05f93400fd49ce"/>
              </a:rPr>
              <a:t>arXiv:1908.02591</a:t>
            </a:r>
          </a:p>
        </p:txBody>
      </p:sp>
      <p:sp>
        <p:nvSpPr>
          <p:cNvPr id="17419" name="">
            <a:extLst xmlns:a="http://schemas.openxmlformats.org/drawingml/2006/main">
              <a:ext uri="{FF2B5EF4-FFF2-40B4-BE49-F238E27FC236}">
                <a16:creationId xmlns:a16="http://schemas.microsoft.com/office/drawing/2014/main" id="{EF1280A0-E268-4011-9C2E-E34D68AA6A9A}"/>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B9377420-CF59-437B-B66E-A33845E54DF6}"/>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F0024626-7E7D-4FE0-8946-57427556A105}"/>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8df4c77b3c9942c7"/>
              </a:rPr>
              <a:t>Official API documentation</a:t>
            </a:r>
          </a:p>
        </p:txBody>
      </p:sp>
      <p:sp>
        <p:nvSpPr>
          <p:cNvPr id="17422" name="">
            <a:extLst xmlns:a="http://schemas.openxmlformats.org/drawingml/2006/main">
              <a:ext uri="{FF2B5EF4-FFF2-40B4-BE49-F238E27FC236}">
                <a16:creationId xmlns:a16="http://schemas.microsoft.com/office/drawing/2014/main" id="{2C376228-3157-45B8-BF38-4E2240A34D9E}"/>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55E0CB7B-4995-4059-B08A-22493203A8B3}"/>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953DA97D-0C1D-4D4E-A610-A29F1C7914F9}"/>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d648721fa2e64ec5"/>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FB0C3C70-8774-4695-AC1C-277A6C98B85D}"/>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21B8CE8F-C984-424A-96C3-64B7D3425D59}"/>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F1147BD4-ECED-434B-9D04-5398E44AA781}"/>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903e1644c0724696"/>
              </a:rPr>
              <a:t>FATF guidance</a:t>
            </a:r>
          </a:p>
        </p:txBody>
      </p:sp>
      <p:sp>
        <p:nvSpPr>
          <p:cNvPr id="17428" name="">
            <a:extLst xmlns:a="http://schemas.openxmlformats.org/drawingml/2006/main">
              <a:ext uri="{FF2B5EF4-FFF2-40B4-BE49-F238E27FC236}">
                <a16:creationId xmlns:a16="http://schemas.microsoft.com/office/drawing/2014/main" id="{1BFB3122-89DE-4AF2-8F3E-0A9A951D28D1}"/>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22ECC5C6-F101-42C6-80E9-6E071A04CB4D}"/>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F21ADF7E-875A-4068-B3BC-2D6EFFFE35F6}"/>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334b123cd6314ed7"/>
              </a:rPr>
              <a:t>NIST guidance; not a guarantee of legal admissibility</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2026-09-10T17:32:31.0110000Z</dcterms:created>
  <dcterms:modified xsi:type="dcterms:W3CDTF">2026-09-10T17:32:31.0110000Z</dcterms:modified>
</coreProperties>
</file>