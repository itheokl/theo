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434c9b56a624156" /><Relationship Type="http://schemas.openxmlformats.org/officeDocument/2006/relationships/extended-properties" Target="/docProps/app.xml" Id="Rd82a6f97c8a64605" /><Relationship Type="http://schemas.openxmlformats.org/officeDocument/2006/relationships/officeDocument" Target="/ppt/presentation.xml" Id="R292d76311b764913" /></Relationships>
</file>

<file path=ppt/presentation.xml><?xml version="1.0" encoding="utf-8"?>
<p:presentation xmlns:p="http://schemas.openxmlformats.org/presentationml/2006/main">
  <p:sldMasterIdLst>
    <p:sldMasterId xmlns:r="http://schemas.openxmlformats.org/officeDocument/2006/relationships" id="2147483648" r:id="Rca3cc696c73c4fb8"/>
  </p:sldMasterIdLst>
  <p:notesMasterIdLst>
    <p:notesMasterId xmlns:r="http://schemas.openxmlformats.org/officeDocument/2006/relationships" r:id="Ra383e6583e81410a"/>
  </p:notesMasterIdLst>
  <p:sldIdLst>
    <p:sldId xmlns:r="http://schemas.openxmlformats.org/officeDocument/2006/relationships" id="256" r:id="R6de15c46372c4066"/>
    <p:sldId xmlns:r="http://schemas.openxmlformats.org/officeDocument/2006/relationships" id="257" r:id="R171bfba6d38c4d71"/>
    <p:sldId xmlns:r="http://schemas.openxmlformats.org/officeDocument/2006/relationships" id="258" r:id="R44781bdfe327484e"/>
    <p:sldId xmlns:r="http://schemas.openxmlformats.org/officeDocument/2006/relationships" id="259" r:id="Re708271037534673"/>
    <p:sldId xmlns:r="http://schemas.openxmlformats.org/officeDocument/2006/relationships" id="260" r:id="R32473d3dffae47c6"/>
    <p:sldId xmlns:r="http://schemas.openxmlformats.org/officeDocument/2006/relationships" id="261" r:id="R21c865c8398c473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abc7a6300bfe4588" /><Relationship Type="http://schemas.openxmlformats.org/officeDocument/2006/relationships/slideMaster" Target="/ppt/slideMasters/slideMaster1.xml" Id="Rca3cc696c73c4fb8" /><Relationship Type="http://schemas.openxmlformats.org/officeDocument/2006/relationships/notesMaster" Target="/ppt/notesMasters/notesMaster1.xml" Id="Ra383e6583e81410a" /><Relationship Type="http://schemas.openxmlformats.org/officeDocument/2006/relationships/presProps" Target="/ppt/presProps.xml" Id="R8a528c0de5774d39" /><Relationship Type="http://schemas.openxmlformats.org/officeDocument/2006/relationships/viewProps" Target="/ppt/viewProps.xml" Id="R60cde6fee89e40a6" /><Relationship Type="http://schemas.openxmlformats.org/officeDocument/2006/relationships/tableStyles" Target="/ppt/tableStyles.xml" Id="Rc8b0dfea60004a8a" /><Relationship Type="http://schemas.openxmlformats.org/officeDocument/2006/relationships/slide" Target="/ppt/slides/slide1.xml" Id="R6de15c46372c4066" /><Relationship Type="http://schemas.openxmlformats.org/officeDocument/2006/relationships/slide" Target="/ppt/slides/slide2.xml" Id="R171bfba6d38c4d71" /><Relationship Type="http://schemas.openxmlformats.org/officeDocument/2006/relationships/slide" Target="/ppt/slides/slide3.xml" Id="R44781bdfe327484e" /><Relationship Type="http://schemas.openxmlformats.org/officeDocument/2006/relationships/slide" Target="/ppt/slides/slide4.xml" Id="Re708271037534673" /><Relationship Type="http://schemas.openxmlformats.org/officeDocument/2006/relationships/slide" Target="/ppt/slides/slide5.xml" Id="R32473d3dffae47c6" /><Relationship Type="http://schemas.openxmlformats.org/officeDocument/2006/relationships/slide" Target="/ppt/slides/slide6.xml" Id="R21c865c8398c473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1478f8e6f094e5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c3210769d3c48ac" /><Relationship Type="http://schemas.openxmlformats.org/officeDocument/2006/relationships/notesMaster" Target="/ppt/notesMasters/notesMaster1.xml" Id="Rb1d896fb0c904c88" /></Relationships>
</file>

<file path=ppt/notesSlides/_rels/notesSlide2.xml.rels>&#65279;<?xml version="1.0" encoding="utf-8"?><Relationships xmlns="http://schemas.openxmlformats.org/package/2006/relationships"><Relationship Type="http://schemas.openxmlformats.org/officeDocument/2006/relationships/slide" Target="/ppt/slides/slide2.xml" Id="R7939a5e79f6d4681" /><Relationship Type="http://schemas.openxmlformats.org/officeDocument/2006/relationships/notesMaster" Target="/ppt/notesMasters/notesMaster1.xml" Id="R54b3b5a848214490" /></Relationships>
</file>

<file path=ppt/notesSlides/_rels/notesSlide3.xml.rels>&#65279;<?xml version="1.0" encoding="utf-8"?><Relationships xmlns="http://schemas.openxmlformats.org/package/2006/relationships"><Relationship Type="http://schemas.openxmlformats.org/officeDocument/2006/relationships/slide" Target="/ppt/slides/slide3.xml" Id="R54e7679af6114cd5" /><Relationship Type="http://schemas.openxmlformats.org/officeDocument/2006/relationships/notesMaster" Target="/ppt/notesMasters/notesMaster1.xml" Id="Rdf6e0c665ba644b1" /></Relationships>
</file>

<file path=ppt/notesSlides/_rels/notesSlide4.xml.rels>&#65279;<?xml version="1.0" encoding="utf-8"?><Relationships xmlns="http://schemas.openxmlformats.org/package/2006/relationships"><Relationship Type="http://schemas.openxmlformats.org/officeDocument/2006/relationships/slide" Target="/ppt/slides/slide4.xml" Id="R2e1d5361b4fa40db" /><Relationship Type="http://schemas.openxmlformats.org/officeDocument/2006/relationships/notesMaster" Target="/ppt/notesMasters/notesMaster1.xml" Id="Rd426d9f53b7a458c" /></Relationships>
</file>

<file path=ppt/notesSlides/_rels/notesSlide5.xml.rels>&#65279;<?xml version="1.0" encoding="utf-8"?><Relationships xmlns="http://schemas.openxmlformats.org/package/2006/relationships"><Relationship Type="http://schemas.openxmlformats.org/officeDocument/2006/relationships/slide" Target="/ppt/slides/slide5.xml" Id="R1875926f543448d9" /><Relationship Type="http://schemas.openxmlformats.org/officeDocument/2006/relationships/notesMaster" Target="/ppt/notesMasters/notesMaster1.xml" Id="R39074097585a47b4" /></Relationships>
</file>

<file path=ppt/notesSlides/_rels/notesSlide6.xml.rels>&#65279;<?xml version="1.0" encoding="utf-8"?><Relationships xmlns="http://schemas.openxmlformats.org/package/2006/relationships"><Relationship Type="http://schemas.openxmlformats.org/officeDocument/2006/relationships/slide" Target="/ppt/slides/slide6.xml" Id="R710474488b804ec1" /><Relationship Type="http://schemas.openxmlformats.org/officeDocument/2006/relationships/notesMaster" Target="/ppt/notesMasters/notesMaster1.xml" Id="R96063b4e3d374ca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 ID is intentionally left for the team to complete before submission. Problem statement title supplied by the user.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Proposed end product, not achieved performance. A supported receiving VASP is a candidate backed by address-label evidence along a time-consistent outgoing path. A label is not proof of customer identity or complicity. The package contains transaction IDs, amounts, timestamps, label provenance, confidence rationale, uncertainty and recommended investigator review. Real-time monitoring depends on provider/index updates. Requests remain subject to authorized investigator action and applicable procedures.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Proposed architecture. Bitcoin tracing follows UTXO spend relationships, while EVM/TRON adapters follow transfer events. Transactions involving multiple inputs/outputs require explicit allocation assumptions: a graph path alone does not prove exact victim-fund continuity. Bridge correlation requires supported event identifiers and mappings. Collaborative transactions and mixing can invalidate naive clustering. Source labels and heuristic expansions must remain distinct. Candidate ranking should explain evidence strength rather than invent calibrated probabilities. AI/ML is planned and requires evaluation before operational use. NCRP/SAHYOG integration depends on approved interfaces and authorization. Method references: Meiklejohn et al. https://conferences.sigcomm.org/imc/2013/papers/imc182-meiklejohnA.pdf ; Weber et al. https://arxiv.org/abs/1908.02591 ; Esplora https://github.com/Blockstream/esplora/blob/master/API.md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Proposed phased delivery, not a statement of current maturity. Data supply is a dependency: public disclosures alone are not a comprehensive exchange-deposit registry. Authorized partner data may require agreements and licensing. Held-out evaluation should prevent overlap with registry construction and include withdrawals, change outputs, collaborative transactions and unlabelled addresses as hard cases. Measure attribution precision, coverage, false positives and p95 alert latency under declared load. Agency deployment needs privacy controls, encrypted storage/transport, retention policy, audit review and approved integration access. Source: Binance historical disclosure https://www.binance.com/en-IN/blog/community/2895840147147652626 ; NIST SP 800-86 https://csrc.nist.gov/pubs/sp/800/86/final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Fictional proposed-use illustration only, not evidence from a demonstrated fraud case. Wallet A transfers to B, which later transfers to an address sourced to hypothetical VASP X. Solid arrows denote the illustrated transactions, and the dashed arrow denotes attribution rather than another transfer. Exact victim-fund attribution may remain uncertain because of mixing, unrelated balances or multi-input/output transactions. The investigator must review allocation assumptions and source reliability. The platform supports coordination and preservation requests but cannot independently freeze funds or guarantee recovery. Expected benefits must be evaluated during pilots.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Meiklejohn et al. (2013), A Fistful of Bitcoins: Characterizing Payments Among Men with No Names.</a:t>
            </a:r>
            <a:endParaRPr/>
          </a:p>
          <a:p xmlns:a="http://schemas.openxmlformats.org/drawingml/2006/main">
            <a:pPr>
              <a:spcBef>
                <a:spcPct val="0"/>
              </a:spcBef>
              <a:buNone/>
            </a:pPr>
            <a:r>
              <a:t>https://conferences.sigcomm.org/imc/2013/papers/imc182-meiklejohnA.pdf</a:t>
            </a:r>
            <a:endParaRPr/>
          </a:p>
          <a:p xmlns:a="http://schemas.openxmlformats.org/drawingml/2006/main">
            <a:pPr>
              <a:spcBef>
                <a:spcPct val="0"/>
              </a:spcBef>
              <a:buNone/>
            </a:pPr>
            <a:r>
              <a:t/>
            </a:r>
            <a:endParaRPr/>
          </a:p>
          <a:p xmlns:a="http://schemas.openxmlformats.org/drawingml/2006/main">
            <a:pPr>
              <a:spcBef>
                <a:spcPct val="0"/>
              </a:spcBef>
              <a:buNone/>
            </a:pPr>
            <a:r>
              <a:t>Weber et al. (2019), Anti-Money Laundering in Bitcoin: Experimenting with Graph Convolutional Networks for Financial Forensics.</a:t>
            </a:r>
            <a:endParaRPr/>
          </a:p>
          <a:p xmlns:a="http://schemas.openxmlformats.org/drawingml/2006/main">
            <a:pPr>
              <a:spcBef>
                <a:spcPct val="0"/>
              </a:spcBef>
              <a:buNone/>
            </a:pPr>
            <a:r>
              <a:t>https://arxiv.org/abs/1908.02591</a:t>
            </a:r>
            <a:endParaRPr/>
          </a:p>
          <a:p xmlns:a="http://schemas.openxmlformats.org/drawingml/2006/main">
            <a:pPr>
              <a:spcBef>
                <a:spcPct val="0"/>
              </a:spcBef>
              <a:buNone/>
            </a:pPr>
            <a:r>
              <a:t/>
            </a:r>
            <a:endParaRPr/>
          </a:p>
          <a:p xmlns:a="http://schemas.openxmlformats.org/drawingml/2006/main">
            <a:pPr>
              <a:spcBef>
                <a:spcPct val="0"/>
              </a:spcBef>
              <a:buNone/>
            </a:pPr>
            <a:r>
              <a:t>Blockstream Esplora: address and transaction API documentation.</a:t>
            </a:r>
            <a:endParaRPr/>
          </a:p>
          <a:p xmlns:a="http://schemas.openxmlformats.org/drawingml/2006/main">
            <a:pPr>
              <a:spcBef>
                <a:spcPct val="0"/>
              </a:spcBef>
              <a:buNone/>
            </a:pPr>
            <a:r>
              <a:t>https://github.com/Blockstream/esplora/blob/master/API.md</a:t>
            </a:r>
            <a:endParaRPr/>
          </a:p>
          <a:p xmlns:a="http://schemas.openxmlformats.org/drawingml/2006/main">
            <a:pPr>
              <a:spcBef>
                <a:spcPct val="0"/>
              </a:spcBef>
              <a:buNone/>
            </a:pPr>
            <a:r>
              <a:t/>
            </a:r>
            <a:endParaRPr/>
          </a:p>
          <a:p xmlns:a="http://schemas.openxmlformats.org/drawingml/2006/main">
            <a:pPr>
              <a:spcBef>
                <a:spcPct val="0"/>
              </a:spcBef>
              <a:buNone/>
            </a:pPr>
            <a:r>
              <a:t>Binance, Our Commitment to Transparency (2022): published wallet disclosures.</a:t>
            </a:r>
            <a:endParaRPr/>
          </a:p>
          <a:p xmlns:a="http://schemas.openxmlformats.org/drawingml/2006/main">
            <a:pPr>
              <a:spcBef>
                <a:spcPct val="0"/>
              </a:spcBef>
              <a:buNone/>
            </a:pPr>
            <a:r>
              <a:t>https://www.binance.com/en-IN/blog/community/2895840147147652626</a:t>
            </a:r>
            <a:endParaRPr/>
          </a:p>
          <a:p xmlns:a="http://schemas.openxmlformats.org/drawingml/2006/main">
            <a:pPr>
              <a:spcBef>
                <a:spcPct val="0"/>
              </a:spcBef>
              <a:buNone/>
            </a:pPr>
            <a:r>
              <a:t/>
            </a:r>
            <a:endParaRPr/>
          </a:p>
          <a:p xmlns:a="http://schemas.openxmlformats.org/drawingml/2006/main">
            <a:pPr>
              <a:spcBef>
                <a:spcPct val="0"/>
              </a:spcBef>
              <a:buNone/>
            </a:pPr>
            <a:r>
              <a:t>FATF (2021), Updated Guidance for a Risk-Based Approach to Virtual Assets and VASPs.</a:t>
            </a:r>
            <a:endParaRPr/>
          </a:p>
          <a:p xmlns:a="http://schemas.openxmlformats.org/drawingml/2006/main">
            <a:pPr>
              <a:spcBef>
                <a:spcPct val="0"/>
              </a:spcBef>
              <a:buNone/>
            </a:pPr>
            <a:r>
              <a:t>https://www.fatf-gafi.org/en/publications/Fatfrecommendations/Guidance-rba-virtual-assets-2021.html</a:t>
            </a:r>
            <a:endParaRPr/>
          </a:p>
          <a:p xmlns:a="http://schemas.openxmlformats.org/drawingml/2006/main">
            <a:pPr>
              <a:spcBef>
                <a:spcPct val="0"/>
              </a:spcBef>
              <a:buNone/>
            </a:pPr>
            <a:r>
              <a:t/>
            </a:r>
            <a:endParaRPr/>
          </a:p>
          <a:p xmlns:a="http://schemas.openxmlformats.org/drawingml/2006/main">
            <a:pPr>
              <a:spcBef>
                <a:spcPct val="0"/>
              </a:spcBef>
              <a:buNone/>
            </a:pPr>
            <a:r>
              <a:t>NIST SP 800-86 (2006), Guide to Integrating Forensic Techniques into Incident Response.</a:t>
            </a:r>
            <a:endParaRPr/>
          </a:p>
          <a:p xmlns:a="http://schemas.openxmlformats.org/drawingml/2006/main">
            <a:pPr>
              <a:spcBef>
                <a:spcPct val="0"/>
              </a:spcBef>
              <a:buNone/>
            </a:pPr>
            <a:r>
              <a:t>https://csrc.nist.gov/pubs/sp/800/86/final</a:t>
            </a:r>
            <a:endParaRPr/>
          </a:p>
          <a:p xmlns:a="http://schemas.openxmlformats.org/drawingml/2006/main">
            <a:pPr>
              <a:spcBef>
                <a:spcPct val="0"/>
              </a:spcBef>
              <a:buNone/>
            </a:pPr>
            <a:r>
              <a:t/>
            </a:r>
            <a:endParaRPr/>
          </a:p>
          <a:p xmlns:a="http://schemas.openxmlformats.org/drawingml/2006/main">
            <a:pPr>
              <a:spcBef>
                <a:spcPct val="0"/>
              </a:spcBef>
              <a:buNone/>
            </a:pPr>
            <a:r>
              <a:t>Sources checked 10 September 2026. Research supports proposed methods, not product accuracy claims. Historical reserve disclosures do not establish customer deposit-account ownership.</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928cf74f2d8468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7b5373863d64c0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3264c496a51459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dd3d18f461b42e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bbd2fa3e0ee499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6ece2255e1945bd"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70f219cae0294f19"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781b2a0121bb4e87"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6c1989f955ca4bbd"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fe6fb50708734cf6"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1221a1de93884798"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EF767A7-A571-4E2D-A15E-ECB7D2D49D70}"/>
              </a:ext>
            </a:extLst>
          </p:cNvPr>
          <p:cNvSpPr>
            <a:spLocks xmlns:a="http://schemas.openxmlformats.org/drawingml/2006/main" noGrp="1"/>
          </p:cNvSpPr>
          <p:nvPr>
            <p:ph type="ctrTitle" idx="0"/>
          </p:nvPr>
        </p:nvSpPr>
        <p:spPr>
          <a:xfrm xmlns:a="http://schemas.openxmlformats.org/drawingml/2006/main">
            <a:off x="914400" y="2130428"/>
            <a:ext cx="10363200" cy="147002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AA07DF1A-EBDB-416B-89CF-0D4C2612386E}"/>
              </a:ext>
            </a:extLst>
          </p:cNvPr>
          <p:cNvSpPr>
            <a:spLocks xmlns:a="http://schemas.openxmlformats.org/drawingml/2006/main" noGrp="1"/>
          </p:cNvSpPr>
          <p:nvPr>
            <p:ph type="subTitle" idx="1"/>
          </p:nvPr>
        </p:nvSpPr>
        <p:spPr>
          <a:xfrm xmlns:a="http://schemas.openxmlformats.org/drawingml/2006/main">
            <a:off x="1828800" y="3886200"/>
            <a:ext cx="85344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881BBBC1-D54E-49C1-8EBA-3F2424DB15D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E60792E3-D524-454C-8AFD-A91972900BCB}" type="datetime1">
              <a:t>6/2/2026</a:t>
            </a:fld>
            <a:endParaRPr/>
          </a:p>
        </p:txBody>
      </p:sp>
      <p:sp>
        <p:nvSpPr>
          <p:cNvPr id="5" name="Footer Placeholder 4">
            <a:extLst xmlns:a="http://schemas.openxmlformats.org/drawingml/2006/main">
              <a:ext uri="{FF2B5EF4-FFF2-40B4-BE49-F238E27FC236}">
                <a16:creationId xmlns:a16="http://schemas.microsoft.com/office/drawing/2014/main" id="{24D02823-E05A-4E5F-B4FF-4705A3385EF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8646A347-1A17-4A7E-852F-CE5457C206F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5B7E1BAA-A38D-40DE-B22C-DF9BD7D82058}"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292BF4D-D65C-4EC6-860B-70740D1B351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20BA957E-9C8A-4738-BB51-D4BD6B3AE1F5}"/>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F8CDB964-784A-4CF9-B732-B69F8A0E536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708B7524-32A2-4C20-A58C-BC3BAA1042FC}" type="datetime1">
              <a:t>6/2/2026</a:t>
            </a:fld>
            <a:endParaRPr/>
          </a:p>
        </p:txBody>
      </p:sp>
      <p:sp>
        <p:nvSpPr>
          <p:cNvPr id="5" name="Footer Placeholder 4">
            <a:extLst xmlns:a="http://schemas.openxmlformats.org/drawingml/2006/main">
              <a:ext uri="{FF2B5EF4-FFF2-40B4-BE49-F238E27FC236}">
                <a16:creationId xmlns:a16="http://schemas.microsoft.com/office/drawing/2014/main" id="{5BBCDCFF-9082-43EF-B62E-9BEBC3E745E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85A319D4-5B05-4FF7-B803-19D00B4FD12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677C3CE7-23F7-4828-823C-E0205DF2CF97}"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7D8BDCC-F02E-4721-B27C-80E3E95F9D26}"/>
              </a:ext>
            </a:extLst>
          </p:cNvPr>
          <p:cNvSpPr>
            <a:spLocks xmlns:a="http://schemas.openxmlformats.org/drawingml/2006/main" noGrp="1"/>
          </p:cNvSpPr>
          <p:nvPr>
            <p:ph type="title" idx="0"/>
          </p:nvPr>
        </p:nvSpPr>
        <p:spPr>
          <a:xfrm xmlns:a="http://schemas.openxmlformats.org/drawingml/2006/main">
            <a:off x="963084" y="4406903"/>
            <a:ext cx="103632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93471E42-5806-40AD-8072-A38EDBBF88D9}"/>
              </a:ext>
            </a:extLst>
          </p:cNvPr>
          <p:cNvSpPr>
            <a:spLocks xmlns:a="http://schemas.openxmlformats.org/drawingml/2006/main" noGrp="1"/>
          </p:cNvSpPr>
          <p:nvPr>
            <p:ph type="body" idx="1"/>
          </p:nvPr>
        </p:nvSpPr>
        <p:spPr>
          <a:xfrm xmlns:a="http://schemas.openxmlformats.org/drawingml/2006/main">
            <a:off x="963084" y="2906713"/>
            <a:ext cx="103632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3FE3674B-2CBC-48B9-937C-774D30A7BF5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1E994447-D6B2-43BB-A877-57F1A267B999}" type="datetime1">
              <a:t>6/2/2026</a:t>
            </a:fld>
            <a:endParaRPr/>
          </a:p>
        </p:txBody>
      </p:sp>
      <p:sp>
        <p:nvSpPr>
          <p:cNvPr id="5" name="Footer Placeholder 4">
            <a:extLst xmlns:a="http://schemas.openxmlformats.org/drawingml/2006/main">
              <a:ext uri="{FF2B5EF4-FFF2-40B4-BE49-F238E27FC236}">
                <a16:creationId xmlns:a16="http://schemas.microsoft.com/office/drawing/2014/main" id="{A4BC1F53-799F-49D7-8D8E-8CB4D864D45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8CC77AF4-A957-40B7-B9BD-C8FD07861BF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41DB31D2-2A87-4F4C-A9AD-05C6CC2B321D}"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61F0742-2880-4287-A634-A46240A41E7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0D55C406-1C5F-4DB8-AC0F-9F3ECD505BE1}"/>
              </a:ext>
            </a:extLst>
          </p:cNvPr>
          <p:cNvSpPr>
            <a:spLocks xmlns:a="http://schemas.openxmlformats.org/drawingml/2006/main" noGrp="1"/>
          </p:cNvSpPr>
          <p:nvPr>
            <p:ph idx="1"/>
          </p:nvPr>
        </p:nvSpPr>
        <p:spPr>
          <a:xfrm xmlns:a="http://schemas.openxmlformats.org/drawingml/2006/main">
            <a:off x="609600" y="1600203"/>
            <a:ext cx="53848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A928E694-49DB-43D6-A5E3-38BE87250432}"/>
              </a:ext>
            </a:extLst>
          </p:cNvPr>
          <p:cNvSpPr>
            <a:spLocks xmlns:a="http://schemas.openxmlformats.org/drawingml/2006/main" noGrp="1"/>
          </p:cNvSpPr>
          <p:nvPr>
            <p:ph idx="2"/>
          </p:nvPr>
        </p:nvSpPr>
        <p:spPr>
          <a:xfrm xmlns:a="http://schemas.openxmlformats.org/drawingml/2006/main">
            <a:off x="6197600" y="1600203"/>
            <a:ext cx="53848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3">
            <a:extLst xmlns:a="http://schemas.openxmlformats.org/drawingml/2006/main">
              <a:ext uri="{FF2B5EF4-FFF2-40B4-BE49-F238E27FC236}">
                <a16:creationId xmlns:a16="http://schemas.microsoft.com/office/drawing/2014/main" id="{78C747BA-42D3-45ED-B136-B79D3888D3A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68920E16-BD35-483C-AA6B-346FC7E46DEA}" type="datetime1">
              <a:t>6/2/2026</a:t>
            </a:fld>
            <a:endParaRPr/>
          </a:p>
        </p:txBody>
      </p:sp>
      <p:sp>
        <p:nvSpPr>
          <p:cNvPr id="6" name="Footer Placeholder 4">
            <a:extLst xmlns:a="http://schemas.openxmlformats.org/drawingml/2006/main">
              <a:ext uri="{FF2B5EF4-FFF2-40B4-BE49-F238E27FC236}">
                <a16:creationId xmlns:a16="http://schemas.microsoft.com/office/drawing/2014/main" id="{CEA6CD2F-8FDE-4E47-AED1-1A9FDB36688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7" name="Slide Number Placeholder 5">
            <a:extLst xmlns:a="http://schemas.openxmlformats.org/drawingml/2006/main">
              <a:ext uri="{FF2B5EF4-FFF2-40B4-BE49-F238E27FC236}">
                <a16:creationId xmlns:a16="http://schemas.microsoft.com/office/drawing/2014/main" id="{C2D658A5-EA61-4930-9ED2-4F2F7C7B1C2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E1FC16D9-1635-4844-816A-0A8A2160FADA}"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EAF8FB1-9F58-4407-998C-C7EC157BF65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9383BCF6-0966-41A0-B4CE-E7A2C8CA8A66}"/>
              </a:ext>
            </a:extLst>
          </p:cNvPr>
          <p:cNvSpPr>
            <a:spLocks xmlns:a="http://schemas.openxmlformats.org/drawingml/2006/main" noGrp="1"/>
          </p:cNvSpPr>
          <p:nvPr>
            <p:ph type="body" idx="1"/>
          </p:nvPr>
        </p:nvSpPr>
        <p:spPr>
          <a:xfrm xmlns:a="http://schemas.openxmlformats.org/drawingml/2006/main">
            <a:off x="609600" y="1535113"/>
            <a:ext cx="5386917"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38D3516C-3C3F-4D1E-9AC5-51A1E7E48701}"/>
              </a:ext>
            </a:extLst>
          </p:cNvPr>
          <p:cNvSpPr>
            <a:spLocks xmlns:a="http://schemas.openxmlformats.org/drawingml/2006/main" noGrp="1"/>
          </p:cNvSpPr>
          <p:nvPr>
            <p:ph idx="2"/>
          </p:nvPr>
        </p:nvSpPr>
        <p:spPr>
          <a:xfrm xmlns:a="http://schemas.openxmlformats.org/drawingml/2006/main">
            <a:off x="609600" y="2174875"/>
            <a:ext cx="5386917"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F954CFC4-884E-49F1-919C-B96B2BB68EC7}"/>
              </a:ext>
            </a:extLst>
          </p:cNvPr>
          <p:cNvSpPr>
            <a:spLocks xmlns:a="http://schemas.openxmlformats.org/drawingml/2006/main" noGrp="1"/>
          </p:cNvSpPr>
          <p:nvPr>
            <p:ph type="body" idx="3"/>
          </p:nvPr>
        </p:nvSpPr>
        <p:spPr>
          <a:xfrm xmlns:a="http://schemas.openxmlformats.org/drawingml/2006/main">
            <a:off x="6193369" y="1535113"/>
            <a:ext cx="5389033"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E0056341-723D-4E90-AA2A-AFBF08408099}"/>
              </a:ext>
            </a:extLst>
          </p:cNvPr>
          <p:cNvSpPr>
            <a:spLocks xmlns:a="http://schemas.openxmlformats.org/drawingml/2006/main" noGrp="1"/>
          </p:cNvSpPr>
          <p:nvPr>
            <p:ph idx="4"/>
          </p:nvPr>
        </p:nvSpPr>
        <p:spPr>
          <a:xfrm xmlns:a="http://schemas.openxmlformats.org/drawingml/2006/main">
            <a:off x="6193369" y="2174875"/>
            <a:ext cx="5389033"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3">
            <a:extLst xmlns:a="http://schemas.openxmlformats.org/drawingml/2006/main">
              <a:ext uri="{FF2B5EF4-FFF2-40B4-BE49-F238E27FC236}">
                <a16:creationId xmlns:a16="http://schemas.microsoft.com/office/drawing/2014/main" id="{07A221A0-059D-4CD2-9197-BF3FB8424F8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2FEAC6F8-5103-4FC0-A69E-5C6AE6469DA8}" type="datetime1">
              <a:t>6/2/2026</a:t>
            </a:fld>
            <a:endParaRPr/>
          </a:p>
        </p:txBody>
      </p:sp>
      <p:sp>
        <p:nvSpPr>
          <p:cNvPr id="8" name="Footer Placeholder 4">
            <a:extLst xmlns:a="http://schemas.openxmlformats.org/drawingml/2006/main">
              <a:ext uri="{FF2B5EF4-FFF2-40B4-BE49-F238E27FC236}">
                <a16:creationId xmlns:a16="http://schemas.microsoft.com/office/drawing/2014/main" id="{511E1AEA-51DB-4B25-BC0B-699BE9FC5E3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9" name="Slide Number Placeholder 5">
            <a:extLst xmlns:a="http://schemas.openxmlformats.org/drawingml/2006/main">
              <a:ext uri="{FF2B5EF4-FFF2-40B4-BE49-F238E27FC236}">
                <a16:creationId xmlns:a16="http://schemas.microsoft.com/office/drawing/2014/main" id="{C4512172-1927-4F2C-85C5-F04E67265E4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71C4100A-98DE-4944-910A-A93F5CA9F724}"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8247FFF-0339-404D-9F69-FFBA3B4617F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3">
            <a:extLst xmlns:a="http://schemas.openxmlformats.org/drawingml/2006/main">
              <a:ext uri="{FF2B5EF4-FFF2-40B4-BE49-F238E27FC236}">
                <a16:creationId xmlns:a16="http://schemas.microsoft.com/office/drawing/2014/main" id="{6AFA2344-C629-4F31-A70D-717E915D253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C60C6921-0627-4C8F-83D5-0CF936D2FFDD}" type="datetime1">
              <a:t>6/2/2026</a:t>
            </a:fld>
            <a:endParaRPr/>
          </a:p>
        </p:txBody>
      </p:sp>
      <p:sp>
        <p:nvSpPr>
          <p:cNvPr id="4" name="Footer Placeholder 4">
            <a:extLst xmlns:a="http://schemas.openxmlformats.org/drawingml/2006/main">
              <a:ext uri="{FF2B5EF4-FFF2-40B4-BE49-F238E27FC236}">
                <a16:creationId xmlns:a16="http://schemas.microsoft.com/office/drawing/2014/main" id="{5AE9551F-7FE9-4DE6-8272-AF0D3655CEC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5" name="Slide Number Placeholder 5">
            <a:extLst xmlns:a="http://schemas.openxmlformats.org/drawingml/2006/main">
              <a:ext uri="{FF2B5EF4-FFF2-40B4-BE49-F238E27FC236}">
                <a16:creationId xmlns:a16="http://schemas.microsoft.com/office/drawing/2014/main" id="{2CCDA9F1-907D-4152-87E4-14C19FDEB70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6A63342B-5A73-45DC-864D-086DE78037E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3">
            <a:extLst xmlns:a="http://schemas.openxmlformats.org/drawingml/2006/main">
              <a:ext uri="{FF2B5EF4-FFF2-40B4-BE49-F238E27FC236}">
                <a16:creationId xmlns:a16="http://schemas.microsoft.com/office/drawing/2014/main" id="{6DC9845A-323D-41AC-9DBA-0B9F4B8CDE8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2FF08AD7-8103-40F8-983C-E2BA6BB9CBE0}" type="datetime1">
              <a:t>6/2/2026</a:t>
            </a:fld>
            <a:endParaRPr/>
          </a:p>
        </p:txBody>
      </p:sp>
      <p:sp>
        <p:nvSpPr>
          <p:cNvPr id="3" name="Footer Placeholder 4">
            <a:extLst xmlns:a="http://schemas.openxmlformats.org/drawingml/2006/main">
              <a:ext uri="{FF2B5EF4-FFF2-40B4-BE49-F238E27FC236}">
                <a16:creationId xmlns:a16="http://schemas.microsoft.com/office/drawing/2014/main" id="{75BE088C-5778-471C-B04D-5BEF0F01998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4" name="Slide Number Placeholder 5">
            <a:extLst xmlns:a="http://schemas.openxmlformats.org/drawingml/2006/main">
              <a:ext uri="{FF2B5EF4-FFF2-40B4-BE49-F238E27FC236}">
                <a16:creationId xmlns:a16="http://schemas.microsoft.com/office/drawing/2014/main" id="{D2C3B5A5-916D-4F7C-BB3E-4A7ADDAEAA6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B635AFB3-1ACD-44AC-8702-86B1729DF035}"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0B8F7E1-45BD-45ED-9C16-DB6B4134F0E0}"/>
              </a:ext>
            </a:extLst>
          </p:cNvPr>
          <p:cNvSpPr>
            <a:spLocks xmlns:a="http://schemas.openxmlformats.org/drawingml/2006/main" noGrp="1"/>
          </p:cNvSpPr>
          <p:nvPr>
            <p:ph type="title" idx="0"/>
          </p:nvPr>
        </p:nvSpPr>
        <p:spPr>
          <a:xfrm xmlns:a="http://schemas.openxmlformats.org/drawingml/2006/main">
            <a:off x="609602" y="273050"/>
            <a:ext cx="4011084"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60EC29F3-8568-4BA0-9636-184A7AFF9576}"/>
              </a:ext>
            </a:extLst>
          </p:cNvPr>
          <p:cNvSpPr>
            <a:spLocks xmlns:a="http://schemas.openxmlformats.org/drawingml/2006/main" noGrp="1"/>
          </p:cNvSpPr>
          <p:nvPr>
            <p:ph idx="1"/>
          </p:nvPr>
        </p:nvSpPr>
        <p:spPr>
          <a:xfrm xmlns:a="http://schemas.openxmlformats.org/drawingml/2006/main">
            <a:off x="4766733" y="273053"/>
            <a:ext cx="6815667"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61C655F4-C861-4A0D-BD55-89E1BCAB119E}"/>
              </a:ext>
            </a:extLst>
          </p:cNvPr>
          <p:cNvSpPr>
            <a:spLocks xmlns:a="http://schemas.openxmlformats.org/drawingml/2006/main" noGrp="1"/>
          </p:cNvSpPr>
          <p:nvPr>
            <p:ph type="body" idx="2"/>
          </p:nvPr>
        </p:nvSpPr>
        <p:spPr>
          <a:xfrm xmlns:a="http://schemas.openxmlformats.org/drawingml/2006/main">
            <a:off x="609602" y="1435103"/>
            <a:ext cx="4011084"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3">
            <a:extLst xmlns:a="http://schemas.openxmlformats.org/drawingml/2006/main">
              <a:ext uri="{FF2B5EF4-FFF2-40B4-BE49-F238E27FC236}">
                <a16:creationId xmlns:a16="http://schemas.microsoft.com/office/drawing/2014/main" id="{E6770E33-7C71-485D-B2DE-9C4C7C3C2BA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DF8C06B4-9380-4A4D-AF49-A3596E17DAF5}" type="datetime1">
              <a:t>6/2/2026</a:t>
            </a:fld>
            <a:endParaRPr/>
          </a:p>
        </p:txBody>
      </p:sp>
      <p:sp>
        <p:nvSpPr>
          <p:cNvPr id="6" name="Footer Placeholder 4">
            <a:extLst xmlns:a="http://schemas.openxmlformats.org/drawingml/2006/main">
              <a:ext uri="{FF2B5EF4-FFF2-40B4-BE49-F238E27FC236}">
                <a16:creationId xmlns:a16="http://schemas.microsoft.com/office/drawing/2014/main" id="{C5E8D642-19A2-4C5D-8029-5BDC2069F86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7" name="Slide Number Placeholder 5">
            <a:extLst xmlns:a="http://schemas.openxmlformats.org/drawingml/2006/main">
              <a:ext uri="{FF2B5EF4-FFF2-40B4-BE49-F238E27FC236}">
                <a16:creationId xmlns:a16="http://schemas.microsoft.com/office/drawing/2014/main" id="{803A6878-D9B0-4D1A-9618-3BB4A9C2847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05CF15F3-5E77-4C57-9E21-50D6D1D6C022}"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C4EF4FC-D837-4B1E-9930-322BA22A37CD}"/>
              </a:ext>
            </a:extLst>
          </p:cNvPr>
          <p:cNvSpPr>
            <a:spLocks xmlns:a="http://schemas.openxmlformats.org/drawingml/2006/main" noGrp="1"/>
          </p:cNvSpPr>
          <p:nvPr>
            <p:ph type="title" idx="0"/>
          </p:nvPr>
        </p:nvSpPr>
        <p:spPr>
          <a:xfrm xmlns:a="http://schemas.openxmlformats.org/drawingml/2006/main">
            <a:off x="2389717" y="4800600"/>
            <a:ext cx="73152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6E175DCE-8E76-4350-BF0B-D4305809BC8A}"/>
              </a:ext>
            </a:extLst>
          </p:cNvPr>
          <p:cNvSpPr>
            <a:spLocks xmlns:a="http://schemas.openxmlformats.org/drawingml/2006/main" noGrp="1"/>
          </p:cNvSpPr>
          <p:nvPr>
            <p:ph type="pic" idx="1"/>
          </p:nvPr>
        </p:nvSpPr>
        <p:spPr>
          <a:xfrm xmlns:a="http://schemas.openxmlformats.org/drawingml/2006/main">
            <a:off x="2389717" y="612775"/>
            <a:ext cx="7315200" cy="4114800"/>
          </a:xfrm>
        </p:spPr>
        <p:txBody>
          <a:bodyPr xmlns:a="http://schemas.openxmlformats.org/drawingml/2006/main">
            <a:normAutofit/>
          </a:bodyPr>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pPr lvl="0">
              <a:buNone/>
            </a:pPr>
            <a:endParaRPr/>
          </a:p>
        </p:txBody>
      </p:sp>
      <p:sp>
        <p:nvSpPr>
          <p:cNvPr id="4" name="Text Placeholder 3">
            <a:extLst xmlns:a="http://schemas.openxmlformats.org/drawingml/2006/main">
              <a:ext uri="{FF2B5EF4-FFF2-40B4-BE49-F238E27FC236}">
                <a16:creationId xmlns:a16="http://schemas.microsoft.com/office/drawing/2014/main" id="{A4600688-EBA9-4846-A951-D08C76433520}"/>
              </a:ext>
            </a:extLst>
          </p:cNvPr>
          <p:cNvSpPr>
            <a:spLocks xmlns:a="http://schemas.openxmlformats.org/drawingml/2006/main" noGrp="1"/>
          </p:cNvSpPr>
          <p:nvPr>
            <p:ph type="body" idx="2"/>
          </p:nvPr>
        </p:nvSpPr>
        <p:spPr>
          <a:xfrm xmlns:a="http://schemas.openxmlformats.org/drawingml/2006/main">
            <a:off x="2389717" y="5367338"/>
            <a:ext cx="73152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3">
            <a:extLst xmlns:a="http://schemas.openxmlformats.org/drawingml/2006/main">
              <a:ext uri="{FF2B5EF4-FFF2-40B4-BE49-F238E27FC236}">
                <a16:creationId xmlns:a16="http://schemas.microsoft.com/office/drawing/2014/main" id="{4366C9B5-70B8-4725-8FC2-09C3828F230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EF7FDEF1-C582-4E22-9E77-D68326471F28}" type="datetime1">
              <a:t>6/2/2026</a:t>
            </a:fld>
            <a:endParaRPr/>
          </a:p>
        </p:txBody>
      </p:sp>
      <p:sp>
        <p:nvSpPr>
          <p:cNvPr id="6" name="Footer Placeholder 4">
            <a:extLst xmlns:a="http://schemas.openxmlformats.org/drawingml/2006/main">
              <a:ext uri="{FF2B5EF4-FFF2-40B4-BE49-F238E27FC236}">
                <a16:creationId xmlns:a16="http://schemas.microsoft.com/office/drawing/2014/main" id="{767ABCBB-499D-44A9-8BB0-AD7515CDCCC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7" name="Slide Number Placeholder 5">
            <a:extLst xmlns:a="http://schemas.openxmlformats.org/drawingml/2006/main">
              <a:ext uri="{FF2B5EF4-FFF2-40B4-BE49-F238E27FC236}">
                <a16:creationId xmlns:a16="http://schemas.microsoft.com/office/drawing/2014/main" id="{88CD4F5F-A763-4488-B5A6-EDE7D85F063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1242169A-B3C7-4FB6-967F-AF95F4EB3315}"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15B4C2A-6E90-4ABD-8D8B-97952F17368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17DDFA12-AEA2-4151-BFC8-C0671DEB8C67}"/>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C8BACFA3-7029-4B2D-8F4D-FBF65F95850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053C3A68-6922-42D3-8905-ECC2D82A3469}" type="datetime1">
              <a:t>6/2/2026</a:t>
            </a:fld>
            <a:endParaRPr/>
          </a:p>
        </p:txBody>
      </p:sp>
      <p:sp>
        <p:nvSpPr>
          <p:cNvPr id="5" name="Footer Placeholder 4">
            <a:extLst xmlns:a="http://schemas.openxmlformats.org/drawingml/2006/main">
              <a:ext uri="{FF2B5EF4-FFF2-40B4-BE49-F238E27FC236}">
                <a16:creationId xmlns:a16="http://schemas.microsoft.com/office/drawing/2014/main" id="{FEA3DA21-2434-40AA-BD72-10522041B12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5527041E-60EE-4D18-A50C-D9DD5981A24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94FDD027-5576-4F27-AAB6-1D994836EE78}"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630529A6-60EC-49CE-8C94-D6E7CA5DB064}"/>
              </a:ext>
            </a:extLst>
          </p:cNvPr>
          <p:cNvSpPr>
            <a:spLocks xmlns:a="http://schemas.openxmlformats.org/drawingml/2006/main" noGrp="1"/>
          </p:cNvSpPr>
          <p:nvPr>
            <p:ph type="title" idx="0"/>
          </p:nvPr>
        </p:nvSpPr>
        <p:spPr>
          <a:xfrm xmlns:a="http://schemas.openxmlformats.org/drawingml/2006/main">
            <a:off x="8839200" y="274641"/>
            <a:ext cx="2743200" cy="5851525"/>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0662EB7D-5B20-46EE-AFCC-38ACD846E253}"/>
              </a:ext>
            </a:extLst>
          </p:cNvPr>
          <p:cNvSpPr>
            <a:spLocks xmlns:a="http://schemas.openxmlformats.org/drawingml/2006/main" noGrp="1"/>
          </p:cNvSpPr>
          <p:nvPr>
            <p:ph type="body" idx="1"/>
          </p:nvPr>
        </p:nvSpPr>
        <p:spPr>
          <a:xfrm xmlns:a="http://schemas.openxmlformats.org/drawingml/2006/main">
            <a:off x="609600" y="274641"/>
            <a:ext cx="80264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0E453789-45CB-4246-9462-60F2BC635BD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CB69E9F4-7604-4950-A8B2-8ACDEDB1506E}" type="datetime1">
              <a:t>6/2/2026</a:t>
            </a:fld>
            <a:endParaRPr/>
          </a:p>
        </p:txBody>
      </p:sp>
      <p:sp>
        <p:nvSpPr>
          <p:cNvPr id="5" name="Footer Placeholder 4">
            <a:extLst xmlns:a="http://schemas.openxmlformats.org/drawingml/2006/main">
              <a:ext uri="{FF2B5EF4-FFF2-40B4-BE49-F238E27FC236}">
                <a16:creationId xmlns:a16="http://schemas.microsoft.com/office/drawing/2014/main" id="{6ED84393-0719-43B3-BA70-7542722C5F5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106BA54C-2A26-46C2-B3D6-28C28C89FF2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2957CE61-8714-431B-A40A-01B1C5541AB7}"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59f32326e7c4e3b" /><Relationship Type="http://schemas.openxmlformats.org/officeDocument/2006/relationships/slideLayout" Target="/ppt/slideLayouts/slideLayout1.xml" Id="R523ca464fa104970" /><Relationship Type="http://schemas.openxmlformats.org/officeDocument/2006/relationships/slideLayout" Target="/ppt/slideLayouts/slideLayout2.xml" Id="Rb10b50312b2e4678" /><Relationship Type="http://schemas.openxmlformats.org/officeDocument/2006/relationships/slideLayout" Target="/ppt/slideLayouts/slideLayout3.xml" Id="R169d6732830f41fc" /><Relationship Type="http://schemas.openxmlformats.org/officeDocument/2006/relationships/slideLayout" Target="/ppt/slideLayouts/slideLayout4.xml" Id="R9c092eae45d040ec" /><Relationship Type="http://schemas.openxmlformats.org/officeDocument/2006/relationships/slideLayout" Target="/ppt/slideLayouts/slideLayout5.xml" Id="R62ce6f3adaac4c1c" /><Relationship Type="http://schemas.openxmlformats.org/officeDocument/2006/relationships/slideLayout" Target="/ppt/slideLayouts/slideLayout6.xml" Id="R596b2683a14b4d20" /><Relationship Type="http://schemas.openxmlformats.org/officeDocument/2006/relationships/slideLayout" Target="/ppt/slideLayouts/slideLayout7.xml" Id="R11c2f0283722493b" /><Relationship Type="http://schemas.openxmlformats.org/officeDocument/2006/relationships/slideLayout" Target="/ppt/slideLayouts/slideLayout8.xml" Id="R8ac66c9042c64f18" /><Relationship Type="http://schemas.openxmlformats.org/officeDocument/2006/relationships/slideLayout" Target="/ppt/slideLayouts/slideLayout9.xml" Id="R232635c7f2124aee" /><Relationship Type="http://schemas.openxmlformats.org/officeDocument/2006/relationships/slideLayout" Target="/ppt/slideLayouts/slideLayout10.xml" Id="R9fb23c39a41a4b95" /><Relationship Type="http://schemas.openxmlformats.org/officeDocument/2006/relationships/slideLayout" Target="/ppt/slideLayouts/slideLayout11.xml" Id="Ra939f6cc2e044c46"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1026" name="Title Placeholder 1">
            <a:extLst xmlns:a="http://schemas.openxmlformats.org/drawingml/2006/main">
              <a:ext uri="{FF2B5EF4-FFF2-40B4-BE49-F238E27FC236}">
                <a16:creationId xmlns:a16="http://schemas.microsoft.com/office/drawing/2014/main" id="{7F5FA883-B4C3-4B23-9C47-91C74BD1B0D2}"/>
              </a:ext>
            </a:extLst>
          </p:cNvPr>
          <p:cNvSpPr>
            <a:spLocks xmlns:a="http://schemas.openxmlformats.org/drawingml/2006/main" noGrp="1"/>
          </p:cNvSpPr>
          <p:nvPr>
            <p:ph type="title" idx="0"/>
          </p:nvPr>
        </p:nvSpPr>
        <p:spPr>
          <a:xfrm xmlns:a="http://schemas.openxmlformats.org/drawingml/2006/main">
            <a:off x="609600" y="-47625"/>
            <a:ext cx="10972800" cy="11430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vert="horz" wrap="square" lIns="91440" tIns="45720" rIns="91440" bIns="45720" anchor="ctr"/>
          <a:lstStyle xmlns:a="http://schemas.openxmlformats.org/drawingml/2006/main"/>
          <a:p xmlns:a="http://schemas.openxmlformats.org/drawingml/2006/main">
            <a:pPr lvl="0">
              <a:buNone/>
            </a:pPr>
            <a:r>
              <a:t>Click to edit Master title style</a:t>
            </a:r>
          </a:p>
        </p:txBody>
      </p:sp>
      <p:sp>
        <p:nvSpPr>
          <p:cNvPr id="1027" name="Text Placeholder 2">
            <a:extLst xmlns:a="http://schemas.openxmlformats.org/drawingml/2006/main">
              <a:ext uri="{FF2B5EF4-FFF2-40B4-BE49-F238E27FC236}">
                <a16:creationId xmlns:a16="http://schemas.microsoft.com/office/drawing/2014/main" id="{65B21BA4-E432-4D39-A253-48096986723D}"/>
              </a:ext>
            </a:extLst>
          </p:cNvPr>
          <p:cNvSpPr>
            <a:spLocks xmlns:a="http://schemas.openxmlformats.org/drawingml/2006/main" noGrp="1"/>
          </p:cNvSpPr>
          <p:nvPr>
            <p:ph type="body" idx="1"/>
          </p:nvPr>
        </p:nvSpPr>
        <p:spPr>
          <a:xfrm xmlns:a="http://schemas.openxmlformats.org/drawingml/2006/main">
            <a:off x="609600" y="1095375"/>
            <a:ext cx="10972800" cy="5030788"/>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vert="horz" wrap="square" lIns="91440" tIns="45720" rIns="91440" bIns="45720" ancho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AE980FBF-EDE0-47B7-92A6-D7DC871AA0DA}"/>
              </a:ext>
            </a:extLst>
          </p:cNvPr>
          <p:cNvSpPr>
            <a:spLocks xmlns:a="http://schemas.openxmlformats.org/drawingml/2006/main" noGrp="1"/>
          </p:cNvSpPr>
          <p:nvPr>
            <p:ph type="dt" idx="2"/>
          </p:nvPr>
        </p:nvSpPr>
        <p:spPr>
          <a:xfrm xmlns:a="http://schemas.openxmlformats.org/drawingml/2006/main">
            <a:off x="609600" y="6356353"/>
            <a:ext cx="2844800" cy="365125"/>
          </a:xfrm>
          <a:prstGeom xmlns:a="http://schemas.openxmlformats.org/drawingml/2006/main" prst="rect">
            <a:avLst/>
          </a:prstGeom>
        </p:spPr>
        <p:txBody>
          <a:bodyPr xmlns:a="http://schemas.openxmlformats.org/drawingml/2006/main" vert="horz" wrap="square" lIns="91440" tIns="45720" rIns="91440" bIns="45720" anchor="ctr"/>
          <a:lstStyle xmlns:a="http://schemas.openxmlformats.org/drawingml/2006/main">
            <a:lvl1pPr>
              <a:buNone/>
              <a:defRPr sz="1200">
                <a:solidFill>
                  <a:srgbClr val="898989"/>
                </a:solidFill>
                <a:latin typeface="TradeGothic"/>
                <a:ea typeface="TradeGothic"/>
                <a:cs typeface="TradeGothic"/>
              </a:defRPr>
            </a:lvl1pPr>
          </a:lstStyle>
          <a:p xmlns:a="http://schemas.openxmlformats.org/drawingml/2006/main">
            <a:fld id="{780A9602-A9A9-453F-AEF1-37B5837E02CD}" type="datetime1">
              <a:t>6/2/2026</a:t>
            </a:fld>
            <a:endParaRPr/>
          </a:p>
        </p:txBody>
      </p:sp>
      <p:sp>
        <p:nvSpPr>
          <p:cNvPr id="5" name="Footer Placeholder 4">
            <a:extLst xmlns:a="http://schemas.openxmlformats.org/drawingml/2006/main">
              <a:ext uri="{FF2B5EF4-FFF2-40B4-BE49-F238E27FC236}">
                <a16:creationId xmlns:a16="http://schemas.microsoft.com/office/drawing/2014/main" id="{54B7A727-C776-4140-9F64-4C606C792347}"/>
              </a:ext>
            </a:extLst>
          </p:cNvPr>
          <p:cNvSpPr>
            <a:spLocks xmlns:a="http://schemas.openxmlformats.org/drawingml/2006/main" noGrp="1"/>
          </p:cNvSpPr>
          <p:nvPr>
            <p:ph type="ftr" idx="3"/>
          </p:nvPr>
        </p:nvSpPr>
        <p:spPr>
          <a:xfrm xmlns:a="http://schemas.openxmlformats.org/drawingml/2006/main">
            <a:off x="4165600" y="6356353"/>
            <a:ext cx="3860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spcBef>
                <a:spcPts val="0"/>
              </a:spcBef>
              <a:spcAft>
                <a:spcPts val="0"/>
              </a:spcAft>
              <a:buNone/>
              <a:defRPr sz="1200">
                <a:solidFill>
                  <a:schemeClr val="tx1">
                    <a:tint val="75000"/>
                  </a:schemeClr>
                </a:solidFill>
                <a:latin typeface="TradeGothic"/>
                <a:ea typeface="TradeGothic"/>
                <a:cs typeface="TradeGothic"/>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976870E1-F380-4D1A-BE47-7ECEEF31026B}"/>
              </a:ext>
            </a:extLst>
          </p:cNvPr>
          <p:cNvSpPr>
            <a:spLocks xmlns:a="http://schemas.openxmlformats.org/drawingml/2006/main" noGrp="1"/>
          </p:cNvSpPr>
          <p:nvPr>
            <p:ph type="sldNum" idx="4"/>
          </p:nvPr>
        </p:nvSpPr>
        <p:spPr>
          <a:xfrm xmlns:a="http://schemas.openxmlformats.org/drawingml/2006/main">
            <a:off x="8737600" y="6356353"/>
            <a:ext cx="2844800" cy="365125"/>
          </a:xfrm>
          <a:prstGeom xmlns:a="http://schemas.openxmlformats.org/drawingml/2006/main" prst="rect">
            <a:avLst/>
          </a:prstGeom>
        </p:spPr>
        <p:txBody>
          <a:bodyPr xmlns:a="http://schemas.openxmlformats.org/drawingml/2006/main" vert="horz" wrap="square" lIns="91440" tIns="45720" rIns="91440" bIns="45720" anchor="ctr"/>
          <a:lstStyle xmlns:a="http://schemas.openxmlformats.org/drawingml/2006/main">
            <a:lvl1pPr algn="r">
              <a:buNone/>
              <a:defRPr sz="1200">
                <a:solidFill>
                  <a:srgbClr val="898989"/>
                </a:solidFill>
                <a:latin typeface="TradeGothic"/>
                <a:ea typeface="TradeGothic"/>
                <a:cs typeface="TradeGothic"/>
              </a:defRPr>
            </a:lvl1pPr>
          </a:lstStyle>
          <a:p xmlns:a="http://schemas.openxmlformats.org/drawingml/2006/main">
            <a:fld id="{1411BA53-830D-4830-BB65-E58DBE17D0B7}"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23ca464fa104970"/>
    <p:sldLayoutId xmlns:r="http://schemas.openxmlformats.org/officeDocument/2006/relationships" id="2147483650" r:id="Rb10b50312b2e4678"/>
    <p:sldLayoutId xmlns:r="http://schemas.openxmlformats.org/officeDocument/2006/relationships" id="2147483651" r:id="R169d6732830f41fc"/>
    <p:sldLayoutId xmlns:r="http://schemas.openxmlformats.org/officeDocument/2006/relationships" id="2147483652" r:id="R9c092eae45d040ec"/>
    <p:sldLayoutId xmlns:r="http://schemas.openxmlformats.org/officeDocument/2006/relationships" id="2147483653" r:id="R62ce6f3adaac4c1c"/>
    <p:sldLayoutId xmlns:r="http://schemas.openxmlformats.org/officeDocument/2006/relationships" id="2147483654" r:id="R596b2683a14b4d20"/>
    <p:sldLayoutId xmlns:r="http://schemas.openxmlformats.org/officeDocument/2006/relationships" id="2147483655" r:id="R11c2f0283722493b"/>
    <p:sldLayoutId xmlns:r="http://schemas.openxmlformats.org/officeDocument/2006/relationships" id="2147483656" r:id="R8ac66c9042c64f18"/>
    <p:sldLayoutId xmlns:r="http://schemas.openxmlformats.org/officeDocument/2006/relationships" id="2147483657" r:id="R232635c7f2124aee"/>
    <p:sldLayoutId xmlns:r="http://schemas.openxmlformats.org/officeDocument/2006/relationships" id="2147483658" r:id="R9fb23c39a41a4b95"/>
    <p:sldLayoutId xmlns:r="http://schemas.openxmlformats.org/officeDocument/2006/relationships" id="2147483659" r:id="Ra939f6cc2e044c46"/>
  </p:sldLayoutIdLst>
  <p:hf hdr="0" dt="0"/>
  <p:txStyles>
    <p:titleStyle>
      <a:lvl1pPr xmlns:a="http://schemas.openxmlformats.org/drawingml/2006/main" algn="ctr" defTabSz="457200">
        <a:spcBef>
          <a:spcPct val="0"/>
        </a:spcBef>
        <a:spcAft>
          <a:spcPct val="0"/>
        </a:spcAft>
        <a:buNone/>
        <a:defRPr sz="4400" kern="1200">
          <a:solidFill>
            <a:schemeClr val="tx1"/>
          </a:solidFill>
          <a:latin typeface="TradeGothic"/>
          <a:ea typeface="TradeGothic"/>
          <a:cs typeface="TradeGothic"/>
        </a:defRPr>
      </a:lvl1pPr>
      <a:lvl2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2pPr>
      <a:lvl3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3pPr>
      <a:lvl4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4pPr>
      <a:lvl5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5pPr>
      <a:lvl6pPr xmlns:a="http://schemas.openxmlformats.org/drawingml/2006/main" marL="457200" algn="ctr" defTabSz="457200">
        <a:spcBef>
          <a:spcPct val="0"/>
        </a:spcBef>
        <a:spcAft>
          <a:spcPct val="0"/>
        </a:spcAft>
        <a:buNone/>
        <a:defRPr sz="4400">
          <a:solidFill>
            <a:schemeClr val="tx1"/>
          </a:solidFill>
          <a:latin typeface="TradeGothic"/>
          <a:ea typeface="TradeGothic"/>
          <a:cs typeface="TradeGothic"/>
        </a:defRPr>
      </a:lvl6pPr>
      <a:lvl7pPr xmlns:a="http://schemas.openxmlformats.org/drawingml/2006/main" marL="914400" algn="ctr" defTabSz="457200">
        <a:spcBef>
          <a:spcPct val="0"/>
        </a:spcBef>
        <a:spcAft>
          <a:spcPct val="0"/>
        </a:spcAft>
        <a:buNone/>
        <a:defRPr sz="4400">
          <a:solidFill>
            <a:schemeClr val="tx1"/>
          </a:solidFill>
          <a:latin typeface="TradeGothic"/>
          <a:ea typeface="TradeGothic"/>
          <a:cs typeface="TradeGothic"/>
        </a:defRPr>
      </a:lvl7pPr>
      <a:lvl8pPr xmlns:a="http://schemas.openxmlformats.org/drawingml/2006/main" marL="1371600" algn="ctr" defTabSz="457200">
        <a:spcBef>
          <a:spcPct val="0"/>
        </a:spcBef>
        <a:spcAft>
          <a:spcPct val="0"/>
        </a:spcAft>
        <a:buNone/>
        <a:defRPr sz="4400">
          <a:solidFill>
            <a:schemeClr val="tx1"/>
          </a:solidFill>
          <a:latin typeface="TradeGothic"/>
          <a:ea typeface="TradeGothic"/>
          <a:cs typeface="TradeGothic"/>
        </a:defRPr>
      </a:lvl8pPr>
      <a:lvl9pPr xmlns:a="http://schemas.openxmlformats.org/drawingml/2006/main" marL="1828800" algn="ctr" defTabSz="457200">
        <a:spcBef>
          <a:spcPct val="0"/>
        </a:spcBef>
        <a:spcAft>
          <a:spcPct val="0"/>
        </a:spcAft>
        <a:buNone/>
        <a:defRPr sz="4400">
          <a:solidFill>
            <a:schemeClr val="tx1"/>
          </a:solidFill>
          <a:latin typeface="TradeGothic"/>
          <a:ea typeface="TradeGothic"/>
          <a:cs typeface="TradeGothic"/>
        </a:defRPr>
      </a:lvl9pPr>
    </p:titleStyle>
    <p:bodyStyle>
      <a:lvl1pPr xmlns:a="http://schemas.openxmlformats.org/drawingml/2006/main" marL="342900" indent="-342900" algn="l" defTabSz="457200">
        <a:spcBef>
          <a:spcPct val="20000"/>
        </a:spcBef>
        <a:spcAft>
          <a:spcPct val="0"/>
        </a:spcAft>
        <a:buFont typeface="Arial"/>
        <a:buChar char="•"/>
        <a:defRPr sz="3200" kern="1200">
          <a:solidFill>
            <a:schemeClr val="tx1"/>
          </a:solidFill>
          <a:latin typeface="TradeGothic"/>
          <a:ea typeface="TradeGothic"/>
          <a:cs typeface="TradeGothic"/>
        </a:defRPr>
      </a:lvl1pPr>
      <a:lvl2pPr xmlns:a="http://schemas.openxmlformats.org/drawingml/2006/main" marL="742950" indent="-285750" algn="l" defTabSz="457200">
        <a:spcBef>
          <a:spcPct val="20000"/>
        </a:spcBef>
        <a:spcAft>
          <a:spcPct val="0"/>
        </a:spcAft>
        <a:buFont typeface="Arial"/>
        <a:buChar char="–"/>
        <a:defRPr sz="2800" kern="1200">
          <a:solidFill>
            <a:schemeClr val="tx1"/>
          </a:solidFill>
          <a:latin typeface="TradeGothic"/>
          <a:ea typeface="TradeGothic"/>
          <a:cs typeface="TradeGothic"/>
        </a:defRPr>
      </a:lvl2pPr>
      <a:lvl3pPr xmlns:a="http://schemas.openxmlformats.org/drawingml/2006/main" marL="1143000" indent="-228600" algn="l" defTabSz="457200">
        <a:spcBef>
          <a:spcPct val="20000"/>
        </a:spcBef>
        <a:spcAft>
          <a:spcPct val="0"/>
        </a:spcAft>
        <a:buFont typeface="Arial"/>
        <a:buChar char="•"/>
        <a:defRPr sz="2400" kern="1200">
          <a:solidFill>
            <a:schemeClr val="tx1"/>
          </a:solidFill>
          <a:latin typeface="TradeGothic"/>
          <a:ea typeface="TradeGothic"/>
          <a:cs typeface="TradeGothic"/>
        </a:defRPr>
      </a:lvl3pPr>
      <a:lvl4pPr xmlns:a="http://schemas.openxmlformats.org/drawingml/2006/main" marL="1600200" indent="-228600" algn="l" defTabSz="457200">
        <a:spcBef>
          <a:spcPct val="20000"/>
        </a:spcBef>
        <a:spcAft>
          <a:spcPct val="0"/>
        </a:spcAft>
        <a:buFont typeface="Arial"/>
        <a:buChar char="–"/>
        <a:defRPr sz="2000" kern="1200">
          <a:solidFill>
            <a:schemeClr val="tx1"/>
          </a:solidFill>
          <a:latin typeface="TradeGothic"/>
          <a:ea typeface="TradeGothic"/>
          <a:cs typeface="TradeGothic"/>
        </a:defRPr>
      </a:lvl4pPr>
      <a:lvl5pPr xmlns:a="http://schemas.openxmlformats.org/drawingml/2006/main" marL="2057400" indent="-228600" algn="l" defTabSz="457200">
        <a:spcBef>
          <a:spcPct val="20000"/>
        </a:spcBef>
        <a:spcAft>
          <a:spcPct val="0"/>
        </a:spcAft>
        <a:buFont typeface="Arial"/>
        <a:buChar char="»"/>
        <a:defRPr sz="2000" kern="1200">
          <a:solidFill>
            <a:schemeClr val="tx1"/>
          </a:solidFill>
          <a:latin typeface="TradeGothic"/>
          <a:ea typeface="TradeGothic"/>
          <a:cs typeface="TradeGothic"/>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c22a7a811ba4467" /><Relationship Type="http://schemas.openxmlformats.org/officeDocument/2006/relationships/image" Target="/ppt/media/image.png" Id="R563b79848b534613" /><Relationship Type="http://schemas.openxmlformats.org/officeDocument/2006/relationships/image" Target="/ppt/media/image2.png" Id="R7d25fa5936824205" /><Relationship Type="http://schemas.openxmlformats.org/officeDocument/2006/relationships/notesSlide" Target="/ppt/notesSlides/notesSlide1.xml" Id="R864b47240f7a4e0f"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61ac0231220f4930" /><Relationship Type="http://schemas.openxmlformats.org/officeDocument/2006/relationships/image" Target="/ppt/media/image3.png" Id="R863cebefa650451c" /><Relationship Type="http://schemas.openxmlformats.org/officeDocument/2006/relationships/notesSlide" Target="/ppt/notesSlides/notesSlide2.xml" Id="Rf25ed30d4ab245ff"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d12c811766ec43cc" /><Relationship Type="http://schemas.openxmlformats.org/officeDocument/2006/relationships/image" Target="/ppt/media/image4.png" Id="R03909a5c4e6d4e5e" /><Relationship Type="http://schemas.openxmlformats.org/officeDocument/2006/relationships/notesSlide" Target="/ppt/notesSlides/notesSlide3.xml" Id="R8c68cb4a8f944e5e"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7a0e5c14a6c34893" /><Relationship Type="http://schemas.openxmlformats.org/officeDocument/2006/relationships/image" Target="/ppt/media/image5.png" Id="R8ddc86280411438b" /><Relationship Type="http://schemas.openxmlformats.org/officeDocument/2006/relationships/notesSlide" Target="/ppt/notesSlides/notesSlide4.xml" Id="Rb95bee1329564094"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a5e334f2e2764bd7" /><Relationship Type="http://schemas.openxmlformats.org/officeDocument/2006/relationships/image" Target="/ppt/media/image6.png" Id="R89f2e44f43594b14" /><Relationship Type="http://schemas.openxmlformats.org/officeDocument/2006/relationships/notesSlide" Target="/ppt/notesSlides/notesSlide5.xml" Id="R7a2f71eea6244706"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8790e680fd5b41a0" /><Relationship Type="http://schemas.openxmlformats.org/officeDocument/2006/relationships/hyperlink" Target="https://conferences.sigcomm.org/imc/2013/papers/imc182-meiklejohnA.pdf" TargetMode="External" Id="R95db4d1eb88947bd" /><Relationship Type="http://schemas.openxmlformats.org/officeDocument/2006/relationships/hyperlink" Target="https://arxiv.org/abs/1908.02591" TargetMode="External" Id="R5ae53eb3df2d45d3" /><Relationship Type="http://schemas.openxmlformats.org/officeDocument/2006/relationships/hyperlink" Target="https://github.com/Blockstream/esplora/blob/master/API.md" TargetMode="External" Id="R67abed4953be471a" /><Relationship Type="http://schemas.openxmlformats.org/officeDocument/2006/relationships/hyperlink" Target="https://www.binance.com/en-IN/blog/community/2895840147147652626" TargetMode="External" Id="Racd57a6677264a37" /><Relationship Type="http://schemas.openxmlformats.org/officeDocument/2006/relationships/hyperlink" Target="https://www.fatf-gafi.org/en/publications/Fatfrecommendations/Guidance-rba-virtual-assets-2021.html" TargetMode="External" Id="R5280ece13fd24c08" /><Relationship Type="http://schemas.openxmlformats.org/officeDocument/2006/relationships/hyperlink" Target="https://csrc.nist.gov/pubs/sp/800/86/final" TargetMode="External" Id="R23bcc8a085844937" /><Relationship Type="http://schemas.openxmlformats.org/officeDocument/2006/relationships/image" Target="/ppt/media/image7.png" Id="R427efde0cb2541c5" /><Relationship Type="http://schemas.openxmlformats.org/officeDocument/2006/relationships/notesSlide" Target="/ppt/notesSlides/notesSlide6.xml" Id="R4cf5335ba4c84375" /></Relationships>
</file>

<file path=ppt/slides/slide1.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useBgFill="1">
        <p:nvSpPr>
          <p:cNvPr id="36" name="Rectangle 24">
            <a:extLst xmlns:a="http://schemas.openxmlformats.org/drawingml/2006/main">
              <a:ext uri="{FF2B5EF4-FFF2-40B4-BE49-F238E27FC236}">
                <a16:creationId xmlns:a16="http://schemas.microsoft.com/office/drawing/2014/main" id="{3E443FD7-A66B-4AA0-872D-B088B9BC5F17}"/>
              </a:ext>
            </a:extLst>
          </p:cNvPr>
          <p:cNvSpPr>
            <a:spLocks xmlns:a="http://schemas.openxmlformats.org/drawingml/2006/main" noGrp="1"/>
          </p:cNvSpPr>
          <p:nvPr/>
        </p:nvSpPr>
        <p:spPr>
          <a:xfrm xmlns:a="http://schemas.openxmlformats.org/drawingml/2006/main">
            <a:off x="1524000" y="0"/>
            <a:ext cx="9144000" cy="6858000"/>
          </a:xfrm>
          <a:prstGeom xmlns:a="http://schemas.openxmlformats.org/drawingml/2006/main" prst="rect">
            <a:avLst/>
          </a:prstGeom>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7" name="Freeform: Shape 26">
            <a:extLst xmlns:a="http://schemas.openxmlformats.org/drawingml/2006/main">
              <a:ext uri="{FF2B5EF4-FFF2-40B4-BE49-F238E27FC236}">
                <a16:creationId xmlns:a16="http://schemas.microsoft.com/office/drawing/2014/main" id="{C04BE0EF-3561-49B4-9A29-F283168A91C7}"/>
              </a:ext>
            </a:extLst>
          </p:cNvPr>
          <p:cNvSpPr>
            <a:spLocks xmlns:a="http://schemas.openxmlformats.org/drawingml/2006/main" noGrp="1"/>
          </p:cNvSpPr>
          <p:nvPr/>
        </p:nvSpPr>
        <p:spPr>
          <a:xfrm xmlns:a="http://schemas.openxmlformats.org/drawingml/2006/main">
            <a:off x="5656780" y="851521"/>
            <a:ext cx="4638605" cy="5154967"/>
          </a:xfrm>
          <a:custGeom xmlns:a="http://schemas.openxmlformats.org/drawingml/2006/main">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xmlns:a="http://schemas.openxmlformats.org/drawingml/2006/main">
            <a:schemeClr val="tx1">
              <a:lumMod val="50000"/>
              <a:lumOff val="50000"/>
              <a:alpha val="1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pic>
        <p:nvPicPr>
          <p:cNvPr id="51" name="Picture 4"/>
          <p:cNvPicPr>
            <a:picLocks xmlns:a="http://schemas.openxmlformats.org/drawingml/2006/main" noChangeAspect="1"/>
          </p:cNvPicPr>
          <p:nvPr/>
        </p:nvPicPr>
        <p:blipFill rotWithShape="1">
          <a:blip xmlns:r="http://schemas.openxmlformats.org/officeDocument/2006/relationships" xmlns:a="http://schemas.openxmlformats.org/drawingml/2006/main" r:embed="R563b79848b534613"/>
          <a:srcRect xmlns:a="http://schemas.openxmlformats.org/drawingml/2006/main" l="0" t="0" r="59916" b="0"/>
          <a:stretch xmlns:a="http://schemas.openxmlformats.org/drawingml/2006/main"/>
        </p:blipFill>
        <p:spPr>
          <a:xfrm xmlns:a="http://schemas.openxmlformats.org/drawingml/2006/main">
            <a:off x="6854891" y="1715881"/>
            <a:ext cx="3203509" cy="3426237"/>
          </a:xfrm>
          <a:prstGeom xmlns:a="http://schemas.openxmlformats.org/drawingml/2006/main" prst="rect">
            <a:avLst/>
          </a:prstGeom>
        </p:spPr>
      </p:pic>
      <p:sp>
        <p:nvSpPr>
          <p:cNvPr id="4" name="Subtitle 3">
            <a:extLst xmlns:a="http://schemas.openxmlformats.org/drawingml/2006/main">
              <a:ext uri="{FF2B5EF4-FFF2-40B4-BE49-F238E27FC236}">
                <a16:creationId xmlns:a16="http://schemas.microsoft.com/office/drawing/2014/main" id="{EBC9B2A0-6882-4EC7-82DD-4C0C2B62C611}"/>
              </a:ext>
            </a:extLst>
          </p:cNvPr>
          <p:cNvSpPr>
            <a:spLocks xmlns:a="http://schemas.openxmlformats.org/drawingml/2006/main" noGrp="1"/>
          </p:cNvSpPr>
          <p:nvPr>
            <p:ph type="subTitle" idx="1"/>
          </p:nvPr>
        </p:nvSpPr>
        <p:spPr>
          <a:xfrm xmlns:a="http://schemas.openxmlformats.org/drawingml/2006/main">
            <a:off x="1238250" y="1143000"/>
            <a:ext cx="8534400" cy="609600"/>
          </a:xfrm>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2850" b="1">
                <a:solidFill>
                  <a:srgbClr val="777777"/>
                </a:solidFill>
                <a:latin typeface="Times New Roman"/>
                <a:ea typeface="Times New Roman"/>
                <a:cs typeface="Times New Roman"/>
              </a:defRPr>
            </a:pPr>
            <a:r>
              <a:rPr sz="2850" b="1">
                <a:solidFill>
                  <a:srgbClr val="777777"/>
                </a:solidFill>
                <a:latin typeface="Times New Roman"/>
                <a:ea typeface="Times New Roman"/>
                <a:cs typeface="Times New Roman"/>
              </a:rPr>
              <a:t>TITLE PAGE</a:t>
            </a:r>
            <a:endParaRPr b="1">
              <a:solidFill>
                <a:schemeClr val="tx1"/>
              </a:solidFill>
              <a:latin typeface="Times New Roman"/>
              <a:ea typeface="Times New Roman"/>
              <a:cs typeface="Times New Roman"/>
            </a:endParaRPr>
          </a:p>
        </p:txBody>
      </p:sp>
      <p:sp>
        <p:nvSpPr>
          <p:cNvPr id="8" name="Title 7">
            <a:extLst xmlns:a="http://schemas.openxmlformats.org/drawingml/2006/main">
              <a:ext uri="{FF2B5EF4-FFF2-40B4-BE49-F238E27FC236}">
                <a16:creationId xmlns:a16="http://schemas.microsoft.com/office/drawing/2014/main" id="{50E5E925-ED22-4F68-BBE5-974527ADBA47}"/>
              </a:ext>
            </a:extLst>
          </p:cNvPr>
          <p:cNvSpPr>
            <a:spLocks xmlns:a="http://schemas.openxmlformats.org/drawingml/2006/main" noGrp="1"/>
          </p:cNvSpPr>
          <p:nvPr>
            <p:ph type="ctrTitle" idx="0"/>
          </p:nvPr>
        </p:nvSpPr>
        <p:spPr>
          <a:xfrm xmlns:a="http://schemas.openxmlformats.org/drawingml/2006/main">
            <a:off x="323850" y="190500"/>
            <a:ext cx="9353550" cy="781050"/>
          </a:xfrm>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450" b="1">
                <a:solidFill>
                  <a:srgbClr val="1F497D"/>
                </a:solidFill>
                <a:latin typeface="Arial"/>
                <a:ea typeface="Arial"/>
                <a:cs typeface="Arial"/>
              </a:defRPr>
            </a:pPr>
            <a:r>
              <a:rPr sz="3450" b="1">
                <a:solidFill>
                  <a:srgbClr val="1F497D"/>
                </a:solidFill>
                <a:latin typeface="Arial"/>
                <a:ea typeface="Arial"/>
                <a:cs typeface="Arial"/>
              </a:rPr>
              <a:t>SMART INDIA HACKATHON 2026</a:t>
            </a:r>
            <a:endParaRPr sz="4000" b="1">
              <a:solidFill>
                <a:schemeClr val="tx2"/>
              </a:solidFill>
              <a:latin typeface="Garamond"/>
              <a:ea typeface="Garamond"/>
              <a:cs typeface="Garamond"/>
            </a:endParaRPr>
          </a:p>
        </p:txBody>
      </p:sp>
      <p:sp>
        <p:nvSpPr>
          <p:cNvPr id="10" name="TextBox 9">
            <a:extLst xmlns:a="http://schemas.openxmlformats.org/drawingml/2006/main">
              <a:ext uri="{FF2B5EF4-FFF2-40B4-BE49-F238E27FC236}">
                <a16:creationId xmlns:a16="http://schemas.microsoft.com/office/drawing/2014/main" id="{0DEB99E2-1C43-41EC-A1FE-4D60CCE4E048}"/>
              </a:ext>
            </a:extLst>
          </p:cNvPr>
          <p:cNvSpPr>
            <a:spLocks xmlns:a="http://schemas.openxmlformats.org/drawingml/2006/main" noGrp="1"/>
          </p:cNvSpPr>
          <p:nvPr/>
        </p:nvSpPr>
        <p:spPr>
          <a:xfrm xmlns:a="http://schemas.openxmlformats.org/drawingml/2006/main">
            <a:off x="331286" y="2076450"/>
            <a:ext cx="5924550" cy="470301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
            </a:r>
            <a:endParaRPr/>
          </a:p>
        </p:txBody>
      </p:sp>
      <p:sp>
        <p:nvSpPr>
          <p:cNvPr id="40" name="">
            <a:extLst xmlns:a="http://schemas.openxmlformats.org/drawingml/2006/main">
              <a:ext uri="{FF2B5EF4-FFF2-40B4-BE49-F238E27FC236}">
                <a16:creationId xmlns:a16="http://schemas.microsoft.com/office/drawing/2014/main" id="{A9B18E34-5A62-4749-8632-CA2D732FA553}"/>
              </a:ext>
            </a:extLst>
          </p:cNvPr>
          <p:cNvSpPr>
            <a:spLocks xmlns:a="http://schemas.openxmlformats.org/drawingml/2006/main" noGrp="1"/>
          </p:cNvSpPr>
          <p:nvPr/>
        </p:nvSpPr>
        <p:spPr>
          <a:xfrm xmlns:a="http://schemas.openxmlformats.org/drawingml/2006/main">
            <a:off x="419100" y="2257425"/>
            <a:ext cx="619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1">
                <a:solidFill>
                  <a:srgbClr val="111111"/>
                </a:solidFill>
                <a:latin typeface="Arial"/>
                <a:ea typeface="Arial"/>
                <a:cs typeface="Arial"/>
              </a:defRPr>
            </a:pPr>
            <a:r>
              <a:rPr sz="1950" b="1">
                <a:solidFill>
                  <a:srgbClr val="111111"/>
                </a:solidFill>
                <a:latin typeface="Arial"/>
                <a:ea typeface="Arial"/>
                <a:cs typeface="Arial"/>
              </a:rPr>
              <a:t>Problem Statement ID: SIH26183</a:t>
            </a:r>
          </a:p>
        </p:txBody>
      </p:sp>
      <p:sp>
        <p:nvSpPr>
          <p:cNvPr id="41" name="">
            <a:extLst xmlns:a="http://schemas.openxmlformats.org/drawingml/2006/main">
              <a:ext uri="{FF2B5EF4-FFF2-40B4-BE49-F238E27FC236}">
                <a16:creationId xmlns:a16="http://schemas.microsoft.com/office/drawing/2014/main" id="{7E137E0E-949B-49C2-8A86-C6F7E0C07CC0}"/>
              </a:ext>
            </a:extLst>
          </p:cNvPr>
          <p:cNvSpPr>
            <a:spLocks xmlns:a="http://schemas.openxmlformats.org/drawingml/2006/main" noGrp="1"/>
          </p:cNvSpPr>
          <p:nvPr/>
        </p:nvSpPr>
        <p:spPr>
          <a:xfrm xmlns:a="http://schemas.openxmlformats.org/drawingml/2006/main">
            <a:off x="419100" y="2724150"/>
            <a:ext cx="619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1">
                <a:solidFill>
                  <a:srgbClr val="111111"/>
                </a:solidFill>
                <a:latin typeface="Arial"/>
                <a:ea typeface="Arial"/>
                <a:cs typeface="Arial"/>
              </a:defRPr>
            </a:pPr>
            <a:r>
              <a:rPr sz="1950" b="1">
                <a:solidFill>
                  <a:srgbClr val="111111"/>
                </a:solidFill>
                <a:latin typeface="Arial"/>
                <a:ea typeface="Arial"/>
                <a:cs typeface="Arial"/>
              </a:rPr>
              <a:t>Problem Statement Title</a:t>
            </a:r>
          </a:p>
        </p:txBody>
      </p:sp>
      <p:sp>
        <p:nvSpPr>
          <p:cNvPr id="42" name="">
            <a:extLst xmlns:a="http://schemas.openxmlformats.org/drawingml/2006/main">
              <a:ext uri="{FF2B5EF4-FFF2-40B4-BE49-F238E27FC236}">
                <a16:creationId xmlns:a16="http://schemas.microsoft.com/office/drawing/2014/main" id="{55A05076-0D4B-4F3B-BD10-3291F2BDC157}"/>
              </a:ext>
            </a:extLst>
          </p:cNvPr>
          <p:cNvSpPr>
            <a:spLocks xmlns:a="http://schemas.openxmlformats.org/drawingml/2006/main" noGrp="1"/>
          </p:cNvSpPr>
          <p:nvPr/>
        </p:nvSpPr>
        <p:spPr>
          <a:xfrm xmlns:a="http://schemas.openxmlformats.org/drawingml/2006/main">
            <a:off x="419100" y="3105150"/>
            <a:ext cx="6105525"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0">
                <a:solidFill>
                  <a:srgbClr val="111111"/>
                </a:solidFill>
                <a:latin typeface="Arial"/>
                <a:ea typeface="Arial"/>
                <a:cs typeface="Arial"/>
              </a:defRPr>
            </a:pPr>
            <a:r>
              <a:rPr sz="1875" b="0">
                <a:solidFill>
                  <a:srgbClr val="111111"/>
                </a:solidFill>
                <a:latin typeface="Arial"/>
                <a:ea typeface="Arial"/>
                <a:cs typeface="Arial"/>
              </a:rPr>
              <a:t>Real-Time Identification of Fraud-Linked Cryptocurrency Exchanges from Victim-Reported Suspect Wallet Addresses through Automated Blockchain Analytics</a:t>
            </a:r>
          </a:p>
        </p:txBody>
      </p:sp>
      <p:sp>
        <p:nvSpPr>
          <p:cNvPr id="43" name="">
            <a:extLst xmlns:a="http://schemas.openxmlformats.org/drawingml/2006/main">
              <a:ext uri="{FF2B5EF4-FFF2-40B4-BE49-F238E27FC236}">
                <a16:creationId xmlns:a16="http://schemas.microsoft.com/office/drawing/2014/main" id="{7EE23670-E471-4C1F-A3CE-8FA7C93781A9}"/>
              </a:ext>
            </a:extLst>
          </p:cNvPr>
          <p:cNvSpPr>
            <a:spLocks xmlns:a="http://schemas.openxmlformats.org/drawingml/2006/main" noGrp="1"/>
          </p:cNvSpPr>
          <p:nvPr/>
        </p:nvSpPr>
        <p:spPr>
          <a:xfrm xmlns:a="http://schemas.openxmlformats.org/drawingml/2006/main">
            <a:off x="419100" y="4600575"/>
            <a:ext cx="619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a:solidFill>
                  <a:srgbClr val="111111"/>
                </a:solidFill>
                <a:latin typeface="Arial"/>
                <a:ea typeface="Arial"/>
                <a:cs typeface="Arial"/>
              </a:defRPr>
            </a:pPr>
            <a:r>
              <a:rPr sz="1875" b="1">
                <a:solidFill>
                  <a:srgbClr val="111111"/>
                </a:solidFill>
                <a:latin typeface="Arial"/>
                <a:ea typeface="Arial"/>
                <a:cs typeface="Arial"/>
              </a:rPr>
              <a:t>Theme: Blockchain &amp; Cybersecurity</a:t>
            </a:r>
          </a:p>
        </p:txBody>
      </p:sp>
      <p:sp>
        <p:nvSpPr>
          <p:cNvPr id="44" name="">
            <a:extLst xmlns:a="http://schemas.openxmlformats.org/drawingml/2006/main">
              <a:ext uri="{FF2B5EF4-FFF2-40B4-BE49-F238E27FC236}">
                <a16:creationId xmlns:a16="http://schemas.microsoft.com/office/drawing/2014/main" id="{2477B7E1-BC27-402C-B80E-B848C87F2C99}"/>
              </a:ext>
            </a:extLst>
          </p:cNvPr>
          <p:cNvSpPr>
            <a:spLocks xmlns:a="http://schemas.openxmlformats.org/drawingml/2006/main" noGrp="1"/>
          </p:cNvSpPr>
          <p:nvPr/>
        </p:nvSpPr>
        <p:spPr>
          <a:xfrm xmlns:a="http://schemas.openxmlformats.org/drawingml/2006/main">
            <a:off x="419100" y="5019675"/>
            <a:ext cx="619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a:solidFill>
                  <a:srgbClr val="111111"/>
                </a:solidFill>
                <a:latin typeface="Arial"/>
                <a:ea typeface="Arial"/>
                <a:cs typeface="Arial"/>
              </a:defRPr>
            </a:pPr>
            <a:r>
              <a:rPr sz="1875" b="1">
                <a:solidFill>
                  <a:srgbClr val="111111"/>
                </a:solidFill>
                <a:latin typeface="Arial"/>
                <a:ea typeface="Arial"/>
                <a:cs typeface="Arial"/>
              </a:rPr>
              <a:t>PS Category: Software</a:t>
            </a:r>
          </a:p>
        </p:txBody>
      </p:sp>
      <p:sp>
        <p:nvSpPr>
          <p:cNvPr id="45" name="">
            <a:extLst xmlns:a="http://schemas.openxmlformats.org/drawingml/2006/main">
              <a:ext uri="{FF2B5EF4-FFF2-40B4-BE49-F238E27FC236}">
                <a16:creationId xmlns:a16="http://schemas.microsoft.com/office/drawing/2014/main" id="{29E5C58E-5097-4EC9-B46C-5DDC0BE191EE}"/>
              </a:ext>
            </a:extLst>
          </p:cNvPr>
          <p:cNvSpPr>
            <a:spLocks xmlns:a="http://schemas.openxmlformats.org/drawingml/2006/main" noGrp="1"/>
          </p:cNvSpPr>
          <p:nvPr/>
        </p:nvSpPr>
        <p:spPr>
          <a:xfrm xmlns:a="http://schemas.openxmlformats.org/drawingml/2006/main">
            <a:off x="419100" y="5438775"/>
            <a:ext cx="619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a:solidFill>
                  <a:srgbClr val="1F497D"/>
                </a:solidFill>
                <a:latin typeface="Arial"/>
                <a:ea typeface="Arial"/>
                <a:cs typeface="Arial"/>
              </a:defRPr>
            </a:pPr>
            <a:r>
              <a:rPr sz="1875" b="1">
                <a:solidFill>
                  <a:srgbClr val="1F497D"/>
                </a:solidFill>
                <a:latin typeface="Arial"/>
                <a:ea typeface="Arial"/>
                <a:cs typeface="Arial"/>
              </a:rPr>
              <a:t>Team ID: [ENTER REGISTERED TEAM ID]</a:t>
            </a:r>
          </a:p>
        </p:txBody>
      </p:sp>
      <p:sp>
        <p:nvSpPr>
          <p:cNvPr id="46" name="">
            <a:extLst xmlns:a="http://schemas.openxmlformats.org/drawingml/2006/main">
              <a:ext uri="{FF2B5EF4-FFF2-40B4-BE49-F238E27FC236}">
                <a16:creationId xmlns:a16="http://schemas.microsoft.com/office/drawing/2014/main" id="{D8F9E9C3-381D-480D-A0AE-8EB3834518EB}"/>
              </a:ext>
            </a:extLst>
          </p:cNvPr>
          <p:cNvSpPr>
            <a:spLocks xmlns:a="http://schemas.openxmlformats.org/drawingml/2006/main" noGrp="1"/>
          </p:cNvSpPr>
          <p:nvPr/>
        </p:nvSpPr>
        <p:spPr>
          <a:xfrm xmlns:a="http://schemas.openxmlformats.org/drawingml/2006/main">
            <a:off x="419100" y="5857875"/>
            <a:ext cx="61912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a:solidFill>
                  <a:srgbClr val="111111"/>
                </a:solidFill>
                <a:latin typeface="Arial"/>
                <a:ea typeface="Arial"/>
                <a:cs typeface="Arial"/>
              </a:defRPr>
            </a:pPr>
            <a:r>
              <a:rPr sz="1875" b="1">
                <a:solidFill>
                  <a:srgbClr val="111111"/>
                </a:solidFill>
                <a:latin typeface="Arial"/>
                <a:ea typeface="Arial"/>
                <a:cs typeface="Arial"/>
              </a:rPr>
              <a:t>Team Name (Registered on portal):</a:t>
            </a:r>
          </a:p>
          <a:p xmlns:a="http://schemas.openxmlformats.org/drawingml/2006/main">
            <a:pPr algn="l">
              <a:buNone/>
              <a:defRPr sz="1875" b="1">
                <a:solidFill>
                  <a:srgbClr val="111111"/>
                </a:solidFill>
                <a:latin typeface="Arial"/>
                <a:ea typeface="Arial"/>
                <a:cs typeface="Arial"/>
              </a:defRPr>
            </a:pPr>
            <a:r>
              <a:rPr sz="1875" b="1">
                <a:solidFill>
                  <a:srgbClr val="111111"/>
                </a:solidFill>
                <a:latin typeface="Arial"/>
                <a:ea typeface="Arial"/>
                <a:cs typeface="Arial"/>
              </a:rPr>
              <a:t>COLD COFFEE</a:t>
            </a:r>
          </a:p>
        </p:txBody>
      </p:sp>
      <p:pic>
        <p:nvPicPr>
          <p:cNvPr id="62" name=""/>
          <p:cNvPicPr>
            <a:picLocks xmlns:a="http://schemas.openxmlformats.org/drawingml/2006/main" noChangeAspect="1"/>
          </p:cNvPicPr>
          <p:nvPr/>
        </p:nvPicPr>
        <p:blipFill>
          <a:blip xmlns:r="http://schemas.openxmlformats.org/officeDocument/2006/relationships" xmlns:a="http://schemas.openxmlformats.org/drawingml/2006/main" r:embed="R7d25fa5936824205"/>
          <a:stretch xmlns:a="http://schemas.openxmlformats.org/drawingml/2006/main"/>
        </p:blipFill>
        <p:spPr>
          <a:xfrm xmlns:a="http://schemas.openxmlformats.org/drawingml/2006/main">
            <a:off x="9780080" y="1528"/>
            <a:ext cx="2249805" cy="1062316"/>
          </a:xfrm>
          <a:prstGeom xmlns:a="http://schemas.openxmlformats.org/drawingml/2006/main" prst="rect">
            <a:avLst/>
          </a:prstGeom>
        </p:spPr>
      </p:pic>
    </p:spTree>
    <p:extLst>
      <p:ext uri="{BB962C8B-B14F-4D97-AF65-F5344CB8AC3E}">
        <p14:creationId xmlns:p14="http://schemas.microsoft.com/office/powerpoint/2010/main" val="131680548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9" name="Rectangle 8">
            <a:extLst xmlns:a="http://schemas.openxmlformats.org/drawingml/2006/main">
              <a:ext uri="{FF2B5EF4-FFF2-40B4-BE49-F238E27FC236}">
                <a16:creationId xmlns:a16="http://schemas.microsoft.com/office/drawing/2014/main" id="{915E94DF-84DB-41C3-A888-5C0F4A5F41C6}"/>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endParaRPr>
              <a:solidFill>
                <a:schemeClr val="accent2">
                  <a:lumMod val="75000"/>
                </a:schemeClr>
              </a:solidFill>
              <a:latin typeface="+mn-lt"/>
              <a:ea typeface="+mn-lt"/>
              <a:cs typeface="+mn-lt"/>
            </a:endParaRPr>
          </a:p>
        </p:txBody>
      </p:sp>
      <p:sp>
        <p:nvSpPr>
          <p:cNvPr id="15361" name="Title 1">
            <a:extLst xmlns:a="http://schemas.openxmlformats.org/drawingml/2006/main">
              <a:ext uri="{FF2B5EF4-FFF2-40B4-BE49-F238E27FC236}">
                <a16:creationId xmlns:a16="http://schemas.microsoft.com/office/drawing/2014/main" id="{78B98809-A4D4-4887-8466-AA0DA3781CC9}"/>
              </a:ext>
            </a:extLst>
          </p:cNvPr>
          <p:cNvSpPr>
            <a:spLocks xmlns:a="http://schemas.openxmlformats.org/drawingml/2006/main" noGrp="1"/>
          </p:cNvSpPr>
          <p:nvPr>
            <p:ph type="title" idx="0"/>
          </p:nvPr>
        </p:nvSpPr>
        <p:spPr>
          <a:xfrm xmlns:a="http://schemas.openxmlformats.org/drawingml/2006/main">
            <a:off x="1752600" y="247650"/>
            <a:ext cx="7924800" cy="723900"/>
          </a:xfrm>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3450" b="1">
                <a:solidFill>
                  <a:srgbClr val="000000"/>
                </a:solidFill>
                <a:latin typeface="Times New Roman"/>
                <a:ea typeface="Times New Roman"/>
                <a:cs typeface="Times New Roman"/>
              </a:defRPr>
            </a:pPr>
            <a:r>
              <a:rPr sz="3450" b="1">
                <a:solidFill>
                  <a:srgbClr val="000000"/>
                </a:solidFill>
                <a:latin typeface="Times New Roman"/>
                <a:ea typeface="Times New Roman"/>
                <a:cs typeface="Times New Roman"/>
              </a:rPr>
              <a:t>AEGIS FORENSICS</a:t>
            </a:r>
          </a:p>
        </p:txBody>
      </p:sp>
      <p:sp>
        <p:nvSpPr>
          <p:cNvPr id="6" name="Slide Number Placeholder 5">
            <a:extLst xmlns:a="http://schemas.openxmlformats.org/drawingml/2006/main">
              <a:ext uri="{FF2B5EF4-FFF2-40B4-BE49-F238E27FC236}">
                <a16:creationId xmlns:a16="http://schemas.microsoft.com/office/drawing/2014/main" id="{F43CD4B6-0F36-4340-AD2A-FFE9FA1D7872}"/>
              </a:ext>
            </a:extLst>
          </p:cNvPr>
          <p:cNvSpPr>
            <a:spLocks xmlns:a="http://schemas.openxmlformats.org/drawingml/2006/main" noGrp="1"/>
          </p:cNvSpPr>
          <p:nvPr>
            <p:ph type="sldNum" idx="12"/>
          </p:nvPr>
        </p:nvSpPr>
        <p:spPr>
          <a:xfrm xmlns:a="http://schemas.openxmlformats.org/drawingml/2006/main">
            <a:off x="11382375" y="6457950"/>
            <a:ext cx="381000" cy="238125"/>
          </a:xfrm>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1">
                <a:solidFill>
                  <a:srgbClr val="FFFFFF"/>
                </a:solidFill>
                <a:latin typeface="Arial"/>
                <a:ea typeface="Arial"/>
                <a:cs typeface="Arial"/>
              </a:defRPr>
            </a:pPr>
            <a:fld id="{E2598689-54C9-18A7-3A19-ED76AA08988F}" type="slidenum">
              <a:rPr sz="1275" b="1">
                <a:solidFill>
                  <a:srgbClr val="FFFFFF"/>
                </a:solidFill>
                <a:latin typeface="Arial"/>
                <a:ea typeface="Arial"/>
                <a:cs typeface="Arial"/>
              </a:rPr>
              <a:t>2</a:t>
            </a:fld>
            <a:endParaRPr b="1">
              <a:solidFill>
                <a:schemeClr val="bg1"/>
              </a:solidFill>
            </a:endParaRPr>
          </a:p>
        </p:txBody>
      </p:sp>
      <p:sp>
        <p:nvSpPr>
          <p:cNvPr id="7" name="Footer Placeholder 6">
            <a:extLst xmlns:a="http://schemas.openxmlformats.org/drawingml/2006/main">
              <a:ext uri="{FF2B5EF4-FFF2-40B4-BE49-F238E27FC236}">
                <a16:creationId xmlns:a16="http://schemas.microsoft.com/office/drawing/2014/main" id="{17F0B20C-F2DD-47B9-B160-8AE0B0EFE3AC}"/>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a:buNone/>
            </a:pPr>
            <a:r>
              <a:rPr>
                <a:solidFill>
                  <a:schemeClr val="bg1"/>
                </a:solidFill>
              </a:rPr>
              <a:t>@SIH Idea submission- Template</a:t>
            </a:r>
            <a:endParaRPr>
              <a:solidFill>
                <a:schemeClr val="bg1"/>
              </a:solidFill>
            </a:endParaRPr>
          </a:p>
        </p:txBody>
      </p:sp>
      <p:sp>
        <p:nvSpPr>
          <p:cNvPr id="10" name="Oval 9">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56" y="252222"/>
            <a:ext cx="1251871" cy="807339"/>
          </a:xfrm>
          <a:prstGeom xmlns:a="http://schemas.openxmlformats.org/drawingml/2006/main" prst="ellipse">
            <a:avLst/>
          </a:prstGeom>
          <a:solidFill xmlns:a="http://schemas.openxmlformats.org/drawingml/2006/main">
            <a:srgbClr val="FFFFFF"/>
          </a:solidFill>
          <a:ln xmlns:a="http://schemas.openxmlformats.org/drawingml/2006/main" w="19050">
            <a:solidFill>
              <a:srgbClr val="8064A2"/>
            </a:solidFill>
          </a:ln>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425" b="1">
                <a:solidFill>
                  <a:srgbClr val="111111"/>
                </a:solidFill>
                <a:latin typeface="Arial"/>
                <a:ea typeface="Arial"/>
                <a:cs typeface="Arial"/>
              </a:defRPr>
            </a:pPr>
            <a:r>
              <a:rPr sz="1425" b="1">
                <a:solidFill>
                  <a:srgbClr val="111111"/>
                </a:solidFill>
                <a:latin typeface="Arial"/>
                <a:ea typeface="Arial"/>
                <a:cs typeface="Arial"/>
              </a:rPr>
              <a:t>COLD</a:t>
            </a:r>
            <a:endParaRPr/>
          </a:p>
          <a:p xmlns:a="http://schemas.openxmlformats.org/drawingml/2006/main">
            <a:pPr algn="ctr">
              <a:buNone/>
              <a:defRPr sz="1425" b="1">
                <a:solidFill>
                  <a:srgbClr val="111111"/>
                </a:solidFill>
                <a:latin typeface="Arial"/>
                <a:ea typeface="Arial"/>
                <a:cs typeface="Arial"/>
              </a:defRPr>
            </a:pPr>
            <a:r>
              <a:rPr sz="1425" b="1">
                <a:solidFill>
                  <a:srgbClr val="111111"/>
                </a:solidFill>
                <a:latin typeface="Arial"/>
                <a:ea typeface="Arial"/>
                <a:cs typeface="Arial"/>
              </a:rPr>
              <a:t>COFFEE</a:t>
            </a:r>
            <a:endParaRPr/>
          </a:p>
        </p:txBody>
      </p:sp>
      <p:pic>
        <p:nvPicPr>
          <p:cNvPr id="15400" name=""/>
          <p:cNvPicPr>
            <a:picLocks xmlns:a="http://schemas.openxmlformats.org/drawingml/2006/main" noChangeAspect="1"/>
          </p:cNvPicPr>
          <p:nvPr/>
        </p:nvPicPr>
        <p:blipFill>
          <a:blip xmlns:r="http://schemas.openxmlformats.org/officeDocument/2006/relationships" xmlns:a="http://schemas.openxmlformats.org/drawingml/2006/main" r:embed="R863cebefa650451c"/>
          <a:stretch xmlns:a="http://schemas.openxmlformats.org/drawingml/2006/main"/>
        </p:blipFill>
        <p:spPr>
          <a:xfrm xmlns:a="http://schemas.openxmlformats.org/drawingml/2006/main">
            <a:off x="9780080" y="1528"/>
            <a:ext cx="2249805" cy="1062316"/>
          </a:xfrm>
          <a:prstGeom xmlns:a="http://schemas.openxmlformats.org/drawingml/2006/main" prst="rect">
            <a:avLst/>
          </a:prstGeom>
        </p:spPr>
      </p:pic>
      <p:sp>
        <p:nvSpPr>
          <p:cNvPr id="15372" name="">
            <a:extLst xmlns:a="http://schemas.openxmlformats.org/drawingml/2006/main">
              <a:ext uri="{FF2B5EF4-FFF2-40B4-BE49-F238E27FC236}">
                <a16:creationId xmlns:a16="http://schemas.microsoft.com/office/drawing/2014/main" id="{89A7ED95-9DE9-4519-8FDA-11EA2CFEB691}"/>
              </a:ext>
            </a:extLst>
          </p:cNvPr>
          <p:cNvSpPr>
            <a:spLocks xmlns:a="http://schemas.openxmlformats.org/drawingml/2006/main" noGrp="1"/>
          </p:cNvSpPr>
          <p:nvPr/>
        </p:nvSpPr>
        <p:spPr>
          <a:xfrm xmlns:a="http://schemas.openxmlformats.org/drawingml/2006/main">
            <a:off x="609600" y="132397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F497D"/>
                </a:solidFill>
                <a:latin typeface="Arial"/>
                <a:ea typeface="Arial"/>
                <a:cs typeface="Arial"/>
              </a:defRPr>
            </a:pPr>
            <a:r>
              <a:rPr sz="2100" b="1">
                <a:solidFill>
                  <a:srgbClr val="1F497D"/>
                </a:solidFill>
                <a:latin typeface="Arial"/>
                <a:ea typeface="Arial"/>
                <a:cs typeface="Arial"/>
              </a:rPr>
              <a:t>Proposed Solution (Describe your Idea/Solution/Prototype)</a:t>
            </a:r>
          </a:p>
        </p:txBody>
      </p:sp>
      <p:sp>
        <p:nvSpPr>
          <p:cNvPr id="15373" name="">
            <a:extLst xmlns:a="http://schemas.openxmlformats.org/drawingml/2006/main">
              <a:ext uri="{FF2B5EF4-FFF2-40B4-BE49-F238E27FC236}">
                <a16:creationId xmlns:a16="http://schemas.microsoft.com/office/drawing/2014/main" id="{805A81D0-606A-4B67-8032-176E60D424E9}"/>
              </a:ext>
            </a:extLst>
          </p:cNvPr>
          <p:cNvSpPr>
            <a:spLocks xmlns:a="http://schemas.openxmlformats.org/drawingml/2006/main" noGrp="1"/>
          </p:cNvSpPr>
          <p:nvPr/>
        </p:nvSpPr>
        <p:spPr>
          <a:xfrm xmlns:a="http://schemas.openxmlformats.org/drawingml/2006/main">
            <a:off x="609600" y="181927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F497D"/>
                </a:solidFill>
                <a:latin typeface="Arial"/>
                <a:ea typeface="Arial"/>
                <a:cs typeface="Arial"/>
              </a:defRPr>
            </a:pPr>
            <a:r>
              <a:rPr sz="1950" b="1">
                <a:solidFill>
                  <a:srgbClr val="1F497D"/>
                </a:solidFill>
                <a:latin typeface="Arial"/>
                <a:ea typeface="Arial"/>
                <a:cs typeface="Arial"/>
              </a:rPr>
              <a:t>Detailed explanation of the proposed solution</a:t>
            </a:r>
          </a:p>
        </p:txBody>
      </p:sp>
      <p:sp>
        <p:nvSpPr>
          <p:cNvPr id="15374" name="Reported wallet">
            <a:extLst xmlns:a="http://schemas.openxmlformats.org/drawingml/2006/main">
              <a:ext uri="{FF2B5EF4-FFF2-40B4-BE49-F238E27FC236}">
                <a16:creationId xmlns:a16="http://schemas.microsoft.com/office/drawing/2014/main" id="{AB52E7CD-C783-4EDA-8CC6-43197ACE906D}"/>
              </a:ext>
            </a:extLst>
          </p:cNvPr>
          <p:cNvSpPr>
            <a:spLocks xmlns:a="http://schemas.openxmlformats.org/drawingml/2006/main" noGrp="1"/>
          </p:cNvSpPr>
          <p:nvPr/>
        </p:nvSpPr>
        <p:spPr>
          <a:xfrm xmlns:a="http://schemas.openxmlformats.org/drawingml/2006/main">
            <a:off x="609600" y="2324100"/>
            <a:ext cx="2362200" cy="1162050"/>
          </a:xfrm>
          <a:prstGeom xmlns:a="http://schemas.openxmlformats.org/drawingml/2006/main" prst="rect">
            <a:avLst/>
          </a:prstGeom>
          <a:solidFill xmlns:a="http://schemas.openxmlformats.org/drawingml/2006/main">
            <a:srgbClr val="F4F8FC"/>
          </a:solidFill>
          <a:ln xmlns:a="http://schemas.openxmlformats.org/drawingml/2006/main" w="19050">
            <a:solidFill>
              <a:srgbClr val="0070C0"/>
            </a:solidFill>
          </a:ln>
        </p:spPr>
      </p:sp>
      <p:sp>
        <p:nvSpPr>
          <p:cNvPr id="15375" name="">
            <a:extLst xmlns:a="http://schemas.openxmlformats.org/drawingml/2006/main">
              <a:ext uri="{FF2B5EF4-FFF2-40B4-BE49-F238E27FC236}">
                <a16:creationId xmlns:a16="http://schemas.microsoft.com/office/drawing/2014/main" id="{4647009B-C8DB-4190-A925-AF2D216BFF1D}"/>
              </a:ext>
            </a:extLst>
          </p:cNvPr>
          <p:cNvSpPr>
            <a:spLocks xmlns:a="http://schemas.openxmlformats.org/drawingml/2006/main" noGrp="1"/>
          </p:cNvSpPr>
          <p:nvPr/>
        </p:nvSpPr>
        <p:spPr>
          <a:xfrm xmlns:a="http://schemas.openxmlformats.org/drawingml/2006/main">
            <a:off x="723900" y="2466975"/>
            <a:ext cx="2133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1">
                <a:solidFill>
                  <a:srgbClr val="1F497D"/>
                </a:solidFill>
                <a:latin typeface="Arial"/>
                <a:ea typeface="Arial"/>
                <a:cs typeface="Arial"/>
              </a:defRPr>
            </a:pPr>
            <a:r>
              <a:rPr sz="1800" b="1">
                <a:solidFill>
                  <a:srgbClr val="1F497D"/>
                </a:solidFill>
                <a:latin typeface="Arial"/>
                <a:ea typeface="Arial"/>
                <a:cs typeface="Arial"/>
              </a:rPr>
              <a:t>Reported wallet</a:t>
            </a:r>
          </a:p>
        </p:txBody>
      </p:sp>
      <p:sp>
        <p:nvSpPr>
          <p:cNvPr id="15376" name="">
            <a:extLst xmlns:a="http://schemas.openxmlformats.org/drawingml/2006/main">
              <a:ext uri="{FF2B5EF4-FFF2-40B4-BE49-F238E27FC236}">
                <a16:creationId xmlns:a16="http://schemas.microsoft.com/office/drawing/2014/main" id="{771FE9F0-F950-42B4-AFE6-5ED3697501F2}"/>
              </a:ext>
            </a:extLst>
          </p:cNvPr>
          <p:cNvSpPr>
            <a:spLocks xmlns:a="http://schemas.openxmlformats.org/drawingml/2006/main" noGrp="1"/>
          </p:cNvSpPr>
          <p:nvPr/>
        </p:nvSpPr>
        <p:spPr>
          <a:xfrm xmlns:a="http://schemas.openxmlformats.org/drawingml/2006/main">
            <a:off x="723900" y="2809875"/>
            <a:ext cx="2133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650" b="0">
                <a:solidFill>
                  <a:srgbClr val="17212B"/>
                </a:solidFill>
                <a:latin typeface="Arial"/>
                <a:ea typeface="Arial"/>
                <a:cs typeface="Arial"/>
              </a:defRPr>
            </a:pPr>
            <a:r>
              <a:rPr sz="1650" b="0">
                <a:solidFill>
                  <a:srgbClr val="17212B"/>
                </a:solidFill>
                <a:latin typeface="Arial"/>
                <a:ea typeface="Arial"/>
                <a:cs typeface="Arial"/>
              </a:rPr>
              <a:t>Complaint and</a:t>
            </a:r>
          </a:p>
          <a:p xmlns:a="http://schemas.openxmlformats.org/drawingml/2006/main">
            <a:pPr algn="ctr">
              <a:defRPr sz="1650" b="0">
                <a:solidFill>
                  <a:srgbClr val="17212B"/>
                </a:solidFill>
                <a:latin typeface="Arial"/>
                <a:ea typeface="Arial"/>
                <a:cs typeface="Arial"/>
              </a:defRPr>
            </a:pPr>
            <a:r>
              <a:rPr sz="1650" b="0">
                <a:solidFill>
                  <a:srgbClr val="17212B"/>
                </a:solidFill>
                <a:latin typeface="Arial"/>
                <a:ea typeface="Arial"/>
                <a:cs typeface="Arial"/>
              </a:rPr>
              <a:t>case context</a:t>
            </a:r>
          </a:p>
        </p:txBody>
      </p:sp>
      <p:sp>
        <p:nvSpPr>
          <p:cNvPr id="15377" name="Intermediary hops">
            <a:extLst xmlns:a="http://schemas.openxmlformats.org/drawingml/2006/main">
              <a:ext uri="{FF2B5EF4-FFF2-40B4-BE49-F238E27FC236}">
                <a16:creationId xmlns:a16="http://schemas.microsoft.com/office/drawing/2014/main" id="{DF6591BF-187D-46C1-8DAD-4802E1EBD506}"/>
              </a:ext>
            </a:extLst>
          </p:cNvPr>
          <p:cNvSpPr>
            <a:spLocks xmlns:a="http://schemas.openxmlformats.org/drawingml/2006/main" noGrp="1"/>
          </p:cNvSpPr>
          <p:nvPr/>
        </p:nvSpPr>
        <p:spPr>
          <a:xfrm xmlns:a="http://schemas.openxmlformats.org/drawingml/2006/main">
            <a:off x="3467100" y="2324100"/>
            <a:ext cx="2362200" cy="1162050"/>
          </a:xfrm>
          <a:prstGeom xmlns:a="http://schemas.openxmlformats.org/drawingml/2006/main" prst="rect">
            <a:avLst/>
          </a:prstGeom>
          <a:solidFill xmlns:a="http://schemas.openxmlformats.org/drawingml/2006/main">
            <a:srgbClr val="F4F8FC"/>
          </a:solidFill>
          <a:ln xmlns:a="http://schemas.openxmlformats.org/drawingml/2006/main" w="19050">
            <a:solidFill>
              <a:srgbClr val="0070C0"/>
            </a:solidFill>
          </a:ln>
        </p:spPr>
      </p:sp>
      <p:sp>
        <p:nvSpPr>
          <p:cNvPr id="15378" name="">
            <a:extLst xmlns:a="http://schemas.openxmlformats.org/drawingml/2006/main">
              <a:ext uri="{FF2B5EF4-FFF2-40B4-BE49-F238E27FC236}">
                <a16:creationId xmlns:a16="http://schemas.microsoft.com/office/drawing/2014/main" id="{0A58060E-45F4-4E09-B908-8301C5AFA2B6}"/>
              </a:ext>
            </a:extLst>
          </p:cNvPr>
          <p:cNvSpPr>
            <a:spLocks xmlns:a="http://schemas.openxmlformats.org/drawingml/2006/main" noGrp="1"/>
          </p:cNvSpPr>
          <p:nvPr/>
        </p:nvSpPr>
        <p:spPr>
          <a:xfrm xmlns:a="http://schemas.openxmlformats.org/drawingml/2006/main">
            <a:off x="3581400" y="2466975"/>
            <a:ext cx="2133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1">
                <a:solidFill>
                  <a:srgbClr val="1F497D"/>
                </a:solidFill>
                <a:latin typeface="Arial"/>
                <a:ea typeface="Arial"/>
                <a:cs typeface="Arial"/>
              </a:defRPr>
            </a:pPr>
            <a:r>
              <a:rPr sz="1800" b="1">
                <a:solidFill>
                  <a:srgbClr val="1F497D"/>
                </a:solidFill>
                <a:latin typeface="Arial"/>
                <a:ea typeface="Arial"/>
                <a:cs typeface="Arial"/>
              </a:rPr>
              <a:t>Intermediary hops</a:t>
            </a:r>
          </a:p>
        </p:txBody>
      </p:sp>
      <p:sp>
        <p:nvSpPr>
          <p:cNvPr id="15379" name="">
            <a:extLst xmlns:a="http://schemas.openxmlformats.org/drawingml/2006/main">
              <a:ext uri="{FF2B5EF4-FFF2-40B4-BE49-F238E27FC236}">
                <a16:creationId xmlns:a16="http://schemas.microsoft.com/office/drawing/2014/main" id="{B12A86B8-9DBD-481F-B4C7-00491807D595}"/>
              </a:ext>
            </a:extLst>
          </p:cNvPr>
          <p:cNvSpPr>
            <a:spLocks xmlns:a="http://schemas.openxmlformats.org/drawingml/2006/main" noGrp="1"/>
          </p:cNvSpPr>
          <p:nvPr/>
        </p:nvSpPr>
        <p:spPr>
          <a:xfrm xmlns:a="http://schemas.openxmlformats.org/drawingml/2006/main">
            <a:off x="3581400" y="2809875"/>
            <a:ext cx="2133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650" b="0">
                <a:solidFill>
                  <a:srgbClr val="17212B"/>
                </a:solidFill>
                <a:latin typeface="Arial"/>
                <a:ea typeface="Arial"/>
                <a:cs typeface="Arial"/>
              </a:defRPr>
            </a:pPr>
            <a:r>
              <a:rPr sz="1650" b="0">
                <a:solidFill>
                  <a:srgbClr val="17212B"/>
                </a:solidFill>
                <a:latin typeface="Arial"/>
                <a:ea typeface="Arial"/>
                <a:cs typeface="Arial"/>
              </a:rPr>
              <a:t>Trace outgoing</a:t>
            </a:r>
          </a:p>
          <a:p xmlns:a="http://schemas.openxmlformats.org/drawingml/2006/main">
            <a:pPr algn="ctr">
              <a:defRPr sz="1650" b="0">
                <a:solidFill>
                  <a:srgbClr val="17212B"/>
                </a:solidFill>
                <a:latin typeface="Arial"/>
                <a:ea typeface="Arial"/>
                <a:cs typeface="Arial"/>
              </a:defRPr>
            </a:pPr>
            <a:r>
              <a:rPr sz="1650" b="0">
                <a:solidFill>
                  <a:srgbClr val="17212B"/>
                </a:solidFill>
                <a:latin typeface="Arial"/>
                <a:ea typeface="Arial"/>
                <a:cs typeface="Arial"/>
              </a:rPr>
              <a:t>fund movement</a:t>
            </a:r>
          </a:p>
        </p:txBody>
      </p:sp>
      <p:sp>
        <p:nvSpPr>
          <p:cNvPr id="15380" name="Receiving VASP">
            <a:extLst xmlns:a="http://schemas.openxmlformats.org/drawingml/2006/main">
              <a:ext uri="{FF2B5EF4-FFF2-40B4-BE49-F238E27FC236}">
                <a16:creationId xmlns:a16="http://schemas.microsoft.com/office/drawing/2014/main" id="{A2F6A0F9-1DD5-4EE2-BC4C-9F1BE565EB8F}"/>
              </a:ext>
            </a:extLst>
          </p:cNvPr>
          <p:cNvSpPr>
            <a:spLocks xmlns:a="http://schemas.openxmlformats.org/drawingml/2006/main" noGrp="1"/>
          </p:cNvSpPr>
          <p:nvPr/>
        </p:nvSpPr>
        <p:spPr>
          <a:xfrm xmlns:a="http://schemas.openxmlformats.org/drawingml/2006/main">
            <a:off x="6324600" y="2324100"/>
            <a:ext cx="2362200" cy="1162050"/>
          </a:xfrm>
          <a:prstGeom xmlns:a="http://schemas.openxmlformats.org/drawingml/2006/main" prst="rect">
            <a:avLst/>
          </a:prstGeom>
          <a:solidFill xmlns:a="http://schemas.openxmlformats.org/drawingml/2006/main">
            <a:srgbClr val="F4F8FC"/>
          </a:solidFill>
          <a:ln xmlns:a="http://schemas.openxmlformats.org/drawingml/2006/main" w="19050">
            <a:solidFill>
              <a:srgbClr val="0070C0"/>
            </a:solidFill>
          </a:ln>
        </p:spPr>
      </p:sp>
      <p:sp>
        <p:nvSpPr>
          <p:cNvPr id="15381" name="">
            <a:extLst xmlns:a="http://schemas.openxmlformats.org/drawingml/2006/main">
              <a:ext uri="{FF2B5EF4-FFF2-40B4-BE49-F238E27FC236}">
                <a16:creationId xmlns:a16="http://schemas.microsoft.com/office/drawing/2014/main" id="{2EBB01F4-22B3-4DAA-A61B-7C303E46942A}"/>
              </a:ext>
            </a:extLst>
          </p:cNvPr>
          <p:cNvSpPr>
            <a:spLocks xmlns:a="http://schemas.openxmlformats.org/drawingml/2006/main" noGrp="1"/>
          </p:cNvSpPr>
          <p:nvPr/>
        </p:nvSpPr>
        <p:spPr>
          <a:xfrm xmlns:a="http://schemas.openxmlformats.org/drawingml/2006/main">
            <a:off x="6438900" y="2466975"/>
            <a:ext cx="2133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1">
                <a:solidFill>
                  <a:srgbClr val="1F497D"/>
                </a:solidFill>
                <a:latin typeface="Arial"/>
                <a:ea typeface="Arial"/>
                <a:cs typeface="Arial"/>
              </a:defRPr>
            </a:pPr>
            <a:r>
              <a:rPr sz="1800" b="1">
                <a:solidFill>
                  <a:srgbClr val="1F497D"/>
                </a:solidFill>
                <a:latin typeface="Arial"/>
                <a:ea typeface="Arial"/>
                <a:cs typeface="Arial"/>
              </a:rPr>
              <a:t>Receiving VASP</a:t>
            </a:r>
          </a:p>
        </p:txBody>
      </p:sp>
      <p:sp>
        <p:nvSpPr>
          <p:cNvPr id="15382" name="">
            <a:extLst xmlns:a="http://schemas.openxmlformats.org/drawingml/2006/main">
              <a:ext uri="{FF2B5EF4-FFF2-40B4-BE49-F238E27FC236}">
                <a16:creationId xmlns:a16="http://schemas.microsoft.com/office/drawing/2014/main" id="{6344D51A-1C47-4F77-9171-7745E44A3B24}"/>
              </a:ext>
            </a:extLst>
          </p:cNvPr>
          <p:cNvSpPr>
            <a:spLocks xmlns:a="http://schemas.openxmlformats.org/drawingml/2006/main" noGrp="1"/>
          </p:cNvSpPr>
          <p:nvPr/>
        </p:nvSpPr>
        <p:spPr>
          <a:xfrm xmlns:a="http://schemas.openxmlformats.org/drawingml/2006/main">
            <a:off x="6438900" y="2809875"/>
            <a:ext cx="2133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650" b="0">
                <a:solidFill>
                  <a:srgbClr val="17212B"/>
                </a:solidFill>
                <a:latin typeface="Arial"/>
                <a:ea typeface="Arial"/>
                <a:cs typeface="Arial"/>
              </a:defRPr>
            </a:pPr>
            <a:r>
              <a:rPr sz="1650" b="0">
                <a:solidFill>
                  <a:srgbClr val="17212B"/>
                </a:solidFill>
                <a:latin typeface="Arial"/>
                <a:ea typeface="Arial"/>
                <a:cs typeface="Arial"/>
              </a:rPr>
              <a:t>First supported</a:t>
            </a:r>
          </a:p>
          <a:p xmlns:a="http://schemas.openxmlformats.org/drawingml/2006/main">
            <a:pPr algn="ctr">
              <a:defRPr sz="1650" b="0">
                <a:solidFill>
                  <a:srgbClr val="17212B"/>
                </a:solidFill>
                <a:latin typeface="Arial"/>
                <a:ea typeface="Arial"/>
                <a:cs typeface="Arial"/>
              </a:defRPr>
            </a:pPr>
            <a:r>
              <a:rPr sz="1650" b="0">
                <a:solidFill>
                  <a:srgbClr val="17212B"/>
                </a:solidFill>
                <a:latin typeface="Arial"/>
                <a:ea typeface="Arial"/>
                <a:cs typeface="Arial"/>
              </a:rPr>
              <a:t>candidate per path</a:t>
            </a:r>
          </a:p>
        </p:txBody>
      </p:sp>
      <p:sp>
        <p:nvSpPr>
          <p:cNvPr id="15383" name="Investigator lead">
            <a:extLst xmlns:a="http://schemas.openxmlformats.org/drawingml/2006/main">
              <a:ext uri="{FF2B5EF4-FFF2-40B4-BE49-F238E27FC236}">
                <a16:creationId xmlns:a16="http://schemas.microsoft.com/office/drawing/2014/main" id="{24B94832-74C9-4E67-B3A6-E572E4338380}"/>
              </a:ext>
            </a:extLst>
          </p:cNvPr>
          <p:cNvSpPr>
            <a:spLocks xmlns:a="http://schemas.openxmlformats.org/drawingml/2006/main" noGrp="1"/>
          </p:cNvSpPr>
          <p:nvPr/>
        </p:nvSpPr>
        <p:spPr>
          <a:xfrm xmlns:a="http://schemas.openxmlformats.org/drawingml/2006/main">
            <a:off x="9182100" y="2324100"/>
            <a:ext cx="2362200" cy="1162050"/>
          </a:xfrm>
          <a:prstGeom xmlns:a="http://schemas.openxmlformats.org/drawingml/2006/main" prst="rect">
            <a:avLst/>
          </a:prstGeom>
          <a:solidFill xmlns:a="http://schemas.openxmlformats.org/drawingml/2006/main">
            <a:srgbClr val="F4F8FC"/>
          </a:solidFill>
          <a:ln xmlns:a="http://schemas.openxmlformats.org/drawingml/2006/main" w="19050">
            <a:solidFill>
              <a:srgbClr val="0070C0"/>
            </a:solidFill>
          </a:ln>
        </p:spPr>
      </p:sp>
      <p:sp>
        <p:nvSpPr>
          <p:cNvPr id="15384" name="">
            <a:extLst xmlns:a="http://schemas.openxmlformats.org/drawingml/2006/main">
              <a:ext uri="{FF2B5EF4-FFF2-40B4-BE49-F238E27FC236}">
                <a16:creationId xmlns:a16="http://schemas.microsoft.com/office/drawing/2014/main" id="{4AE1C863-7756-4B65-A13F-B934F96BC0C6}"/>
              </a:ext>
            </a:extLst>
          </p:cNvPr>
          <p:cNvSpPr>
            <a:spLocks xmlns:a="http://schemas.openxmlformats.org/drawingml/2006/main" noGrp="1"/>
          </p:cNvSpPr>
          <p:nvPr/>
        </p:nvSpPr>
        <p:spPr>
          <a:xfrm xmlns:a="http://schemas.openxmlformats.org/drawingml/2006/main">
            <a:off x="9296400" y="2466975"/>
            <a:ext cx="2133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1">
                <a:solidFill>
                  <a:srgbClr val="1F497D"/>
                </a:solidFill>
                <a:latin typeface="Arial"/>
                <a:ea typeface="Arial"/>
                <a:cs typeface="Arial"/>
              </a:defRPr>
            </a:pPr>
            <a:r>
              <a:rPr sz="1800" b="1">
                <a:solidFill>
                  <a:srgbClr val="1F497D"/>
                </a:solidFill>
                <a:latin typeface="Arial"/>
                <a:ea typeface="Arial"/>
                <a:cs typeface="Arial"/>
              </a:rPr>
              <a:t>Investigator lead</a:t>
            </a:r>
          </a:p>
        </p:txBody>
      </p:sp>
      <p:sp>
        <p:nvSpPr>
          <p:cNvPr id="15385" name="">
            <a:extLst xmlns:a="http://schemas.openxmlformats.org/drawingml/2006/main">
              <a:ext uri="{FF2B5EF4-FFF2-40B4-BE49-F238E27FC236}">
                <a16:creationId xmlns:a16="http://schemas.microsoft.com/office/drawing/2014/main" id="{C55392B9-ADDF-4736-B21F-7DCF9AE9EBB6}"/>
              </a:ext>
            </a:extLst>
          </p:cNvPr>
          <p:cNvSpPr>
            <a:spLocks xmlns:a="http://schemas.openxmlformats.org/drawingml/2006/main" noGrp="1"/>
          </p:cNvSpPr>
          <p:nvPr/>
        </p:nvSpPr>
        <p:spPr>
          <a:xfrm xmlns:a="http://schemas.openxmlformats.org/drawingml/2006/main">
            <a:off x="9296400" y="2809875"/>
            <a:ext cx="2133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650" b="0">
                <a:solidFill>
                  <a:srgbClr val="17212B"/>
                </a:solidFill>
                <a:latin typeface="Arial"/>
                <a:ea typeface="Arial"/>
                <a:cs typeface="Arial"/>
              </a:defRPr>
            </a:pPr>
            <a:r>
              <a:rPr sz="1650" b="0">
                <a:solidFill>
                  <a:srgbClr val="17212B"/>
                </a:solidFill>
                <a:latin typeface="Arial"/>
                <a:ea typeface="Arial"/>
                <a:cs typeface="Arial"/>
              </a:rPr>
              <a:t>Fund trail, sources</a:t>
            </a:r>
          </a:p>
          <a:p xmlns:a="http://schemas.openxmlformats.org/drawingml/2006/main">
            <a:pPr algn="ctr">
              <a:defRPr sz="1650" b="0">
                <a:solidFill>
                  <a:srgbClr val="17212B"/>
                </a:solidFill>
                <a:latin typeface="Arial"/>
                <a:ea typeface="Arial"/>
                <a:cs typeface="Arial"/>
              </a:defRPr>
            </a:pPr>
            <a:r>
              <a:rPr sz="1650" b="0">
                <a:solidFill>
                  <a:srgbClr val="17212B"/>
                </a:solidFill>
                <a:latin typeface="Arial"/>
                <a:ea typeface="Arial"/>
                <a:cs typeface="Arial"/>
              </a:rPr>
              <a:t>and next action</a:t>
            </a:r>
          </a:p>
        </p:txBody>
      </p:sp>
      <p:cxnSp>
        <p:nvCxnSpPr>
          <p:cNvPr id="15415" name=""/>
          <p:cNvCxnSpPr>
            <a:stCxn xmlns:a="http://schemas.openxmlformats.org/drawingml/2006/main" id="15374" idx="3"/>
            <a:endCxn xmlns:a="http://schemas.openxmlformats.org/drawingml/2006/main" id="15377" idx="1"/>
          </p:cNvCxnSpPr>
          <p:nvPr/>
        </p:nvCxnSpPr>
        <p:spPr>
          <a:xfrm xmlns:a="http://schemas.openxmlformats.org/drawingml/2006/main">
            <a:off x="2971800" y="2905125"/>
            <a:ext cx="495300" cy="0"/>
          </a:xfrm>
          <a:prstGeom xmlns:a="http://schemas.openxmlformats.org/drawingml/2006/main" prst="straightConnector1">
            <a:avLst/>
          </a:prstGeom>
          <a:ln xmlns:a="http://schemas.openxmlformats.org/drawingml/2006/main" w="28575">
            <a:solidFill>
              <a:srgbClr val="0070C0"/>
            </a:solidFill>
            <a:prstDash val="solid"/>
            <a:tailEnd type="triangle" w="lg" len="lg"/>
          </a:ln>
        </p:spPr>
      </p:cxnSp>
      <p:cxnSp>
        <p:nvCxnSpPr>
          <p:cNvPr id="15416" name=""/>
          <p:cNvCxnSpPr>
            <a:stCxn xmlns:a="http://schemas.openxmlformats.org/drawingml/2006/main" id="15377" idx="3"/>
            <a:endCxn xmlns:a="http://schemas.openxmlformats.org/drawingml/2006/main" id="15380" idx="1"/>
          </p:cNvCxnSpPr>
          <p:nvPr/>
        </p:nvCxnSpPr>
        <p:spPr>
          <a:xfrm xmlns:a="http://schemas.openxmlformats.org/drawingml/2006/main">
            <a:off x="5829300" y="2905125"/>
            <a:ext cx="495300" cy="0"/>
          </a:xfrm>
          <a:prstGeom xmlns:a="http://schemas.openxmlformats.org/drawingml/2006/main" prst="straightConnector1">
            <a:avLst/>
          </a:prstGeom>
          <a:ln xmlns:a="http://schemas.openxmlformats.org/drawingml/2006/main" w="28575">
            <a:solidFill>
              <a:srgbClr val="0070C0"/>
            </a:solidFill>
            <a:prstDash val="solid"/>
            <a:tailEnd type="triangle" w="lg" len="lg"/>
          </a:ln>
        </p:spPr>
      </p:cxnSp>
      <p:cxnSp>
        <p:nvCxnSpPr>
          <p:cNvPr id="15417" name=""/>
          <p:cNvCxnSpPr>
            <a:stCxn xmlns:a="http://schemas.openxmlformats.org/drawingml/2006/main" id="15380" idx="3"/>
            <a:endCxn xmlns:a="http://schemas.openxmlformats.org/drawingml/2006/main" id="15383" idx="1"/>
          </p:cNvCxnSpPr>
          <p:nvPr/>
        </p:nvCxnSpPr>
        <p:spPr>
          <a:xfrm xmlns:a="http://schemas.openxmlformats.org/drawingml/2006/main">
            <a:off x="8686800" y="2905125"/>
            <a:ext cx="495300" cy="0"/>
          </a:xfrm>
          <a:prstGeom xmlns:a="http://schemas.openxmlformats.org/drawingml/2006/main" prst="straightConnector1">
            <a:avLst/>
          </a:prstGeom>
          <a:ln xmlns:a="http://schemas.openxmlformats.org/drawingml/2006/main" w="28575">
            <a:solidFill>
              <a:srgbClr val="0070C0"/>
            </a:solidFill>
            <a:prstDash val="solid"/>
            <a:tailEnd type="triangle" w="lg" len="lg"/>
          </a:ln>
        </p:spPr>
      </p:cxnSp>
      <p:sp>
        <p:nvSpPr>
          <p:cNvPr id="15389" name="">
            <a:extLst xmlns:a="http://schemas.openxmlformats.org/drawingml/2006/main">
              <a:ext uri="{FF2B5EF4-FFF2-40B4-BE49-F238E27FC236}">
                <a16:creationId xmlns:a16="http://schemas.microsoft.com/office/drawing/2014/main" id="{7E8D5951-6C60-4233-84E6-5BCD7096F473}"/>
              </a:ext>
            </a:extLst>
          </p:cNvPr>
          <p:cNvSpPr>
            <a:spLocks xmlns:a="http://schemas.openxmlformats.org/drawingml/2006/main" noGrp="1"/>
          </p:cNvSpPr>
          <p:nvPr/>
        </p:nvSpPr>
        <p:spPr>
          <a:xfrm xmlns:a="http://schemas.openxmlformats.org/drawingml/2006/main">
            <a:off x="609600" y="381952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F497D"/>
                </a:solidFill>
                <a:latin typeface="Arial"/>
                <a:ea typeface="Arial"/>
                <a:cs typeface="Arial"/>
              </a:defRPr>
            </a:pPr>
            <a:r>
              <a:rPr sz="2025" b="1">
                <a:solidFill>
                  <a:srgbClr val="1F497D"/>
                </a:solidFill>
                <a:latin typeface="Arial"/>
                <a:ea typeface="Arial"/>
                <a:cs typeface="Arial"/>
              </a:rPr>
              <a:t>How it addresses the problem</a:t>
            </a:r>
          </a:p>
        </p:txBody>
      </p:sp>
      <p:sp>
        <p:nvSpPr>
          <p:cNvPr id="15390" name="">
            <a:extLst xmlns:a="http://schemas.openxmlformats.org/drawingml/2006/main">
              <a:ext uri="{FF2B5EF4-FFF2-40B4-BE49-F238E27FC236}">
                <a16:creationId xmlns:a16="http://schemas.microsoft.com/office/drawing/2014/main" id="{FDB9BCE7-A8EA-427E-9B83-6A567C534DC9}"/>
              </a:ext>
            </a:extLst>
          </p:cNvPr>
          <p:cNvSpPr>
            <a:spLocks xmlns:a="http://schemas.openxmlformats.org/drawingml/2006/main" noGrp="1"/>
          </p:cNvSpPr>
          <p:nvPr/>
        </p:nvSpPr>
        <p:spPr>
          <a:xfrm xmlns:a="http://schemas.openxmlformats.org/drawingml/2006/main">
            <a:off x="723900" y="42100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212B"/>
                </a:solidFill>
                <a:latin typeface="Arial"/>
                <a:ea typeface="Arial"/>
                <a:cs typeface="Arial"/>
              </a:defRPr>
            </a:pPr>
            <a:r>
              <a:rPr sz="1800" b="0">
                <a:solidFill>
                  <a:srgbClr val="17212B"/>
                </a:solidFill>
                <a:latin typeface="Arial"/>
                <a:ea typeface="Arial"/>
                <a:cs typeface="Arial"/>
              </a:rPr>
              <a:t>Continuous monitoring will alert investigators when funds move or a receiving VASP appears.</a:t>
            </a:r>
          </a:p>
        </p:txBody>
      </p:sp>
      <p:sp>
        <p:nvSpPr>
          <p:cNvPr id="15391" name="">
            <a:extLst xmlns:a="http://schemas.openxmlformats.org/drawingml/2006/main">
              <a:ext uri="{FF2B5EF4-FFF2-40B4-BE49-F238E27FC236}">
                <a16:creationId xmlns:a16="http://schemas.microsoft.com/office/drawing/2014/main" id="{44F1FE8C-861F-4360-85DB-E34F767D532E}"/>
              </a:ext>
            </a:extLst>
          </p:cNvPr>
          <p:cNvSpPr>
            <a:spLocks xmlns:a="http://schemas.openxmlformats.org/drawingml/2006/main" noGrp="1"/>
          </p:cNvSpPr>
          <p:nvPr/>
        </p:nvSpPr>
        <p:spPr>
          <a:xfrm xmlns:a="http://schemas.openxmlformats.org/drawingml/2006/main">
            <a:off x="723900" y="4562475"/>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212B"/>
                </a:solidFill>
                <a:latin typeface="Arial"/>
                <a:ea typeface="Arial"/>
                <a:cs typeface="Arial"/>
              </a:defRPr>
            </a:pPr>
            <a:r>
              <a:rPr sz="1800" b="0">
                <a:solidFill>
                  <a:srgbClr val="17212B"/>
                </a:solidFill>
                <a:latin typeface="Arial"/>
                <a:ea typeface="Arial"/>
                <a:cs typeface="Arial"/>
              </a:rPr>
              <a:t>A case report will support review, preservation requests and coordination with the VASP.</a:t>
            </a:r>
          </a:p>
        </p:txBody>
      </p:sp>
      <p:sp>
        <p:nvSpPr>
          <p:cNvPr id="15392" name="">
            <a:extLst xmlns:a="http://schemas.openxmlformats.org/drawingml/2006/main">
              <a:ext uri="{FF2B5EF4-FFF2-40B4-BE49-F238E27FC236}">
                <a16:creationId xmlns:a16="http://schemas.microsoft.com/office/drawing/2014/main" id="{C9C20844-F4D1-42D0-9F0B-543D1657EFAC}"/>
              </a:ext>
            </a:extLst>
          </p:cNvPr>
          <p:cNvSpPr>
            <a:spLocks xmlns:a="http://schemas.openxmlformats.org/drawingml/2006/main" noGrp="1"/>
          </p:cNvSpPr>
          <p:nvPr/>
        </p:nvSpPr>
        <p:spPr>
          <a:xfrm xmlns:a="http://schemas.openxmlformats.org/drawingml/2006/main">
            <a:off x="609600" y="513397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F497D"/>
                </a:solidFill>
                <a:latin typeface="Arial"/>
                <a:ea typeface="Arial"/>
                <a:cs typeface="Arial"/>
              </a:defRPr>
            </a:pPr>
            <a:r>
              <a:rPr sz="2025" b="1">
                <a:solidFill>
                  <a:srgbClr val="1F497D"/>
                </a:solidFill>
                <a:latin typeface="Arial"/>
                <a:ea typeface="Arial"/>
                <a:cs typeface="Arial"/>
              </a:rPr>
              <a:t>Innovation and uniqueness of the solution</a:t>
            </a:r>
          </a:p>
        </p:txBody>
      </p:sp>
      <p:sp>
        <p:nvSpPr>
          <p:cNvPr id="15393" name="">
            <a:extLst xmlns:a="http://schemas.openxmlformats.org/drawingml/2006/main">
              <a:ext uri="{FF2B5EF4-FFF2-40B4-BE49-F238E27FC236}">
                <a16:creationId xmlns:a16="http://schemas.microsoft.com/office/drawing/2014/main" id="{8CD0F492-2FEA-4AB7-B9A9-4582A1FCB52F}"/>
              </a:ext>
            </a:extLst>
          </p:cNvPr>
          <p:cNvSpPr>
            <a:spLocks xmlns:a="http://schemas.openxmlformats.org/drawingml/2006/main" noGrp="1"/>
          </p:cNvSpPr>
          <p:nvPr/>
        </p:nvSpPr>
        <p:spPr>
          <a:xfrm xmlns:a="http://schemas.openxmlformats.org/drawingml/2006/main">
            <a:off x="723900" y="5514975"/>
            <a:ext cx="1076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212B"/>
                </a:solidFill>
                <a:latin typeface="Arial"/>
                <a:ea typeface="Arial"/>
                <a:cs typeface="Arial"/>
              </a:defRPr>
            </a:pPr>
            <a:r>
              <a:rPr sz="1800" b="0">
                <a:solidFill>
                  <a:srgbClr val="17212B"/>
                </a:solidFill>
                <a:latin typeface="Arial"/>
                <a:ea typeface="Arial"/>
                <a:cs typeface="Arial"/>
              </a:rPr>
              <a:t>Each lead links the transaction path to attribution sources and an investigative next step.</a:t>
            </a:r>
          </a:p>
        </p:txBody>
      </p:sp>
      <p:sp>
        <p:nvSpPr>
          <p:cNvPr id="15394" name="">
            <a:extLst xmlns:a="http://schemas.openxmlformats.org/drawingml/2006/main">
              <a:ext uri="{FF2B5EF4-FFF2-40B4-BE49-F238E27FC236}">
                <a16:creationId xmlns:a16="http://schemas.microsoft.com/office/drawing/2014/main" id="{AAEB7C35-295C-435D-857B-F56DF992BA7F}"/>
              </a:ext>
            </a:extLst>
          </p:cNvPr>
          <p:cNvSpPr>
            <a:spLocks xmlns:a="http://schemas.openxmlformats.org/drawingml/2006/main" noGrp="1"/>
          </p:cNvSpPr>
          <p:nvPr/>
        </p:nvSpPr>
        <p:spPr>
          <a:xfrm xmlns:a="http://schemas.openxmlformats.org/drawingml/2006/main">
            <a:off x="723900" y="5838825"/>
            <a:ext cx="1076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212B"/>
                </a:solidFill>
                <a:latin typeface="Arial"/>
                <a:ea typeface="Arial"/>
                <a:cs typeface="Arial"/>
              </a:defRPr>
            </a:pPr>
            <a:r>
              <a:rPr sz="1800" b="0">
                <a:solidFill>
                  <a:srgbClr val="17212B"/>
                </a:solidFill>
                <a:latin typeface="Arial"/>
                <a:ea typeface="Arial"/>
                <a:cs typeface="Arial"/>
              </a:rPr>
              <a:t>New transactions and revised labels will update findings while preserving earlier analysis.</a:t>
            </a:r>
          </a:p>
        </p:txBody>
      </p:sp>
    </p:spTree>
    <p:extLst>
      <p:ext uri="{BB962C8B-B14F-4D97-AF65-F5344CB8AC3E}">
        <p14:creationId xmlns:p14="http://schemas.microsoft.com/office/powerpoint/2010/main" val="1468900823"/>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endParaRPr>
              <a:solidFill>
                <a:schemeClr val="accent2">
                  <a:lumMod val="75000"/>
                </a:schemeClr>
              </a:solidFill>
              <a:latin typeface="+mn-lt"/>
              <a:ea typeface="+mn-lt"/>
              <a:cs typeface="+mn-lt"/>
            </a:endParaRPr>
          </a:p>
        </p:txBody>
      </p:sp>
      <p:sp>
        <p:nvSpPr>
          <p:cNvPr id="17409" name="Title 1">
            <a:extLst xmlns:a="http://schemas.openxmlformats.org/drawingml/2006/main">
              <a:ext uri="{FF2B5EF4-FFF2-40B4-BE49-F238E27FC236}">
                <a16:creationId xmlns:a16="http://schemas.microsoft.com/office/drawing/2014/main" id="{4659298A-8907-4994-847D-1977F97E960F}"/>
              </a:ext>
            </a:extLst>
          </p:cNvPr>
          <p:cNvSpPr>
            <a:spLocks xmlns:a="http://schemas.openxmlformats.org/drawingml/2006/main" noGrp="1"/>
          </p:cNvSpPr>
          <p:nvPr>
            <p:ph type="title" idx="0"/>
          </p:nvPr>
        </p:nvSpPr>
        <p:spPr>
          <a:xfrm xmlns:a="http://schemas.openxmlformats.org/drawingml/2006/main">
            <a:off x="1752600" y="247650"/>
            <a:ext cx="7924800" cy="723900"/>
          </a:xfrm>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3450" b="1">
                <a:solidFill>
                  <a:srgbClr val="000000"/>
                </a:solidFill>
                <a:latin typeface="Times New Roman"/>
                <a:ea typeface="Times New Roman"/>
                <a:cs typeface="Times New Roman"/>
              </a:defRPr>
            </a:pPr>
            <a:r>
              <a:rPr sz="3450" b="1">
                <a:solidFill>
                  <a:srgbClr val="000000"/>
                </a:solidFill>
                <a:latin typeface="Times New Roman"/>
                <a:ea typeface="Times New Roman"/>
                <a:cs typeface="Times New Roman"/>
              </a:rPr>
              <a:t>TECHNICAL APPROACH</a:t>
            </a:r>
          </a:p>
        </p:txBody>
      </p:sp>
      <p:sp>
        <p:nvSpPr>
          <p:cNvPr id="6" name="Slide Number Placeholder 5">
            <a:extLst xmlns:a="http://schemas.openxmlformats.org/drawingml/2006/main">
              <a:ext uri="{FF2B5EF4-FFF2-40B4-BE49-F238E27FC236}">
                <a16:creationId xmlns:a16="http://schemas.microsoft.com/office/drawing/2014/main" id="{608A6E31-70D7-4C14-BFD9-E3BFC3A647B2}"/>
              </a:ext>
            </a:extLst>
          </p:cNvPr>
          <p:cNvSpPr>
            <a:spLocks xmlns:a="http://schemas.openxmlformats.org/drawingml/2006/main" noGrp="1"/>
          </p:cNvSpPr>
          <p:nvPr>
            <p:ph type="sldNum" idx="12"/>
          </p:nvPr>
        </p:nvSpPr>
        <p:spPr>
          <a:xfrm xmlns:a="http://schemas.openxmlformats.org/drawingml/2006/main">
            <a:off x="11382375" y="6457950"/>
            <a:ext cx="381000" cy="238125"/>
          </a:xfrm>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1">
                <a:solidFill>
                  <a:srgbClr val="FFFFFF"/>
                </a:solidFill>
                <a:latin typeface="Arial"/>
                <a:ea typeface="Arial"/>
                <a:cs typeface="Arial"/>
              </a:defRPr>
            </a:pPr>
            <a:fld id="{202359C0-8A7A-196E-DD58-8E6569619F09}" type="slidenum">
              <a:rPr sz="1275" b="1">
                <a:solidFill>
                  <a:srgbClr val="FFFFFF"/>
                </a:solidFill>
                <a:latin typeface="Arial"/>
                <a:ea typeface="Arial"/>
                <a:cs typeface="Arial"/>
              </a:rPr>
              <a:t>3</a:t>
            </a:fld>
            <a:endParaRPr b="1">
              <a:solidFill>
                <a:schemeClr val="bg1"/>
              </a:solidFill>
            </a:endParaRPr>
          </a:p>
        </p:txBody>
      </p:sp>
      <p:sp>
        <p:nvSpPr>
          <p:cNvPr id="7" name="Footer Placeholder 6">
            <a:extLst xmlns:a="http://schemas.openxmlformats.org/drawingml/2006/main">
              <a:ext uri="{FF2B5EF4-FFF2-40B4-BE49-F238E27FC236}">
                <a16:creationId xmlns:a16="http://schemas.microsoft.com/office/drawing/2014/main" id="{D8A9522A-D5B8-4D95-B350-0BE5E6B12C76}"/>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a:buNone/>
            </a:pPr>
            <a:r>
              <a:rPr>
                <a:solidFill>
                  <a:schemeClr val="bg1"/>
                </a:solidFill>
              </a:rPr>
              <a:t>@SIH Idea submission- Template</a:t>
            </a:r>
            <a:endParaRPr>
              <a:solidFill>
                <a:schemeClr val="bg1"/>
              </a:solidFill>
            </a:endParaRPr>
          </a:p>
        </p:txBody>
      </p:sp>
      <p:sp>
        <p:nvSpPr>
          <p:cNvPr id="11" name="Oval 10">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56" y="252222"/>
            <a:ext cx="1251871" cy="807339"/>
          </a:xfrm>
          <a:prstGeom xmlns:a="http://schemas.openxmlformats.org/drawingml/2006/main" prst="ellipse">
            <a:avLst/>
          </a:prstGeom>
          <a:solidFill xmlns:a="http://schemas.openxmlformats.org/drawingml/2006/main">
            <a:srgbClr val="FFFFFF"/>
          </a:solidFill>
          <a:ln xmlns:a="http://schemas.openxmlformats.org/drawingml/2006/main" w="19050">
            <a:solidFill>
              <a:srgbClr val="8064A2"/>
            </a:solidFill>
          </a:ln>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425" b="1">
                <a:solidFill>
                  <a:srgbClr val="111111"/>
                </a:solidFill>
                <a:latin typeface="Arial"/>
                <a:ea typeface="Arial"/>
                <a:cs typeface="Arial"/>
              </a:defRPr>
            </a:pPr>
            <a:r>
              <a:rPr sz="1425" b="1">
                <a:solidFill>
                  <a:srgbClr val="111111"/>
                </a:solidFill>
                <a:latin typeface="Arial"/>
                <a:ea typeface="Arial"/>
                <a:cs typeface="Arial"/>
              </a:rPr>
              <a:t>COLD</a:t>
            </a:r>
            <a:endParaRPr/>
          </a:p>
          <a:p xmlns:a="http://schemas.openxmlformats.org/drawingml/2006/main">
            <a:pPr algn="ctr">
              <a:buNone/>
              <a:defRPr sz="1425" b="1">
                <a:solidFill>
                  <a:srgbClr val="111111"/>
                </a:solidFill>
                <a:latin typeface="Arial"/>
                <a:ea typeface="Arial"/>
                <a:cs typeface="Arial"/>
              </a:defRPr>
            </a:pPr>
            <a:r>
              <a:rPr sz="1425" b="1">
                <a:solidFill>
                  <a:srgbClr val="111111"/>
                </a:solidFill>
                <a:latin typeface="Arial"/>
                <a:ea typeface="Arial"/>
                <a:cs typeface="Arial"/>
              </a:rPr>
              <a:t>COFFEE</a:t>
            </a:r>
            <a:endParaRPr/>
          </a:p>
        </p:txBody>
      </p:sp>
      <p:pic>
        <p:nvPicPr>
          <p:cNvPr id="17451" name=""/>
          <p:cNvPicPr>
            <a:picLocks xmlns:a="http://schemas.openxmlformats.org/drawingml/2006/main" noChangeAspect="1"/>
          </p:cNvPicPr>
          <p:nvPr/>
        </p:nvPicPr>
        <p:blipFill>
          <a:blip xmlns:r="http://schemas.openxmlformats.org/officeDocument/2006/relationships" xmlns:a="http://schemas.openxmlformats.org/drawingml/2006/main" r:embed="R03909a5c4e6d4e5e"/>
          <a:stretch xmlns:a="http://schemas.openxmlformats.org/drawingml/2006/main"/>
        </p:blipFill>
        <p:spPr>
          <a:xfrm xmlns:a="http://schemas.openxmlformats.org/drawingml/2006/main">
            <a:off x="9780080" y="1528"/>
            <a:ext cx="2249805" cy="1062316"/>
          </a:xfrm>
          <a:prstGeom xmlns:a="http://schemas.openxmlformats.org/drawingml/2006/main" prst="rect">
            <a:avLst/>
          </a:prstGeom>
        </p:spPr>
      </p:pic>
      <p:sp>
        <p:nvSpPr>
          <p:cNvPr id="17419" name="">
            <a:extLst xmlns:a="http://schemas.openxmlformats.org/drawingml/2006/main">
              <a:ext uri="{FF2B5EF4-FFF2-40B4-BE49-F238E27FC236}">
                <a16:creationId xmlns:a16="http://schemas.microsoft.com/office/drawing/2014/main" id="{2E8ED51E-EF61-42D1-9972-449AC9C694A2}"/>
              </a:ext>
            </a:extLst>
          </p:cNvPr>
          <p:cNvSpPr>
            <a:spLocks xmlns:a="http://schemas.openxmlformats.org/drawingml/2006/main" noGrp="1"/>
          </p:cNvSpPr>
          <p:nvPr/>
        </p:nvSpPr>
        <p:spPr>
          <a:xfrm xmlns:a="http://schemas.openxmlformats.org/drawingml/2006/main">
            <a:off x="609600" y="13716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F497D"/>
                </a:solidFill>
                <a:latin typeface="Arial"/>
                <a:ea typeface="Arial"/>
                <a:cs typeface="Arial"/>
              </a:defRPr>
            </a:pPr>
            <a:r>
              <a:rPr sz="2025" b="1">
                <a:solidFill>
                  <a:srgbClr val="1F497D"/>
                </a:solidFill>
                <a:latin typeface="Arial"/>
                <a:ea typeface="Arial"/>
                <a:cs typeface="Arial"/>
              </a:rPr>
              <a:t>Technologies to be used</a:t>
            </a:r>
          </a:p>
        </p:txBody>
      </p:sp>
      <p:sp>
        <p:nvSpPr>
          <p:cNvPr id="17420" name="">
            <a:extLst xmlns:a="http://schemas.openxmlformats.org/drawingml/2006/main">
              <a:ext uri="{FF2B5EF4-FFF2-40B4-BE49-F238E27FC236}">
                <a16:creationId xmlns:a16="http://schemas.microsoft.com/office/drawing/2014/main" id="{FC9917E4-A673-4AEC-ADAA-E5BBC9890D89}"/>
              </a:ext>
            </a:extLst>
          </p:cNvPr>
          <p:cNvSpPr>
            <a:spLocks xmlns:a="http://schemas.openxmlformats.org/drawingml/2006/main" noGrp="1"/>
          </p:cNvSpPr>
          <p:nvPr/>
        </p:nvSpPr>
        <p:spPr>
          <a:xfrm xmlns:a="http://schemas.openxmlformats.org/drawingml/2006/main">
            <a:off x="723900" y="1762125"/>
            <a:ext cx="10763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212B"/>
                </a:solidFill>
                <a:latin typeface="Arial"/>
                <a:ea typeface="Arial"/>
                <a:cs typeface="Arial"/>
              </a:defRPr>
            </a:pPr>
            <a:r>
              <a:rPr sz="1800" b="0">
                <a:solidFill>
                  <a:srgbClr val="17212B"/>
                </a:solidFill>
                <a:latin typeface="Arial"/>
                <a:ea typeface="Arial"/>
                <a:cs typeface="Arial"/>
              </a:rPr>
              <a:t>React dashboard and FastAPI services, queued workers, incremental transaction indexing,</a:t>
            </a:r>
          </a:p>
        </p:txBody>
      </p:sp>
      <p:sp>
        <p:nvSpPr>
          <p:cNvPr id="17421" name="">
            <a:extLst xmlns:a="http://schemas.openxmlformats.org/drawingml/2006/main">
              <a:ext uri="{FF2B5EF4-FFF2-40B4-BE49-F238E27FC236}">
                <a16:creationId xmlns:a16="http://schemas.microsoft.com/office/drawing/2014/main" id="{81FA825A-8B48-4B5D-84F7-ADF8B5D8C126}"/>
              </a:ext>
            </a:extLst>
          </p:cNvPr>
          <p:cNvSpPr>
            <a:spLocks xmlns:a="http://schemas.openxmlformats.org/drawingml/2006/main" noGrp="1"/>
          </p:cNvSpPr>
          <p:nvPr/>
        </p:nvSpPr>
        <p:spPr>
          <a:xfrm xmlns:a="http://schemas.openxmlformats.org/drawingml/2006/main">
            <a:off x="723900" y="2095500"/>
            <a:ext cx="10763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212B"/>
                </a:solidFill>
                <a:latin typeface="Arial"/>
                <a:ea typeface="Arial"/>
                <a:cs typeface="Arial"/>
              </a:defRPr>
            </a:pPr>
            <a:r>
              <a:rPr sz="1800" b="0">
                <a:solidFill>
                  <a:srgbClr val="17212B"/>
                </a:solidFill>
                <a:latin typeface="Arial"/>
                <a:ea typeface="Arial"/>
                <a:cs typeface="Arial"/>
              </a:rPr>
              <a:t>persistent case storage and a versioned VASP-label registry.</a:t>
            </a:r>
          </a:p>
        </p:txBody>
      </p:sp>
      <p:sp>
        <p:nvSpPr>
          <p:cNvPr id="17422" name="">
            <a:extLst xmlns:a="http://schemas.openxmlformats.org/drawingml/2006/main">
              <a:ext uri="{FF2B5EF4-FFF2-40B4-BE49-F238E27FC236}">
                <a16:creationId xmlns:a16="http://schemas.microsoft.com/office/drawing/2014/main" id="{606C94F5-DE12-42D0-BC92-78E4CB0381E4}"/>
              </a:ext>
            </a:extLst>
          </p:cNvPr>
          <p:cNvSpPr>
            <a:spLocks xmlns:a="http://schemas.openxmlformats.org/drawingml/2006/main" noGrp="1"/>
          </p:cNvSpPr>
          <p:nvPr/>
        </p:nvSpPr>
        <p:spPr>
          <a:xfrm xmlns:a="http://schemas.openxmlformats.org/drawingml/2006/main">
            <a:off x="609600" y="26098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F497D"/>
                </a:solidFill>
                <a:latin typeface="Arial"/>
                <a:ea typeface="Arial"/>
                <a:cs typeface="Arial"/>
              </a:defRPr>
            </a:pPr>
            <a:r>
              <a:rPr sz="2025" b="1">
                <a:solidFill>
                  <a:srgbClr val="1F497D"/>
                </a:solidFill>
                <a:latin typeface="Arial"/>
                <a:ea typeface="Arial"/>
                <a:cs typeface="Arial"/>
              </a:rPr>
              <a:t>Methodology and process for implementation</a:t>
            </a:r>
          </a:p>
        </p:txBody>
      </p:sp>
      <p:sp>
        <p:nvSpPr>
          <p:cNvPr id="17423" name="Chain adapters">
            <a:extLst xmlns:a="http://schemas.openxmlformats.org/drawingml/2006/main">
              <a:ext uri="{FF2B5EF4-FFF2-40B4-BE49-F238E27FC236}">
                <a16:creationId xmlns:a16="http://schemas.microsoft.com/office/drawing/2014/main" id="{7DCE6480-2A67-4BF6-A124-94CB5A022A3F}"/>
              </a:ext>
            </a:extLst>
          </p:cNvPr>
          <p:cNvSpPr>
            <a:spLocks xmlns:a="http://schemas.openxmlformats.org/drawingml/2006/main" noGrp="1"/>
          </p:cNvSpPr>
          <p:nvPr/>
        </p:nvSpPr>
        <p:spPr>
          <a:xfrm xmlns:a="http://schemas.openxmlformats.org/drawingml/2006/main">
            <a:off x="609600" y="3143250"/>
            <a:ext cx="2362200" cy="1181100"/>
          </a:xfrm>
          <a:prstGeom xmlns:a="http://schemas.openxmlformats.org/drawingml/2006/main" prst="rect">
            <a:avLst/>
          </a:prstGeom>
          <a:solidFill xmlns:a="http://schemas.openxmlformats.org/drawingml/2006/main">
            <a:srgbClr val="F4F8FC"/>
          </a:solidFill>
          <a:ln xmlns:a="http://schemas.openxmlformats.org/drawingml/2006/main" w="19050">
            <a:solidFill>
              <a:srgbClr val="0070C0"/>
            </a:solidFill>
          </a:ln>
        </p:spPr>
      </p:sp>
      <p:sp>
        <p:nvSpPr>
          <p:cNvPr id="17424" name="">
            <a:extLst xmlns:a="http://schemas.openxmlformats.org/drawingml/2006/main">
              <a:ext uri="{FF2B5EF4-FFF2-40B4-BE49-F238E27FC236}">
                <a16:creationId xmlns:a16="http://schemas.microsoft.com/office/drawing/2014/main" id="{5B478F6A-A7F0-4284-A01A-5DA6F5C7B349}"/>
              </a:ext>
            </a:extLst>
          </p:cNvPr>
          <p:cNvSpPr>
            <a:spLocks xmlns:a="http://schemas.openxmlformats.org/drawingml/2006/main" noGrp="1"/>
          </p:cNvSpPr>
          <p:nvPr/>
        </p:nvSpPr>
        <p:spPr>
          <a:xfrm xmlns:a="http://schemas.openxmlformats.org/drawingml/2006/main">
            <a:off x="723900" y="3286125"/>
            <a:ext cx="2133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1">
                <a:solidFill>
                  <a:srgbClr val="1F497D"/>
                </a:solidFill>
                <a:latin typeface="Arial"/>
                <a:ea typeface="Arial"/>
                <a:cs typeface="Arial"/>
              </a:defRPr>
            </a:pPr>
            <a:r>
              <a:rPr sz="1800" b="1">
                <a:solidFill>
                  <a:srgbClr val="1F497D"/>
                </a:solidFill>
                <a:latin typeface="Arial"/>
                <a:ea typeface="Arial"/>
                <a:cs typeface="Arial"/>
              </a:rPr>
              <a:t>Chain adapters</a:t>
            </a:r>
          </a:p>
        </p:txBody>
      </p:sp>
      <p:sp>
        <p:nvSpPr>
          <p:cNvPr id="17425" name="">
            <a:extLst xmlns:a="http://schemas.openxmlformats.org/drawingml/2006/main">
              <a:ext uri="{FF2B5EF4-FFF2-40B4-BE49-F238E27FC236}">
                <a16:creationId xmlns:a16="http://schemas.microsoft.com/office/drawing/2014/main" id="{710F3D78-948A-4114-A293-F7ED6F023ECD}"/>
              </a:ext>
            </a:extLst>
          </p:cNvPr>
          <p:cNvSpPr>
            <a:spLocks xmlns:a="http://schemas.openxmlformats.org/drawingml/2006/main" noGrp="1"/>
          </p:cNvSpPr>
          <p:nvPr/>
        </p:nvSpPr>
        <p:spPr>
          <a:xfrm xmlns:a="http://schemas.openxmlformats.org/drawingml/2006/main">
            <a:off x="723900" y="3629025"/>
            <a:ext cx="2133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650" b="0">
                <a:solidFill>
                  <a:srgbClr val="17212B"/>
                </a:solidFill>
                <a:latin typeface="Arial"/>
                <a:ea typeface="Arial"/>
                <a:cs typeface="Arial"/>
              </a:defRPr>
            </a:pPr>
            <a:r>
              <a:rPr sz="1650" b="0">
                <a:solidFill>
                  <a:srgbClr val="17212B"/>
                </a:solidFill>
                <a:latin typeface="Arial"/>
                <a:ea typeface="Arial"/>
                <a:cs typeface="Arial"/>
              </a:rPr>
              <a:t>Bitcoin, EVM/TRON</a:t>
            </a:r>
          </a:p>
          <a:p xmlns:a="http://schemas.openxmlformats.org/drawingml/2006/main">
            <a:pPr algn="ctr">
              <a:defRPr sz="1650" b="0">
                <a:solidFill>
                  <a:srgbClr val="17212B"/>
                </a:solidFill>
                <a:latin typeface="Arial"/>
                <a:ea typeface="Arial"/>
                <a:cs typeface="Arial"/>
              </a:defRPr>
            </a:pPr>
            <a:r>
              <a:rPr sz="1650" b="0">
                <a:solidFill>
                  <a:srgbClr val="17212B"/>
                </a:solidFill>
                <a:latin typeface="Arial"/>
                <a:ea typeface="Arial"/>
                <a:cs typeface="Arial"/>
              </a:rPr>
              <a:t>Supported bridges</a:t>
            </a:r>
          </a:p>
        </p:txBody>
      </p:sp>
      <p:sp>
        <p:nvSpPr>
          <p:cNvPr id="17426" name="Tracing engine">
            <a:extLst xmlns:a="http://schemas.openxmlformats.org/drawingml/2006/main">
              <a:ext uri="{FF2B5EF4-FFF2-40B4-BE49-F238E27FC236}">
                <a16:creationId xmlns:a16="http://schemas.microsoft.com/office/drawing/2014/main" id="{A3A6B022-9B0C-4374-A76E-152BE837AB19}"/>
              </a:ext>
            </a:extLst>
          </p:cNvPr>
          <p:cNvSpPr>
            <a:spLocks xmlns:a="http://schemas.openxmlformats.org/drawingml/2006/main" noGrp="1"/>
          </p:cNvSpPr>
          <p:nvPr/>
        </p:nvSpPr>
        <p:spPr>
          <a:xfrm xmlns:a="http://schemas.openxmlformats.org/drawingml/2006/main">
            <a:off x="3467100" y="3143250"/>
            <a:ext cx="2362200" cy="1181100"/>
          </a:xfrm>
          <a:prstGeom xmlns:a="http://schemas.openxmlformats.org/drawingml/2006/main" prst="rect">
            <a:avLst/>
          </a:prstGeom>
          <a:solidFill xmlns:a="http://schemas.openxmlformats.org/drawingml/2006/main">
            <a:srgbClr val="F4F8FC"/>
          </a:solidFill>
          <a:ln xmlns:a="http://schemas.openxmlformats.org/drawingml/2006/main" w="19050">
            <a:solidFill>
              <a:srgbClr val="0070C0"/>
            </a:solidFill>
          </a:ln>
        </p:spPr>
      </p:sp>
      <p:sp>
        <p:nvSpPr>
          <p:cNvPr id="17427" name="">
            <a:extLst xmlns:a="http://schemas.openxmlformats.org/drawingml/2006/main">
              <a:ext uri="{FF2B5EF4-FFF2-40B4-BE49-F238E27FC236}">
                <a16:creationId xmlns:a16="http://schemas.microsoft.com/office/drawing/2014/main" id="{35888678-3BFD-4B32-8553-E272C863ACFF}"/>
              </a:ext>
            </a:extLst>
          </p:cNvPr>
          <p:cNvSpPr>
            <a:spLocks xmlns:a="http://schemas.openxmlformats.org/drawingml/2006/main" noGrp="1"/>
          </p:cNvSpPr>
          <p:nvPr/>
        </p:nvSpPr>
        <p:spPr>
          <a:xfrm xmlns:a="http://schemas.openxmlformats.org/drawingml/2006/main">
            <a:off x="3581400" y="3286125"/>
            <a:ext cx="2133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1">
                <a:solidFill>
                  <a:srgbClr val="1F497D"/>
                </a:solidFill>
                <a:latin typeface="Arial"/>
                <a:ea typeface="Arial"/>
                <a:cs typeface="Arial"/>
              </a:defRPr>
            </a:pPr>
            <a:r>
              <a:rPr sz="1800" b="1">
                <a:solidFill>
                  <a:srgbClr val="1F497D"/>
                </a:solidFill>
                <a:latin typeface="Arial"/>
                <a:ea typeface="Arial"/>
                <a:cs typeface="Arial"/>
              </a:rPr>
              <a:t>Tracing engine</a:t>
            </a:r>
          </a:p>
        </p:txBody>
      </p:sp>
      <p:sp>
        <p:nvSpPr>
          <p:cNvPr id="17428" name="">
            <a:extLst xmlns:a="http://schemas.openxmlformats.org/drawingml/2006/main">
              <a:ext uri="{FF2B5EF4-FFF2-40B4-BE49-F238E27FC236}">
                <a16:creationId xmlns:a16="http://schemas.microsoft.com/office/drawing/2014/main" id="{32AC09C5-EEA4-43F1-A01B-4ABBD5807025}"/>
              </a:ext>
            </a:extLst>
          </p:cNvPr>
          <p:cNvSpPr>
            <a:spLocks xmlns:a="http://schemas.openxmlformats.org/drawingml/2006/main" noGrp="1"/>
          </p:cNvSpPr>
          <p:nvPr/>
        </p:nvSpPr>
        <p:spPr>
          <a:xfrm xmlns:a="http://schemas.openxmlformats.org/drawingml/2006/main">
            <a:off x="3581400" y="3629025"/>
            <a:ext cx="2133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650" b="0">
                <a:solidFill>
                  <a:srgbClr val="17212B"/>
                </a:solidFill>
                <a:latin typeface="Arial"/>
                <a:ea typeface="Arial"/>
                <a:cs typeface="Arial"/>
              </a:defRPr>
            </a:pPr>
            <a:r>
              <a:rPr sz="1650" b="0">
                <a:solidFill>
                  <a:srgbClr val="17212B"/>
                </a:solidFill>
                <a:latin typeface="Arial"/>
                <a:ea typeface="Arial"/>
                <a:cs typeface="Arial"/>
              </a:rPr>
              <a:t>Spend links and</a:t>
            </a:r>
          </a:p>
          <a:p xmlns:a="http://schemas.openxmlformats.org/drawingml/2006/main">
            <a:pPr algn="ctr">
              <a:defRPr sz="1650" b="0">
                <a:solidFill>
                  <a:srgbClr val="17212B"/>
                </a:solidFill>
                <a:latin typeface="Arial"/>
                <a:ea typeface="Arial"/>
                <a:cs typeface="Arial"/>
              </a:defRPr>
            </a:pPr>
            <a:r>
              <a:rPr sz="1650" b="0">
                <a:solidFill>
                  <a:srgbClr val="17212B"/>
                </a:solidFill>
                <a:latin typeface="Arial"/>
                <a:ea typeface="Arial"/>
                <a:cs typeface="Arial"/>
              </a:rPr>
              <a:t>transfer events</a:t>
            </a:r>
          </a:p>
        </p:txBody>
      </p:sp>
      <p:sp>
        <p:nvSpPr>
          <p:cNvPr id="17429" name="VASP matching">
            <a:extLst xmlns:a="http://schemas.openxmlformats.org/drawingml/2006/main">
              <a:ext uri="{FF2B5EF4-FFF2-40B4-BE49-F238E27FC236}">
                <a16:creationId xmlns:a16="http://schemas.microsoft.com/office/drawing/2014/main" id="{C28B437A-B747-4BCF-9AB2-5F2AAB29D269}"/>
              </a:ext>
            </a:extLst>
          </p:cNvPr>
          <p:cNvSpPr>
            <a:spLocks xmlns:a="http://schemas.openxmlformats.org/drawingml/2006/main" noGrp="1"/>
          </p:cNvSpPr>
          <p:nvPr/>
        </p:nvSpPr>
        <p:spPr>
          <a:xfrm xmlns:a="http://schemas.openxmlformats.org/drawingml/2006/main">
            <a:off x="6324600" y="3143250"/>
            <a:ext cx="2362200" cy="1181100"/>
          </a:xfrm>
          <a:prstGeom xmlns:a="http://schemas.openxmlformats.org/drawingml/2006/main" prst="rect">
            <a:avLst/>
          </a:prstGeom>
          <a:solidFill xmlns:a="http://schemas.openxmlformats.org/drawingml/2006/main">
            <a:srgbClr val="F4F8FC"/>
          </a:solidFill>
          <a:ln xmlns:a="http://schemas.openxmlformats.org/drawingml/2006/main" w="19050">
            <a:solidFill>
              <a:srgbClr val="0070C0"/>
            </a:solidFill>
          </a:ln>
        </p:spPr>
      </p:sp>
      <p:sp>
        <p:nvSpPr>
          <p:cNvPr id="17430" name="">
            <a:extLst xmlns:a="http://schemas.openxmlformats.org/drawingml/2006/main">
              <a:ext uri="{FF2B5EF4-FFF2-40B4-BE49-F238E27FC236}">
                <a16:creationId xmlns:a16="http://schemas.microsoft.com/office/drawing/2014/main" id="{CB13D2FA-F156-48D2-B203-32AA36DB095E}"/>
              </a:ext>
            </a:extLst>
          </p:cNvPr>
          <p:cNvSpPr>
            <a:spLocks xmlns:a="http://schemas.openxmlformats.org/drawingml/2006/main" noGrp="1"/>
          </p:cNvSpPr>
          <p:nvPr/>
        </p:nvSpPr>
        <p:spPr>
          <a:xfrm xmlns:a="http://schemas.openxmlformats.org/drawingml/2006/main">
            <a:off x="6438900" y="3286125"/>
            <a:ext cx="2133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1">
                <a:solidFill>
                  <a:srgbClr val="1F497D"/>
                </a:solidFill>
                <a:latin typeface="Arial"/>
                <a:ea typeface="Arial"/>
                <a:cs typeface="Arial"/>
              </a:defRPr>
            </a:pPr>
            <a:r>
              <a:rPr sz="1800" b="1">
                <a:solidFill>
                  <a:srgbClr val="1F497D"/>
                </a:solidFill>
                <a:latin typeface="Arial"/>
                <a:ea typeface="Arial"/>
                <a:cs typeface="Arial"/>
              </a:rPr>
              <a:t>VASP matching</a:t>
            </a:r>
          </a:p>
        </p:txBody>
      </p:sp>
      <p:sp>
        <p:nvSpPr>
          <p:cNvPr id="17431" name="">
            <a:extLst xmlns:a="http://schemas.openxmlformats.org/drawingml/2006/main">
              <a:ext uri="{FF2B5EF4-FFF2-40B4-BE49-F238E27FC236}">
                <a16:creationId xmlns:a16="http://schemas.microsoft.com/office/drawing/2014/main" id="{B8C3855E-06A0-46CE-B7F0-072F912277DA}"/>
              </a:ext>
            </a:extLst>
          </p:cNvPr>
          <p:cNvSpPr>
            <a:spLocks xmlns:a="http://schemas.openxmlformats.org/drawingml/2006/main" noGrp="1"/>
          </p:cNvSpPr>
          <p:nvPr/>
        </p:nvSpPr>
        <p:spPr>
          <a:xfrm xmlns:a="http://schemas.openxmlformats.org/drawingml/2006/main">
            <a:off x="6438900" y="3629025"/>
            <a:ext cx="2133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650" b="0">
                <a:solidFill>
                  <a:srgbClr val="17212B"/>
                </a:solidFill>
                <a:latin typeface="Arial"/>
                <a:ea typeface="Arial"/>
                <a:cs typeface="Arial"/>
              </a:defRPr>
            </a:pPr>
            <a:r>
              <a:rPr sz="1650" b="0">
                <a:solidFill>
                  <a:srgbClr val="17212B"/>
                </a:solidFill>
                <a:latin typeface="Arial"/>
                <a:ea typeface="Arial"/>
                <a:cs typeface="Arial"/>
              </a:rPr>
              <a:t>Sourced labels and</a:t>
            </a:r>
          </a:p>
          <a:p xmlns:a="http://schemas.openxmlformats.org/drawingml/2006/main">
            <a:pPr algn="ctr">
              <a:defRPr sz="1650" b="0">
                <a:solidFill>
                  <a:srgbClr val="17212B"/>
                </a:solidFill>
                <a:latin typeface="Arial"/>
                <a:ea typeface="Arial"/>
                <a:cs typeface="Arial"/>
              </a:defRPr>
            </a:pPr>
            <a:r>
              <a:rPr sz="1650" b="0">
                <a:solidFill>
                  <a:srgbClr val="17212B"/>
                </a:solidFill>
                <a:latin typeface="Arial"/>
                <a:ea typeface="Arial"/>
                <a:cs typeface="Arial"/>
              </a:rPr>
              <a:t>cautious clustering</a:t>
            </a:r>
          </a:p>
        </p:txBody>
      </p:sp>
      <p:sp>
        <p:nvSpPr>
          <p:cNvPr id="17432" name="Case workspace">
            <a:extLst xmlns:a="http://schemas.openxmlformats.org/drawingml/2006/main">
              <a:ext uri="{FF2B5EF4-FFF2-40B4-BE49-F238E27FC236}">
                <a16:creationId xmlns:a16="http://schemas.microsoft.com/office/drawing/2014/main" id="{BF17A560-3797-47C7-A39D-38F0ED963066}"/>
              </a:ext>
            </a:extLst>
          </p:cNvPr>
          <p:cNvSpPr>
            <a:spLocks xmlns:a="http://schemas.openxmlformats.org/drawingml/2006/main" noGrp="1"/>
          </p:cNvSpPr>
          <p:nvPr/>
        </p:nvSpPr>
        <p:spPr>
          <a:xfrm xmlns:a="http://schemas.openxmlformats.org/drawingml/2006/main">
            <a:off x="9182100" y="3143250"/>
            <a:ext cx="2362200" cy="1181100"/>
          </a:xfrm>
          <a:prstGeom xmlns:a="http://schemas.openxmlformats.org/drawingml/2006/main" prst="rect">
            <a:avLst/>
          </a:prstGeom>
          <a:solidFill xmlns:a="http://schemas.openxmlformats.org/drawingml/2006/main">
            <a:srgbClr val="F4F8FC"/>
          </a:solidFill>
          <a:ln xmlns:a="http://schemas.openxmlformats.org/drawingml/2006/main" w="19050">
            <a:solidFill>
              <a:srgbClr val="0070C0"/>
            </a:solidFill>
          </a:ln>
        </p:spPr>
      </p:sp>
      <p:sp>
        <p:nvSpPr>
          <p:cNvPr id="17433" name="">
            <a:extLst xmlns:a="http://schemas.openxmlformats.org/drawingml/2006/main">
              <a:ext uri="{FF2B5EF4-FFF2-40B4-BE49-F238E27FC236}">
                <a16:creationId xmlns:a16="http://schemas.microsoft.com/office/drawing/2014/main" id="{03BFC421-D39B-40AC-9486-24320F9021BF}"/>
              </a:ext>
            </a:extLst>
          </p:cNvPr>
          <p:cNvSpPr>
            <a:spLocks xmlns:a="http://schemas.openxmlformats.org/drawingml/2006/main" noGrp="1"/>
          </p:cNvSpPr>
          <p:nvPr/>
        </p:nvSpPr>
        <p:spPr>
          <a:xfrm xmlns:a="http://schemas.openxmlformats.org/drawingml/2006/main">
            <a:off x="9296400" y="3286125"/>
            <a:ext cx="2133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1">
                <a:solidFill>
                  <a:srgbClr val="1F497D"/>
                </a:solidFill>
                <a:latin typeface="Arial"/>
                <a:ea typeface="Arial"/>
                <a:cs typeface="Arial"/>
              </a:defRPr>
            </a:pPr>
            <a:r>
              <a:rPr sz="1800" b="1">
                <a:solidFill>
                  <a:srgbClr val="1F497D"/>
                </a:solidFill>
                <a:latin typeface="Arial"/>
                <a:ea typeface="Arial"/>
                <a:cs typeface="Arial"/>
              </a:rPr>
              <a:t>Case workspace</a:t>
            </a:r>
          </a:p>
        </p:txBody>
      </p:sp>
      <p:sp>
        <p:nvSpPr>
          <p:cNvPr id="17434" name="">
            <a:extLst xmlns:a="http://schemas.openxmlformats.org/drawingml/2006/main">
              <a:ext uri="{FF2B5EF4-FFF2-40B4-BE49-F238E27FC236}">
                <a16:creationId xmlns:a16="http://schemas.microsoft.com/office/drawing/2014/main" id="{F66D7661-8831-4384-9083-BD5EE01CDE8F}"/>
              </a:ext>
            </a:extLst>
          </p:cNvPr>
          <p:cNvSpPr>
            <a:spLocks xmlns:a="http://schemas.openxmlformats.org/drawingml/2006/main" noGrp="1"/>
          </p:cNvSpPr>
          <p:nvPr/>
        </p:nvSpPr>
        <p:spPr>
          <a:xfrm xmlns:a="http://schemas.openxmlformats.org/drawingml/2006/main">
            <a:off x="9296400" y="3629025"/>
            <a:ext cx="2133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650" b="0">
                <a:solidFill>
                  <a:srgbClr val="17212B"/>
                </a:solidFill>
                <a:latin typeface="Arial"/>
                <a:ea typeface="Arial"/>
                <a:cs typeface="Arial"/>
              </a:defRPr>
            </a:pPr>
            <a:r>
              <a:rPr sz="1650" b="0">
                <a:solidFill>
                  <a:srgbClr val="17212B"/>
                </a:solidFill>
                <a:latin typeface="Arial"/>
                <a:ea typeface="Arial"/>
                <a:cs typeface="Arial"/>
              </a:rPr>
              <a:t>Review candidates</a:t>
            </a:r>
          </a:p>
          <a:p xmlns:a="http://schemas.openxmlformats.org/drawingml/2006/main">
            <a:pPr algn="ctr">
              <a:defRPr sz="1650" b="0">
                <a:solidFill>
                  <a:srgbClr val="17212B"/>
                </a:solidFill>
                <a:latin typeface="Arial"/>
                <a:ea typeface="Arial"/>
                <a:cs typeface="Arial"/>
              </a:defRPr>
            </a:pPr>
            <a:r>
              <a:rPr sz="1650" b="0">
                <a:solidFill>
                  <a:srgbClr val="17212B"/>
                </a:solidFill>
                <a:latin typeface="Arial"/>
                <a:ea typeface="Arial"/>
                <a:cs typeface="Arial"/>
              </a:rPr>
              <a:t>Monitor and report</a:t>
            </a:r>
          </a:p>
        </p:txBody>
      </p:sp>
      <p:cxnSp>
        <p:nvCxnSpPr>
          <p:cNvPr id="17468" name=""/>
          <p:cNvCxnSpPr>
            <a:stCxn xmlns:a="http://schemas.openxmlformats.org/drawingml/2006/main" id="17423" idx="3"/>
            <a:endCxn xmlns:a="http://schemas.openxmlformats.org/drawingml/2006/main" id="17426" idx="1"/>
          </p:cNvCxnSpPr>
          <p:nvPr/>
        </p:nvCxnSpPr>
        <p:spPr>
          <a:xfrm xmlns:a="http://schemas.openxmlformats.org/drawingml/2006/main">
            <a:off x="2971800" y="3733800"/>
            <a:ext cx="495300" cy="0"/>
          </a:xfrm>
          <a:prstGeom xmlns:a="http://schemas.openxmlformats.org/drawingml/2006/main" prst="straightConnector1">
            <a:avLst/>
          </a:prstGeom>
          <a:ln xmlns:a="http://schemas.openxmlformats.org/drawingml/2006/main" w="28575">
            <a:solidFill>
              <a:srgbClr val="0070C0"/>
            </a:solidFill>
            <a:prstDash val="solid"/>
            <a:tailEnd type="triangle" w="lg" len="lg"/>
          </a:ln>
        </p:spPr>
      </p:cxnSp>
      <p:cxnSp>
        <p:nvCxnSpPr>
          <p:cNvPr id="17469" name=""/>
          <p:cNvCxnSpPr>
            <a:stCxn xmlns:a="http://schemas.openxmlformats.org/drawingml/2006/main" id="17426" idx="3"/>
            <a:endCxn xmlns:a="http://schemas.openxmlformats.org/drawingml/2006/main" id="17429" idx="1"/>
          </p:cNvCxnSpPr>
          <p:nvPr/>
        </p:nvCxnSpPr>
        <p:spPr>
          <a:xfrm xmlns:a="http://schemas.openxmlformats.org/drawingml/2006/main">
            <a:off x="5829300" y="3733800"/>
            <a:ext cx="495300" cy="0"/>
          </a:xfrm>
          <a:prstGeom xmlns:a="http://schemas.openxmlformats.org/drawingml/2006/main" prst="straightConnector1">
            <a:avLst/>
          </a:prstGeom>
          <a:ln xmlns:a="http://schemas.openxmlformats.org/drawingml/2006/main" w="28575">
            <a:solidFill>
              <a:srgbClr val="0070C0"/>
            </a:solidFill>
            <a:prstDash val="solid"/>
            <a:tailEnd type="triangle" w="lg" len="lg"/>
          </a:ln>
        </p:spPr>
      </p:cxnSp>
      <p:cxnSp>
        <p:nvCxnSpPr>
          <p:cNvPr id="17470" name=""/>
          <p:cNvCxnSpPr>
            <a:stCxn xmlns:a="http://schemas.openxmlformats.org/drawingml/2006/main" id="17429" idx="3"/>
            <a:endCxn xmlns:a="http://schemas.openxmlformats.org/drawingml/2006/main" id="17432" idx="1"/>
          </p:cNvCxnSpPr>
          <p:nvPr/>
        </p:nvCxnSpPr>
        <p:spPr>
          <a:xfrm xmlns:a="http://schemas.openxmlformats.org/drawingml/2006/main">
            <a:off x="8686800" y="3733800"/>
            <a:ext cx="495300" cy="0"/>
          </a:xfrm>
          <a:prstGeom xmlns:a="http://schemas.openxmlformats.org/drawingml/2006/main" prst="straightConnector1">
            <a:avLst/>
          </a:prstGeom>
          <a:ln xmlns:a="http://schemas.openxmlformats.org/drawingml/2006/main" w="28575">
            <a:solidFill>
              <a:srgbClr val="0070C0"/>
            </a:solidFill>
            <a:prstDash val="solid"/>
            <a:tailEnd type="triangle" w="lg" len="lg"/>
          </a:ln>
        </p:spPr>
      </p:cxnSp>
      <p:sp>
        <p:nvSpPr>
          <p:cNvPr id="17438" name="Label registry">
            <a:extLst xmlns:a="http://schemas.openxmlformats.org/drawingml/2006/main">
              <a:ext uri="{FF2B5EF4-FFF2-40B4-BE49-F238E27FC236}">
                <a16:creationId xmlns:a16="http://schemas.microsoft.com/office/drawing/2014/main" id="{773F3708-6E0F-4FC4-B201-6A67E7A5711D}"/>
              </a:ext>
            </a:extLst>
          </p:cNvPr>
          <p:cNvSpPr>
            <a:spLocks xmlns:a="http://schemas.openxmlformats.org/drawingml/2006/main" noGrp="1"/>
          </p:cNvSpPr>
          <p:nvPr/>
        </p:nvSpPr>
        <p:spPr>
          <a:xfrm xmlns:a="http://schemas.openxmlformats.org/drawingml/2006/main">
            <a:off x="6324600" y="4819650"/>
            <a:ext cx="2362200" cy="1066800"/>
          </a:xfrm>
          <a:prstGeom xmlns:a="http://schemas.openxmlformats.org/drawingml/2006/main" prst="rect">
            <a:avLst/>
          </a:prstGeom>
          <a:solidFill xmlns:a="http://schemas.openxmlformats.org/drawingml/2006/main">
            <a:srgbClr val="F4F8FC"/>
          </a:solidFill>
          <a:ln xmlns:a="http://schemas.openxmlformats.org/drawingml/2006/main" w="19050">
            <a:solidFill>
              <a:srgbClr val="0070C0"/>
            </a:solidFill>
          </a:ln>
        </p:spPr>
      </p:sp>
      <p:sp>
        <p:nvSpPr>
          <p:cNvPr id="17439" name="">
            <a:extLst xmlns:a="http://schemas.openxmlformats.org/drawingml/2006/main">
              <a:ext uri="{FF2B5EF4-FFF2-40B4-BE49-F238E27FC236}">
                <a16:creationId xmlns:a16="http://schemas.microsoft.com/office/drawing/2014/main" id="{A7099922-AD17-4FA7-BAA0-C0E9E815DDBF}"/>
              </a:ext>
            </a:extLst>
          </p:cNvPr>
          <p:cNvSpPr>
            <a:spLocks xmlns:a="http://schemas.openxmlformats.org/drawingml/2006/main" noGrp="1"/>
          </p:cNvSpPr>
          <p:nvPr/>
        </p:nvSpPr>
        <p:spPr>
          <a:xfrm xmlns:a="http://schemas.openxmlformats.org/drawingml/2006/main">
            <a:off x="6438900" y="4962525"/>
            <a:ext cx="2133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1">
                <a:solidFill>
                  <a:srgbClr val="1F497D"/>
                </a:solidFill>
                <a:latin typeface="Arial"/>
                <a:ea typeface="Arial"/>
                <a:cs typeface="Arial"/>
              </a:defRPr>
            </a:pPr>
            <a:r>
              <a:rPr sz="1800" b="1">
                <a:solidFill>
                  <a:srgbClr val="1F497D"/>
                </a:solidFill>
                <a:latin typeface="Arial"/>
                <a:ea typeface="Arial"/>
                <a:cs typeface="Arial"/>
              </a:rPr>
              <a:t>Label registry</a:t>
            </a:r>
          </a:p>
        </p:txBody>
      </p:sp>
      <p:sp>
        <p:nvSpPr>
          <p:cNvPr id="17440" name="">
            <a:extLst xmlns:a="http://schemas.openxmlformats.org/drawingml/2006/main">
              <a:ext uri="{FF2B5EF4-FFF2-40B4-BE49-F238E27FC236}">
                <a16:creationId xmlns:a16="http://schemas.microsoft.com/office/drawing/2014/main" id="{92F15316-FF68-4209-9C7A-07F9AD1A2D79}"/>
              </a:ext>
            </a:extLst>
          </p:cNvPr>
          <p:cNvSpPr>
            <a:spLocks xmlns:a="http://schemas.openxmlformats.org/drawingml/2006/main" noGrp="1"/>
          </p:cNvSpPr>
          <p:nvPr/>
        </p:nvSpPr>
        <p:spPr>
          <a:xfrm xmlns:a="http://schemas.openxmlformats.org/drawingml/2006/main">
            <a:off x="6438900" y="5305425"/>
            <a:ext cx="2133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650" b="0">
                <a:solidFill>
                  <a:srgbClr val="17212B"/>
                </a:solidFill>
                <a:latin typeface="Arial"/>
                <a:ea typeface="Arial"/>
                <a:cs typeface="Arial"/>
              </a:defRPr>
            </a:pPr>
            <a:r>
              <a:rPr sz="1650" b="0">
                <a:solidFill>
                  <a:srgbClr val="17212B"/>
                </a:solidFill>
                <a:latin typeface="Arial"/>
                <a:ea typeface="Arial"/>
                <a:cs typeface="Arial"/>
              </a:rPr>
              <a:t>Source provenance</a:t>
            </a:r>
          </a:p>
          <a:p xmlns:a="http://schemas.openxmlformats.org/drawingml/2006/main">
            <a:pPr algn="ctr">
              <a:defRPr sz="1650" b="0">
                <a:solidFill>
                  <a:srgbClr val="17212B"/>
                </a:solidFill>
                <a:latin typeface="Arial"/>
                <a:ea typeface="Arial"/>
                <a:cs typeface="Arial"/>
              </a:defRPr>
            </a:pPr>
            <a:r>
              <a:rPr sz="1650" b="0">
                <a:solidFill>
                  <a:srgbClr val="17212B"/>
                </a:solidFill>
                <a:latin typeface="Arial"/>
                <a:ea typeface="Arial"/>
                <a:cs typeface="Arial"/>
              </a:rPr>
              <a:t>Review date</a:t>
            </a:r>
          </a:p>
        </p:txBody>
      </p:sp>
      <p:cxnSp>
        <p:nvCxnSpPr>
          <p:cNvPr id="17474" name=""/>
          <p:cNvCxnSpPr>
            <a:stCxn xmlns:a="http://schemas.openxmlformats.org/drawingml/2006/main" id="17438" idx="0"/>
            <a:endCxn xmlns:a="http://schemas.openxmlformats.org/drawingml/2006/main" id="17429" idx="2"/>
          </p:cNvCxnSpPr>
          <p:nvPr/>
        </p:nvCxnSpPr>
        <p:spPr>
          <a:xfrm xmlns:a="http://schemas.openxmlformats.org/drawingml/2006/main" flipV="1">
            <a:off x="7505700" y="4324350"/>
            <a:ext cx="0" cy="495300"/>
          </a:xfrm>
          <a:prstGeom xmlns:a="http://schemas.openxmlformats.org/drawingml/2006/main" prst="straightConnector1">
            <a:avLst/>
          </a:prstGeom>
          <a:ln xmlns:a="http://schemas.openxmlformats.org/drawingml/2006/main" w="28575">
            <a:solidFill>
              <a:srgbClr val="0070C0"/>
            </a:solidFill>
            <a:prstDash val="solid"/>
            <a:tailEnd type="triangle" w="lg" len="lg"/>
          </a:ln>
        </p:spPr>
      </p:cxnSp>
      <p:sp>
        <p:nvSpPr>
          <p:cNvPr id="17442" name="">
            <a:extLst xmlns:a="http://schemas.openxmlformats.org/drawingml/2006/main">
              <a:ext uri="{FF2B5EF4-FFF2-40B4-BE49-F238E27FC236}">
                <a16:creationId xmlns:a16="http://schemas.microsoft.com/office/drawing/2014/main" id="{429F3477-0573-43C3-B624-A53ED766D5F0}"/>
              </a:ext>
            </a:extLst>
          </p:cNvPr>
          <p:cNvSpPr>
            <a:spLocks xmlns:a="http://schemas.openxmlformats.org/drawingml/2006/main" noGrp="1"/>
          </p:cNvSpPr>
          <p:nvPr/>
        </p:nvSpPr>
        <p:spPr>
          <a:xfrm xmlns:a="http://schemas.openxmlformats.org/drawingml/2006/main">
            <a:off x="723900" y="4819650"/>
            <a:ext cx="2571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F497D"/>
                </a:solidFill>
                <a:latin typeface="Arial"/>
                <a:ea typeface="Arial"/>
                <a:cs typeface="Arial"/>
              </a:defRPr>
            </a:pPr>
            <a:r>
              <a:rPr sz="1725" b="0">
                <a:solidFill>
                  <a:srgbClr val="1F497D"/>
                </a:solidFill>
                <a:latin typeface="Arial"/>
                <a:ea typeface="Arial"/>
                <a:cs typeface="Arial"/>
              </a:rPr>
              <a:t>Time-consistent paths</a:t>
            </a:r>
          </a:p>
          <a:p xmlns:a="http://schemas.openxmlformats.org/drawingml/2006/main">
            <a:pPr algn="l">
              <a:defRPr sz="1725" b="0">
                <a:solidFill>
                  <a:srgbClr val="1F497D"/>
                </a:solidFill>
                <a:latin typeface="Arial"/>
                <a:ea typeface="Arial"/>
                <a:cs typeface="Arial"/>
              </a:defRPr>
            </a:pPr>
            <a:r>
              <a:rPr sz="1725" b="0">
                <a:solidFill>
                  <a:srgbClr val="1F497D"/>
                </a:solidFill>
                <a:latin typeface="Arial"/>
                <a:ea typeface="Arial"/>
                <a:cs typeface="Arial"/>
              </a:rPr>
              <a:t>Explicit gaps at mixing</a:t>
            </a:r>
          </a:p>
          <a:p xmlns:a="http://schemas.openxmlformats.org/drawingml/2006/main">
            <a:pPr algn="l">
              <a:defRPr sz="1725" b="0">
                <a:solidFill>
                  <a:srgbClr val="1F497D"/>
                </a:solidFill>
                <a:latin typeface="Arial"/>
                <a:ea typeface="Arial"/>
                <a:cs typeface="Arial"/>
              </a:defRPr>
            </a:pPr>
            <a:r>
              <a:rPr sz="1725" b="0">
                <a:solidFill>
                  <a:srgbClr val="1F497D"/>
                </a:solidFill>
                <a:latin typeface="Arial"/>
                <a:ea typeface="Arial"/>
                <a:cs typeface="Arial"/>
              </a:rPr>
              <a:t>or unsupported bridges</a:t>
            </a:r>
          </a:p>
        </p:txBody>
      </p:sp>
      <p:sp>
        <p:nvSpPr>
          <p:cNvPr id="17443" name="">
            <a:extLst xmlns:a="http://schemas.openxmlformats.org/drawingml/2006/main">
              <a:ext uri="{FF2B5EF4-FFF2-40B4-BE49-F238E27FC236}">
                <a16:creationId xmlns:a16="http://schemas.microsoft.com/office/drawing/2014/main" id="{2757B696-6919-4CAF-B2BD-AC4741C97850}"/>
              </a:ext>
            </a:extLst>
          </p:cNvPr>
          <p:cNvSpPr>
            <a:spLocks xmlns:a="http://schemas.openxmlformats.org/drawingml/2006/main" noGrp="1"/>
          </p:cNvSpPr>
          <p:nvPr/>
        </p:nvSpPr>
        <p:spPr>
          <a:xfrm xmlns:a="http://schemas.openxmlformats.org/drawingml/2006/main">
            <a:off x="3467100" y="4819650"/>
            <a:ext cx="26193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7212B"/>
                </a:solidFill>
                <a:latin typeface="Arial"/>
                <a:ea typeface="Arial"/>
                <a:cs typeface="Arial"/>
              </a:defRPr>
            </a:pPr>
            <a:r>
              <a:rPr sz="1725" b="0">
                <a:solidFill>
                  <a:srgbClr val="17212B"/>
                </a:solidFill>
                <a:latin typeface="Arial"/>
                <a:ea typeface="Arial"/>
                <a:cs typeface="Arial"/>
              </a:rPr>
              <a:t>Explainable rules and</a:t>
            </a:r>
          </a:p>
          <a:p xmlns:a="http://schemas.openxmlformats.org/drawingml/2006/main">
            <a:pPr algn="l">
              <a:defRPr sz="1725" b="0">
                <a:solidFill>
                  <a:srgbClr val="17212B"/>
                </a:solidFill>
                <a:latin typeface="Arial"/>
                <a:ea typeface="Arial"/>
                <a:cs typeface="Arial"/>
              </a:defRPr>
            </a:pPr>
            <a:r>
              <a:rPr sz="1725" b="0">
                <a:solidFill>
                  <a:srgbClr val="17212B"/>
                </a:solidFill>
                <a:latin typeface="Arial"/>
                <a:ea typeface="Arial"/>
                <a:cs typeface="Arial"/>
              </a:rPr>
              <a:t>evaluated ML will flag</a:t>
            </a:r>
          </a:p>
          <a:p xmlns:a="http://schemas.openxmlformats.org/drawingml/2006/main">
            <a:pPr algn="l">
              <a:defRPr sz="1725" b="0">
                <a:solidFill>
                  <a:srgbClr val="17212B"/>
                </a:solidFill>
                <a:latin typeface="Arial"/>
                <a:ea typeface="Arial"/>
                <a:cs typeface="Arial"/>
              </a:defRPr>
            </a:pPr>
            <a:r>
              <a:rPr sz="1725" b="0">
                <a:solidFill>
                  <a:srgbClr val="17212B"/>
                </a:solidFill>
                <a:latin typeface="Arial"/>
                <a:ea typeface="Arial"/>
                <a:cs typeface="Arial"/>
              </a:rPr>
              <a:t>suspect flow patterns</a:t>
            </a:r>
          </a:p>
        </p:txBody>
      </p:sp>
      <p:sp>
        <p:nvSpPr>
          <p:cNvPr id="17444" name="">
            <a:extLst xmlns:a="http://schemas.openxmlformats.org/drawingml/2006/main">
              <a:ext uri="{FF2B5EF4-FFF2-40B4-BE49-F238E27FC236}">
                <a16:creationId xmlns:a16="http://schemas.microsoft.com/office/drawing/2014/main" id="{F132971D-8B24-4ED2-8F16-774A3CB3DCB6}"/>
              </a:ext>
            </a:extLst>
          </p:cNvPr>
          <p:cNvSpPr>
            <a:spLocks xmlns:a="http://schemas.openxmlformats.org/drawingml/2006/main" noGrp="1"/>
          </p:cNvSpPr>
          <p:nvPr/>
        </p:nvSpPr>
        <p:spPr>
          <a:xfrm xmlns:a="http://schemas.openxmlformats.org/drawingml/2006/main">
            <a:off x="9239250" y="4819650"/>
            <a:ext cx="2333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7212B"/>
                </a:solidFill>
                <a:latin typeface="Arial"/>
                <a:ea typeface="Arial"/>
                <a:cs typeface="Arial"/>
              </a:defRPr>
            </a:pPr>
            <a:r>
              <a:rPr sz="1725" b="0">
                <a:solidFill>
                  <a:srgbClr val="17212B"/>
                </a:solidFill>
                <a:latin typeface="Arial"/>
                <a:ea typeface="Arial"/>
                <a:cs typeface="Arial"/>
              </a:rPr>
              <a:t>Role-based access</a:t>
            </a:r>
          </a:p>
          <a:p xmlns:a="http://schemas.openxmlformats.org/drawingml/2006/main">
            <a:pPr algn="l">
              <a:defRPr sz="1725" b="0">
                <a:solidFill>
                  <a:srgbClr val="17212B"/>
                </a:solidFill>
                <a:latin typeface="Arial"/>
                <a:ea typeface="Arial"/>
                <a:cs typeface="Arial"/>
              </a:defRPr>
            </a:pPr>
            <a:r>
              <a:rPr sz="1725" b="0">
                <a:solidFill>
                  <a:srgbClr val="17212B"/>
                </a:solidFill>
                <a:latin typeface="Arial"/>
                <a:ea typeface="Arial"/>
                <a:cs typeface="Arial"/>
              </a:rPr>
              <a:t>Audit trail</a:t>
            </a:r>
          </a:p>
          <a:p xmlns:a="http://schemas.openxmlformats.org/drawingml/2006/main">
            <a:pPr algn="l">
              <a:defRPr sz="1725" b="0">
                <a:solidFill>
                  <a:srgbClr val="17212B"/>
                </a:solidFill>
                <a:latin typeface="Arial"/>
                <a:ea typeface="Arial"/>
                <a:cs typeface="Arial"/>
              </a:defRPr>
            </a:pPr>
            <a:r>
              <a:rPr sz="1725" b="0">
                <a:solidFill>
                  <a:srgbClr val="17212B"/>
                </a:solidFill>
                <a:latin typeface="Arial"/>
                <a:ea typeface="Arial"/>
                <a:cs typeface="Arial"/>
              </a:rPr>
              <a:t>Approved LEA APIs</a:t>
            </a:r>
          </a:p>
        </p:txBody>
      </p:sp>
      <p:sp>
        <p:nvSpPr>
          <p:cNvPr id="17445" name="">
            <a:extLst xmlns:a="http://schemas.openxmlformats.org/drawingml/2006/main">
              <a:ext uri="{FF2B5EF4-FFF2-40B4-BE49-F238E27FC236}">
                <a16:creationId xmlns:a16="http://schemas.microsoft.com/office/drawing/2014/main" id="{5999ECF0-D68F-4D02-B405-4F209827B5E6}"/>
              </a:ext>
            </a:extLst>
          </p:cNvPr>
          <p:cNvSpPr>
            <a:spLocks xmlns:a="http://schemas.openxmlformats.org/drawingml/2006/main" noGrp="1"/>
          </p:cNvSpPr>
          <p:nvPr/>
        </p:nvSpPr>
        <p:spPr>
          <a:xfrm xmlns:a="http://schemas.openxmlformats.org/drawingml/2006/main">
            <a:off x="723900" y="5972175"/>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1F497D"/>
                </a:solidFill>
                <a:latin typeface="Arial"/>
                <a:ea typeface="Arial"/>
                <a:cs typeface="Arial"/>
              </a:defRPr>
            </a:pPr>
            <a:r>
              <a:rPr sz="1650" b="0">
                <a:solidFill>
                  <a:srgbClr val="1F497D"/>
                </a:solidFill>
                <a:latin typeface="Arial"/>
                <a:ea typeface="Arial"/>
                <a:cs typeface="Arial"/>
              </a:rPr>
              <a:t>Findings will distinguish observed transactions, inferred links and unresolved attribution.</a:t>
            </a:r>
          </a:p>
        </p:txBody>
      </p:sp>
    </p:spTree>
    <p:extLst>
      <p:ext uri="{BB962C8B-B14F-4D97-AF65-F5344CB8AC3E}">
        <p14:creationId xmlns:p14="http://schemas.microsoft.com/office/powerpoint/2010/main" val="948540482"/>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endParaRPr sz="1800" b="0" i="0" u="none" kern="1200" cap="none" spc="0" baseline="0">
              <a:ln>
                <a:noFill/>
              </a:ln>
              <a:solidFill>
                <a:srgbClr val="C0504D">
                  <a:lumMod val="75000"/>
                </a:srgbClr>
              </a:solidFill>
              <a:latin typeface="Calibri"/>
              <a:ea typeface="Calibri"/>
              <a:cs typeface="Calibri"/>
            </a:endParaRPr>
          </a:p>
        </p:txBody>
      </p:sp>
      <p:sp>
        <p:nvSpPr>
          <p:cNvPr id="17409" name="Title 1">
            <a:extLst xmlns:a="http://schemas.openxmlformats.org/drawingml/2006/main">
              <a:ext uri="{FF2B5EF4-FFF2-40B4-BE49-F238E27FC236}">
                <a16:creationId xmlns:a16="http://schemas.microsoft.com/office/drawing/2014/main" id="{5E2D7BE9-8DFD-4E4F-A73E-F4F27287D421}"/>
              </a:ext>
            </a:extLst>
          </p:cNvPr>
          <p:cNvSpPr>
            <a:spLocks xmlns:a="http://schemas.openxmlformats.org/drawingml/2006/main" noGrp="1"/>
          </p:cNvSpPr>
          <p:nvPr>
            <p:ph type="title" idx="0"/>
          </p:nvPr>
        </p:nvSpPr>
        <p:spPr>
          <a:xfrm xmlns:a="http://schemas.openxmlformats.org/drawingml/2006/main">
            <a:off x="1752600" y="247650"/>
            <a:ext cx="7924800" cy="723900"/>
          </a:xfrm>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3075" b="1">
                <a:solidFill>
                  <a:srgbClr val="000000"/>
                </a:solidFill>
                <a:latin typeface="Times New Roman"/>
                <a:ea typeface="Times New Roman"/>
                <a:cs typeface="Times New Roman"/>
              </a:defRPr>
            </a:pPr>
            <a:r>
              <a:rPr sz="3075" b="1">
                <a:solidFill>
                  <a:srgbClr val="000000"/>
                </a:solidFill>
                <a:latin typeface="Times New Roman"/>
                <a:ea typeface="Times New Roman"/>
                <a:cs typeface="Times New Roman"/>
              </a:rPr>
              <a:t>FEASIBILITY AND VIABILITY</a:t>
            </a:r>
          </a:p>
        </p:txBody>
      </p:sp>
      <p:sp>
        <p:nvSpPr>
          <p:cNvPr id="6" name="Slide Number Placeholder 5">
            <a:extLst xmlns:a="http://schemas.openxmlformats.org/drawingml/2006/main">
              <a:ext uri="{FF2B5EF4-FFF2-40B4-BE49-F238E27FC236}">
                <a16:creationId xmlns:a16="http://schemas.microsoft.com/office/drawing/2014/main" id="{6DD1BD94-A3E4-4AE5-BC9B-38FD0573F593}"/>
              </a:ext>
            </a:extLst>
          </p:cNvPr>
          <p:cNvSpPr>
            <a:spLocks xmlns:a="http://schemas.openxmlformats.org/drawingml/2006/main" noGrp="1"/>
          </p:cNvSpPr>
          <p:nvPr>
            <p:ph type="sldNum" idx="12"/>
          </p:nvPr>
        </p:nvSpPr>
        <p:spPr>
          <a:xfrm xmlns:a="http://schemas.openxmlformats.org/drawingml/2006/main">
            <a:off x="11382375" y="6457950"/>
            <a:ext cx="381000" cy="238125"/>
          </a:xfrm>
        </p:spPr>
        <p:txBody>
          <a:bodyPr xmlns:a="http://schemas.openxmlformats.org/drawingml/2006/main" wrap="square" lIns="0" tIns="0" rIns="0" bIns="0" anchor="t">
            <a:noAutofit/>
          </a:bodyPr>
          <a:lstStyle xmlns:a="http://schemas.openxmlformats.org/drawingml/2006/main"/>
          <a:p xmlns:a="http://schemas.openxmlformats.org/drawingml/2006/main">
            <a:pPr marL="0" marR="0" lvl="0" indent="0" algn="l" defTabSz="457200">
              <a:lnSpc>
                <a:spcPct val="100000"/>
              </a:lnSpc>
              <a:spcBef>
                <a:spcPct val="0"/>
              </a:spcBef>
              <a:spcAft>
                <a:spcPct val="0"/>
              </a:spcAft>
              <a:buClrTx/>
              <a:buSzTx/>
              <a:buFontTx/>
              <a:buNone/>
              <a:defRPr sz="1275" b="1">
                <a:solidFill>
                  <a:srgbClr val="FFFFFF"/>
                </a:solidFill>
                <a:latin typeface="Arial"/>
                <a:ea typeface="Arial"/>
                <a:cs typeface="Arial"/>
              </a:defRPr>
            </a:pPr>
            <a:fld id="{EFD6AB9A-5F9E-5F59-51AB-3C8734130965}" type="slidenum">
              <a:rPr sz="1275" b="1" i="0" u="none" cap="none" spc="0">
                <a:ln>
                  <a:noFill/>
                </a:ln>
                <a:solidFill>
                  <a:srgbClr val="FFFFFF"/>
                </a:solidFill>
                <a:latin typeface="Arial"/>
                <a:ea typeface="Arial"/>
                <a:cs typeface="Arial"/>
              </a:rPr>
              <a:t>4</a:t>
            </a:fld>
            <a:endParaRPr sz="1200" b="1" i="0" u="none" kern="1200" cap="none" spc="0" baseline="0">
              <a:ln>
                <a:noFill/>
              </a:ln>
              <a:solidFill>
                <a:prstClr val="white"/>
              </a:solidFill>
              <a:latin typeface="TradeGothic"/>
              <a:ea typeface="TradeGothic"/>
              <a:cs typeface="TradeGothic"/>
            </a:endParaRPr>
          </a:p>
        </p:txBody>
      </p:sp>
      <p:sp>
        <p:nvSpPr>
          <p:cNvPr id="7" name="Footer Placeholder 6">
            <a:extLst xmlns:a="http://schemas.openxmlformats.org/drawingml/2006/main">
              <a:ext uri="{FF2B5EF4-FFF2-40B4-BE49-F238E27FC236}">
                <a16:creationId xmlns:a16="http://schemas.microsoft.com/office/drawing/2014/main" id="{12B73861-8832-4ACA-B08D-33824E2897DF}"/>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r>
              <a:rPr sz="1200" b="0" i="0" u="none" cap="none" spc="0">
                <a:ln>
                  <a:noFill/>
                </a:ln>
                <a:solidFill>
                  <a:prstClr val="white"/>
                </a:solidFill>
                <a:latin typeface="TradeGothic"/>
                <a:ea typeface="TradeGothic"/>
                <a:cs typeface="TradeGothic"/>
              </a:rPr>
              <a:t>@SIH Idea submission- Template</a:t>
            </a:r>
            <a:endParaRPr sz="1200" b="0" i="0" u="none" kern="1200" cap="none" spc="0" baseline="0">
              <a:ln>
                <a:noFill/>
              </a:ln>
              <a:solidFill>
                <a:prstClr val="white"/>
              </a:solidFill>
              <a:latin typeface="TradeGothic"/>
              <a:ea typeface="TradeGothic"/>
              <a:cs typeface="TradeGothic"/>
            </a:endParaRPr>
          </a:p>
        </p:txBody>
      </p:sp>
      <p:sp>
        <p:nvSpPr>
          <p:cNvPr id="12" name="Oval 11">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56" y="252222"/>
            <a:ext cx="1251871" cy="807339"/>
          </a:xfrm>
          <a:prstGeom xmlns:a="http://schemas.openxmlformats.org/drawingml/2006/main" prst="ellipse">
            <a:avLst/>
          </a:prstGeom>
          <a:solidFill xmlns:a="http://schemas.openxmlformats.org/drawingml/2006/main">
            <a:srgbClr val="FFFFFF"/>
          </a:solidFill>
          <a:ln xmlns:a="http://schemas.openxmlformats.org/drawingml/2006/main" w="19050">
            <a:solidFill>
              <a:srgbClr val="8064A2"/>
            </a:solidFill>
          </a:ln>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425" b="1">
                <a:solidFill>
                  <a:srgbClr val="111111"/>
                </a:solidFill>
                <a:latin typeface="Arial"/>
                <a:ea typeface="Arial"/>
                <a:cs typeface="Arial"/>
              </a:defRPr>
            </a:pPr>
            <a:r>
              <a:rPr sz="1425" b="1">
                <a:solidFill>
                  <a:srgbClr val="111111"/>
                </a:solidFill>
                <a:latin typeface="Arial"/>
                <a:ea typeface="Arial"/>
                <a:cs typeface="Arial"/>
              </a:rPr>
              <a:t>COLD</a:t>
            </a:r>
            <a:endParaRPr/>
          </a:p>
          <a:p xmlns:a="http://schemas.openxmlformats.org/drawingml/2006/main">
            <a:pPr algn="ctr">
              <a:buNone/>
              <a:defRPr sz="1425" b="1">
                <a:solidFill>
                  <a:srgbClr val="111111"/>
                </a:solidFill>
                <a:latin typeface="Arial"/>
                <a:ea typeface="Arial"/>
                <a:cs typeface="Arial"/>
              </a:defRPr>
            </a:pPr>
            <a:r>
              <a:rPr sz="1425" b="1">
                <a:solidFill>
                  <a:srgbClr val="111111"/>
                </a:solidFill>
                <a:latin typeface="Arial"/>
                <a:ea typeface="Arial"/>
                <a:cs typeface="Arial"/>
              </a:rPr>
              <a:t>COFFEE</a:t>
            </a:r>
            <a:endParaRPr/>
          </a:p>
        </p:txBody>
      </p:sp>
      <p:pic>
        <p:nvPicPr>
          <p:cNvPr id="17445" name=""/>
          <p:cNvPicPr>
            <a:picLocks xmlns:a="http://schemas.openxmlformats.org/drawingml/2006/main" noChangeAspect="1"/>
          </p:cNvPicPr>
          <p:nvPr/>
        </p:nvPicPr>
        <p:blipFill>
          <a:blip xmlns:r="http://schemas.openxmlformats.org/officeDocument/2006/relationships" xmlns:a="http://schemas.openxmlformats.org/drawingml/2006/main" r:embed="R8ddc86280411438b"/>
          <a:stretch xmlns:a="http://schemas.openxmlformats.org/drawingml/2006/main"/>
        </p:blipFill>
        <p:spPr>
          <a:xfrm xmlns:a="http://schemas.openxmlformats.org/drawingml/2006/main">
            <a:off x="9780080" y="1528"/>
            <a:ext cx="2249805" cy="1062316"/>
          </a:xfrm>
          <a:prstGeom xmlns:a="http://schemas.openxmlformats.org/drawingml/2006/main" prst="rect">
            <a:avLst/>
          </a:prstGeom>
        </p:spPr>
      </p:pic>
      <p:sp>
        <p:nvSpPr>
          <p:cNvPr id="17419" name="">
            <a:extLst xmlns:a="http://schemas.openxmlformats.org/drawingml/2006/main">
              <a:ext uri="{FF2B5EF4-FFF2-40B4-BE49-F238E27FC236}">
                <a16:creationId xmlns:a16="http://schemas.microsoft.com/office/drawing/2014/main" id="{E65CABD3-0656-415B-98C9-73C35E28D5CB}"/>
              </a:ext>
            </a:extLst>
          </p:cNvPr>
          <p:cNvSpPr>
            <a:spLocks xmlns:a="http://schemas.openxmlformats.org/drawingml/2006/main" noGrp="1"/>
          </p:cNvSpPr>
          <p:nvPr/>
        </p:nvSpPr>
        <p:spPr>
          <a:xfrm xmlns:a="http://schemas.openxmlformats.org/drawingml/2006/main">
            <a:off x="609600" y="138112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F497D"/>
                </a:solidFill>
                <a:latin typeface="Arial"/>
                <a:ea typeface="Arial"/>
                <a:cs typeface="Arial"/>
              </a:defRPr>
            </a:pPr>
            <a:r>
              <a:rPr sz="2025" b="1">
                <a:solidFill>
                  <a:srgbClr val="1F497D"/>
                </a:solidFill>
                <a:latin typeface="Arial"/>
                <a:ea typeface="Arial"/>
                <a:cs typeface="Arial"/>
              </a:rPr>
              <a:t>Analysis of feasibility of the idea</a:t>
            </a:r>
          </a:p>
        </p:txBody>
      </p:sp>
      <p:sp>
        <p:nvSpPr>
          <p:cNvPr id="17420" name="1. Validate">
            <a:extLst xmlns:a="http://schemas.openxmlformats.org/drawingml/2006/main">
              <a:ext uri="{FF2B5EF4-FFF2-40B4-BE49-F238E27FC236}">
                <a16:creationId xmlns:a16="http://schemas.microsoft.com/office/drawing/2014/main" id="{BC66EE83-9884-44B4-B73E-CC7A227FC6E8}"/>
              </a:ext>
            </a:extLst>
          </p:cNvPr>
          <p:cNvSpPr>
            <a:spLocks xmlns:a="http://schemas.openxmlformats.org/drawingml/2006/main" noGrp="1"/>
          </p:cNvSpPr>
          <p:nvPr/>
        </p:nvSpPr>
        <p:spPr>
          <a:xfrm xmlns:a="http://schemas.openxmlformats.org/drawingml/2006/main">
            <a:off x="609600" y="1847850"/>
            <a:ext cx="2362200" cy="933450"/>
          </a:xfrm>
          <a:prstGeom xmlns:a="http://schemas.openxmlformats.org/drawingml/2006/main" prst="rect">
            <a:avLst/>
          </a:prstGeom>
          <a:solidFill xmlns:a="http://schemas.openxmlformats.org/drawingml/2006/main">
            <a:srgbClr val="F4F8FC"/>
          </a:solidFill>
          <a:ln xmlns:a="http://schemas.openxmlformats.org/drawingml/2006/main" w="19050">
            <a:solidFill>
              <a:srgbClr val="0070C0"/>
            </a:solidFill>
          </a:ln>
        </p:spPr>
      </p:sp>
      <p:sp>
        <p:nvSpPr>
          <p:cNvPr id="17421" name="">
            <a:extLst xmlns:a="http://schemas.openxmlformats.org/drawingml/2006/main">
              <a:ext uri="{FF2B5EF4-FFF2-40B4-BE49-F238E27FC236}">
                <a16:creationId xmlns:a16="http://schemas.microsoft.com/office/drawing/2014/main" id="{DCEA98DF-C052-4DE7-A21C-93E812846116}"/>
              </a:ext>
            </a:extLst>
          </p:cNvPr>
          <p:cNvSpPr>
            <a:spLocks xmlns:a="http://schemas.openxmlformats.org/drawingml/2006/main" noGrp="1"/>
          </p:cNvSpPr>
          <p:nvPr/>
        </p:nvSpPr>
        <p:spPr>
          <a:xfrm xmlns:a="http://schemas.openxmlformats.org/drawingml/2006/main">
            <a:off x="723900" y="1990725"/>
            <a:ext cx="2133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1">
                <a:solidFill>
                  <a:srgbClr val="1F497D"/>
                </a:solidFill>
                <a:latin typeface="Arial"/>
                <a:ea typeface="Arial"/>
                <a:cs typeface="Arial"/>
              </a:defRPr>
            </a:pPr>
            <a:r>
              <a:rPr sz="1800" b="1">
                <a:solidFill>
                  <a:srgbClr val="1F497D"/>
                </a:solidFill>
                <a:latin typeface="Arial"/>
                <a:ea typeface="Arial"/>
                <a:cs typeface="Arial"/>
              </a:rPr>
              <a:t>1. Validate</a:t>
            </a:r>
          </a:p>
        </p:txBody>
      </p:sp>
      <p:sp>
        <p:nvSpPr>
          <p:cNvPr id="17422" name="">
            <a:extLst xmlns:a="http://schemas.openxmlformats.org/drawingml/2006/main">
              <a:ext uri="{FF2B5EF4-FFF2-40B4-BE49-F238E27FC236}">
                <a16:creationId xmlns:a16="http://schemas.microsoft.com/office/drawing/2014/main" id="{57BC3405-C613-4D39-BCAA-AA7CAC82B331}"/>
              </a:ext>
            </a:extLst>
          </p:cNvPr>
          <p:cNvSpPr>
            <a:spLocks xmlns:a="http://schemas.openxmlformats.org/drawingml/2006/main" noGrp="1"/>
          </p:cNvSpPr>
          <p:nvPr/>
        </p:nvSpPr>
        <p:spPr>
          <a:xfrm xmlns:a="http://schemas.openxmlformats.org/drawingml/2006/main">
            <a:off x="723900" y="2333625"/>
            <a:ext cx="21336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650" b="0">
                <a:solidFill>
                  <a:srgbClr val="17212B"/>
                </a:solidFill>
                <a:latin typeface="Arial"/>
                <a:ea typeface="Arial"/>
                <a:cs typeface="Arial"/>
              </a:defRPr>
            </a:pPr>
            <a:r>
              <a:rPr sz="1650" b="0">
                <a:solidFill>
                  <a:srgbClr val="17212B"/>
                </a:solidFill>
                <a:latin typeface="Arial"/>
                <a:ea typeface="Arial"/>
                <a:cs typeface="Arial"/>
              </a:rPr>
              <a:t>Bitcoin attribution</a:t>
            </a:r>
          </a:p>
        </p:txBody>
      </p:sp>
      <p:sp>
        <p:nvSpPr>
          <p:cNvPr id="17423" name="2. Monitor">
            <a:extLst xmlns:a="http://schemas.openxmlformats.org/drawingml/2006/main">
              <a:ext uri="{FF2B5EF4-FFF2-40B4-BE49-F238E27FC236}">
                <a16:creationId xmlns:a16="http://schemas.microsoft.com/office/drawing/2014/main" id="{2CD03D58-9FD9-4024-99FE-225641DF9A34}"/>
              </a:ext>
            </a:extLst>
          </p:cNvPr>
          <p:cNvSpPr>
            <a:spLocks xmlns:a="http://schemas.openxmlformats.org/drawingml/2006/main" noGrp="1"/>
          </p:cNvSpPr>
          <p:nvPr/>
        </p:nvSpPr>
        <p:spPr>
          <a:xfrm xmlns:a="http://schemas.openxmlformats.org/drawingml/2006/main">
            <a:off x="3467100" y="1847850"/>
            <a:ext cx="2362200" cy="933450"/>
          </a:xfrm>
          <a:prstGeom xmlns:a="http://schemas.openxmlformats.org/drawingml/2006/main" prst="rect">
            <a:avLst/>
          </a:prstGeom>
          <a:solidFill xmlns:a="http://schemas.openxmlformats.org/drawingml/2006/main">
            <a:srgbClr val="F4F8FC"/>
          </a:solidFill>
          <a:ln xmlns:a="http://schemas.openxmlformats.org/drawingml/2006/main" w="19050">
            <a:solidFill>
              <a:srgbClr val="0070C0"/>
            </a:solidFill>
          </a:ln>
        </p:spPr>
      </p:sp>
      <p:sp>
        <p:nvSpPr>
          <p:cNvPr id="17424" name="">
            <a:extLst xmlns:a="http://schemas.openxmlformats.org/drawingml/2006/main">
              <a:ext uri="{FF2B5EF4-FFF2-40B4-BE49-F238E27FC236}">
                <a16:creationId xmlns:a16="http://schemas.microsoft.com/office/drawing/2014/main" id="{5F2D0CB1-D9CD-4FA2-B55E-D07510914B5D}"/>
              </a:ext>
            </a:extLst>
          </p:cNvPr>
          <p:cNvSpPr>
            <a:spLocks xmlns:a="http://schemas.openxmlformats.org/drawingml/2006/main" noGrp="1"/>
          </p:cNvSpPr>
          <p:nvPr/>
        </p:nvSpPr>
        <p:spPr>
          <a:xfrm xmlns:a="http://schemas.openxmlformats.org/drawingml/2006/main">
            <a:off x="3581400" y="1990725"/>
            <a:ext cx="2133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1">
                <a:solidFill>
                  <a:srgbClr val="1F497D"/>
                </a:solidFill>
                <a:latin typeface="Arial"/>
                <a:ea typeface="Arial"/>
                <a:cs typeface="Arial"/>
              </a:defRPr>
            </a:pPr>
            <a:r>
              <a:rPr sz="1800" b="1">
                <a:solidFill>
                  <a:srgbClr val="1F497D"/>
                </a:solidFill>
                <a:latin typeface="Arial"/>
                <a:ea typeface="Arial"/>
                <a:cs typeface="Arial"/>
              </a:rPr>
              <a:t>2. Monitor</a:t>
            </a:r>
          </a:p>
        </p:txBody>
      </p:sp>
      <p:sp>
        <p:nvSpPr>
          <p:cNvPr id="17425" name="">
            <a:extLst xmlns:a="http://schemas.openxmlformats.org/drawingml/2006/main">
              <a:ext uri="{FF2B5EF4-FFF2-40B4-BE49-F238E27FC236}">
                <a16:creationId xmlns:a16="http://schemas.microsoft.com/office/drawing/2014/main" id="{BB728EB7-3778-495B-B50A-F86D6C6097B1}"/>
              </a:ext>
            </a:extLst>
          </p:cNvPr>
          <p:cNvSpPr>
            <a:spLocks xmlns:a="http://schemas.openxmlformats.org/drawingml/2006/main" noGrp="1"/>
          </p:cNvSpPr>
          <p:nvPr/>
        </p:nvSpPr>
        <p:spPr>
          <a:xfrm xmlns:a="http://schemas.openxmlformats.org/drawingml/2006/main">
            <a:off x="3581400" y="2333625"/>
            <a:ext cx="21336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650" b="0">
                <a:solidFill>
                  <a:srgbClr val="17212B"/>
                </a:solidFill>
                <a:latin typeface="Arial"/>
                <a:ea typeface="Arial"/>
                <a:cs typeface="Arial"/>
              </a:defRPr>
            </a:pPr>
            <a:r>
              <a:rPr sz="1650" b="0">
                <a:solidFill>
                  <a:srgbClr val="17212B"/>
                </a:solidFill>
                <a:latin typeface="Arial"/>
                <a:ea typeface="Arial"/>
                <a:cs typeface="Arial"/>
              </a:rPr>
              <a:t>Movement alerts</a:t>
            </a:r>
          </a:p>
        </p:txBody>
      </p:sp>
      <p:sp>
        <p:nvSpPr>
          <p:cNvPr id="17426" name="3. Extend">
            <a:extLst xmlns:a="http://schemas.openxmlformats.org/drawingml/2006/main">
              <a:ext uri="{FF2B5EF4-FFF2-40B4-BE49-F238E27FC236}">
                <a16:creationId xmlns:a16="http://schemas.microsoft.com/office/drawing/2014/main" id="{03F3FA39-0EB1-4969-B541-A369EE5409A6}"/>
              </a:ext>
            </a:extLst>
          </p:cNvPr>
          <p:cNvSpPr>
            <a:spLocks xmlns:a="http://schemas.openxmlformats.org/drawingml/2006/main" noGrp="1"/>
          </p:cNvSpPr>
          <p:nvPr/>
        </p:nvSpPr>
        <p:spPr>
          <a:xfrm xmlns:a="http://schemas.openxmlformats.org/drawingml/2006/main">
            <a:off x="6324600" y="1847850"/>
            <a:ext cx="2362200" cy="933450"/>
          </a:xfrm>
          <a:prstGeom xmlns:a="http://schemas.openxmlformats.org/drawingml/2006/main" prst="rect">
            <a:avLst/>
          </a:prstGeom>
          <a:solidFill xmlns:a="http://schemas.openxmlformats.org/drawingml/2006/main">
            <a:srgbClr val="F4F8FC"/>
          </a:solidFill>
          <a:ln xmlns:a="http://schemas.openxmlformats.org/drawingml/2006/main" w="19050">
            <a:solidFill>
              <a:srgbClr val="0070C0"/>
            </a:solidFill>
          </a:ln>
        </p:spPr>
      </p:sp>
      <p:sp>
        <p:nvSpPr>
          <p:cNvPr id="17427" name="">
            <a:extLst xmlns:a="http://schemas.openxmlformats.org/drawingml/2006/main">
              <a:ext uri="{FF2B5EF4-FFF2-40B4-BE49-F238E27FC236}">
                <a16:creationId xmlns:a16="http://schemas.microsoft.com/office/drawing/2014/main" id="{75AAF60A-58F5-4623-B2A1-9DDEBD913006}"/>
              </a:ext>
            </a:extLst>
          </p:cNvPr>
          <p:cNvSpPr>
            <a:spLocks xmlns:a="http://schemas.openxmlformats.org/drawingml/2006/main" noGrp="1"/>
          </p:cNvSpPr>
          <p:nvPr/>
        </p:nvSpPr>
        <p:spPr>
          <a:xfrm xmlns:a="http://schemas.openxmlformats.org/drawingml/2006/main">
            <a:off x="6438900" y="1990725"/>
            <a:ext cx="2133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1">
                <a:solidFill>
                  <a:srgbClr val="1F497D"/>
                </a:solidFill>
                <a:latin typeface="Arial"/>
                <a:ea typeface="Arial"/>
                <a:cs typeface="Arial"/>
              </a:defRPr>
            </a:pPr>
            <a:r>
              <a:rPr sz="1800" b="1">
                <a:solidFill>
                  <a:srgbClr val="1F497D"/>
                </a:solidFill>
                <a:latin typeface="Arial"/>
                <a:ea typeface="Arial"/>
                <a:cs typeface="Arial"/>
              </a:rPr>
              <a:t>3. Extend</a:t>
            </a:r>
          </a:p>
        </p:txBody>
      </p:sp>
      <p:sp>
        <p:nvSpPr>
          <p:cNvPr id="17428" name="">
            <a:extLst xmlns:a="http://schemas.openxmlformats.org/drawingml/2006/main">
              <a:ext uri="{FF2B5EF4-FFF2-40B4-BE49-F238E27FC236}">
                <a16:creationId xmlns:a16="http://schemas.microsoft.com/office/drawing/2014/main" id="{22957EC1-4B07-46D9-8DC3-2B0F934056C8}"/>
              </a:ext>
            </a:extLst>
          </p:cNvPr>
          <p:cNvSpPr>
            <a:spLocks xmlns:a="http://schemas.openxmlformats.org/drawingml/2006/main" noGrp="1"/>
          </p:cNvSpPr>
          <p:nvPr/>
        </p:nvSpPr>
        <p:spPr>
          <a:xfrm xmlns:a="http://schemas.openxmlformats.org/drawingml/2006/main">
            <a:off x="6438900" y="2333625"/>
            <a:ext cx="21336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650" b="0">
                <a:solidFill>
                  <a:srgbClr val="17212B"/>
                </a:solidFill>
                <a:latin typeface="Arial"/>
                <a:ea typeface="Arial"/>
                <a:cs typeface="Arial"/>
              </a:defRPr>
            </a:pPr>
            <a:r>
              <a:rPr sz="1650" b="0">
                <a:solidFill>
                  <a:srgbClr val="17212B"/>
                </a:solidFill>
                <a:latin typeface="Arial"/>
                <a:ea typeface="Arial"/>
                <a:cs typeface="Arial"/>
              </a:rPr>
              <a:t>EVM/TRON, bridges</a:t>
            </a:r>
          </a:p>
        </p:txBody>
      </p:sp>
      <p:sp>
        <p:nvSpPr>
          <p:cNvPr id="17429" name="4. Integrate">
            <a:extLst xmlns:a="http://schemas.openxmlformats.org/drawingml/2006/main">
              <a:ext uri="{FF2B5EF4-FFF2-40B4-BE49-F238E27FC236}">
                <a16:creationId xmlns:a16="http://schemas.microsoft.com/office/drawing/2014/main" id="{33BE0A4C-3A2F-4BA3-9EEC-684ECBC82F16}"/>
              </a:ext>
            </a:extLst>
          </p:cNvPr>
          <p:cNvSpPr>
            <a:spLocks xmlns:a="http://schemas.openxmlformats.org/drawingml/2006/main" noGrp="1"/>
          </p:cNvSpPr>
          <p:nvPr/>
        </p:nvSpPr>
        <p:spPr>
          <a:xfrm xmlns:a="http://schemas.openxmlformats.org/drawingml/2006/main">
            <a:off x="9182100" y="1847850"/>
            <a:ext cx="2362200" cy="933450"/>
          </a:xfrm>
          <a:prstGeom xmlns:a="http://schemas.openxmlformats.org/drawingml/2006/main" prst="rect">
            <a:avLst/>
          </a:prstGeom>
          <a:solidFill xmlns:a="http://schemas.openxmlformats.org/drawingml/2006/main">
            <a:srgbClr val="F4F8FC"/>
          </a:solidFill>
          <a:ln xmlns:a="http://schemas.openxmlformats.org/drawingml/2006/main" w="19050">
            <a:solidFill>
              <a:srgbClr val="0070C0"/>
            </a:solidFill>
          </a:ln>
        </p:spPr>
      </p:sp>
      <p:sp>
        <p:nvSpPr>
          <p:cNvPr id="17430" name="">
            <a:extLst xmlns:a="http://schemas.openxmlformats.org/drawingml/2006/main">
              <a:ext uri="{FF2B5EF4-FFF2-40B4-BE49-F238E27FC236}">
                <a16:creationId xmlns:a16="http://schemas.microsoft.com/office/drawing/2014/main" id="{56203953-634D-468A-9E0F-A3FA0D3D3A22}"/>
              </a:ext>
            </a:extLst>
          </p:cNvPr>
          <p:cNvSpPr>
            <a:spLocks xmlns:a="http://schemas.openxmlformats.org/drawingml/2006/main" noGrp="1"/>
          </p:cNvSpPr>
          <p:nvPr/>
        </p:nvSpPr>
        <p:spPr>
          <a:xfrm xmlns:a="http://schemas.openxmlformats.org/drawingml/2006/main">
            <a:off x="9296400" y="1990725"/>
            <a:ext cx="2133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1">
                <a:solidFill>
                  <a:srgbClr val="1F497D"/>
                </a:solidFill>
                <a:latin typeface="Arial"/>
                <a:ea typeface="Arial"/>
                <a:cs typeface="Arial"/>
              </a:defRPr>
            </a:pPr>
            <a:r>
              <a:rPr sz="1800" b="1">
                <a:solidFill>
                  <a:srgbClr val="1F497D"/>
                </a:solidFill>
                <a:latin typeface="Arial"/>
                <a:ea typeface="Arial"/>
                <a:cs typeface="Arial"/>
              </a:rPr>
              <a:t>4. Integrate</a:t>
            </a:r>
          </a:p>
        </p:txBody>
      </p:sp>
      <p:sp>
        <p:nvSpPr>
          <p:cNvPr id="17431" name="">
            <a:extLst xmlns:a="http://schemas.openxmlformats.org/drawingml/2006/main">
              <a:ext uri="{FF2B5EF4-FFF2-40B4-BE49-F238E27FC236}">
                <a16:creationId xmlns:a16="http://schemas.microsoft.com/office/drawing/2014/main" id="{C6BF3A0E-64CC-4D90-A42B-4939E3F47D71}"/>
              </a:ext>
            </a:extLst>
          </p:cNvPr>
          <p:cNvSpPr>
            <a:spLocks xmlns:a="http://schemas.openxmlformats.org/drawingml/2006/main" noGrp="1"/>
          </p:cNvSpPr>
          <p:nvPr/>
        </p:nvSpPr>
        <p:spPr>
          <a:xfrm xmlns:a="http://schemas.openxmlformats.org/drawingml/2006/main">
            <a:off x="9296400" y="2333625"/>
            <a:ext cx="21336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650" b="0">
                <a:solidFill>
                  <a:srgbClr val="17212B"/>
                </a:solidFill>
                <a:latin typeface="Arial"/>
                <a:ea typeface="Arial"/>
                <a:cs typeface="Arial"/>
              </a:defRPr>
            </a:pPr>
            <a:r>
              <a:rPr sz="1650" b="0">
                <a:solidFill>
                  <a:srgbClr val="17212B"/>
                </a:solidFill>
                <a:latin typeface="Arial"/>
                <a:ea typeface="Arial"/>
                <a:cs typeface="Arial"/>
              </a:rPr>
              <a:t>Approved LEA access</a:t>
            </a:r>
          </a:p>
        </p:txBody>
      </p:sp>
      <p:cxnSp>
        <p:nvCxnSpPr>
          <p:cNvPr id="17459" name=""/>
          <p:cNvCxnSpPr>
            <a:stCxn xmlns:a="http://schemas.openxmlformats.org/drawingml/2006/main" id="17420" idx="3"/>
            <a:endCxn xmlns:a="http://schemas.openxmlformats.org/drawingml/2006/main" id="17423" idx="1"/>
          </p:cNvCxnSpPr>
          <p:nvPr/>
        </p:nvCxnSpPr>
        <p:spPr>
          <a:xfrm xmlns:a="http://schemas.openxmlformats.org/drawingml/2006/main">
            <a:off x="2971800" y="2314575"/>
            <a:ext cx="495300" cy="0"/>
          </a:xfrm>
          <a:prstGeom xmlns:a="http://schemas.openxmlformats.org/drawingml/2006/main" prst="straightConnector1">
            <a:avLst/>
          </a:prstGeom>
          <a:ln xmlns:a="http://schemas.openxmlformats.org/drawingml/2006/main" w="28575">
            <a:solidFill>
              <a:srgbClr val="0070C0"/>
            </a:solidFill>
            <a:prstDash val="solid"/>
            <a:tailEnd type="triangle" w="lg" len="lg"/>
          </a:ln>
        </p:spPr>
      </p:cxnSp>
      <p:cxnSp>
        <p:nvCxnSpPr>
          <p:cNvPr id="17460" name=""/>
          <p:cNvCxnSpPr>
            <a:stCxn xmlns:a="http://schemas.openxmlformats.org/drawingml/2006/main" id="17423" idx="3"/>
            <a:endCxn xmlns:a="http://schemas.openxmlformats.org/drawingml/2006/main" id="17426" idx="1"/>
          </p:cNvCxnSpPr>
          <p:nvPr/>
        </p:nvCxnSpPr>
        <p:spPr>
          <a:xfrm xmlns:a="http://schemas.openxmlformats.org/drawingml/2006/main">
            <a:off x="5829300" y="2314575"/>
            <a:ext cx="495300" cy="0"/>
          </a:xfrm>
          <a:prstGeom xmlns:a="http://schemas.openxmlformats.org/drawingml/2006/main" prst="straightConnector1">
            <a:avLst/>
          </a:prstGeom>
          <a:ln xmlns:a="http://schemas.openxmlformats.org/drawingml/2006/main" w="28575">
            <a:solidFill>
              <a:srgbClr val="0070C0"/>
            </a:solidFill>
            <a:prstDash val="solid"/>
            <a:tailEnd type="triangle" w="lg" len="lg"/>
          </a:ln>
        </p:spPr>
      </p:cxnSp>
      <p:cxnSp>
        <p:nvCxnSpPr>
          <p:cNvPr id="17461" name=""/>
          <p:cNvCxnSpPr>
            <a:stCxn xmlns:a="http://schemas.openxmlformats.org/drawingml/2006/main" id="17426" idx="3"/>
            <a:endCxn xmlns:a="http://schemas.openxmlformats.org/drawingml/2006/main" id="17429" idx="1"/>
          </p:cNvCxnSpPr>
          <p:nvPr/>
        </p:nvCxnSpPr>
        <p:spPr>
          <a:xfrm xmlns:a="http://schemas.openxmlformats.org/drawingml/2006/main">
            <a:off x="8686800" y="2314575"/>
            <a:ext cx="495300" cy="0"/>
          </a:xfrm>
          <a:prstGeom xmlns:a="http://schemas.openxmlformats.org/drawingml/2006/main" prst="straightConnector1">
            <a:avLst/>
          </a:prstGeom>
          <a:ln xmlns:a="http://schemas.openxmlformats.org/drawingml/2006/main" w="28575">
            <a:solidFill>
              <a:srgbClr val="0070C0"/>
            </a:solidFill>
            <a:prstDash val="solid"/>
            <a:tailEnd type="triangle" w="lg" len="lg"/>
          </a:ln>
        </p:spPr>
      </p:cxnSp>
      <p:sp>
        <p:nvSpPr>
          <p:cNvPr id="17435" name="">
            <a:extLst xmlns:a="http://schemas.openxmlformats.org/drawingml/2006/main">
              <a:ext uri="{FF2B5EF4-FFF2-40B4-BE49-F238E27FC236}">
                <a16:creationId xmlns:a16="http://schemas.microsoft.com/office/drawing/2014/main" id="{9F3CDC9A-E0FE-42AB-BD0E-AA1BF1E3C7CE}"/>
              </a:ext>
            </a:extLst>
          </p:cNvPr>
          <p:cNvSpPr>
            <a:spLocks xmlns:a="http://schemas.openxmlformats.org/drawingml/2006/main" noGrp="1"/>
          </p:cNvSpPr>
          <p:nvPr/>
        </p:nvSpPr>
        <p:spPr>
          <a:xfrm xmlns:a="http://schemas.openxmlformats.org/drawingml/2006/main">
            <a:off x="723900" y="298132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212B"/>
                </a:solidFill>
                <a:latin typeface="Arial"/>
                <a:ea typeface="Arial"/>
                <a:cs typeface="Arial"/>
              </a:defRPr>
            </a:pPr>
            <a:r>
              <a:rPr sz="1800" b="0">
                <a:solidFill>
                  <a:srgbClr val="17212B"/>
                </a:solidFill>
                <a:latin typeface="Arial"/>
                <a:ea typeface="Arial"/>
                <a:cs typeface="Arial"/>
              </a:rPr>
              <a:t>Label supply: reviewed public disclosures and authorized VASP data, with source history.</a:t>
            </a:r>
          </a:p>
        </p:txBody>
      </p:sp>
      <p:sp>
        <p:nvSpPr>
          <p:cNvPr id="17436" name="">
            <a:extLst xmlns:a="http://schemas.openxmlformats.org/drawingml/2006/main">
              <a:ext uri="{FF2B5EF4-FFF2-40B4-BE49-F238E27FC236}">
                <a16:creationId xmlns:a16="http://schemas.microsoft.com/office/drawing/2014/main" id="{9887E4B4-6D9C-42D0-B25E-F91546D6ECF9}"/>
              </a:ext>
            </a:extLst>
          </p:cNvPr>
          <p:cNvSpPr>
            <a:spLocks xmlns:a="http://schemas.openxmlformats.org/drawingml/2006/main" noGrp="1"/>
          </p:cNvSpPr>
          <p:nvPr/>
        </p:nvSpPr>
        <p:spPr>
          <a:xfrm xmlns:a="http://schemas.openxmlformats.org/drawingml/2006/main">
            <a:off x="609600" y="3638550"/>
            <a:ext cx="3524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F497D"/>
                </a:solidFill>
                <a:latin typeface="Arial"/>
                <a:ea typeface="Arial"/>
                <a:cs typeface="Arial"/>
              </a:defRPr>
            </a:pPr>
            <a:r>
              <a:rPr sz="1950" b="1">
                <a:solidFill>
                  <a:srgbClr val="1F497D"/>
                </a:solidFill>
                <a:latin typeface="Arial"/>
                <a:ea typeface="Arial"/>
                <a:cs typeface="Arial"/>
              </a:rPr>
              <a:t>Potential challenges</a:t>
            </a:r>
          </a:p>
          <a:p xmlns:a="http://schemas.openxmlformats.org/drawingml/2006/main">
            <a:pPr algn="l">
              <a:defRPr sz="1950" b="1">
                <a:solidFill>
                  <a:srgbClr val="1F497D"/>
                </a:solidFill>
                <a:latin typeface="Arial"/>
                <a:ea typeface="Arial"/>
                <a:cs typeface="Arial"/>
              </a:defRPr>
            </a:pPr>
            <a:r>
              <a:rPr sz="1950" b="1">
                <a:solidFill>
                  <a:srgbClr val="1F497D"/>
                </a:solidFill>
                <a:latin typeface="Arial"/>
                <a:ea typeface="Arial"/>
                <a:cs typeface="Arial"/>
              </a:rPr>
              <a:t>and risks</a:t>
            </a:r>
          </a:p>
        </p:txBody>
      </p:sp>
      <p:sp>
        <p:nvSpPr>
          <p:cNvPr id="17437" name="">
            <a:extLst xmlns:a="http://schemas.openxmlformats.org/drawingml/2006/main">
              <a:ext uri="{FF2B5EF4-FFF2-40B4-BE49-F238E27FC236}">
                <a16:creationId xmlns:a16="http://schemas.microsoft.com/office/drawing/2014/main" id="{C5176A05-76D1-43DA-BD94-D6122C59C540}"/>
              </a:ext>
            </a:extLst>
          </p:cNvPr>
          <p:cNvSpPr>
            <a:spLocks xmlns:a="http://schemas.openxmlformats.org/drawingml/2006/main" noGrp="1"/>
          </p:cNvSpPr>
          <p:nvPr/>
        </p:nvSpPr>
        <p:spPr>
          <a:xfrm xmlns:a="http://schemas.openxmlformats.org/drawingml/2006/main">
            <a:off x="4476750" y="3638550"/>
            <a:ext cx="7105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F497D"/>
                </a:solidFill>
                <a:latin typeface="Arial"/>
                <a:ea typeface="Arial"/>
                <a:cs typeface="Arial"/>
              </a:defRPr>
            </a:pPr>
            <a:r>
              <a:rPr sz="1950" b="1">
                <a:solidFill>
                  <a:srgbClr val="1F497D"/>
                </a:solidFill>
                <a:latin typeface="Arial"/>
                <a:ea typeface="Arial"/>
                <a:cs typeface="Arial"/>
              </a:rPr>
              <a:t>Strategies for overcoming these challenges</a:t>
            </a:r>
          </a:p>
        </p:txBody>
      </p:sp>
      <p:graphicFrame>
        <p:nvGraphicFramePr>
          <p:cNvPr id="17465" name=""/>
          <p:cNvGraphicFramePr/>
          <p:nvPr/>
        </p:nvGraphicFramePr>
        <p:xfrm>
          <a:off xmlns:a="http://schemas.openxmlformats.org/drawingml/2006/main" x="609600" y="4276725"/>
          <a:ext xmlns:a="http://schemas.openxmlformats.org/drawingml/2006/main" cx="10972800" cy="1428750"/>
        </p:xfrm>
        <a:graphic xmlns:a="http://schemas.openxmlformats.org/drawingml/2006/main">
          <a:graphicData uri="http://schemas.openxmlformats.org/drawingml/2006/table">
            <a:tbl>
              <a:tblPr/>
              <a:tblGrid>
                <a:gridCol w="3733800"/>
                <a:gridCol w="7239000"/>
              </a:tblGrid>
              <a:tr h="476250">
                <a:tc>
                  <a:txBody>
                    <a:bodyPr lIns="114300" tIns="76200" rIns="114300" bIns="76200"/>
                    <a:lstStyle/>
                    <a:p>
                      <a:r>
                        <a:rPr sz="1650">
                          <a:solidFill>
                            <a:srgbClr val="17212B"/>
                          </a:solidFill>
                          <a:latin typeface="Arial"/>
                          <a:ea typeface="Arial"/>
                          <a:cs typeface="Arial"/>
                        </a:rPr>
                        <a:t>Uncertain labels and flows</a:t>
                      </a:r>
                    </a:p>
                  </a:txBody>
                  <a:tcPr marL="91440" marR="91440" marT="45720" marB="45720" anchor="ctr">
                    <a:solidFill>
                      <a:srgbClr val="FFFFFF"/>
                    </a:solidFill>
                  </a:tcPr>
                </a:tc>
                <a:tc>
                  <a:txBody>
                    <a:bodyPr lIns="114300" tIns="76200" rIns="114300" bIns="76200"/>
                    <a:lstStyle/>
                    <a:p>
                      <a:r>
                        <a:rPr sz="1650">
                          <a:solidFill>
                            <a:srgbClr val="17212B"/>
                          </a:solidFill>
                          <a:latin typeface="Arial"/>
                          <a:ea typeface="Arial"/>
                          <a:cs typeface="Arial"/>
                        </a:rPr>
                        <a:t>Version label sources, review clusters and show unresolved paths.</a:t>
                      </a:r>
                    </a:p>
                  </a:txBody>
                  <a:tcPr marL="91440" marR="91440" marT="45720" marB="45720" anchor="ctr">
                    <a:solidFill>
                      <a:srgbClr val="FFFFFF"/>
                    </a:solidFill>
                  </a:tcPr>
                </a:tc>
              </a:tr>
              <a:tr h="476250">
                <a:tc>
                  <a:txBody>
                    <a:bodyPr lIns="114300" tIns="76200" rIns="114300" bIns="76200"/>
                    <a:lstStyle/>
                    <a:p>
                      <a:r>
                        <a:rPr sz="1650">
                          <a:solidFill>
                            <a:srgbClr val="17212B"/>
                          </a:solidFill>
                          <a:latin typeface="Arial"/>
                          <a:ea typeface="Arial"/>
                          <a:cs typeface="Arial"/>
                        </a:rPr>
                        <a:t>Provider limits and large histories</a:t>
                      </a:r>
                    </a:p>
                  </a:txBody>
                  <a:tcPr marL="91440" marR="91440" marT="45720" marB="45720" anchor="ctr">
                    <a:solidFill>
                      <a:srgbClr val="F4F8FC"/>
                    </a:solidFill>
                  </a:tcPr>
                </a:tc>
                <a:tc>
                  <a:txBody>
                    <a:bodyPr lIns="114300" tIns="76200" rIns="114300" bIns="76200"/>
                    <a:lstStyle/>
                    <a:p>
                      <a:r>
                        <a:rPr sz="1650">
                          <a:solidFill>
                            <a:srgbClr val="17212B"/>
                          </a:solidFill>
                          <a:latin typeface="Arial"/>
                          <a:ea typeface="Arial"/>
                          <a:cs typeface="Arial"/>
                        </a:rPr>
                        <a:t>Index incrementally, cache queries and bound graph traversal.</a:t>
                      </a:r>
                    </a:p>
                  </a:txBody>
                  <a:tcPr marL="91440" marR="91440" marT="45720" marB="45720" anchor="ctr">
                    <a:solidFill>
                      <a:srgbClr val="F4F8FC"/>
                    </a:solidFill>
                  </a:tcPr>
                </a:tc>
              </a:tr>
              <a:tr h="476250">
                <a:tc>
                  <a:txBody>
                    <a:bodyPr lIns="114300" tIns="76200" rIns="114300" bIns="76200"/>
                    <a:lstStyle/>
                    <a:p>
                      <a:r>
                        <a:rPr sz="1650">
                          <a:solidFill>
                            <a:srgbClr val="17212B"/>
                          </a:solidFill>
                          <a:latin typeface="Arial"/>
                          <a:ea typeface="Arial"/>
                          <a:cs typeface="Arial"/>
                        </a:rPr>
                        <a:t>Sensitive cases and restricted access</a:t>
                      </a:r>
                    </a:p>
                  </a:txBody>
                  <a:tcPr marL="91440" marR="91440" marT="45720" marB="45720" anchor="ctr">
                    <a:solidFill>
                      <a:srgbClr val="FFFFFF"/>
                    </a:solidFill>
                  </a:tcPr>
                </a:tc>
                <a:tc>
                  <a:txBody>
                    <a:bodyPr lIns="114300" tIns="76200" rIns="114300" bIns="76200"/>
                    <a:lstStyle/>
                    <a:p>
                      <a:r>
                        <a:rPr sz="1650">
                          <a:solidFill>
                            <a:srgbClr val="17212B"/>
                          </a:solidFill>
                          <a:latin typeface="Arial"/>
                          <a:ea typeface="Arial"/>
                          <a:cs typeface="Arial"/>
                        </a:rPr>
                        <a:t>Role-based permissions, audit logs and approved NCRP/SAHYOG APIs.</a:t>
                      </a:r>
                    </a:p>
                  </a:txBody>
                  <a:tcPr marL="91440" marR="91440" marT="45720" marB="45720" anchor="ctr">
                    <a:solidFill>
                      <a:srgbClr val="FFFFFF"/>
                    </a:solidFill>
                  </a:tcPr>
                </a:tc>
              </a:tr>
            </a:tbl>
          </a:graphicData>
        </a:graphic>
      </p:graphicFrame>
      <p:sp>
        <p:nvSpPr>
          <p:cNvPr id="17439" name="">
            <a:extLst xmlns:a="http://schemas.openxmlformats.org/drawingml/2006/main">
              <a:ext uri="{FF2B5EF4-FFF2-40B4-BE49-F238E27FC236}">
                <a16:creationId xmlns:a16="http://schemas.microsoft.com/office/drawing/2014/main" id="{73B6AD6B-6E0E-4C31-92C4-9585BD3526FD}"/>
              </a:ext>
            </a:extLst>
          </p:cNvPr>
          <p:cNvSpPr>
            <a:spLocks xmlns:a="http://schemas.openxmlformats.org/drawingml/2006/main" noGrp="1"/>
          </p:cNvSpPr>
          <p:nvPr/>
        </p:nvSpPr>
        <p:spPr>
          <a:xfrm xmlns:a="http://schemas.openxmlformats.org/drawingml/2006/main">
            <a:off x="723900" y="5867400"/>
            <a:ext cx="1076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1F497D"/>
                </a:solidFill>
                <a:latin typeface="Arial"/>
                <a:ea typeface="Arial"/>
                <a:cs typeface="Arial"/>
              </a:defRPr>
            </a:pPr>
            <a:r>
              <a:rPr sz="1650" b="0">
                <a:solidFill>
                  <a:srgbClr val="1F497D"/>
                </a:solidFill>
                <a:latin typeface="Arial"/>
                <a:ea typeface="Arial"/>
                <a:cs typeface="Arial"/>
              </a:rPr>
              <a:t>Validation: held-out labelled paths and hard negatives. Measure precision, coverage and alert latency.</a:t>
            </a:r>
          </a:p>
        </p:txBody>
      </p:sp>
    </p:spTree>
    <p:extLst>
      <p:ext uri="{BB962C8B-B14F-4D97-AF65-F5344CB8AC3E}">
        <p14:creationId xmlns:p14="http://schemas.microsoft.com/office/powerpoint/2010/main" val="375338791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endParaRPr sz="1800" b="0" i="0" u="none" kern="1200" cap="none" spc="0" baseline="0">
              <a:ln>
                <a:noFill/>
              </a:ln>
              <a:solidFill>
                <a:srgbClr val="C0504D">
                  <a:lumMod val="75000"/>
                </a:srgbClr>
              </a:solidFill>
              <a:latin typeface="Calibri"/>
              <a:ea typeface="Calibri"/>
              <a:cs typeface="Calibri"/>
            </a:endParaRPr>
          </a:p>
        </p:txBody>
      </p:sp>
      <p:sp>
        <p:nvSpPr>
          <p:cNvPr id="17409" name="Title 1">
            <a:extLst xmlns:a="http://schemas.openxmlformats.org/drawingml/2006/main">
              <a:ext uri="{FF2B5EF4-FFF2-40B4-BE49-F238E27FC236}">
                <a16:creationId xmlns:a16="http://schemas.microsoft.com/office/drawing/2014/main" id="{88E43624-4540-4BEC-AAA3-8049EA47D397}"/>
              </a:ext>
            </a:extLst>
          </p:cNvPr>
          <p:cNvSpPr>
            <a:spLocks xmlns:a="http://schemas.openxmlformats.org/drawingml/2006/main" noGrp="1"/>
          </p:cNvSpPr>
          <p:nvPr>
            <p:ph type="title" idx="0"/>
          </p:nvPr>
        </p:nvSpPr>
        <p:spPr>
          <a:xfrm xmlns:a="http://schemas.openxmlformats.org/drawingml/2006/main">
            <a:off x="1752600" y="247650"/>
            <a:ext cx="7924800" cy="723900"/>
          </a:xfrm>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3450" b="1">
                <a:solidFill>
                  <a:srgbClr val="000000"/>
                </a:solidFill>
                <a:latin typeface="Times New Roman"/>
                <a:ea typeface="Times New Roman"/>
                <a:cs typeface="Times New Roman"/>
              </a:defRPr>
            </a:pPr>
            <a:r>
              <a:rPr sz="3450" b="1">
                <a:solidFill>
                  <a:srgbClr val="000000"/>
                </a:solidFill>
                <a:latin typeface="Times New Roman"/>
                <a:ea typeface="Times New Roman"/>
                <a:cs typeface="Times New Roman"/>
              </a:rPr>
              <a:t>IMPACT AND BENEFITS</a:t>
            </a:r>
          </a:p>
        </p:txBody>
      </p:sp>
      <p:sp>
        <p:nvSpPr>
          <p:cNvPr id="6" name="Slide Number Placeholder 5">
            <a:extLst xmlns:a="http://schemas.openxmlformats.org/drawingml/2006/main">
              <a:ext uri="{FF2B5EF4-FFF2-40B4-BE49-F238E27FC236}">
                <a16:creationId xmlns:a16="http://schemas.microsoft.com/office/drawing/2014/main" id="{B455D779-8440-4699-91AE-945AB8A2B0DF}"/>
              </a:ext>
            </a:extLst>
          </p:cNvPr>
          <p:cNvSpPr>
            <a:spLocks xmlns:a="http://schemas.openxmlformats.org/drawingml/2006/main" noGrp="1"/>
          </p:cNvSpPr>
          <p:nvPr>
            <p:ph type="sldNum" idx="12"/>
          </p:nvPr>
        </p:nvSpPr>
        <p:spPr>
          <a:xfrm xmlns:a="http://schemas.openxmlformats.org/drawingml/2006/main">
            <a:off x="11382375" y="6457950"/>
            <a:ext cx="381000" cy="238125"/>
          </a:xfrm>
        </p:spPr>
        <p:txBody>
          <a:bodyPr xmlns:a="http://schemas.openxmlformats.org/drawingml/2006/main" wrap="square" lIns="0" tIns="0" rIns="0" bIns="0" anchor="t">
            <a:noAutofit/>
          </a:bodyPr>
          <a:lstStyle xmlns:a="http://schemas.openxmlformats.org/drawingml/2006/main"/>
          <a:p xmlns:a="http://schemas.openxmlformats.org/drawingml/2006/main">
            <a:pPr marL="0" marR="0" lvl="0" indent="0" algn="l" defTabSz="457200">
              <a:lnSpc>
                <a:spcPct val="100000"/>
              </a:lnSpc>
              <a:spcBef>
                <a:spcPct val="0"/>
              </a:spcBef>
              <a:spcAft>
                <a:spcPct val="0"/>
              </a:spcAft>
              <a:buClrTx/>
              <a:buSzTx/>
              <a:buFontTx/>
              <a:buNone/>
              <a:defRPr sz="1275" b="1">
                <a:solidFill>
                  <a:srgbClr val="FFFFFF"/>
                </a:solidFill>
                <a:latin typeface="Arial"/>
                <a:ea typeface="Arial"/>
                <a:cs typeface="Arial"/>
              </a:defRPr>
            </a:pPr>
            <a:fld id="{EE5B3003-2C54-13C6-9832-7637201064DE}" type="slidenum">
              <a:rPr sz="1275" b="1" i="0" u="none" cap="none" spc="0">
                <a:ln>
                  <a:noFill/>
                </a:ln>
                <a:solidFill>
                  <a:srgbClr val="FFFFFF"/>
                </a:solidFill>
                <a:latin typeface="Arial"/>
                <a:ea typeface="Arial"/>
                <a:cs typeface="Arial"/>
              </a:rPr>
              <a:t>5</a:t>
            </a:fld>
            <a:endParaRPr sz="1200" b="1" i="0" u="none" kern="1200" cap="none" spc="0" baseline="0">
              <a:ln>
                <a:noFill/>
              </a:ln>
              <a:solidFill>
                <a:prstClr val="white"/>
              </a:solidFill>
              <a:latin typeface="TradeGothic"/>
              <a:ea typeface="TradeGothic"/>
              <a:cs typeface="TradeGothic"/>
            </a:endParaRPr>
          </a:p>
        </p:txBody>
      </p:sp>
      <p:sp>
        <p:nvSpPr>
          <p:cNvPr id="7" name="Footer Placeholder 6">
            <a:extLst xmlns:a="http://schemas.openxmlformats.org/drawingml/2006/main">
              <a:ext uri="{FF2B5EF4-FFF2-40B4-BE49-F238E27FC236}">
                <a16:creationId xmlns:a16="http://schemas.microsoft.com/office/drawing/2014/main" id="{CF4F6620-7988-47BB-874A-F834027C0F7E}"/>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r>
              <a:rPr sz="1200" b="0" i="0" u="none" cap="none" spc="0">
                <a:ln>
                  <a:noFill/>
                </a:ln>
                <a:solidFill>
                  <a:prstClr val="white"/>
                </a:solidFill>
                <a:latin typeface="TradeGothic"/>
                <a:ea typeface="TradeGothic"/>
                <a:cs typeface="TradeGothic"/>
              </a:rPr>
              <a:t>@SIH Idea submission- Template</a:t>
            </a:r>
            <a:endParaRPr sz="1200" b="0" i="0" u="none" kern="1200" cap="none" spc="0" baseline="0">
              <a:ln>
                <a:noFill/>
              </a:ln>
              <a:solidFill>
                <a:prstClr val="white"/>
              </a:solidFill>
              <a:latin typeface="TradeGothic"/>
              <a:ea typeface="TradeGothic"/>
              <a:cs typeface="TradeGothic"/>
            </a:endParaRPr>
          </a:p>
        </p:txBody>
      </p:sp>
      <p:sp>
        <p:nvSpPr>
          <p:cNvPr id="12" name="Oval 11">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56" y="252222"/>
            <a:ext cx="1251871" cy="807339"/>
          </a:xfrm>
          <a:prstGeom xmlns:a="http://schemas.openxmlformats.org/drawingml/2006/main" prst="ellipse">
            <a:avLst/>
          </a:prstGeom>
          <a:solidFill xmlns:a="http://schemas.openxmlformats.org/drawingml/2006/main">
            <a:srgbClr val="FFFFFF"/>
          </a:solidFill>
          <a:ln xmlns:a="http://schemas.openxmlformats.org/drawingml/2006/main" w="19050">
            <a:solidFill>
              <a:srgbClr val="8064A2"/>
            </a:solidFill>
          </a:ln>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425" b="1">
                <a:solidFill>
                  <a:srgbClr val="111111"/>
                </a:solidFill>
                <a:latin typeface="Arial"/>
                <a:ea typeface="Arial"/>
                <a:cs typeface="Arial"/>
              </a:defRPr>
            </a:pPr>
            <a:r>
              <a:rPr sz="1425" b="1">
                <a:solidFill>
                  <a:srgbClr val="111111"/>
                </a:solidFill>
                <a:latin typeface="Arial"/>
                <a:ea typeface="Arial"/>
                <a:cs typeface="Arial"/>
              </a:rPr>
              <a:t>COLD</a:t>
            </a:r>
            <a:endParaRPr/>
          </a:p>
          <a:p xmlns:a="http://schemas.openxmlformats.org/drawingml/2006/main">
            <a:pPr algn="ctr">
              <a:buNone/>
              <a:defRPr sz="1425" b="1">
                <a:solidFill>
                  <a:srgbClr val="111111"/>
                </a:solidFill>
                <a:latin typeface="Arial"/>
                <a:ea typeface="Arial"/>
                <a:cs typeface="Arial"/>
              </a:defRPr>
            </a:pPr>
            <a:r>
              <a:rPr sz="1425" b="1">
                <a:solidFill>
                  <a:srgbClr val="111111"/>
                </a:solidFill>
                <a:latin typeface="Arial"/>
                <a:ea typeface="Arial"/>
                <a:cs typeface="Arial"/>
              </a:rPr>
              <a:t>COFFEE</a:t>
            </a:r>
            <a:endParaRPr/>
          </a:p>
        </p:txBody>
      </p:sp>
      <p:pic>
        <p:nvPicPr>
          <p:cNvPr id="17456" name=""/>
          <p:cNvPicPr>
            <a:picLocks xmlns:a="http://schemas.openxmlformats.org/drawingml/2006/main" noChangeAspect="1"/>
          </p:cNvPicPr>
          <p:nvPr/>
        </p:nvPicPr>
        <p:blipFill>
          <a:blip xmlns:r="http://schemas.openxmlformats.org/officeDocument/2006/relationships" xmlns:a="http://schemas.openxmlformats.org/drawingml/2006/main" r:embed="R89f2e44f43594b14"/>
          <a:stretch xmlns:a="http://schemas.openxmlformats.org/drawingml/2006/main"/>
        </p:blipFill>
        <p:spPr>
          <a:xfrm xmlns:a="http://schemas.openxmlformats.org/drawingml/2006/main">
            <a:off x="9780080" y="1528"/>
            <a:ext cx="2249805" cy="1062316"/>
          </a:xfrm>
          <a:prstGeom xmlns:a="http://schemas.openxmlformats.org/drawingml/2006/main" prst="rect">
            <a:avLst/>
          </a:prstGeom>
        </p:spPr>
      </p:pic>
      <p:sp>
        <p:nvSpPr>
          <p:cNvPr id="17418" name="">
            <a:extLst xmlns:a="http://schemas.openxmlformats.org/drawingml/2006/main">
              <a:ext uri="{FF2B5EF4-FFF2-40B4-BE49-F238E27FC236}">
                <a16:creationId xmlns:a16="http://schemas.microsoft.com/office/drawing/2014/main" id="{A4D460CA-9A74-41DB-B90A-A3F1B7B4E58A}"/>
              </a:ext>
            </a:extLst>
          </p:cNvPr>
          <p:cNvSpPr>
            <a:spLocks xmlns:a="http://schemas.openxmlformats.org/drawingml/2006/main" noGrp="1"/>
          </p:cNvSpPr>
          <p:nvPr/>
        </p:nvSpPr>
        <p:spPr>
          <a:xfrm xmlns:a="http://schemas.openxmlformats.org/drawingml/2006/main">
            <a:off x="609600" y="138112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F497D"/>
                </a:solidFill>
                <a:latin typeface="Arial"/>
                <a:ea typeface="Arial"/>
                <a:cs typeface="Arial"/>
              </a:defRPr>
            </a:pPr>
            <a:r>
              <a:rPr sz="2025" b="1">
                <a:solidFill>
                  <a:srgbClr val="1F497D"/>
                </a:solidFill>
                <a:latin typeface="Arial"/>
                <a:ea typeface="Arial"/>
                <a:cs typeface="Arial"/>
              </a:rPr>
              <a:t>Potential impact on the target audience</a:t>
            </a:r>
          </a:p>
        </p:txBody>
      </p:sp>
      <p:sp>
        <p:nvSpPr>
          <p:cNvPr id="17419" name="">
            <a:extLst xmlns:a="http://schemas.openxmlformats.org/drawingml/2006/main">
              <a:ext uri="{FF2B5EF4-FFF2-40B4-BE49-F238E27FC236}">
                <a16:creationId xmlns:a16="http://schemas.microsoft.com/office/drawing/2014/main" id="{4D198D03-2C0C-4EBD-B1AC-20C6E98ED010}"/>
              </a:ext>
            </a:extLst>
          </p:cNvPr>
          <p:cNvSpPr>
            <a:spLocks xmlns:a="http://schemas.openxmlformats.org/drawingml/2006/main" noGrp="1"/>
          </p:cNvSpPr>
          <p:nvPr/>
        </p:nvSpPr>
        <p:spPr>
          <a:xfrm xmlns:a="http://schemas.openxmlformats.org/drawingml/2006/main">
            <a:off x="723900" y="17716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212B"/>
                </a:solidFill>
                <a:latin typeface="Arial"/>
                <a:ea typeface="Arial"/>
                <a:cs typeface="Arial"/>
              </a:defRPr>
            </a:pPr>
            <a:r>
              <a:rPr sz="1800" b="0">
                <a:solidFill>
                  <a:srgbClr val="17212B"/>
                </a:solidFill>
                <a:latin typeface="Arial"/>
                <a:ea typeface="Arial"/>
                <a:cs typeface="Arial"/>
              </a:rPr>
              <a:t>Investigators will receive a prioritized receiving-VASP lead with a reviewable fund trail.</a:t>
            </a:r>
          </a:p>
        </p:txBody>
      </p:sp>
      <p:sp>
        <p:nvSpPr>
          <p:cNvPr id="17420" name="">
            <a:extLst xmlns:a="http://schemas.openxmlformats.org/drawingml/2006/main">
              <a:ext uri="{FF2B5EF4-FFF2-40B4-BE49-F238E27FC236}">
                <a16:creationId xmlns:a16="http://schemas.microsoft.com/office/drawing/2014/main" id="{09F0AAF5-D653-43A8-9AD5-B791229A7789}"/>
              </a:ext>
            </a:extLst>
          </p:cNvPr>
          <p:cNvSpPr>
            <a:spLocks xmlns:a="http://schemas.openxmlformats.org/drawingml/2006/main" noGrp="1"/>
          </p:cNvSpPr>
          <p:nvPr/>
        </p:nvSpPr>
        <p:spPr>
          <a:xfrm xmlns:a="http://schemas.openxmlformats.org/drawingml/2006/main">
            <a:off x="609600" y="226695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F497D"/>
                </a:solidFill>
                <a:latin typeface="Arial"/>
                <a:ea typeface="Arial"/>
                <a:cs typeface="Arial"/>
              </a:defRPr>
            </a:pPr>
            <a:r>
              <a:rPr sz="1800" b="1">
                <a:solidFill>
                  <a:srgbClr val="1F497D"/>
                </a:solidFill>
                <a:latin typeface="Arial"/>
                <a:ea typeface="Arial"/>
                <a:cs typeface="Arial"/>
              </a:rPr>
              <a:t>Illustrative investigation</a:t>
            </a:r>
          </a:p>
        </p:txBody>
      </p:sp>
      <p:sp>
        <p:nvSpPr>
          <p:cNvPr id="17421" name="Wallet A">
            <a:extLst xmlns:a="http://schemas.openxmlformats.org/drawingml/2006/main">
              <a:ext uri="{FF2B5EF4-FFF2-40B4-BE49-F238E27FC236}">
                <a16:creationId xmlns:a16="http://schemas.microsoft.com/office/drawing/2014/main" id="{891C42C8-AB98-477D-8F5B-93CB16A942ED}"/>
              </a:ext>
            </a:extLst>
          </p:cNvPr>
          <p:cNvSpPr>
            <a:spLocks xmlns:a="http://schemas.openxmlformats.org/drawingml/2006/main" noGrp="1"/>
          </p:cNvSpPr>
          <p:nvPr/>
        </p:nvSpPr>
        <p:spPr>
          <a:xfrm xmlns:a="http://schemas.openxmlformats.org/drawingml/2006/main">
            <a:off x="609600" y="2724150"/>
            <a:ext cx="2362200" cy="1009650"/>
          </a:xfrm>
          <a:prstGeom xmlns:a="http://schemas.openxmlformats.org/drawingml/2006/main" prst="rect">
            <a:avLst/>
          </a:prstGeom>
          <a:solidFill xmlns:a="http://schemas.openxmlformats.org/drawingml/2006/main">
            <a:srgbClr val="F4F8FC"/>
          </a:solidFill>
          <a:ln xmlns:a="http://schemas.openxmlformats.org/drawingml/2006/main" w="19050">
            <a:solidFill>
              <a:srgbClr val="0070C0"/>
            </a:solidFill>
          </a:ln>
        </p:spPr>
      </p:sp>
      <p:sp>
        <p:nvSpPr>
          <p:cNvPr id="17422" name="">
            <a:extLst xmlns:a="http://schemas.openxmlformats.org/drawingml/2006/main">
              <a:ext uri="{FF2B5EF4-FFF2-40B4-BE49-F238E27FC236}">
                <a16:creationId xmlns:a16="http://schemas.microsoft.com/office/drawing/2014/main" id="{4618BEA9-9040-4DFA-BB86-F093B23BB0AF}"/>
              </a:ext>
            </a:extLst>
          </p:cNvPr>
          <p:cNvSpPr>
            <a:spLocks xmlns:a="http://schemas.openxmlformats.org/drawingml/2006/main" noGrp="1"/>
          </p:cNvSpPr>
          <p:nvPr/>
        </p:nvSpPr>
        <p:spPr>
          <a:xfrm xmlns:a="http://schemas.openxmlformats.org/drawingml/2006/main">
            <a:off x="723900" y="2867025"/>
            <a:ext cx="2133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1">
                <a:solidFill>
                  <a:srgbClr val="1F497D"/>
                </a:solidFill>
                <a:latin typeface="Arial"/>
                <a:ea typeface="Arial"/>
                <a:cs typeface="Arial"/>
              </a:defRPr>
            </a:pPr>
            <a:r>
              <a:rPr sz="1800" b="1">
                <a:solidFill>
                  <a:srgbClr val="1F497D"/>
                </a:solidFill>
                <a:latin typeface="Arial"/>
                <a:ea typeface="Arial"/>
                <a:cs typeface="Arial"/>
              </a:rPr>
              <a:t>Wallet A</a:t>
            </a:r>
          </a:p>
        </p:txBody>
      </p:sp>
      <p:sp>
        <p:nvSpPr>
          <p:cNvPr id="17423" name="">
            <a:extLst xmlns:a="http://schemas.openxmlformats.org/drawingml/2006/main">
              <a:ext uri="{FF2B5EF4-FFF2-40B4-BE49-F238E27FC236}">
                <a16:creationId xmlns:a16="http://schemas.microsoft.com/office/drawing/2014/main" id="{B383565B-BF57-4264-8CB4-7185F94423C1}"/>
              </a:ext>
            </a:extLst>
          </p:cNvPr>
          <p:cNvSpPr>
            <a:spLocks xmlns:a="http://schemas.openxmlformats.org/drawingml/2006/main" noGrp="1"/>
          </p:cNvSpPr>
          <p:nvPr/>
        </p:nvSpPr>
        <p:spPr>
          <a:xfrm xmlns:a="http://schemas.openxmlformats.org/drawingml/2006/main">
            <a:off x="723900" y="3209925"/>
            <a:ext cx="21336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650" b="0">
                <a:solidFill>
                  <a:srgbClr val="17212B"/>
                </a:solidFill>
                <a:latin typeface="Arial"/>
                <a:ea typeface="Arial"/>
                <a:cs typeface="Arial"/>
              </a:defRPr>
            </a:pPr>
            <a:r>
              <a:rPr sz="1650" b="0">
                <a:solidFill>
                  <a:srgbClr val="17212B"/>
                </a:solidFill>
                <a:latin typeface="Arial"/>
                <a:ea typeface="Arial"/>
                <a:cs typeface="Arial"/>
              </a:rPr>
              <a:t>Reported address</a:t>
            </a:r>
          </a:p>
        </p:txBody>
      </p:sp>
      <p:sp>
        <p:nvSpPr>
          <p:cNvPr id="17424" name="Wallet B">
            <a:extLst xmlns:a="http://schemas.openxmlformats.org/drawingml/2006/main">
              <a:ext uri="{FF2B5EF4-FFF2-40B4-BE49-F238E27FC236}">
                <a16:creationId xmlns:a16="http://schemas.microsoft.com/office/drawing/2014/main" id="{13DCC8A9-819F-4ADD-9DFB-D7A36764C5A8}"/>
              </a:ext>
            </a:extLst>
          </p:cNvPr>
          <p:cNvSpPr>
            <a:spLocks xmlns:a="http://schemas.openxmlformats.org/drawingml/2006/main" noGrp="1"/>
          </p:cNvSpPr>
          <p:nvPr/>
        </p:nvSpPr>
        <p:spPr>
          <a:xfrm xmlns:a="http://schemas.openxmlformats.org/drawingml/2006/main">
            <a:off x="3467100" y="2724150"/>
            <a:ext cx="2362200" cy="1009650"/>
          </a:xfrm>
          <a:prstGeom xmlns:a="http://schemas.openxmlformats.org/drawingml/2006/main" prst="rect">
            <a:avLst/>
          </a:prstGeom>
          <a:solidFill xmlns:a="http://schemas.openxmlformats.org/drawingml/2006/main">
            <a:srgbClr val="F4F8FC"/>
          </a:solidFill>
          <a:ln xmlns:a="http://schemas.openxmlformats.org/drawingml/2006/main" w="19050">
            <a:solidFill>
              <a:srgbClr val="0070C0"/>
            </a:solidFill>
          </a:ln>
        </p:spPr>
      </p:sp>
      <p:sp>
        <p:nvSpPr>
          <p:cNvPr id="17425" name="">
            <a:extLst xmlns:a="http://schemas.openxmlformats.org/drawingml/2006/main">
              <a:ext uri="{FF2B5EF4-FFF2-40B4-BE49-F238E27FC236}">
                <a16:creationId xmlns:a16="http://schemas.microsoft.com/office/drawing/2014/main" id="{D2EB5995-D43B-43A2-AA53-818AE8E4F145}"/>
              </a:ext>
            </a:extLst>
          </p:cNvPr>
          <p:cNvSpPr>
            <a:spLocks xmlns:a="http://schemas.openxmlformats.org/drawingml/2006/main" noGrp="1"/>
          </p:cNvSpPr>
          <p:nvPr/>
        </p:nvSpPr>
        <p:spPr>
          <a:xfrm xmlns:a="http://schemas.openxmlformats.org/drawingml/2006/main">
            <a:off x="3581400" y="2867025"/>
            <a:ext cx="2133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1">
                <a:solidFill>
                  <a:srgbClr val="1F497D"/>
                </a:solidFill>
                <a:latin typeface="Arial"/>
                <a:ea typeface="Arial"/>
                <a:cs typeface="Arial"/>
              </a:defRPr>
            </a:pPr>
            <a:r>
              <a:rPr sz="1800" b="1">
                <a:solidFill>
                  <a:srgbClr val="1F497D"/>
                </a:solidFill>
                <a:latin typeface="Arial"/>
                <a:ea typeface="Arial"/>
                <a:cs typeface="Arial"/>
              </a:rPr>
              <a:t>Wallet B</a:t>
            </a:r>
          </a:p>
        </p:txBody>
      </p:sp>
      <p:sp>
        <p:nvSpPr>
          <p:cNvPr id="17426" name="">
            <a:extLst xmlns:a="http://schemas.openxmlformats.org/drawingml/2006/main">
              <a:ext uri="{FF2B5EF4-FFF2-40B4-BE49-F238E27FC236}">
                <a16:creationId xmlns:a16="http://schemas.microsoft.com/office/drawing/2014/main" id="{42D2CAD6-2FFB-45D9-848B-5F17429A9040}"/>
              </a:ext>
            </a:extLst>
          </p:cNvPr>
          <p:cNvSpPr>
            <a:spLocks xmlns:a="http://schemas.openxmlformats.org/drawingml/2006/main" noGrp="1"/>
          </p:cNvSpPr>
          <p:nvPr/>
        </p:nvSpPr>
        <p:spPr>
          <a:xfrm xmlns:a="http://schemas.openxmlformats.org/drawingml/2006/main">
            <a:off x="3581400" y="3209925"/>
            <a:ext cx="21336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650" b="0">
                <a:solidFill>
                  <a:srgbClr val="17212B"/>
                </a:solidFill>
                <a:latin typeface="Arial"/>
                <a:ea typeface="Arial"/>
                <a:cs typeface="Arial"/>
              </a:defRPr>
            </a:pPr>
            <a:r>
              <a:rPr sz="1650" b="0">
                <a:solidFill>
                  <a:srgbClr val="17212B"/>
                </a:solidFill>
                <a:latin typeface="Arial"/>
                <a:ea typeface="Arial"/>
                <a:cs typeface="Arial"/>
              </a:rPr>
              <a:t>Intermediary</a:t>
            </a:r>
          </a:p>
        </p:txBody>
      </p:sp>
      <p:sp>
        <p:nvSpPr>
          <p:cNvPr id="17427" name="Deposit address">
            <a:extLst xmlns:a="http://schemas.openxmlformats.org/drawingml/2006/main">
              <a:ext uri="{FF2B5EF4-FFF2-40B4-BE49-F238E27FC236}">
                <a16:creationId xmlns:a16="http://schemas.microsoft.com/office/drawing/2014/main" id="{77EAC62F-297C-4531-9B3B-2FA000D91E6A}"/>
              </a:ext>
            </a:extLst>
          </p:cNvPr>
          <p:cNvSpPr>
            <a:spLocks xmlns:a="http://schemas.openxmlformats.org/drawingml/2006/main" noGrp="1"/>
          </p:cNvSpPr>
          <p:nvPr/>
        </p:nvSpPr>
        <p:spPr>
          <a:xfrm xmlns:a="http://schemas.openxmlformats.org/drawingml/2006/main">
            <a:off x="6324600" y="2724150"/>
            <a:ext cx="2362200" cy="1009650"/>
          </a:xfrm>
          <a:prstGeom xmlns:a="http://schemas.openxmlformats.org/drawingml/2006/main" prst="rect">
            <a:avLst/>
          </a:prstGeom>
          <a:solidFill xmlns:a="http://schemas.openxmlformats.org/drawingml/2006/main">
            <a:srgbClr val="F4F8FC"/>
          </a:solidFill>
          <a:ln xmlns:a="http://schemas.openxmlformats.org/drawingml/2006/main" w="19050">
            <a:solidFill>
              <a:srgbClr val="0070C0"/>
            </a:solidFill>
          </a:ln>
        </p:spPr>
      </p:sp>
      <p:sp>
        <p:nvSpPr>
          <p:cNvPr id="17428" name="">
            <a:extLst xmlns:a="http://schemas.openxmlformats.org/drawingml/2006/main">
              <a:ext uri="{FF2B5EF4-FFF2-40B4-BE49-F238E27FC236}">
                <a16:creationId xmlns:a16="http://schemas.microsoft.com/office/drawing/2014/main" id="{DAE57F76-7C7B-40DA-A154-FA73F9B9F919}"/>
              </a:ext>
            </a:extLst>
          </p:cNvPr>
          <p:cNvSpPr>
            <a:spLocks xmlns:a="http://schemas.openxmlformats.org/drawingml/2006/main" noGrp="1"/>
          </p:cNvSpPr>
          <p:nvPr/>
        </p:nvSpPr>
        <p:spPr>
          <a:xfrm xmlns:a="http://schemas.openxmlformats.org/drawingml/2006/main">
            <a:off x="6438900" y="2867025"/>
            <a:ext cx="2133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1">
                <a:solidFill>
                  <a:srgbClr val="1F497D"/>
                </a:solidFill>
                <a:latin typeface="Arial"/>
                <a:ea typeface="Arial"/>
                <a:cs typeface="Arial"/>
              </a:defRPr>
            </a:pPr>
            <a:r>
              <a:rPr sz="1800" b="1">
                <a:solidFill>
                  <a:srgbClr val="1F497D"/>
                </a:solidFill>
                <a:latin typeface="Arial"/>
                <a:ea typeface="Arial"/>
                <a:cs typeface="Arial"/>
              </a:rPr>
              <a:t>Deposit address</a:t>
            </a:r>
          </a:p>
        </p:txBody>
      </p:sp>
      <p:sp>
        <p:nvSpPr>
          <p:cNvPr id="17429" name="">
            <a:extLst xmlns:a="http://schemas.openxmlformats.org/drawingml/2006/main">
              <a:ext uri="{FF2B5EF4-FFF2-40B4-BE49-F238E27FC236}">
                <a16:creationId xmlns:a16="http://schemas.microsoft.com/office/drawing/2014/main" id="{390EECE5-32C5-4DA1-BD8F-9178052E8B7E}"/>
              </a:ext>
            </a:extLst>
          </p:cNvPr>
          <p:cNvSpPr>
            <a:spLocks xmlns:a="http://schemas.openxmlformats.org/drawingml/2006/main" noGrp="1"/>
          </p:cNvSpPr>
          <p:nvPr/>
        </p:nvSpPr>
        <p:spPr>
          <a:xfrm xmlns:a="http://schemas.openxmlformats.org/drawingml/2006/main">
            <a:off x="6438900" y="3209925"/>
            <a:ext cx="21336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650" b="0">
                <a:solidFill>
                  <a:srgbClr val="17212B"/>
                </a:solidFill>
                <a:latin typeface="Arial"/>
                <a:ea typeface="Arial"/>
                <a:cs typeface="Arial"/>
              </a:defRPr>
            </a:pPr>
            <a:r>
              <a:rPr sz="1650" b="0">
                <a:solidFill>
                  <a:srgbClr val="17212B"/>
                </a:solidFill>
                <a:latin typeface="Arial"/>
                <a:ea typeface="Arial"/>
                <a:cs typeface="Arial"/>
              </a:rPr>
              <a:t>Sourced VASP label</a:t>
            </a:r>
          </a:p>
        </p:txBody>
      </p:sp>
      <p:sp>
        <p:nvSpPr>
          <p:cNvPr id="17430" name="VASP X">
            <a:extLst xmlns:a="http://schemas.openxmlformats.org/drawingml/2006/main">
              <a:ext uri="{FF2B5EF4-FFF2-40B4-BE49-F238E27FC236}">
                <a16:creationId xmlns:a16="http://schemas.microsoft.com/office/drawing/2014/main" id="{A1EB22F0-E3D3-47E8-AE7C-D5098F3E09EF}"/>
              </a:ext>
            </a:extLst>
          </p:cNvPr>
          <p:cNvSpPr>
            <a:spLocks xmlns:a="http://schemas.openxmlformats.org/drawingml/2006/main" noGrp="1"/>
          </p:cNvSpPr>
          <p:nvPr/>
        </p:nvSpPr>
        <p:spPr>
          <a:xfrm xmlns:a="http://schemas.openxmlformats.org/drawingml/2006/main">
            <a:off x="9182100" y="2724150"/>
            <a:ext cx="2362200" cy="1009650"/>
          </a:xfrm>
          <a:prstGeom xmlns:a="http://schemas.openxmlformats.org/drawingml/2006/main" prst="rect">
            <a:avLst/>
          </a:prstGeom>
          <a:solidFill xmlns:a="http://schemas.openxmlformats.org/drawingml/2006/main">
            <a:srgbClr val="F4F8FC"/>
          </a:solidFill>
          <a:ln xmlns:a="http://schemas.openxmlformats.org/drawingml/2006/main" w="19050">
            <a:solidFill>
              <a:srgbClr val="0070C0"/>
            </a:solidFill>
          </a:ln>
        </p:spPr>
      </p:sp>
      <p:sp>
        <p:nvSpPr>
          <p:cNvPr id="17431" name="">
            <a:extLst xmlns:a="http://schemas.openxmlformats.org/drawingml/2006/main">
              <a:ext uri="{FF2B5EF4-FFF2-40B4-BE49-F238E27FC236}">
                <a16:creationId xmlns:a16="http://schemas.microsoft.com/office/drawing/2014/main" id="{FCED6884-1CF4-4F98-8CDC-E2A197151CC5}"/>
              </a:ext>
            </a:extLst>
          </p:cNvPr>
          <p:cNvSpPr>
            <a:spLocks xmlns:a="http://schemas.openxmlformats.org/drawingml/2006/main" noGrp="1"/>
          </p:cNvSpPr>
          <p:nvPr/>
        </p:nvSpPr>
        <p:spPr>
          <a:xfrm xmlns:a="http://schemas.openxmlformats.org/drawingml/2006/main">
            <a:off x="9296400" y="2867025"/>
            <a:ext cx="2133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1">
                <a:solidFill>
                  <a:srgbClr val="1F497D"/>
                </a:solidFill>
                <a:latin typeface="Arial"/>
                <a:ea typeface="Arial"/>
                <a:cs typeface="Arial"/>
              </a:defRPr>
            </a:pPr>
            <a:r>
              <a:rPr sz="1800" b="1">
                <a:solidFill>
                  <a:srgbClr val="1F497D"/>
                </a:solidFill>
                <a:latin typeface="Arial"/>
                <a:ea typeface="Arial"/>
                <a:cs typeface="Arial"/>
              </a:rPr>
              <a:t>VASP X</a:t>
            </a:r>
          </a:p>
        </p:txBody>
      </p:sp>
      <p:sp>
        <p:nvSpPr>
          <p:cNvPr id="17432" name="">
            <a:extLst xmlns:a="http://schemas.openxmlformats.org/drawingml/2006/main">
              <a:ext uri="{FF2B5EF4-FFF2-40B4-BE49-F238E27FC236}">
                <a16:creationId xmlns:a16="http://schemas.microsoft.com/office/drawing/2014/main" id="{1182EB95-B988-4C1C-8D0E-4D609D3C988D}"/>
              </a:ext>
            </a:extLst>
          </p:cNvPr>
          <p:cNvSpPr>
            <a:spLocks xmlns:a="http://schemas.openxmlformats.org/drawingml/2006/main" noGrp="1"/>
          </p:cNvSpPr>
          <p:nvPr/>
        </p:nvSpPr>
        <p:spPr>
          <a:xfrm xmlns:a="http://schemas.openxmlformats.org/drawingml/2006/main">
            <a:off x="9296400" y="3209925"/>
            <a:ext cx="21336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650" b="0">
                <a:solidFill>
                  <a:srgbClr val="17212B"/>
                </a:solidFill>
                <a:latin typeface="Arial"/>
                <a:ea typeface="Arial"/>
                <a:cs typeface="Arial"/>
              </a:defRPr>
            </a:pPr>
            <a:r>
              <a:rPr sz="1650" b="0">
                <a:solidFill>
                  <a:srgbClr val="17212B"/>
                </a:solidFill>
                <a:latin typeface="Arial"/>
                <a:ea typeface="Arial"/>
                <a:cs typeface="Arial"/>
              </a:rPr>
              <a:t>Receiving candidate</a:t>
            </a:r>
          </a:p>
        </p:txBody>
      </p:sp>
      <p:cxnSp>
        <p:nvCxnSpPr>
          <p:cNvPr id="17472" name=""/>
          <p:cNvCxnSpPr>
            <a:stCxn xmlns:a="http://schemas.openxmlformats.org/drawingml/2006/main" id="17421" idx="3"/>
            <a:endCxn xmlns:a="http://schemas.openxmlformats.org/drawingml/2006/main" id="17424" idx="1"/>
          </p:cNvCxnSpPr>
          <p:nvPr/>
        </p:nvCxnSpPr>
        <p:spPr>
          <a:xfrm xmlns:a="http://schemas.openxmlformats.org/drawingml/2006/main">
            <a:off x="2971800" y="3228975"/>
            <a:ext cx="495300" cy="0"/>
          </a:xfrm>
          <a:prstGeom xmlns:a="http://schemas.openxmlformats.org/drawingml/2006/main" prst="straightConnector1">
            <a:avLst/>
          </a:prstGeom>
          <a:ln xmlns:a="http://schemas.openxmlformats.org/drawingml/2006/main" w="28575">
            <a:solidFill>
              <a:srgbClr val="0070C0"/>
            </a:solidFill>
            <a:prstDash val="solid"/>
            <a:tailEnd type="triangle" w="lg" len="lg"/>
          </a:ln>
        </p:spPr>
      </p:cxnSp>
      <p:cxnSp>
        <p:nvCxnSpPr>
          <p:cNvPr id="17473" name=""/>
          <p:cNvCxnSpPr>
            <a:stCxn xmlns:a="http://schemas.openxmlformats.org/drawingml/2006/main" id="17424" idx="3"/>
            <a:endCxn xmlns:a="http://schemas.openxmlformats.org/drawingml/2006/main" id="17427" idx="1"/>
          </p:cNvCxnSpPr>
          <p:nvPr/>
        </p:nvCxnSpPr>
        <p:spPr>
          <a:xfrm xmlns:a="http://schemas.openxmlformats.org/drawingml/2006/main">
            <a:off x="5829300" y="3228975"/>
            <a:ext cx="495300" cy="0"/>
          </a:xfrm>
          <a:prstGeom xmlns:a="http://schemas.openxmlformats.org/drawingml/2006/main" prst="straightConnector1">
            <a:avLst/>
          </a:prstGeom>
          <a:ln xmlns:a="http://schemas.openxmlformats.org/drawingml/2006/main" w="28575">
            <a:solidFill>
              <a:srgbClr val="0070C0"/>
            </a:solidFill>
            <a:prstDash val="solid"/>
            <a:tailEnd type="triangle" w="lg" len="lg"/>
          </a:ln>
        </p:spPr>
      </p:cxnSp>
      <p:cxnSp>
        <p:nvCxnSpPr>
          <p:cNvPr id="17474" name=""/>
          <p:cNvCxnSpPr>
            <a:stCxn xmlns:a="http://schemas.openxmlformats.org/drawingml/2006/main" id="17427" idx="3"/>
            <a:endCxn xmlns:a="http://schemas.openxmlformats.org/drawingml/2006/main" id="17430" idx="1"/>
          </p:cNvCxnSpPr>
          <p:nvPr/>
        </p:nvCxnSpPr>
        <p:spPr>
          <a:xfrm xmlns:a="http://schemas.openxmlformats.org/drawingml/2006/main">
            <a:off x="8686800" y="3228975"/>
            <a:ext cx="495300" cy="0"/>
          </a:xfrm>
          <a:prstGeom xmlns:a="http://schemas.openxmlformats.org/drawingml/2006/main" prst="straightConnector1">
            <a:avLst/>
          </a:prstGeom>
          <a:ln xmlns:a="http://schemas.openxmlformats.org/drawingml/2006/main" w="28575">
            <a:solidFill>
              <a:srgbClr val="0070C0"/>
            </a:solidFill>
            <a:prstDash val="dash"/>
            <a:tailEnd type="triangle" w="lg" len="lg"/>
          </a:ln>
        </p:spPr>
      </p:cxnSp>
      <p:sp>
        <p:nvSpPr>
          <p:cNvPr id="17436" name="">
            <a:extLst xmlns:a="http://schemas.openxmlformats.org/drawingml/2006/main">
              <a:ext uri="{FF2B5EF4-FFF2-40B4-BE49-F238E27FC236}">
                <a16:creationId xmlns:a16="http://schemas.microsoft.com/office/drawing/2014/main" id="{169CEBF4-5183-4A98-B3C6-A6E4265D9B5B}"/>
              </a:ext>
            </a:extLst>
          </p:cNvPr>
          <p:cNvSpPr>
            <a:spLocks xmlns:a="http://schemas.openxmlformats.org/drawingml/2006/main" noGrp="1"/>
          </p:cNvSpPr>
          <p:nvPr/>
        </p:nvSpPr>
        <p:spPr>
          <a:xfrm xmlns:a="http://schemas.openxmlformats.org/drawingml/2006/main">
            <a:off x="2533650" y="2486025"/>
            <a:ext cx="1381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350" b="0">
                <a:solidFill>
                  <a:srgbClr val="1F497D"/>
                </a:solidFill>
                <a:latin typeface="Arial"/>
                <a:ea typeface="Arial"/>
                <a:cs typeface="Arial"/>
              </a:defRPr>
            </a:pPr>
            <a:r>
              <a:rPr sz="1350" b="0">
                <a:solidFill>
                  <a:srgbClr val="1F497D"/>
                </a:solidFill>
                <a:latin typeface="Arial"/>
                <a:ea typeface="Arial"/>
                <a:cs typeface="Arial"/>
              </a:rPr>
              <a:t>Transaction 1</a:t>
            </a:r>
          </a:p>
        </p:txBody>
      </p:sp>
      <p:sp>
        <p:nvSpPr>
          <p:cNvPr id="17437" name="">
            <a:extLst xmlns:a="http://schemas.openxmlformats.org/drawingml/2006/main">
              <a:ext uri="{FF2B5EF4-FFF2-40B4-BE49-F238E27FC236}">
                <a16:creationId xmlns:a16="http://schemas.microsoft.com/office/drawing/2014/main" id="{08BDF86C-1426-497A-A841-2E590468F87B}"/>
              </a:ext>
            </a:extLst>
          </p:cNvPr>
          <p:cNvSpPr>
            <a:spLocks xmlns:a="http://schemas.openxmlformats.org/drawingml/2006/main" noGrp="1"/>
          </p:cNvSpPr>
          <p:nvPr/>
        </p:nvSpPr>
        <p:spPr>
          <a:xfrm xmlns:a="http://schemas.openxmlformats.org/drawingml/2006/main">
            <a:off x="5391150" y="2486025"/>
            <a:ext cx="1381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350" b="0">
                <a:solidFill>
                  <a:srgbClr val="1F497D"/>
                </a:solidFill>
                <a:latin typeface="Arial"/>
                <a:ea typeface="Arial"/>
                <a:cs typeface="Arial"/>
              </a:defRPr>
            </a:pPr>
            <a:r>
              <a:rPr sz="1350" b="0">
                <a:solidFill>
                  <a:srgbClr val="1F497D"/>
                </a:solidFill>
                <a:latin typeface="Arial"/>
                <a:ea typeface="Arial"/>
                <a:cs typeface="Arial"/>
              </a:rPr>
              <a:t>Transaction 2</a:t>
            </a:r>
          </a:p>
        </p:txBody>
      </p:sp>
      <p:sp>
        <p:nvSpPr>
          <p:cNvPr id="17438" name="">
            <a:extLst xmlns:a="http://schemas.openxmlformats.org/drawingml/2006/main">
              <a:ext uri="{FF2B5EF4-FFF2-40B4-BE49-F238E27FC236}">
                <a16:creationId xmlns:a16="http://schemas.microsoft.com/office/drawing/2014/main" id="{F01B4A23-45D7-4F01-9383-3B7BCF23CE8E}"/>
              </a:ext>
            </a:extLst>
          </p:cNvPr>
          <p:cNvSpPr>
            <a:spLocks xmlns:a="http://schemas.openxmlformats.org/drawingml/2006/main" noGrp="1"/>
          </p:cNvSpPr>
          <p:nvPr/>
        </p:nvSpPr>
        <p:spPr>
          <a:xfrm xmlns:a="http://schemas.openxmlformats.org/drawingml/2006/main">
            <a:off x="8248650" y="2486025"/>
            <a:ext cx="1381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350" b="0">
                <a:solidFill>
                  <a:srgbClr val="1F497D"/>
                </a:solidFill>
                <a:latin typeface="Arial"/>
                <a:ea typeface="Arial"/>
                <a:cs typeface="Arial"/>
              </a:defRPr>
            </a:pPr>
            <a:r>
              <a:rPr sz="1350" b="0">
                <a:solidFill>
                  <a:srgbClr val="1F497D"/>
                </a:solidFill>
                <a:latin typeface="Arial"/>
                <a:ea typeface="Arial"/>
                <a:cs typeface="Arial"/>
              </a:rPr>
              <a:t>Attribution</a:t>
            </a:r>
          </a:p>
        </p:txBody>
      </p:sp>
      <p:sp>
        <p:nvSpPr>
          <p:cNvPr id="17439" name="">
            <a:extLst xmlns:a="http://schemas.openxmlformats.org/drawingml/2006/main">
              <a:ext uri="{FF2B5EF4-FFF2-40B4-BE49-F238E27FC236}">
                <a16:creationId xmlns:a16="http://schemas.microsoft.com/office/drawing/2014/main" id="{987487E2-125A-4701-B6A5-142FB306515D}"/>
              </a:ext>
            </a:extLst>
          </p:cNvPr>
          <p:cNvSpPr>
            <a:spLocks xmlns:a="http://schemas.openxmlformats.org/drawingml/2006/main" noGrp="1"/>
          </p:cNvSpPr>
          <p:nvPr/>
        </p:nvSpPr>
        <p:spPr>
          <a:xfrm xmlns:a="http://schemas.openxmlformats.org/drawingml/2006/main">
            <a:off x="609600" y="3952875"/>
            <a:ext cx="1047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F497D"/>
                </a:solidFill>
                <a:latin typeface="Arial"/>
                <a:ea typeface="Arial"/>
                <a:cs typeface="Arial"/>
              </a:defRPr>
            </a:pPr>
            <a:r>
              <a:rPr sz="1800" b="1">
                <a:solidFill>
                  <a:srgbClr val="1F497D"/>
                </a:solidFill>
                <a:latin typeface="Arial"/>
                <a:ea typeface="Arial"/>
                <a:cs typeface="Arial"/>
              </a:rPr>
              <a:t>Finding</a:t>
            </a:r>
          </a:p>
        </p:txBody>
      </p:sp>
      <p:sp>
        <p:nvSpPr>
          <p:cNvPr id="17440" name="">
            <a:extLst xmlns:a="http://schemas.openxmlformats.org/drawingml/2006/main">
              <a:ext uri="{FF2B5EF4-FFF2-40B4-BE49-F238E27FC236}">
                <a16:creationId xmlns:a16="http://schemas.microsoft.com/office/drawing/2014/main" id="{D60C3EC2-C696-49A2-B066-6744700F8800}"/>
              </a:ext>
            </a:extLst>
          </p:cNvPr>
          <p:cNvSpPr>
            <a:spLocks xmlns:a="http://schemas.openxmlformats.org/drawingml/2006/main" noGrp="1"/>
          </p:cNvSpPr>
          <p:nvPr/>
        </p:nvSpPr>
        <p:spPr>
          <a:xfrm xmlns:a="http://schemas.openxmlformats.org/drawingml/2006/main">
            <a:off x="1819275" y="3952875"/>
            <a:ext cx="9715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212B"/>
                </a:solidFill>
                <a:latin typeface="Arial"/>
                <a:ea typeface="Arial"/>
                <a:cs typeface="Arial"/>
              </a:defRPr>
            </a:pPr>
            <a:r>
              <a:rPr sz="1800" b="0">
                <a:solidFill>
                  <a:srgbClr val="17212B"/>
                </a:solidFill>
                <a:latin typeface="Arial"/>
                <a:ea typeface="Arial"/>
                <a:cs typeface="Arial"/>
              </a:rPr>
              <a:t>Two-hop path, transaction IDs, amounts, timestamps and label source.</a:t>
            </a:r>
          </a:p>
        </p:txBody>
      </p:sp>
      <p:sp>
        <p:nvSpPr>
          <p:cNvPr id="17441" name="">
            <a:extLst xmlns:a="http://schemas.openxmlformats.org/drawingml/2006/main">
              <a:ext uri="{FF2B5EF4-FFF2-40B4-BE49-F238E27FC236}">
                <a16:creationId xmlns:a16="http://schemas.microsoft.com/office/drawing/2014/main" id="{4B6FD09C-A89B-46F6-B4AD-D348B3981636}"/>
              </a:ext>
            </a:extLst>
          </p:cNvPr>
          <p:cNvSpPr>
            <a:spLocks xmlns:a="http://schemas.openxmlformats.org/drawingml/2006/main" noGrp="1"/>
          </p:cNvSpPr>
          <p:nvPr/>
        </p:nvSpPr>
        <p:spPr>
          <a:xfrm xmlns:a="http://schemas.openxmlformats.org/drawingml/2006/main">
            <a:off x="609600" y="4343400"/>
            <a:ext cx="1238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F497D"/>
                </a:solidFill>
                <a:latin typeface="Arial"/>
                <a:ea typeface="Arial"/>
                <a:cs typeface="Arial"/>
              </a:defRPr>
            </a:pPr>
            <a:r>
              <a:rPr sz="1800" b="1">
                <a:solidFill>
                  <a:srgbClr val="1F497D"/>
                </a:solidFill>
                <a:latin typeface="Arial"/>
                <a:ea typeface="Arial"/>
                <a:cs typeface="Arial"/>
              </a:rPr>
              <a:t>Next action</a:t>
            </a:r>
          </a:p>
        </p:txBody>
      </p:sp>
      <p:sp>
        <p:nvSpPr>
          <p:cNvPr id="17442" name="">
            <a:extLst xmlns:a="http://schemas.openxmlformats.org/drawingml/2006/main">
              <a:ext uri="{FF2B5EF4-FFF2-40B4-BE49-F238E27FC236}">
                <a16:creationId xmlns:a16="http://schemas.microsoft.com/office/drawing/2014/main" id="{D8348A6F-551F-4ACD-B89F-F3D794C1AE75}"/>
              </a:ext>
            </a:extLst>
          </p:cNvPr>
          <p:cNvSpPr>
            <a:spLocks xmlns:a="http://schemas.openxmlformats.org/drawingml/2006/main" noGrp="1"/>
          </p:cNvSpPr>
          <p:nvPr/>
        </p:nvSpPr>
        <p:spPr>
          <a:xfrm xmlns:a="http://schemas.openxmlformats.org/drawingml/2006/main">
            <a:off x="2038350" y="4343400"/>
            <a:ext cx="9525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212B"/>
                </a:solidFill>
                <a:latin typeface="Arial"/>
                <a:ea typeface="Arial"/>
                <a:cs typeface="Arial"/>
              </a:defRPr>
            </a:pPr>
            <a:r>
              <a:rPr sz="1800" b="0">
                <a:solidFill>
                  <a:srgbClr val="17212B"/>
                </a:solidFill>
                <a:latin typeface="Arial"/>
                <a:ea typeface="Arial"/>
                <a:cs typeface="Arial"/>
              </a:rPr>
              <a:t>Investigator reviews the lead and prepares a VASP preservation request.</a:t>
            </a:r>
          </a:p>
        </p:txBody>
      </p:sp>
      <p:sp>
        <p:nvSpPr>
          <p:cNvPr id="17443" name="">
            <a:extLst xmlns:a="http://schemas.openxmlformats.org/drawingml/2006/main">
              <a:ext uri="{FF2B5EF4-FFF2-40B4-BE49-F238E27FC236}">
                <a16:creationId xmlns:a16="http://schemas.microsoft.com/office/drawing/2014/main" id="{C8FCB666-B323-4877-9A31-E1D51A159FC0}"/>
              </a:ext>
            </a:extLst>
          </p:cNvPr>
          <p:cNvSpPr>
            <a:spLocks xmlns:a="http://schemas.openxmlformats.org/drawingml/2006/main" noGrp="1"/>
          </p:cNvSpPr>
          <p:nvPr/>
        </p:nvSpPr>
        <p:spPr>
          <a:xfrm xmlns:a="http://schemas.openxmlformats.org/drawingml/2006/main">
            <a:off x="723900" y="4762500"/>
            <a:ext cx="1076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1F497D"/>
                </a:solidFill>
                <a:latin typeface="Arial"/>
                <a:ea typeface="Arial"/>
                <a:cs typeface="Arial"/>
              </a:defRPr>
            </a:pPr>
            <a:r>
              <a:rPr sz="1500" b="0">
                <a:solidFill>
                  <a:srgbClr val="1F497D"/>
                </a:solidFill>
                <a:latin typeface="Arial"/>
                <a:ea typeface="Arial"/>
                <a:cs typeface="Arial"/>
              </a:rPr>
              <a:t>Fictional illustration. Transaction paths alone do not prove exact fund continuity or wrongdoing.</a:t>
            </a:r>
          </a:p>
        </p:txBody>
      </p:sp>
      <p:sp>
        <p:nvSpPr>
          <p:cNvPr id="17444" name="">
            <a:extLst xmlns:a="http://schemas.openxmlformats.org/drawingml/2006/main">
              <a:ext uri="{FF2B5EF4-FFF2-40B4-BE49-F238E27FC236}">
                <a16:creationId xmlns:a16="http://schemas.microsoft.com/office/drawing/2014/main" id="{379AC949-62EF-4F20-806C-A36BD99E3AD6}"/>
              </a:ext>
            </a:extLst>
          </p:cNvPr>
          <p:cNvSpPr>
            <a:spLocks xmlns:a="http://schemas.openxmlformats.org/drawingml/2006/main" noGrp="1"/>
          </p:cNvSpPr>
          <p:nvPr/>
        </p:nvSpPr>
        <p:spPr>
          <a:xfrm xmlns:a="http://schemas.openxmlformats.org/drawingml/2006/main">
            <a:off x="609600" y="51625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F497D"/>
                </a:solidFill>
                <a:latin typeface="Arial"/>
                <a:ea typeface="Arial"/>
                <a:cs typeface="Arial"/>
              </a:defRPr>
            </a:pPr>
            <a:r>
              <a:rPr sz="1875" b="1">
                <a:solidFill>
                  <a:srgbClr val="1F497D"/>
                </a:solidFill>
                <a:latin typeface="Arial"/>
                <a:ea typeface="Arial"/>
                <a:cs typeface="Arial"/>
              </a:rPr>
              <a:t>Benefits of the solution (social, economic, environmental, etc.)</a:t>
            </a:r>
          </a:p>
        </p:txBody>
      </p:sp>
      <p:sp>
        <p:nvSpPr>
          <p:cNvPr id="17445" name="">
            <a:extLst xmlns:a="http://schemas.openxmlformats.org/drawingml/2006/main">
              <a:ext uri="{FF2B5EF4-FFF2-40B4-BE49-F238E27FC236}">
                <a16:creationId xmlns:a16="http://schemas.microsoft.com/office/drawing/2014/main" id="{BBE51373-DAFB-42B3-883A-3460559AFC9B}"/>
              </a:ext>
            </a:extLst>
          </p:cNvPr>
          <p:cNvSpPr>
            <a:spLocks xmlns:a="http://schemas.openxmlformats.org/drawingml/2006/main" noGrp="1"/>
          </p:cNvSpPr>
          <p:nvPr/>
        </p:nvSpPr>
        <p:spPr>
          <a:xfrm xmlns:a="http://schemas.openxmlformats.org/drawingml/2006/main">
            <a:off x="723900" y="5572125"/>
            <a:ext cx="323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F497D"/>
                </a:solidFill>
                <a:latin typeface="Arial"/>
                <a:ea typeface="Arial"/>
                <a:cs typeface="Arial"/>
              </a:defRPr>
            </a:pPr>
            <a:r>
              <a:rPr sz="1800" b="1">
                <a:solidFill>
                  <a:srgbClr val="1F497D"/>
                </a:solidFill>
                <a:latin typeface="Arial"/>
                <a:ea typeface="Arial"/>
                <a:cs typeface="Arial"/>
              </a:rPr>
              <a:t>Social</a:t>
            </a:r>
          </a:p>
        </p:txBody>
      </p:sp>
      <p:sp>
        <p:nvSpPr>
          <p:cNvPr id="17446" name="">
            <a:extLst xmlns:a="http://schemas.openxmlformats.org/drawingml/2006/main">
              <a:ext uri="{FF2B5EF4-FFF2-40B4-BE49-F238E27FC236}">
                <a16:creationId xmlns:a16="http://schemas.microsoft.com/office/drawing/2014/main" id="{7A8A2B33-88BE-4071-BAE9-29D7A7B2DA2B}"/>
              </a:ext>
            </a:extLst>
          </p:cNvPr>
          <p:cNvSpPr>
            <a:spLocks xmlns:a="http://schemas.openxmlformats.org/drawingml/2006/main" noGrp="1"/>
          </p:cNvSpPr>
          <p:nvPr/>
        </p:nvSpPr>
        <p:spPr>
          <a:xfrm xmlns:a="http://schemas.openxmlformats.org/drawingml/2006/main">
            <a:off x="723900" y="5895975"/>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7212B"/>
                </a:solidFill>
                <a:latin typeface="Arial"/>
                <a:ea typeface="Arial"/>
                <a:cs typeface="Arial"/>
              </a:defRPr>
            </a:pPr>
            <a:r>
              <a:rPr sz="1725" b="0">
                <a:solidFill>
                  <a:srgbClr val="17212B"/>
                </a:solidFill>
                <a:latin typeface="Arial"/>
                <a:ea typeface="Arial"/>
                <a:cs typeface="Arial"/>
              </a:rPr>
              <a:t>Support timely intervention</a:t>
            </a:r>
          </a:p>
        </p:txBody>
      </p:sp>
      <p:sp>
        <p:nvSpPr>
          <p:cNvPr id="17447" name="">
            <a:extLst xmlns:a="http://schemas.openxmlformats.org/drawingml/2006/main">
              <a:ext uri="{FF2B5EF4-FFF2-40B4-BE49-F238E27FC236}">
                <a16:creationId xmlns:a16="http://schemas.microsoft.com/office/drawing/2014/main" id="{B9AE04E6-2D94-4D8C-BB02-30889F46AF2E}"/>
              </a:ext>
            </a:extLst>
          </p:cNvPr>
          <p:cNvSpPr>
            <a:spLocks xmlns:a="http://schemas.openxmlformats.org/drawingml/2006/main" noGrp="1"/>
          </p:cNvSpPr>
          <p:nvPr/>
        </p:nvSpPr>
        <p:spPr>
          <a:xfrm xmlns:a="http://schemas.openxmlformats.org/drawingml/2006/main">
            <a:off x="4371975" y="5572125"/>
            <a:ext cx="323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F497D"/>
                </a:solidFill>
                <a:latin typeface="Arial"/>
                <a:ea typeface="Arial"/>
                <a:cs typeface="Arial"/>
              </a:defRPr>
            </a:pPr>
            <a:r>
              <a:rPr sz="1800" b="1">
                <a:solidFill>
                  <a:srgbClr val="1F497D"/>
                </a:solidFill>
                <a:latin typeface="Arial"/>
                <a:ea typeface="Arial"/>
                <a:cs typeface="Arial"/>
              </a:rPr>
              <a:t>Economic</a:t>
            </a:r>
          </a:p>
        </p:txBody>
      </p:sp>
      <p:sp>
        <p:nvSpPr>
          <p:cNvPr id="17448" name="">
            <a:extLst xmlns:a="http://schemas.openxmlformats.org/drawingml/2006/main">
              <a:ext uri="{FF2B5EF4-FFF2-40B4-BE49-F238E27FC236}">
                <a16:creationId xmlns:a16="http://schemas.microsoft.com/office/drawing/2014/main" id="{A40E6A86-946B-4F3F-9224-FA4C12B77A5A}"/>
              </a:ext>
            </a:extLst>
          </p:cNvPr>
          <p:cNvSpPr>
            <a:spLocks xmlns:a="http://schemas.openxmlformats.org/drawingml/2006/main" noGrp="1"/>
          </p:cNvSpPr>
          <p:nvPr/>
        </p:nvSpPr>
        <p:spPr>
          <a:xfrm xmlns:a="http://schemas.openxmlformats.org/drawingml/2006/main">
            <a:off x="4371975" y="5895975"/>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7212B"/>
                </a:solidFill>
                <a:latin typeface="Arial"/>
                <a:ea typeface="Arial"/>
                <a:cs typeface="Arial"/>
              </a:defRPr>
            </a:pPr>
            <a:r>
              <a:rPr sz="1725" b="0">
                <a:solidFill>
                  <a:srgbClr val="17212B"/>
                </a:solidFill>
                <a:latin typeface="Arial"/>
                <a:ea typeface="Arial"/>
                <a:cs typeface="Arial"/>
              </a:rPr>
              <a:t>Reduce repeated tracing work</a:t>
            </a:r>
          </a:p>
        </p:txBody>
      </p:sp>
      <p:sp>
        <p:nvSpPr>
          <p:cNvPr id="17449" name="">
            <a:extLst xmlns:a="http://schemas.openxmlformats.org/drawingml/2006/main">
              <a:ext uri="{FF2B5EF4-FFF2-40B4-BE49-F238E27FC236}">
                <a16:creationId xmlns:a16="http://schemas.microsoft.com/office/drawing/2014/main" id="{77AF726E-07D7-48F5-A7CF-AF9019296F76}"/>
              </a:ext>
            </a:extLst>
          </p:cNvPr>
          <p:cNvSpPr>
            <a:spLocks xmlns:a="http://schemas.openxmlformats.org/drawingml/2006/main" noGrp="1"/>
          </p:cNvSpPr>
          <p:nvPr/>
        </p:nvSpPr>
        <p:spPr>
          <a:xfrm xmlns:a="http://schemas.openxmlformats.org/drawingml/2006/main">
            <a:off x="8134350" y="5572125"/>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F497D"/>
                </a:solidFill>
                <a:latin typeface="Arial"/>
                <a:ea typeface="Arial"/>
                <a:cs typeface="Arial"/>
              </a:defRPr>
            </a:pPr>
            <a:r>
              <a:rPr sz="1800" b="1">
                <a:solidFill>
                  <a:srgbClr val="1F497D"/>
                </a:solidFill>
                <a:latin typeface="Arial"/>
                <a:ea typeface="Arial"/>
                <a:cs typeface="Arial"/>
              </a:rPr>
              <a:t>Operational</a:t>
            </a:r>
          </a:p>
        </p:txBody>
      </p:sp>
      <p:sp>
        <p:nvSpPr>
          <p:cNvPr id="17450" name="">
            <a:extLst xmlns:a="http://schemas.openxmlformats.org/drawingml/2006/main">
              <a:ext uri="{FF2B5EF4-FFF2-40B4-BE49-F238E27FC236}">
                <a16:creationId xmlns:a16="http://schemas.microsoft.com/office/drawing/2014/main" id="{AA2E35BE-5430-498B-94A8-CACE256FC763}"/>
              </a:ext>
            </a:extLst>
          </p:cNvPr>
          <p:cNvSpPr>
            <a:spLocks xmlns:a="http://schemas.openxmlformats.org/drawingml/2006/main" noGrp="1"/>
          </p:cNvSpPr>
          <p:nvPr/>
        </p:nvSpPr>
        <p:spPr>
          <a:xfrm xmlns:a="http://schemas.openxmlformats.org/drawingml/2006/main">
            <a:off x="8134350" y="5895975"/>
            <a:ext cx="3476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7212B"/>
                </a:solidFill>
                <a:latin typeface="Arial"/>
                <a:ea typeface="Arial"/>
                <a:cs typeface="Arial"/>
              </a:defRPr>
            </a:pPr>
            <a:r>
              <a:rPr sz="1725" b="0">
                <a:solidFill>
                  <a:srgbClr val="17212B"/>
                </a:solidFill>
                <a:latin typeface="Arial"/>
                <a:ea typeface="Arial"/>
                <a:cs typeface="Arial"/>
              </a:rPr>
              <a:t>Standardize VASP coordination</a:t>
            </a:r>
          </a:p>
        </p:txBody>
      </p:sp>
    </p:spTree>
    <p:extLst>
      <p:ext uri="{BB962C8B-B14F-4D97-AF65-F5344CB8AC3E}">
        <p14:creationId xmlns:p14="http://schemas.microsoft.com/office/powerpoint/2010/main" val="299714414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endParaRPr sz="1800" b="0" i="0" u="none" kern="1200" cap="none" spc="0" baseline="0">
              <a:ln>
                <a:noFill/>
              </a:ln>
              <a:solidFill>
                <a:srgbClr val="C0504D">
                  <a:lumMod val="75000"/>
                </a:srgbClr>
              </a:solidFill>
              <a:latin typeface="Calibri"/>
              <a:ea typeface="Calibri"/>
              <a:cs typeface="Calibri"/>
            </a:endParaRPr>
          </a:p>
        </p:txBody>
      </p:sp>
      <p:sp>
        <p:nvSpPr>
          <p:cNvPr id="17409" name="Title 1">
            <a:extLst xmlns:a="http://schemas.openxmlformats.org/drawingml/2006/main">
              <a:ext uri="{FF2B5EF4-FFF2-40B4-BE49-F238E27FC236}">
                <a16:creationId xmlns:a16="http://schemas.microsoft.com/office/drawing/2014/main" id="{A32254E5-F9FF-407F-BB7E-2C55614FB6DB}"/>
              </a:ext>
            </a:extLst>
          </p:cNvPr>
          <p:cNvSpPr>
            <a:spLocks xmlns:a="http://schemas.openxmlformats.org/drawingml/2006/main" noGrp="1"/>
          </p:cNvSpPr>
          <p:nvPr>
            <p:ph type="title" idx="0"/>
          </p:nvPr>
        </p:nvSpPr>
        <p:spPr>
          <a:xfrm xmlns:a="http://schemas.openxmlformats.org/drawingml/2006/main">
            <a:off x="1752600" y="247650"/>
            <a:ext cx="7924800" cy="723900"/>
          </a:xfrm>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3075" b="1">
                <a:solidFill>
                  <a:srgbClr val="000000"/>
                </a:solidFill>
                <a:latin typeface="Times New Roman"/>
                <a:ea typeface="Times New Roman"/>
                <a:cs typeface="Times New Roman"/>
              </a:defRPr>
            </a:pPr>
            <a:r>
              <a:rPr sz="3075" b="1">
                <a:solidFill>
                  <a:srgbClr val="000000"/>
                </a:solidFill>
                <a:latin typeface="Times New Roman"/>
                <a:ea typeface="Times New Roman"/>
                <a:cs typeface="Times New Roman"/>
              </a:rPr>
              <a:t>RESEARCH AND REFERENCES</a:t>
            </a:r>
          </a:p>
        </p:txBody>
      </p:sp>
      <p:sp>
        <p:nvSpPr>
          <p:cNvPr id="6" name="Slide Number Placeholder 5">
            <a:extLst xmlns:a="http://schemas.openxmlformats.org/drawingml/2006/main">
              <a:ext uri="{FF2B5EF4-FFF2-40B4-BE49-F238E27FC236}">
                <a16:creationId xmlns:a16="http://schemas.microsoft.com/office/drawing/2014/main" id="{D11FB0B2-D1C4-40DC-AD41-FF83C7B5E1C8}"/>
              </a:ext>
            </a:extLst>
          </p:cNvPr>
          <p:cNvSpPr>
            <a:spLocks xmlns:a="http://schemas.openxmlformats.org/drawingml/2006/main" noGrp="1"/>
          </p:cNvSpPr>
          <p:nvPr>
            <p:ph type="sldNum" idx="12"/>
          </p:nvPr>
        </p:nvSpPr>
        <p:spPr>
          <a:xfrm xmlns:a="http://schemas.openxmlformats.org/drawingml/2006/main">
            <a:off x="11382375" y="6457950"/>
            <a:ext cx="381000" cy="238125"/>
          </a:xfrm>
        </p:spPr>
        <p:txBody>
          <a:bodyPr xmlns:a="http://schemas.openxmlformats.org/drawingml/2006/main" wrap="square" lIns="0" tIns="0" rIns="0" bIns="0" anchor="t">
            <a:noAutofit/>
          </a:bodyPr>
          <a:lstStyle xmlns:a="http://schemas.openxmlformats.org/drawingml/2006/main"/>
          <a:p xmlns:a="http://schemas.openxmlformats.org/drawingml/2006/main">
            <a:pPr marL="0" marR="0" lvl="0" indent="0" algn="l" defTabSz="457200">
              <a:lnSpc>
                <a:spcPct val="100000"/>
              </a:lnSpc>
              <a:spcBef>
                <a:spcPct val="0"/>
              </a:spcBef>
              <a:spcAft>
                <a:spcPct val="0"/>
              </a:spcAft>
              <a:buClrTx/>
              <a:buSzTx/>
              <a:buFontTx/>
              <a:buNone/>
              <a:defRPr sz="1275" b="1">
                <a:solidFill>
                  <a:srgbClr val="FFFFFF"/>
                </a:solidFill>
                <a:latin typeface="Arial"/>
                <a:ea typeface="Arial"/>
                <a:cs typeface="Arial"/>
              </a:defRPr>
            </a:pPr>
            <a:fld id="{8C630A04-5A25-9E0C-9436-126091DB86B3}" type="slidenum">
              <a:rPr sz="1275" b="1" i="0" u="none" cap="none" spc="0">
                <a:ln>
                  <a:noFill/>
                </a:ln>
                <a:solidFill>
                  <a:srgbClr val="FFFFFF"/>
                </a:solidFill>
                <a:latin typeface="Arial"/>
                <a:ea typeface="Arial"/>
                <a:cs typeface="Arial"/>
              </a:rPr>
              <a:t>6</a:t>
            </a:fld>
            <a:endParaRPr sz="1200" b="1" i="0" u="none" kern="1200" cap="none" spc="0" baseline="0">
              <a:ln>
                <a:noFill/>
              </a:ln>
              <a:solidFill>
                <a:prstClr val="white"/>
              </a:solidFill>
              <a:latin typeface="TradeGothic"/>
              <a:ea typeface="TradeGothic"/>
              <a:cs typeface="TradeGothic"/>
            </a:endParaRPr>
          </a:p>
        </p:txBody>
      </p:sp>
      <p:sp>
        <p:nvSpPr>
          <p:cNvPr id="7" name="Footer Placeholder 6">
            <a:extLst xmlns:a="http://schemas.openxmlformats.org/drawingml/2006/main">
              <a:ext uri="{FF2B5EF4-FFF2-40B4-BE49-F238E27FC236}">
                <a16:creationId xmlns:a16="http://schemas.microsoft.com/office/drawing/2014/main" id="{FAF84D3E-8DD0-4B21-818B-FE49231BAF98}"/>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r>
              <a:rPr sz="1200" b="0" i="0" u="none" cap="none" spc="0">
                <a:ln>
                  <a:noFill/>
                </a:ln>
                <a:solidFill>
                  <a:prstClr val="white"/>
                </a:solidFill>
                <a:latin typeface="TradeGothic"/>
                <a:ea typeface="TradeGothic"/>
                <a:cs typeface="TradeGothic"/>
              </a:rPr>
              <a:t>@SIH Idea submission- Template</a:t>
            </a:r>
            <a:endParaRPr sz="1200" b="0" i="0" u="none" kern="1200" cap="none" spc="0" baseline="0">
              <a:ln>
                <a:noFill/>
              </a:ln>
              <a:solidFill>
                <a:prstClr val="white"/>
              </a:solidFill>
              <a:latin typeface="TradeGothic"/>
              <a:ea typeface="TradeGothic"/>
              <a:cs typeface="TradeGothic"/>
            </a:endParaRPr>
          </a:p>
        </p:txBody>
      </p:sp>
      <p:sp>
        <p:nvSpPr>
          <p:cNvPr id="9" name="Oval 8">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56" y="252222"/>
            <a:ext cx="1251871" cy="807339"/>
          </a:xfrm>
          <a:prstGeom xmlns:a="http://schemas.openxmlformats.org/drawingml/2006/main" prst="ellipse">
            <a:avLst/>
          </a:prstGeom>
          <a:solidFill xmlns:a="http://schemas.openxmlformats.org/drawingml/2006/main">
            <a:srgbClr val="FFFFFF"/>
          </a:solidFill>
          <a:ln xmlns:a="http://schemas.openxmlformats.org/drawingml/2006/main" w="19050">
            <a:solidFill>
              <a:srgbClr val="8064A2"/>
            </a:solidFill>
          </a:ln>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425" b="1">
                <a:solidFill>
                  <a:srgbClr val="111111"/>
                </a:solidFill>
                <a:latin typeface="Arial"/>
                <a:ea typeface="Arial"/>
                <a:cs typeface="Arial"/>
              </a:defRPr>
            </a:pPr>
            <a:r>
              <a:rPr sz="1425" b="1">
                <a:solidFill>
                  <a:srgbClr val="111111"/>
                </a:solidFill>
                <a:latin typeface="Arial"/>
                <a:ea typeface="Arial"/>
                <a:cs typeface="Arial"/>
              </a:rPr>
              <a:t>COLD</a:t>
            </a:r>
            <a:endParaRPr/>
          </a:p>
          <a:p xmlns:a="http://schemas.openxmlformats.org/drawingml/2006/main">
            <a:pPr algn="ctr">
              <a:buNone/>
              <a:defRPr sz="1425" b="1">
                <a:solidFill>
                  <a:srgbClr val="111111"/>
                </a:solidFill>
                <a:latin typeface="Arial"/>
                <a:ea typeface="Arial"/>
                <a:cs typeface="Arial"/>
              </a:defRPr>
            </a:pPr>
            <a:r>
              <a:rPr sz="1425" b="1">
                <a:solidFill>
                  <a:srgbClr val="111111"/>
                </a:solidFill>
                <a:latin typeface="Arial"/>
                <a:ea typeface="Arial"/>
                <a:cs typeface="Arial"/>
              </a:rPr>
              <a:t>COFFEE</a:t>
            </a:r>
            <a:endParaRPr/>
          </a:p>
        </p:txBody>
      </p:sp>
      <p:sp>
        <p:nvSpPr>
          <p:cNvPr id="17412" name="">
            <a:extLst xmlns:a="http://schemas.openxmlformats.org/drawingml/2006/main">
              <a:ext uri="{FF2B5EF4-FFF2-40B4-BE49-F238E27FC236}">
                <a16:creationId xmlns:a16="http://schemas.microsoft.com/office/drawing/2014/main" id="{B4DEFD14-E39D-412F-82AC-11DE8FBCF5D8}"/>
              </a:ext>
            </a:extLst>
          </p:cNvPr>
          <p:cNvSpPr>
            <a:spLocks xmlns:a="http://schemas.openxmlformats.org/drawingml/2006/main" noGrp="1"/>
          </p:cNvSpPr>
          <p:nvPr/>
        </p:nvSpPr>
        <p:spPr>
          <a:xfrm xmlns:a="http://schemas.openxmlformats.org/drawingml/2006/main">
            <a:off x="609600" y="134302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1F497D"/>
                </a:solidFill>
                <a:latin typeface="Arial"/>
                <a:ea typeface="Arial"/>
                <a:cs typeface="Arial"/>
              </a:defRPr>
            </a:pPr>
            <a:r>
              <a:rPr sz="2175" b="1">
                <a:solidFill>
                  <a:srgbClr val="1F497D"/>
                </a:solidFill>
                <a:latin typeface="Arial"/>
                <a:ea typeface="Arial"/>
                <a:cs typeface="Arial"/>
              </a:rPr>
              <a:t>Details / Links of the reference and research work</a:t>
            </a:r>
          </a:p>
        </p:txBody>
      </p:sp>
      <p:sp>
        <p:nvSpPr>
          <p:cNvPr id="17413" name="">
            <a:extLst xmlns:a="http://schemas.openxmlformats.org/drawingml/2006/main">
              <a:ext uri="{FF2B5EF4-FFF2-40B4-BE49-F238E27FC236}">
                <a16:creationId xmlns:a16="http://schemas.microsoft.com/office/drawing/2014/main" id="{4BEA7456-B093-422C-892E-625E1682684A}"/>
              </a:ext>
            </a:extLst>
          </p:cNvPr>
          <p:cNvSpPr>
            <a:spLocks xmlns:a="http://schemas.openxmlformats.org/drawingml/2006/main" noGrp="1"/>
          </p:cNvSpPr>
          <p:nvPr/>
        </p:nvSpPr>
        <p:spPr>
          <a:xfrm xmlns:a="http://schemas.openxmlformats.org/drawingml/2006/main">
            <a:off x="619125" y="1809750"/>
            <a:ext cx="20669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1">
                <a:solidFill>
                  <a:srgbClr val="1F497D"/>
                </a:solidFill>
                <a:latin typeface="Arial"/>
                <a:ea typeface="Arial"/>
                <a:cs typeface="Arial"/>
              </a:defRPr>
            </a:pPr>
            <a:r>
              <a:rPr sz="1725" b="1">
                <a:solidFill>
                  <a:srgbClr val="1F497D"/>
                </a:solidFill>
                <a:latin typeface="Arial"/>
                <a:ea typeface="Arial"/>
                <a:cs typeface="Arial"/>
              </a:rPr>
              <a:t>Address clustering</a:t>
            </a:r>
          </a:p>
        </p:txBody>
      </p:sp>
      <p:sp>
        <p:nvSpPr>
          <p:cNvPr id="17414" name="">
            <a:extLst xmlns:a="http://schemas.openxmlformats.org/drawingml/2006/main">
              <a:ext uri="{FF2B5EF4-FFF2-40B4-BE49-F238E27FC236}">
                <a16:creationId xmlns:a16="http://schemas.microsoft.com/office/drawing/2014/main" id="{7428435C-60F1-4980-8399-F3F828B14BBE}"/>
              </a:ext>
            </a:extLst>
          </p:cNvPr>
          <p:cNvSpPr>
            <a:spLocks xmlns:a="http://schemas.openxmlformats.org/drawingml/2006/main" noGrp="1"/>
          </p:cNvSpPr>
          <p:nvPr/>
        </p:nvSpPr>
        <p:spPr>
          <a:xfrm xmlns:a="http://schemas.openxmlformats.org/drawingml/2006/main">
            <a:off x="2790825" y="1809750"/>
            <a:ext cx="86391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11111"/>
                </a:solidFill>
                <a:latin typeface="Arial"/>
                <a:ea typeface="Arial"/>
                <a:cs typeface="Arial"/>
              </a:defRPr>
            </a:pPr>
            <a:r>
              <a:rPr sz="1575" b="0">
                <a:solidFill>
                  <a:srgbClr val="111111"/>
                </a:solidFill>
                <a:latin typeface="Arial"/>
                <a:ea typeface="Arial"/>
                <a:cs typeface="Arial"/>
              </a:rPr>
              <a:t>Meiklejohn et al. (2013), A Fistful of Bitcoins: Characterizing Payments Among Men with No Names.</a:t>
            </a:r>
          </a:p>
        </p:txBody>
      </p:sp>
      <p:sp>
        <p:nvSpPr>
          <p:cNvPr id="17415" name="">
            <a:extLst xmlns:a="http://schemas.openxmlformats.org/drawingml/2006/main">
              <a:ext uri="{FF2B5EF4-FFF2-40B4-BE49-F238E27FC236}">
                <a16:creationId xmlns:a16="http://schemas.microsoft.com/office/drawing/2014/main" id="{31109119-8089-40E2-8FAF-B33264A068E5}"/>
              </a:ext>
            </a:extLst>
          </p:cNvPr>
          <p:cNvSpPr>
            <a:spLocks xmlns:a="http://schemas.openxmlformats.org/drawingml/2006/main" noGrp="1"/>
          </p:cNvSpPr>
          <p:nvPr/>
        </p:nvSpPr>
        <p:spPr>
          <a:xfrm xmlns:a="http://schemas.openxmlformats.org/drawingml/2006/main">
            <a:off x="2790825" y="2276475"/>
            <a:ext cx="8639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1F497D"/>
                </a:solidFill>
                <a:latin typeface="Arial"/>
                <a:ea typeface="Arial"/>
                <a:cs typeface="Arial"/>
              </a:defRPr>
            </a:pPr>
            <a:r>
              <a:rPr sz="1425" b="0">
                <a:solidFill>
                  <a:srgbClr val="1F497D"/>
                </a:solidFill>
                <a:latin typeface="Arial"/>
                <a:ea typeface="Arial"/>
                <a:cs typeface="Arial"/>
                <a:hlinkClick xmlns:r="http://schemas.openxmlformats.org/officeDocument/2006/relationships" r:id="R95db4d1eb88947bd"/>
              </a:rPr>
              <a:t>ACM IMC paper</a:t>
            </a:r>
          </a:p>
        </p:txBody>
      </p:sp>
      <p:sp>
        <p:nvSpPr>
          <p:cNvPr id="17416" name="">
            <a:extLst xmlns:a="http://schemas.openxmlformats.org/drawingml/2006/main">
              <a:ext uri="{FF2B5EF4-FFF2-40B4-BE49-F238E27FC236}">
                <a16:creationId xmlns:a16="http://schemas.microsoft.com/office/drawing/2014/main" id="{DDE7359E-FE50-4C28-A3F5-A8361D826FB9}"/>
              </a:ext>
            </a:extLst>
          </p:cNvPr>
          <p:cNvSpPr>
            <a:spLocks xmlns:a="http://schemas.openxmlformats.org/drawingml/2006/main" noGrp="1"/>
          </p:cNvSpPr>
          <p:nvPr/>
        </p:nvSpPr>
        <p:spPr>
          <a:xfrm xmlns:a="http://schemas.openxmlformats.org/drawingml/2006/main">
            <a:off x="619125" y="2533650"/>
            <a:ext cx="20669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1">
                <a:solidFill>
                  <a:srgbClr val="1F497D"/>
                </a:solidFill>
                <a:latin typeface="Arial"/>
                <a:ea typeface="Arial"/>
                <a:cs typeface="Arial"/>
              </a:defRPr>
            </a:pPr>
            <a:r>
              <a:rPr sz="1725" b="1">
                <a:solidFill>
                  <a:srgbClr val="1F497D"/>
                </a:solidFill>
                <a:latin typeface="Arial"/>
                <a:ea typeface="Arial"/>
                <a:cs typeface="Arial"/>
              </a:rPr>
              <a:t>ML-assisted analysis</a:t>
            </a:r>
          </a:p>
        </p:txBody>
      </p:sp>
      <p:sp>
        <p:nvSpPr>
          <p:cNvPr id="17417" name="">
            <a:extLst xmlns:a="http://schemas.openxmlformats.org/drawingml/2006/main">
              <a:ext uri="{FF2B5EF4-FFF2-40B4-BE49-F238E27FC236}">
                <a16:creationId xmlns:a16="http://schemas.microsoft.com/office/drawing/2014/main" id="{EF59722C-5B26-43F5-8152-97868A80372C}"/>
              </a:ext>
            </a:extLst>
          </p:cNvPr>
          <p:cNvSpPr>
            <a:spLocks xmlns:a="http://schemas.openxmlformats.org/drawingml/2006/main" noGrp="1"/>
          </p:cNvSpPr>
          <p:nvPr/>
        </p:nvSpPr>
        <p:spPr>
          <a:xfrm xmlns:a="http://schemas.openxmlformats.org/drawingml/2006/main">
            <a:off x="2790825" y="2533650"/>
            <a:ext cx="86391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11111"/>
                </a:solidFill>
                <a:latin typeface="Arial"/>
                <a:ea typeface="Arial"/>
                <a:cs typeface="Arial"/>
              </a:defRPr>
            </a:pPr>
            <a:r>
              <a:rPr sz="1575" b="0">
                <a:solidFill>
                  <a:srgbClr val="111111"/>
                </a:solidFill>
                <a:latin typeface="Arial"/>
                <a:ea typeface="Arial"/>
                <a:cs typeface="Arial"/>
              </a:rPr>
              <a:t>Weber et al. (2019), Anti-Money Laundering in Bitcoin: Experimenting with Graph Convolutional Networks for Financial Forensics.</a:t>
            </a:r>
          </a:p>
        </p:txBody>
      </p:sp>
      <p:sp>
        <p:nvSpPr>
          <p:cNvPr id="17418" name="">
            <a:extLst xmlns:a="http://schemas.openxmlformats.org/drawingml/2006/main">
              <a:ext uri="{FF2B5EF4-FFF2-40B4-BE49-F238E27FC236}">
                <a16:creationId xmlns:a16="http://schemas.microsoft.com/office/drawing/2014/main" id="{1D863C23-D287-41F9-BB10-D7448C6B0883}"/>
              </a:ext>
            </a:extLst>
          </p:cNvPr>
          <p:cNvSpPr>
            <a:spLocks xmlns:a="http://schemas.openxmlformats.org/drawingml/2006/main" noGrp="1"/>
          </p:cNvSpPr>
          <p:nvPr/>
        </p:nvSpPr>
        <p:spPr>
          <a:xfrm xmlns:a="http://schemas.openxmlformats.org/drawingml/2006/main">
            <a:off x="2790825" y="3000375"/>
            <a:ext cx="8639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1F497D"/>
                </a:solidFill>
                <a:latin typeface="Arial"/>
                <a:ea typeface="Arial"/>
                <a:cs typeface="Arial"/>
              </a:defRPr>
            </a:pPr>
            <a:r>
              <a:rPr sz="1425" b="0">
                <a:solidFill>
                  <a:srgbClr val="1F497D"/>
                </a:solidFill>
                <a:latin typeface="Arial"/>
                <a:ea typeface="Arial"/>
                <a:cs typeface="Arial"/>
                <a:hlinkClick xmlns:r="http://schemas.openxmlformats.org/officeDocument/2006/relationships" r:id="R5ae53eb3df2d45d3"/>
              </a:rPr>
              <a:t>arXiv:1908.02591</a:t>
            </a:r>
          </a:p>
        </p:txBody>
      </p:sp>
      <p:sp>
        <p:nvSpPr>
          <p:cNvPr id="17419" name="">
            <a:extLst xmlns:a="http://schemas.openxmlformats.org/drawingml/2006/main">
              <a:ext uri="{FF2B5EF4-FFF2-40B4-BE49-F238E27FC236}">
                <a16:creationId xmlns:a16="http://schemas.microsoft.com/office/drawing/2014/main" id="{D4CD79F7-73FB-41B2-A03A-A6536772FBD3}"/>
              </a:ext>
            </a:extLst>
          </p:cNvPr>
          <p:cNvSpPr>
            <a:spLocks xmlns:a="http://schemas.openxmlformats.org/drawingml/2006/main" noGrp="1"/>
          </p:cNvSpPr>
          <p:nvPr/>
        </p:nvSpPr>
        <p:spPr>
          <a:xfrm xmlns:a="http://schemas.openxmlformats.org/drawingml/2006/main">
            <a:off x="619125" y="3257550"/>
            <a:ext cx="20669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1">
                <a:solidFill>
                  <a:srgbClr val="1F497D"/>
                </a:solidFill>
                <a:latin typeface="Arial"/>
                <a:ea typeface="Arial"/>
                <a:cs typeface="Arial"/>
              </a:defRPr>
            </a:pPr>
            <a:r>
              <a:rPr sz="1725" b="1">
                <a:solidFill>
                  <a:srgbClr val="1F497D"/>
                </a:solidFill>
                <a:latin typeface="Arial"/>
                <a:ea typeface="Arial"/>
                <a:cs typeface="Arial"/>
              </a:rPr>
              <a:t>Blockchain data</a:t>
            </a:r>
          </a:p>
        </p:txBody>
      </p:sp>
      <p:sp>
        <p:nvSpPr>
          <p:cNvPr id="17420" name="">
            <a:extLst xmlns:a="http://schemas.openxmlformats.org/drawingml/2006/main">
              <a:ext uri="{FF2B5EF4-FFF2-40B4-BE49-F238E27FC236}">
                <a16:creationId xmlns:a16="http://schemas.microsoft.com/office/drawing/2014/main" id="{3B6A3A89-0808-4756-A9AA-1DCE7FDBB58F}"/>
              </a:ext>
            </a:extLst>
          </p:cNvPr>
          <p:cNvSpPr>
            <a:spLocks xmlns:a="http://schemas.openxmlformats.org/drawingml/2006/main" noGrp="1"/>
          </p:cNvSpPr>
          <p:nvPr/>
        </p:nvSpPr>
        <p:spPr>
          <a:xfrm xmlns:a="http://schemas.openxmlformats.org/drawingml/2006/main">
            <a:off x="2790825" y="3257550"/>
            <a:ext cx="86391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11111"/>
                </a:solidFill>
                <a:latin typeface="Arial"/>
                <a:ea typeface="Arial"/>
                <a:cs typeface="Arial"/>
              </a:defRPr>
            </a:pPr>
            <a:r>
              <a:rPr sz="1575" b="0">
                <a:solidFill>
                  <a:srgbClr val="111111"/>
                </a:solidFill>
                <a:latin typeface="Arial"/>
                <a:ea typeface="Arial"/>
                <a:cs typeface="Arial"/>
              </a:rPr>
              <a:t>Blockstream Esplora: address and transaction API documentation.</a:t>
            </a:r>
          </a:p>
        </p:txBody>
      </p:sp>
      <p:sp>
        <p:nvSpPr>
          <p:cNvPr id="17421" name="">
            <a:extLst xmlns:a="http://schemas.openxmlformats.org/drawingml/2006/main">
              <a:ext uri="{FF2B5EF4-FFF2-40B4-BE49-F238E27FC236}">
                <a16:creationId xmlns:a16="http://schemas.microsoft.com/office/drawing/2014/main" id="{056DBE7F-B84B-4283-BC1F-AA7B78EA7D58}"/>
              </a:ext>
            </a:extLst>
          </p:cNvPr>
          <p:cNvSpPr>
            <a:spLocks xmlns:a="http://schemas.openxmlformats.org/drawingml/2006/main" noGrp="1"/>
          </p:cNvSpPr>
          <p:nvPr/>
        </p:nvSpPr>
        <p:spPr>
          <a:xfrm xmlns:a="http://schemas.openxmlformats.org/drawingml/2006/main">
            <a:off x="2790825" y="3724275"/>
            <a:ext cx="8639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1F497D"/>
                </a:solidFill>
                <a:latin typeface="Arial"/>
                <a:ea typeface="Arial"/>
                <a:cs typeface="Arial"/>
              </a:defRPr>
            </a:pPr>
            <a:r>
              <a:rPr sz="1425" b="0">
                <a:solidFill>
                  <a:srgbClr val="1F497D"/>
                </a:solidFill>
                <a:latin typeface="Arial"/>
                <a:ea typeface="Arial"/>
                <a:cs typeface="Arial"/>
                <a:hlinkClick xmlns:r="http://schemas.openxmlformats.org/officeDocument/2006/relationships" r:id="R67abed4953be471a"/>
              </a:rPr>
              <a:t>Official API documentation</a:t>
            </a:r>
          </a:p>
        </p:txBody>
      </p:sp>
      <p:sp>
        <p:nvSpPr>
          <p:cNvPr id="17422" name="">
            <a:extLst xmlns:a="http://schemas.openxmlformats.org/drawingml/2006/main">
              <a:ext uri="{FF2B5EF4-FFF2-40B4-BE49-F238E27FC236}">
                <a16:creationId xmlns:a16="http://schemas.microsoft.com/office/drawing/2014/main" id="{9DB6A338-1DE8-4CA9-98CD-B5B56D4AFD8C}"/>
              </a:ext>
            </a:extLst>
          </p:cNvPr>
          <p:cNvSpPr>
            <a:spLocks xmlns:a="http://schemas.openxmlformats.org/drawingml/2006/main" noGrp="1"/>
          </p:cNvSpPr>
          <p:nvPr/>
        </p:nvSpPr>
        <p:spPr>
          <a:xfrm xmlns:a="http://schemas.openxmlformats.org/drawingml/2006/main">
            <a:off x="619125" y="3981450"/>
            <a:ext cx="20669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1">
                <a:solidFill>
                  <a:srgbClr val="1F497D"/>
                </a:solidFill>
                <a:latin typeface="Arial"/>
                <a:ea typeface="Arial"/>
                <a:cs typeface="Arial"/>
              </a:defRPr>
            </a:pPr>
            <a:r>
              <a:rPr sz="1725" b="1">
                <a:solidFill>
                  <a:srgbClr val="1F497D"/>
                </a:solidFill>
                <a:latin typeface="Arial"/>
                <a:ea typeface="Arial"/>
                <a:cs typeface="Arial"/>
              </a:rPr>
              <a:t>Attribution sources</a:t>
            </a:r>
          </a:p>
        </p:txBody>
      </p:sp>
      <p:sp>
        <p:nvSpPr>
          <p:cNvPr id="17423" name="">
            <a:extLst xmlns:a="http://schemas.openxmlformats.org/drawingml/2006/main">
              <a:ext uri="{FF2B5EF4-FFF2-40B4-BE49-F238E27FC236}">
                <a16:creationId xmlns:a16="http://schemas.microsoft.com/office/drawing/2014/main" id="{00F8ED17-BAA1-48B2-AD86-33DEF7D8A517}"/>
              </a:ext>
            </a:extLst>
          </p:cNvPr>
          <p:cNvSpPr>
            <a:spLocks xmlns:a="http://schemas.openxmlformats.org/drawingml/2006/main" noGrp="1"/>
          </p:cNvSpPr>
          <p:nvPr/>
        </p:nvSpPr>
        <p:spPr>
          <a:xfrm xmlns:a="http://schemas.openxmlformats.org/drawingml/2006/main">
            <a:off x="2790825" y="3981450"/>
            <a:ext cx="86391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11111"/>
                </a:solidFill>
                <a:latin typeface="Arial"/>
                <a:ea typeface="Arial"/>
                <a:cs typeface="Arial"/>
              </a:defRPr>
            </a:pPr>
            <a:r>
              <a:rPr sz="1575" b="0">
                <a:solidFill>
                  <a:srgbClr val="111111"/>
                </a:solidFill>
                <a:latin typeface="Arial"/>
                <a:ea typeface="Arial"/>
                <a:cs typeface="Arial"/>
              </a:rPr>
              <a:t>Binance, Our Commitment to Transparency (2022): published wallet disclosures.</a:t>
            </a:r>
          </a:p>
        </p:txBody>
      </p:sp>
      <p:sp>
        <p:nvSpPr>
          <p:cNvPr id="17424" name="">
            <a:extLst xmlns:a="http://schemas.openxmlformats.org/drawingml/2006/main">
              <a:ext uri="{FF2B5EF4-FFF2-40B4-BE49-F238E27FC236}">
                <a16:creationId xmlns:a16="http://schemas.microsoft.com/office/drawing/2014/main" id="{8E33491D-BB28-484C-BC5A-16616880D185}"/>
              </a:ext>
            </a:extLst>
          </p:cNvPr>
          <p:cNvSpPr>
            <a:spLocks xmlns:a="http://schemas.openxmlformats.org/drawingml/2006/main" noGrp="1"/>
          </p:cNvSpPr>
          <p:nvPr/>
        </p:nvSpPr>
        <p:spPr>
          <a:xfrm xmlns:a="http://schemas.openxmlformats.org/drawingml/2006/main">
            <a:off x="2790825" y="4448175"/>
            <a:ext cx="8639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1F497D"/>
                </a:solidFill>
                <a:latin typeface="Arial"/>
                <a:ea typeface="Arial"/>
                <a:cs typeface="Arial"/>
              </a:defRPr>
            </a:pPr>
            <a:r>
              <a:rPr sz="1425" b="0">
                <a:solidFill>
                  <a:srgbClr val="1F497D"/>
                </a:solidFill>
                <a:latin typeface="Arial"/>
                <a:ea typeface="Arial"/>
                <a:cs typeface="Arial"/>
                <a:hlinkClick xmlns:r="http://schemas.openxmlformats.org/officeDocument/2006/relationships" r:id="Racd57a6677264a37"/>
              </a:rPr>
              <a:t>Historical disclosure; not a deposit-account registry</a:t>
            </a:r>
          </a:p>
        </p:txBody>
      </p:sp>
      <p:sp>
        <p:nvSpPr>
          <p:cNvPr id="17425" name="">
            <a:extLst xmlns:a="http://schemas.openxmlformats.org/drawingml/2006/main">
              <a:ext uri="{FF2B5EF4-FFF2-40B4-BE49-F238E27FC236}">
                <a16:creationId xmlns:a16="http://schemas.microsoft.com/office/drawing/2014/main" id="{82F9BFE0-F570-446F-AC99-18CABEB7F9C2}"/>
              </a:ext>
            </a:extLst>
          </p:cNvPr>
          <p:cNvSpPr>
            <a:spLocks xmlns:a="http://schemas.openxmlformats.org/drawingml/2006/main" noGrp="1"/>
          </p:cNvSpPr>
          <p:nvPr/>
        </p:nvSpPr>
        <p:spPr>
          <a:xfrm xmlns:a="http://schemas.openxmlformats.org/drawingml/2006/main">
            <a:off x="619125" y="4705350"/>
            <a:ext cx="20669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1">
                <a:solidFill>
                  <a:srgbClr val="1F497D"/>
                </a:solidFill>
                <a:latin typeface="Arial"/>
                <a:ea typeface="Arial"/>
                <a:cs typeface="Arial"/>
              </a:defRPr>
            </a:pPr>
            <a:r>
              <a:rPr sz="1725" b="1">
                <a:solidFill>
                  <a:srgbClr val="1F497D"/>
                </a:solidFill>
                <a:latin typeface="Arial"/>
                <a:ea typeface="Arial"/>
                <a:cs typeface="Arial"/>
              </a:rPr>
              <a:t>AML context</a:t>
            </a:r>
          </a:p>
        </p:txBody>
      </p:sp>
      <p:sp>
        <p:nvSpPr>
          <p:cNvPr id="17426" name="">
            <a:extLst xmlns:a="http://schemas.openxmlformats.org/drawingml/2006/main">
              <a:ext uri="{FF2B5EF4-FFF2-40B4-BE49-F238E27FC236}">
                <a16:creationId xmlns:a16="http://schemas.microsoft.com/office/drawing/2014/main" id="{EDC7CB4C-84FD-4B2C-897B-402332A3A728}"/>
              </a:ext>
            </a:extLst>
          </p:cNvPr>
          <p:cNvSpPr>
            <a:spLocks xmlns:a="http://schemas.openxmlformats.org/drawingml/2006/main" noGrp="1"/>
          </p:cNvSpPr>
          <p:nvPr/>
        </p:nvSpPr>
        <p:spPr>
          <a:xfrm xmlns:a="http://schemas.openxmlformats.org/drawingml/2006/main">
            <a:off x="2790825" y="4705350"/>
            <a:ext cx="86391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11111"/>
                </a:solidFill>
                <a:latin typeface="Arial"/>
                <a:ea typeface="Arial"/>
                <a:cs typeface="Arial"/>
              </a:defRPr>
            </a:pPr>
            <a:r>
              <a:rPr sz="1575" b="0">
                <a:solidFill>
                  <a:srgbClr val="111111"/>
                </a:solidFill>
                <a:latin typeface="Arial"/>
                <a:ea typeface="Arial"/>
                <a:cs typeface="Arial"/>
              </a:rPr>
              <a:t>FATF (2021), Updated Guidance for a Risk-Based Approach to Virtual Assets and VASPs.</a:t>
            </a:r>
          </a:p>
        </p:txBody>
      </p:sp>
      <p:sp>
        <p:nvSpPr>
          <p:cNvPr id="17427" name="">
            <a:extLst xmlns:a="http://schemas.openxmlformats.org/drawingml/2006/main">
              <a:ext uri="{FF2B5EF4-FFF2-40B4-BE49-F238E27FC236}">
                <a16:creationId xmlns:a16="http://schemas.microsoft.com/office/drawing/2014/main" id="{D36A5F6F-E57C-467F-A58A-60A98521809B}"/>
              </a:ext>
            </a:extLst>
          </p:cNvPr>
          <p:cNvSpPr>
            <a:spLocks xmlns:a="http://schemas.openxmlformats.org/drawingml/2006/main" noGrp="1"/>
          </p:cNvSpPr>
          <p:nvPr/>
        </p:nvSpPr>
        <p:spPr>
          <a:xfrm xmlns:a="http://schemas.openxmlformats.org/drawingml/2006/main">
            <a:off x="2790825" y="5172075"/>
            <a:ext cx="8639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1F497D"/>
                </a:solidFill>
                <a:latin typeface="Arial"/>
                <a:ea typeface="Arial"/>
                <a:cs typeface="Arial"/>
              </a:defRPr>
            </a:pPr>
            <a:r>
              <a:rPr sz="1425" b="0">
                <a:solidFill>
                  <a:srgbClr val="1F497D"/>
                </a:solidFill>
                <a:latin typeface="Arial"/>
                <a:ea typeface="Arial"/>
                <a:cs typeface="Arial"/>
                <a:hlinkClick xmlns:r="http://schemas.openxmlformats.org/officeDocument/2006/relationships" r:id="R5280ece13fd24c08"/>
              </a:rPr>
              <a:t>FATF guidance</a:t>
            </a:r>
          </a:p>
        </p:txBody>
      </p:sp>
      <p:sp>
        <p:nvSpPr>
          <p:cNvPr id="17428" name="">
            <a:extLst xmlns:a="http://schemas.openxmlformats.org/drawingml/2006/main">
              <a:ext uri="{FF2B5EF4-FFF2-40B4-BE49-F238E27FC236}">
                <a16:creationId xmlns:a16="http://schemas.microsoft.com/office/drawing/2014/main" id="{F1C3514B-3DE4-48D7-9552-4EEE1CA7998C}"/>
              </a:ext>
            </a:extLst>
          </p:cNvPr>
          <p:cNvSpPr>
            <a:spLocks xmlns:a="http://schemas.openxmlformats.org/drawingml/2006/main" noGrp="1"/>
          </p:cNvSpPr>
          <p:nvPr/>
        </p:nvSpPr>
        <p:spPr>
          <a:xfrm xmlns:a="http://schemas.openxmlformats.org/drawingml/2006/main">
            <a:off x="619125" y="5429250"/>
            <a:ext cx="20669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1">
                <a:solidFill>
                  <a:srgbClr val="1F497D"/>
                </a:solidFill>
                <a:latin typeface="Arial"/>
                <a:ea typeface="Arial"/>
                <a:cs typeface="Arial"/>
              </a:defRPr>
            </a:pPr>
            <a:r>
              <a:rPr sz="1725" b="1">
                <a:solidFill>
                  <a:srgbClr val="1F497D"/>
                </a:solidFill>
                <a:latin typeface="Arial"/>
                <a:ea typeface="Arial"/>
                <a:cs typeface="Arial"/>
              </a:rPr>
              <a:t>Evidence handling</a:t>
            </a:r>
          </a:p>
        </p:txBody>
      </p:sp>
      <p:sp>
        <p:nvSpPr>
          <p:cNvPr id="17429" name="">
            <a:extLst xmlns:a="http://schemas.openxmlformats.org/drawingml/2006/main">
              <a:ext uri="{FF2B5EF4-FFF2-40B4-BE49-F238E27FC236}">
                <a16:creationId xmlns:a16="http://schemas.microsoft.com/office/drawing/2014/main" id="{E50F7CA0-3F8E-46FB-9164-361E1CC05131}"/>
              </a:ext>
            </a:extLst>
          </p:cNvPr>
          <p:cNvSpPr>
            <a:spLocks xmlns:a="http://schemas.openxmlformats.org/drawingml/2006/main" noGrp="1"/>
          </p:cNvSpPr>
          <p:nvPr/>
        </p:nvSpPr>
        <p:spPr>
          <a:xfrm xmlns:a="http://schemas.openxmlformats.org/drawingml/2006/main">
            <a:off x="2790825" y="5429250"/>
            <a:ext cx="86391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11111"/>
                </a:solidFill>
                <a:latin typeface="Arial"/>
                <a:ea typeface="Arial"/>
                <a:cs typeface="Arial"/>
              </a:defRPr>
            </a:pPr>
            <a:r>
              <a:rPr sz="1575" b="0">
                <a:solidFill>
                  <a:srgbClr val="111111"/>
                </a:solidFill>
                <a:latin typeface="Arial"/>
                <a:ea typeface="Arial"/>
                <a:cs typeface="Arial"/>
              </a:rPr>
              <a:t>NIST SP 800-86 (2006), Guide to Integrating Forensic Techniques into Incident Response.</a:t>
            </a:r>
          </a:p>
        </p:txBody>
      </p:sp>
      <p:sp>
        <p:nvSpPr>
          <p:cNvPr id="17430" name="">
            <a:extLst xmlns:a="http://schemas.openxmlformats.org/drawingml/2006/main">
              <a:ext uri="{FF2B5EF4-FFF2-40B4-BE49-F238E27FC236}">
                <a16:creationId xmlns:a16="http://schemas.microsoft.com/office/drawing/2014/main" id="{B341EE8F-5A85-44FA-8F4B-06F51C242F49}"/>
              </a:ext>
            </a:extLst>
          </p:cNvPr>
          <p:cNvSpPr>
            <a:spLocks xmlns:a="http://schemas.openxmlformats.org/drawingml/2006/main" noGrp="1"/>
          </p:cNvSpPr>
          <p:nvPr/>
        </p:nvSpPr>
        <p:spPr>
          <a:xfrm xmlns:a="http://schemas.openxmlformats.org/drawingml/2006/main">
            <a:off x="2790825" y="5895975"/>
            <a:ext cx="8639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1F497D"/>
                </a:solidFill>
                <a:latin typeface="Arial"/>
                <a:ea typeface="Arial"/>
                <a:cs typeface="Arial"/>
              </a:defRPr>
            </a:pPr>
            <a:r>
              <a:rPr sz="1425" b="0">
                <a:solidFill>
                  <a:srgbClr val="1F497D"/>
                </a:solidFill>
                <a:latin typeface="Arial"/>
                <a:ea typeface="Arial"/>
                <a:cs typeface="Arial"/>
                <a:hlinkClick xmlns:r="http://schemas.openxmlformats.org/officeDocument/2006/relationships" r:id="R23bcc8a085844937"/>
              </a:rPr>
              <a:t>NIST guidance; not a guarantee of legal admissibility</a:t>
            </a:r>
          </a:p>
        </p:txBody>
      </p:sp>
      <p:pic>
        <p:nvPicPr>
          <p:cNvPr id="17456" name=""/>
          <p:cNvPicPr>
            <a:picLocks xmlns:a="http://schemas.openxmlformats.org/drawingml/2006/main" noChangeAspect="1"/>
          </p:cNvPicPr>
          <p:nvPr/>
        </p:nvPicPr>
        <p:blipFill>
          <a:blip xmlns:r="http://schemas.openxmlformats.org/officeDocument/2006/relationships" xmlns:a="http://schemas.openxmlformats.org/drawingml/2006/main" r:embed="R427efde0cb2541c5"/>
          <a:stretch xmlns:a="http://schemas.openxmlformats.org/drawingml/2006/main"/>
        </p:blipFill>
        <p:spPr>
          <a:xfrm xmlns:a="http://schemas.openxmlformats.org/drawingml/2006/main">
            <a:off x="9780080" y="1528"/>
            <a:ext cx="2249805" cy="1062316"/>
          </a:xfrm>
          <a:prstGeom xmlns:a="http://schemas.openxmlformats.org/drawingml/2006/main" prst="rect">
            <a:avLst/>
          </a:prstGeom>
        </p:spPr>
      </p:pic>
    </p:spTree>
    <p:extLst>
      <p:ext uri="{BB962C8B-B14F-4D97-AF65-F5344CB8AC3E}">
        <p14:creationId xmlns:p14="http://schemas.microsoft.com/office/powerpoint/2010/main" val="3916788613"/>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2026-09-22T14:52:34.6320000Z</dcterms:created>
  <dcterms:modified xsi:type="dcterms:W3CDTF">2026-09-22T14:52:34.6320000Z</dcterms:modified>
</coreProperties>
</file>