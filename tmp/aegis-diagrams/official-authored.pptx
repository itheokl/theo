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622a948cdc4463" /><Relationship Type="http://schemas.openxmlformats.org/officeDocument/2006/relationships/extended-properties" Target="/docProps/app.xml" Id="Rf392e6aa235a4fdd" /><Relationship Type="http://schemas.openxmlformats.org/officeDocument/2006/relationships/officeDocument" Target="/ppt/presentation.xml" Id="R11728de29e9544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c067c8e1304c0c"/>
  </p:sldMasterIdLst>
  <p:notesMasterIdLst>
    <p:notesMasterId xmlns:r="http://schemas.openxmlformats.org/officeDocument/2006/relationships" r:id="R4e1fde56987b47a5"/>
  </p:notesMasterIdLst>
  <p:sldIdLst>
    <p:sldId xmlns:r="http://schemas.openxmlformats.org/officeDocument/2006/relationships" id="256" r:id="R378b7b80f3f84482"/>
    <p:sldId xmlns:r="http://schemas.openxmlformats.org/officeDocument/2006/relationships" id="257" r:id="Re8e42da50ae9450b"/>
    <p:sldId xmlns:r="http://schemas.openxmlformats.org/officeDocument/2006/relationships" id="258" r:id="Rb49d0f81d9554f44"/>
    <p:sldId xmlns:r="http://schemas.openxmlformats.org/officeDocument/2006/relationships" id="259" r:id="R0491f9b9d73c4c72"/>
    <p:sldId xmlns:r="http://schemas.openxmlformats.org/officeDocument/2006/relationships" id="260" r:id="R874c37b8de1e4b41"/>
    <p:sldId xmlns:r="http://schemas.openxmlformats.org/officeDocument/2006/relationships" id="261" r:id="Rf5c28b78da274790"/>
    <p:sldId xmlns:r="http://schemas.openxmlformats.org/officeDocument/2006/relationships" id="262" r:id="Rc4e81e067e0d49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abd5e614024c0b" /><Relationship Type="http://schemas.openxmlformats.org/officeDocument/2006/relationships/slideMaster" Target="/ppt/slideMasters/slideMaster1.xml" Id="Rf7c067c8e1304c0c" /><Relationship Type="http://schemas.openxmlformats.org/officeDocument/2006/relationships/notesMaster" Target="/ppt/notesMasters/notesMaster1.xml" Id="R4e1fde56987b47a5" /><Relationship Type="http://schemas.openxmlformats.org/officeDocument/2006/relationships/presProps" Target="/ppt/presProps.xml" Id="R5adf2bb0a8764568" /><Relationship Type="http://schemas.openxmlformats.org/officeDocument/2006/relationships/viewProps" Target="/ppt/viewProps.xml" Id="Rc9aa03aca0704249" /><Relationship Type="http://schemas.openxmlformats.org/officeDocument/2006/relationships/tableStyles" Target="/ppt/tableStyles.xml" Id="R189d16c4351b4e2a" /><Relationship Type="http://schemas.openxmlformats.org/officeDocument/2006/relationships/slide" Target="/ppt/slides/slide1.xml" Id="R378b7b80f3f84482" /><Relationship Type="http://schemas.openxmlformats.org/officeDocument/2006/relationships/slide" Target="/ppt/slides/slide2.xml" Id="Re8e42da50ae9450b" /><Relationship Type="http://schemas.openxmlformats.org/officeDocument/2006/relationships/slide" Target="/ppt/slides/slide3.xml" Id="Rb49d0f81d9554f44" /><Relationship Type="http://schemas.openxmlformats.org/officeDocument/2006/relationships/slide" Target="/ppt/slides/slide4.xml" Id="R0491f9b9d73c4c72" /><Relationship Type="http://schemas.openxmlformats.org/officeDocument/2006/relationships/slide" Target="/ppt/slides/slide5.xml" Id="R874c37b8de1e4b41" /><Relationship Type="http://schemas.openxmlformats.org/officeDocument/2006/relationships/slide" Target="/ppt/slides/slide6.xml" Id="Rf5c28b78da274790" /><Relationship Type="http://schemas.openxmlformats.org/officeDocument/2006/relationships/slide" Target="/ppt/slides/slide7.xml" Id="Rc4e81e067e0d49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73951c4d2942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55a9ac42524a5b" /><Relationship Type="http://schemas.openxmlformats.org/officeDocument/2006/relationships/notesMaster" Target="/ppt/notesMasters/notesMaster1.xml" Id="Recd86daf5ffe48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35bfdde1ac4419" /><Relationship Type="http://schemas.openxmlformats.org/officeDocument/2006/relationships/notesMaster" Target="/ppt/notesMasters/notesMaster1.xml" Id="R2d34616535ae40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a07ce074624b8d" /><Relationship Type="http://schemas.openxmlformats.org/officeDocument/2006/relationships/notesMaster" Target="/ppt/notesMasters/notesMaster1.xml" Id="R3792cc4c2b1044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60bbd4e9b64a63" /><Relationship Type="http://schemas.openxmlformats.org/officeDocument/2006/relationships/notesMaster" Target="/ppt/notesMasters/notesMaster1.xml" Id="R5718d999ef0d4b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66b3218b984d90" /><Relationship Type="http://schemas.openxmlformats.org/officeDocument/2006/relationships/notesMaster" Target="/ppt/notesMasters/notesMaster1.xml" Id="Rc1888295c50e40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c08bd0a1bb40fa" /><Relationship Type="http://schemas.openxmlformats.org/officeDocument/2006/relationships/notesMaster" Target="/ppt/notesMasters/notesMaster1.xml" Id="Rc0f5af7b7b5940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d4311fec274c9f" /><Relationship Type="http://schemas.openxmlformats.org/officeDocument/2006/relationships/notesMaster" Target="/ppt/notesMasters/notesMaster1.xml" Id="R77be23aa1ff947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3225f473574b7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79fb750a30422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7e4e70d17546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bbe594f006457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120bd07c20479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651553062f441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872494f31b4c3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f4dc8d930c40a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d39f4f3c00431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ddfbecd73f410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045baf04354b5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8A6716A-F088-487A-98B5-6AC2EC1CB02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C002582-6038-4556-A8FA-EA4C300066C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CF6BAD3-DCDE-4F7D-8813-5CCF13BDA1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E28775F-1B12-4E43-A247-E38060A551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CE0D93-B0C7-4BD7-9839-1C4591E44A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E8478B4-7E0B-4CD2-BD73-584C77B048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D378755-D9F8-4A0C-95A2-79C38CFA45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AD2B277-0EC8-442C-9FE6-B2D82E2DAB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4FD4007-5EAA-40A0-9DD2-C2DB041B1C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AEA0CA5-40C7-412E-A66C-FFB8B7D3BB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86B882-A54E-415F-AFF5-FC9D528285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FDC7F04-C8DE-446B-AFD7-DBCCA37735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C206AF4-FD14-4D43-A005-AAE0C662D6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BFCB867-FC27-4333-89F9-C60C3C9C1E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BEE9D5-22AB-43C1-85F6-585D356CF6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15BCEA3-29BB-4DAD-A9B1-D90EAD97C7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75A3C2F-4662-4460-BC23-0E144F1D499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4E989C2-2D96-4AFB-9C3F-281CAB5105B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533C48F-4B4A-42F1-A660-C82F39D15A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11FDB-3FF0-4745-A58C-FC61287ABC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30A2E9-F926-4912-9E17-6838DAF62C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EA2E0A-3DD9-4128-B7E3-3E8B59AFA3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88B801-6820-41C3-8546-B0E0FF6F00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514017-5607-47EA-9657-A1A3FDFB025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1341C7D-681A-44C3-9EAD-EB1271CEFB2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06E2AA9-4CAE-4733-867B-3BEE073FBD2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586D7EA-6BAB-4FA2-86AB-CCF9A56537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6/2/2026</a:t>
            </a:fld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B53E9D8-6279-4CA8-AAC6-78DA39D960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4EBD54C-5838-4501-8FB0-5739FCDD713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C7532F6-433C-469D-8CDB-BBC410AED0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0CC5E6A-6543-4D21-AB53-6707E88A02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6/2/2026</a:t>
            </a:fld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A4053E5-2E28-42D7-92BE-6BA63F4227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5FF4342-9B5B-45EB-8805-DCA15C093C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01371FE-83AE-44D7-A4F2-5AD34A9235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6/2/2026</a:t>
            </a:fld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82B68C-7FF7-4149-BA4C-ADF2487983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20990C-30CE-415A-ACEA-3910715650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F4608A0-D949-4593-AF89-60F9FAB5DA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AAEC144-9F76-473B-A106-926907530EC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BEDD49D-322C-428E-A3E0-0092858DEBA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788D0BD-9DD9-4144-AC59-B0E5FC9C20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641F156-4FB3-40EA-9C33-E1ED6EA707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D9C70F2-1149-4F3B-862E-E4E72FCE4A8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3A77A15-BF45-4192-BFDD-226E2166E8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5004761-EA6A-45F9-A1FA-774435FA209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A16B827-27C3-48B1-A4B7-7F7AA1F90B4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2ECC31-D427-49BA-B043-E2FAFE9FA6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ED05723-5BAE-42A8-BB13-C9866D74D0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121DBD-1C71-48B3-8F41-C8F81A209F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70A3BC3-D3D6-4F06-A8A5-64F5CB60A1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B9722C8-8764-4F4D-ACB9-FFD1B10348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D33DE2F-3319-4890-AA0A-CC79807C925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F97B777-C786-4FEA-8787-5C554F6DBE4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DACBB9B-ACA0-42E0-9BA8-0C66EDD8B0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1B00D17-130A-474E-9246-F244344050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9B4EC07-8481-4E02-9DC6-66A33EDF6C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C2F5B27-3804-4E8A-AF84-DFF9B16D0D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4362726-D02D-4A6C-A568-AE0B3DBD19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B7E03E6-4F41-4E8F-A7DB-32A974D7CA8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63c72c79604e69" /><Relationship Type="http://schemas.openxmlformats.org/officeDocument/2006/relationships/slideLayout" Target="/ppt/slideLayouts/slideLayout1.xml" Id="R267b8b442f3e4cb2" /><Relationship Type="http://schemas.openxmlformats.org/officeDocument/2006/relationships/slideLayout" Target="/ppt/slideLayouts/slideLayout2.xml" Id="Rc00023d0f91e47b2" /><Relationship Type="http://schemas.openxmlformats.org/officeDocument/2006/relationships/slideLayout" Target="/ppt/slideLayouts/slideLayout3.xml" Id="R7e6294480cdf4781" /><Relationship Type="http://schemas.openxmlformats.org/officeDocument/2006/relationships/slideLayout" Target="/ppt/slideLayouts/slideLayout4.xml" Id="R006a0dbebfea48e0" /><Relationship Type="http://schemas.openxmlformats.org/officeDocument/2006/relationships/slideLayout" Target="/ppt/slideLayouts/slideLayout5.xml" Id="R8a773b98138f463f" /><Relationship Type="http://schemas.openxmlformats.org/officeDocument/2006/relationships/slideLayout" Target="/ppt/slideLayouts/slideLayout6.xml" Id="R805da277618a4e92" /><Relationship Type="http://schemas.openxmlformats.org/officeDocument/2006/relationships/slideLayout" Target="/ppt/slideLayouts/slideLayout7.xml" Id="R3f276e7fa8ac4cb0" /><Relationship Type="http://schemas.openxmlformats.org/officeDocument/2006/relationships/slideLayout" Target="/ppt/slideLayouts/slideLayout8.xml" Id="R24f0de80948e4c78" /><Relationship Type="http://schemas.openxmlformats.org/officeDocument/2006/relationships/slideLayout" Target="/ppt/slideLayouts/slideLayout9.xml" Id="R7685970aae6c4ee8" /><Relationship Type="http://schemas.openxmlformats.org/officeDocument/2006/relationships/slideLayout" Target="/ppt/slideLayouts/slideLayout10.xml" Id="R3d639944e7bf49ba" /><Relationship Type="http://schemas.openxmlformats.org/officeDocument/2006/relationships/slideLayout" Target="/ppt/slideLayouts/slideLayout11.xml" Id="R0820234aee504ad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5EDC287-BF8B-4890-A3FD-FA62C89751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449BBFD-0F75-447F-8487-A612DDAE08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75F4F3-479C-4B30-BA6B-1C767FF5B6C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C2D0FFD-E1DA-4811-A84A-74F5DBAAE14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BD2786E-8D0F-44A4-B66A-C0D6F8CB2A6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7b8b442f3e4cb2"/>
    <p:sldLayoutId xmlns:r="http://schemas.openxmlformats.org/officeDocument/2006/relationships" id="2147483650" r:id="Rc00023d0f91e47b2"/>
    <p:sldLayoutId xmlns:r="http://schemas.openxmlformats.org/officeDocument/2006/relationships" id="2147483651" r:id="R7e6294480cdf4781"/>
    <p:sldLayoutId xmlns:r="http://schemas.openxmlformats.org/officeDocument/2006/relationships" id="2147483652" r:id="R006a0dbebfea48e0"/>
    <p:sldLayoutId xmlns:r="http://schemas.openxmlformats.org/officeDocument/2006/relationships" id="2147483653" r:id="R8a773b98138f463f"/>
    <p:sldLayoutId xmlns:r="http://schemas.openxmlformats.org/officeDocument/2006/relationships" id="2147483654" r:id="R805da277618a4e92"/>
    <p:sldLayoutId xmlns:r="http://schemas.openxmlformats.org/officeDocument/2006/relationships" id="2147483655" r:id="R3f276e7fa8ac4cb0"/>
    <p:sldLayoutId xmlns:r="http://schemas.openxmlformats.org/officeDocument/2006/relationships" id="2147483656" r:id="R24f0de80948e4c78"/>
    <p:sldLayoutId xmlns:r="http://schemas.openxmlformats.org/officeDocument/2006/relationships" id="2147483657" r:id="R7685970aae6c4ee8"/>
    <p:sldLayoutId xmlns:r="http://schemas.openxmlformats.org/officeDocument/2006/relationships" id="2147483658" r:id="R3d639944e7bf49ba"/>
    <p:sldLayoutId xmlns:r="http://schemas.openxmlformats.org/officeDocument/2006/relationships" id="2147483659" r:id="R0820234aee504ad2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76f45d45c40b0" /><Relationship Type="http://schemas.openxmlformats.org/officeDocument/2006/relationships/image" Target="/ppt/media/image.png" Id="R58708fa719ac4208" /><Relationship Type="http://schemas.openxmlformats.org/officeDocument/2006/relationships/image" Target="/ppt/media/image2.png" Id="R971c5dce732f46d1" /><Relationship Type="http://schemas.openxmlformats.org/officeDocument/2006/relationships/notesSlide" Target="/ppt/notesSlides/notesSlide1.xml" Id="Rb6c51eb335044e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70b462f53d4469" /><Relationship Type="http://schemas.openxmlformats.org/officeDocument/2006/relationships/image" Target="/ppt/media/image2.png" Id="Rc245ad58340d4761" /><Relationship Type="http://schemas.openxmlformats.org/officeDocument/2006/relationships/notesSlide" Target="/ppt/notesSlides/notesSlide2.xml" Id="Rbb2e0bc2054b48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218665da4e40d4" /><Relationship Type="http://schemas.openxmlformats.org/officeDocument/2006/relationships/image" Target="/ppt/media/image2.png" Id="R8236895aba9c40ec" /><Relationship Type="http://schemas.openxmlformats.org/officeDocument/2006/relationships/notesSlide" Target="/ppt/notesSlides/notesSlide3.xml" Id="R28237b9de26849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734dce10744ecf" /><Relationship Type="http://schemas.openxmlformats.org/officeDocument/2006/relationships/image" Target="/ppt/media/image2.png" Id="R0fce09973d694e6e" /><Relationship Type="http://schemas.openxmlformats.org/officeDocument/2006/relationships/notesSlide" Target="/ppt/notesSlides/notesSlide4.xml" Id="Rbd461fd6741549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efce7ae1774186" /><Relationship Type="http://schemas.openxmlformats.org/officeDocument/2006/relationships/image" Target="/ppt/media/image2.png" Id="Re56f77751c4345b8" /><Relationship Type="http://schemas.openxmlformats.org/officeDocument/2006/relationships/notesSlide" Target="/ppt/notesSlides/notesSlide5.xml" Id="Rd24575f223f34e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ef402ec9ee4d91" /><Relationship Type="http://schemas.openxmlformats.org/officeDocument/2006/relationships/image" Target="/ppt/media/image2.png" Id="Rffca0be097234827" /><Relationship Type="http://schemas.openxmlformats.org/officeDocument/2006/relationships/hyperlink" Target="https://conferences.sigcomm.org/imc/2013/papers/imc182-meiklejohnA.pdf" TargetMode="External" Id="R5cad506f3e8e412b" /><Relationship Type="http://schemas.openxmlformats.org/officeDocument/2006/relationships/hyperlink" Target="https://arxiv.org/abs/1908.02591" TargetMode="External" Id="R6f84b7aa78b24665" /><Relationship Type="http://schemas.openxmlformats.org/officeDocument/2006/relationships/hyperlink" Target="https://github.com/Blockstream/esplora/blob/master/API.md" TargetMode="External" Id="R429ad404bf714a10" /><Relationship Type="http://schemas.openxmlformats.org/officeDocument/2006/relationships/hyperlink" Target="https://www.binance.com/en-IN/blog/community/2895840147147652626" TargetMode="External" Id="Ra50499a7b95d4b8d" /><Relationship Type="http://schemas.openxmlformats.org/officeDocument/2006/relationships/hyperlink" Target="https://www.fatf-gafi.org/en/publications/Fatfrecommendations/Guidance-rba-virtual-assets-2021.html" TargetMode="External" Id="R8917840a971b43d3" /><Relationship Type="http://schemas.openxmlformats.org/officeDocument/2006/relationships/hyperlink" Target="https://csrc.nist.gov/pubs/sp/800/86/final" TargetMode="External" Id="R6f18d94a014d4872" /><Relationship Type="http://schemas.openxmlformats.org/officeDocument/2006/relationships/notesSlide" Target="/ppt/notesSlides/notesSlide6.xml" Id="R49e9cab8d2ff46c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5b44ff005a4ba1" /><Relationship Type="http://schemas.openxmlformats.org/officeDocument/2006/relationships/image" Target="/ppt/media/image2.png" Id="R7e87c553ad644e0f" /><Relationship Type="http://schemas.openxmlformats.org/officeDocument/2006/relationships/notesSlide" Target="/ppt/notesSlides/notesSlide7.xml" Id="Rbf1b10fd424842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6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lumMod val="50000"/>
              <a:lumOff val="5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3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8708fa719ac4208"/>
          <a:srcRect xmlns:a="http://schemas.openxmlformats.org/drawingml/2006/main" l="0" t="0" r="59916" b="0"/>
          <a:stretch xmlns:a="http://schemas.openxmlformats.org/drawingml/2006/main"/>
        </p:blipFill>
        <p:spPr>
          <a:xfrm xmlns:a="http://schemas.openxmlformats.org/drawingml/2006/main">
            <a:off x="6854891" y="1715881"/>
            <a:ext cx="3203509" cy="3426237"/>
          </a:xfrm>
          <a:prstGeom xmlns:a="http://schemas.openxmlformats.org/drawingml/2006/main" prst="rect">
            <a:avLst/>
          </a:prstGeom>
        </p:spPr>
      </p:pic>
      <p:sp>
        <p:nvSpPr>
          <p:cNvPr id="4" name="Subtitle 3">
            <a:extLst xmlns:a="http://schemas.openxmlformats.org/drawingml/2006/main">
              <a:ext uri="{FF2B5EF4-FFF2-40B4-BE49-F238E27FC236}">
                <a16:creationId xmlns:a16="http://schemas.microsoft.com/office/drawing/2014/main" id="{E2095E90-5694-4901-B98B-64F56ACCE4D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45686" y="648614"/>
            <a:ext cx="85344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rPr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TITLE PAGE</a:t>
            </a:r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E074D69B-4B1E-4615-86AB-EC9E7E96711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31286" y="-526757"/>
            <a:ext cx="10363200" cy="20764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SMART INDIA HACKATHON </a:t>
            </a:r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2026</a:t>
            </a:r>
            <a:endParaRPr sz="4000" b="1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46D484F-3E15-4A12-ADCD-9A47BA09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86" y="2076450"/>
            <a:ext cx="5924550" cy="47030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endParaRPr/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Problem Statement ID –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Problem Statement Title-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Theme-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PS Category- Software/Hardware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Team ID-</a:t>
            </a:r>
          </a:p>
          <a:p xmlns:a="http://schemas.openxmlformats.org/drawingml/2006/main">
            <a:pPr marL="285750" indent="-285750" algn="just">
              <a:lnSpc>
                <a:spcPct val="200000"/>
              </a:lnSpc>
              <a:buFont typeface="Arial"/>
              <a:buChar char="•"/>
            </a:pPr>
            <a:r>
              <a:rPr sz="2400" b="1">
                <a:latin typeface="Arial"/>
                <a:ea typeface="Arial"/>
                <a:cs typeface="Arial"/>
              </a:rPr>
              <a:t>Team Name (Registered on portal)</a:t>
            </a:r>
            <a:endParaRPr sz="2400" b="1">
              <a:latin typeface="Arial"/>
              <a:ea typeface="Arial"/>
              <a:cs typeface="Arial"/>
            </a:endParaRPr>
          </a:p>
        </p:txBody>
      </p:sp>
      <p:pic>
        <p:nvPicPr>
          <p:cNvPr id="4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c5dce732f46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40" name="AEGIS_COVER">
            <a:extLst xmlns:a="http://schemas.openxmlformats.org/drawingml/2006/main">
              <a:ext uri="{FF2B5EF4-FFF2-40B4-BE49-F238E27FC236}">
                <a16:creationId xmlns:a16="http://schemas.microsoft.com/office/drawing/2014/main" id="{6345C3D0-5A4E-48A4-858C-AE0B4E7B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80" y="2676525"/>
            <a:ext cx="5924550" cy="402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91440" tIns="0" rIns="91440" bIns="0">
            <a:noAutofit/>
          </a:bodyPr>
          <a:lstStyle xmlns:a="http://schemas.openxmlformats.org/drawingml/2006/main"/>
          <a:p xmlns:a="http://schemas.openxmlformats.org/drawingml/2006/main">
            <a:pPr marL="285750" indent="-285750">
              <a:lnSpc>
                <a:spcPct val="100000"/>
              </a:lnSpc>
              <a:spcAft>
                <a:spcPts val="600"/>
              </a:spcAft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Problem Statement ID – </a:t>
            </a: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SIH26183</a:t>
            </a:r>
          </a:p>
          <a:p xmlns:a="http://schemas.openxmlformats.org/drawingml/2006/main">
            <a:pPr marL="285750" indent="-285750">
              <a:lnSpc>
                <a:spcPct val="100000"/>
              </a:lnSpc>
              <a:spcAft>
                <a:spcPts val="600"/>
              </a:spcAft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Problem Statement Title-</a:t>
            </a: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
Real-Time Identification of Fraud-Linked Cryptocurrency Exchanges from Victim-Reported Suspect Wallet Addresses through Automated Blockchain Analytics</a:t>
            </a:r>
          </a:p>
          <a:p xmlns:a="http://schemas.openxmlformats.org/drawingml/2006/main">
            <a:pPr marL="285750" indent="-285750">
              <a:lnSpc>
                <a:spcPct val="100000"/>
              </a:lnSpc>
              <a:spcAft>
                <a:spcPts val="600"/>
              </a:spcAft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Theme- </a:t>
            </a: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Blockchain &amp; Cybersecurity</a:t>
            </a:r>
          </a:p>
          <a:p xmlns:a="http://schemas.openxmlformats.org/drawingml/2006/main">
            <a:pPr marL="285750" indent="-285750">
              <a:lnSpc>
                <a:spcPct val="100000"/>
              </a:lnSpc>
              <a:spcAft>
                <a:spcPts val="600"/>
              </a:spcAft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PS Category- </a:t>
            </a: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Software</a:t>
            </a:r>
          </a:p>
          <a:p xmlns:a="http://schemas.openxmlformats.org/drawingml/2006/main">
            <a:pPr marL="285750" indent="-285750">
              <a:lnSpc>
                <a:spcPct val="100000"/>
              </a:lnSpc>
              <a:spcAft>
                <a:spcPts val="600"/>
              </a:spcAft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Team ID- </a:t>
            </a: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156766</a:t>
            </a:r>
          </a:p>
          <a:p xmlns:a="http://schemas.openxmlformats.org/drawingml/2006/main">
            <a:pPr marL="285750" indent="-285750">
              <a:lnSpc>
                <a:spcPct val="100000"/>
              </a:lnSpc>
              <a:spcAft>
                <a:spcPts val="600"/>
              </a:spcAft>
              <a:buNone/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Team Name (Registered on portal)</a:t>
            </a: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
COLD COFFEE</a:t>
            </a:r>
          </a:p>
        </p:txBody>
      </p:sp>
    </p:spTree>
    <p:extLst>
      <p:ext uri="{BB962C8B-B14F-4D97-AF65-F5344CB8AC3E}">
        <p14:creationId xmlns:p14="http://schemas.microsoft.com/office/powerpoint/2010/main" val="12689959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98053B1-D3C9-418B-90EA-EAE1ECA9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1A702B4F-9D15-4B6B-9182-467A75A612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98" y="0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/>
            </a:r>
            <a:br/>
            <a:r>
              <a:rPr sz="3600" b="1">
                <a:latin typeface="Times New Roman"/>
                <a:ea typeface="Times New Roman"/>
                <a:cs typeface="Times New Roman"/>
              </a:rPr>
              <a:t>IDEA TITLE</a:t>
            </a:r>
          </a:p>
        </p:txBody>
      </p:sp>
      <p:sp>
        <p:nvSpPr>
          <p:cNvPr id="15362" name="TextBox 8">
            <a:extLst xmlns:a="http://schemas.openxmlformats.org/drawingml/2006/main">
              <a:ext uri="{FF2B5EF4-FFF2-40B4-BE49-F238E27FC236}">
                <a16:creationId xmlns:a16="http://schemas.microsoft.com/office/drawing/2014/main" id="{1FF2D2C0-0CA3-4A48-A0CF-13600887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2064921"/>
            <a:ext cx="12191999" cy="2492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v"/>
            </a:pPr>
            <a:r>
              <a:rPr sz="3200" b="1" u="sng">
                <a:solidFill>
                  <a:schemeClr val="tx2"/>
                </a:solidFill>
                <a:latin typeface="Arial"/>
                <a:ea typeface="Arial"/>
                <a:cs typeface="Arial"/>
              </a:rPr>
              <a:t>Proposed Solution (Describe your Idea/Solution/Prototype)</a:t>
            </a:r>
            <a:endParaRPr sz="3200" u="sng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indent="-342900">
              <a:buFont typeface="Arial"/>
              <a:buChar char="•"/>
            </a:pPr>
            <a:endParaRPr sz="2000" u="sng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indent="-342900">
              <a:buFont typeface="Arial"/>
              <a:buChar char="•"/>
            </a:pPr>
            <a:endParaRPr sz="2000" u="sng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Detailed explanation of the proposed solution</a:t>
            </a:r>
          </a:p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 How it addresses the problem</a:t>
            </a:r>
          </a:p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Innovation and uniqueness of the solution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C88241-37CA-4176-B0BF-9D188C7FFD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02C18AC1-613C-4725-9815-BAE70329A4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Your Team Name</a:t>
            </a:r>
            <a:endParaRPr/>
          </a:p>
        </p:txBody>
      </p:sp>
      <p:pic>
        <p:nvPicPr>
          <p:cNvPr id="15393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45ad58340d47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5364" name="AEGIS_PROMPT_0">
            <a:extLst xmlns:a="http://schemas.openxmlformats.org/drawingml/2006/main">
              <a:ext uri="{FF2B5EF4-FFF2-40B4-BE49-F238E27FC236}">
                <a16:creationId xmlns:a16="http://schemas.microsoft.com/office/drawing/2014/main" id="{91A44068-4B2F-4AE2-A331-7FAE768F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9225"/>
            <a:ext cx="12001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Proposed Solution (Describe your Idea/Solution/Prototype)</a:t>
            </a:r>
          </a:p>
        </p:txBody>
      </p:sp>
      <p:sp>
        <p:nvSpPr>
          <p:cNvPr id="15365" name="AEGIS_PROMPT_1">
            <a:extLst xmlns:a="http://schemas.openxmlformats.org/drawingml/2006/main">
              <a:ext uri="{FF2B5EF4-FFF2-40B4-BE49-F238E27FC236}">
                <a16:creationId xmlns:a16="http://schemas.microsoft.com/office/drawing/2014/main" id="{0473E29B-1D2D-4BDB-8021-B919F75C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24075"/>
            <a:ext cx="1190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Detailed explanation of the proposed solution</a:t>
            </a:r>
          </a:p>
        </p:txBody>
      </p:sp>
      <p:sp>
        <p:nvSpPr>
          <p:cNvPr id="15366" name="AEGIS_NODE_1">
            <a:extLst xmlns:a="http://schemas.openxmlformats.org/drawingml/2006/main">
              <a:ext uri="{FF2B5EF4-FFF2-40B4-BE49-F238E27FC236}">
                <a16:creationId xmlns:a16="http://schemas.microsoft.com/office/drawing/2014/main" id="{8B8B4CCE-E215-49E6-ACAB-BA24007F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9850"/>
            <a:ext cx="2533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497D"/>
            </a:solidFill>
          </a:ln>
        </p:spPr>
        <p:txBody>
          <a:bodyPr xmlns:a="http://schemas.openxmlformats.org/drawingml/2006/main" lIns="85725" tIns="66675" rIns="85725" bIns="66675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367" name="AEGIS_2">
            <a:extLst xmlns:a="http://schemas.openxmlformats.org/drawingml/2006/main">
              <a:ext uri="{FF2B5EF4-FFF2-40B4-BE49-F238E27FC236}">
                <a16:creationId xmlns:a16="http://schemas.microsoft.com/office/drawing/2014/main" id="{6A3BEC0C-6C2B-47B5-AFDC-00BDBE12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2419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Reported wallet</a:t>
            </a:r>
          </a:p>
        </p:txBody>
      </p:sp>
      <p:sp>
        <p:nvSpPr>
          <p:cNvPr id="15368" name="AEGIS_3">
            <a:extLst xmlns:a="http://schemas.openxmlformats.org/drawingml/2006/main">
              <a:ext uri="{FF2B5EF4-FFF2-40B4-BE49-F238E27FC236}">
                <a16:creationId xmlns:a16="http://schemas.microsoft.com/office/drawing/2014/main" id="{EB821492-42FE-49AD-A49B-B989F8E6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24175"/>
            <a:ext cx="2419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Complaint and</a:t>
            </a:r>
          </a:p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case context</a:t>
            </a:r>
          </a:p>
        </p:txBody>
      </p:sp>
      <p:sp>
        <p:nvSpPr>
          <p:cNvPr id="15369" name="AEGIS_NODE_4">
            <a:extLst xmlns:a="http://schemas.openxmlformats.org/drawingml/2006/main">
              <a:ext uri="{FF2B5EF4-FFF2-40B4-BE49-F238E27FC236}">
                <a16:creationId xmlns:a16="http://schemas.microsoft.com/office/drawing/2014/main" id="{D652C9F2-BCD4-4D90-94D5-FD1B265F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09850"/>
            <a:ext cx="2533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497D"/>
            </a:solidFill>
          </a:ln>
        </p:spPr>
        <p:txBody>
          <a:bodyPr xmlns:a="http://schemas.openxmlformats.org/drawingml/2006/main" lIns="85725" tIns="66675" rIns="85725" bIns="66675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370" name="AEGIS_5">
            <a:extLst xmlns:a="http://schemas.openxmlformats.org/drawingml/2006/main">
              <a:ext uri="{FF2B5EF4-FFF2-40B4-BE49-F238E27FC236}">
                <a16:creationId xmlns:a16="http://schemas.microsoft.com/office/drawing/2014/main" id="{96DD2036-D357-46FA-8FBC-7BECF442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86050"/>
            <a:ext cx="2419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Intermediary hops</a:t>
            </a:r>
          </a:p>
        </p:txBody>
      </p:sp>
      <p:sp>
        <p:nvSpPr>
          <p:cNvPr id="15371" name="AEGIS_6">
            <a:extLst xmlns:a="http://schemas.openxmlformats.org/drawingml/2006/main">
              <a:ext uri="{FF2B5EF4-FFF2-40B4-BE49-F238E27FC236}">
                <a16:creationId xmlns:a16="http://schemas.microsoft.com/office/drawing/2014/main" id="{CEB94F73-463E-4342-93C8-31CD75DA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924175"/>
            <a:ext cx="2419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Trace outgoing</a:t>
            </a:r>
          </a:p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fund movement</a:t>
            </a:r>
          </a:p>
        </p:txBody>
      </p:sp>
      <p:sp>
        <p:nvSpPr>
          <p:cNvPr id="15372" name="AEGIS_NODE_7">
            <a:extLst xmlns:a="http://schemas.openxmlformats.org/drawingml/2006/main">
              <a:ext uri="{FF2B5EF4-FFF2-40B4-BE49-F238E27FC236}">
                <a16:creationId xmlns:a16="http://schemas.microsoft.com/office/drawing/2014/main" id="{C05D99AF-8792-445B-99BF-86B91955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09850"/>
            <a:ext cx="2533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497D"/>
            </a:solidFill>
          </a:ln>
        </p:spPr>
        <p:txBody>
          <a:bodyPr xmlns:a="http://schemas.openxmlformats.org/drawingml/2006/main" lIns="85725" tIns="66675" rIns="85725" bIns="66675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373" name="AEGIS_8">
            <a:extLst xmlns:a="http://schemas.openxmlformats.org/drawingml/2006/main">
              <a:ext uri="{FF2B5EF4-FFF2-40B4-BE49-F238E27FC236}">
                <a16:creationId xmlns:a16="http://schemas.microsoft.com/office/drawing/2014/main" id="{45A6C89C-9F08-490F-AD86-16E4B716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86050"/>
            <a:ext cx="2419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Receiving VASP</a:t>
            </a:r>
          </a:p>
        </p:txBody>
      </p:sp>
      <p:sp>
        <p:nvSpPr>
          <p:cNvPr id="15374" name="AEGIS_9">
            <a:extLst xmlns:a="http://schemas.openxmlformats.org/drawingml/2006/main">
              <a:ext uri="{FF2B5EF4-FFF2-40B4-BE49-F238E27FC236}">
                <a16:creationId xmlns:a16="http://schemas.microsoft.com/office/drawing/2014/main" id="{DB43C926-23DF-4A01-8CA3-B8F617A5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24175"/>
            <a:ext cx="2419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First supported</a:t>
            </a:r>
          </a:p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candidate per path</a:t>
            </a:r>
          </a:p>
        </p:txBody>
      </p:sp>
      <p:sp>
        <p:nvSpPr>
          <p:cNvPr id="15375" name="AEGIS_NODE_10">
            <a:extLst xmlns:a="http://schemas.openxmlformats.org/drawingml/2006/main">
              <a:ext uri="{FF2B5EF4-FFF2-40B4-BE49-F238E27FC236}">
                <a16:creationId xmlns:a16="http://schemas.microsoft.com/office/drawing/2014/main" id="{3458619A-72C4-4284-A2AC-17318B52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09850"/>
            <a:ext cx="2533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497D"/>
            </a:solidFill>
          </a:ln>
        </p:spPr>
        <p:txBody>
          <a:bodyPr xmlns:a="http://schemas.openxmlformats.org/drawingml/2006/main" lIns="85725" tIns="66675" rIns="85725" bIns="66675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376" name="AEGIS_11">
            <a:extLst xmlns:a="http://schemas.openxmlformats.org/drawingml/2006/main">
              <a:ext uri="{FF2B5EF4-FFF2-40B4-BE49-F238E27FC236}">
                <a16:creationId xmlns:a16="http://schemas.microsoft.com/office/drawing/2014/main" id="{82771712-AFE1-4B48-841E-7D5D0CC1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86050"/>
            <a:ext cx="2419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Investigator lead</a:t>
            </a:r>
          </a:p>
        </p:txBody>
      </p:sp>
      <p:sp>
        <p:nvSpPr>
          <p:cNvPr id="15377" name="AEGIS_12">
            <a:extLst xmlns:a="http://schemas.openxmlformats.org/drawingml/2006/main">
              <a:ext uri="{FF2B5EF4-FFF2-40B4-BE49-F238E27FC236}">
                <a16:creationId xmlns:a16="http://schemas.microsoft.com/office/drawing/2014/main" id="{733BD002-ADE0-4908-A5FE-5A0C6543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24175"/>
            <a:ext cx="2419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Fund trail, sources</a:t>
            </a:r>
          </a:p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next action</a:t>
            </a:r>
          </a:p>
        </p:txBody>
      </p:sp>
      <p:cxnSp>
        <p:nvCxnSpPr>
          <p:cNvPr id="15408" name="AEGIS_LINK_13"/>
          <p:cNvCxnSpPr>
            <a:stCxn xmlns:a="http://schemas.openxmlformats.org/drawingml/2006/main" id="15366" idx="3"/>
            <a:endCxn xmlns:a="http://schemas.openxmlformats.org/drawingml/2006/main" id="15369" idx="1"/>
          </p:cNvCxnSpPr>
          <p:nvPr/>
        </p:nvCxnSpPr>
        <p:spPr>
          <a:xfrm xmlns:a="http://schemas.openxmlformats.org/drawingml/2006/main">
            <a:off x="2990850" y="30003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F497D"/>
            </a:solidFill>
            <a:prstDash val="solid"/>
            <a:tailEnd type="triangle" w="med" len="med"/>
          </a:ln>
        </p:spPr>
      </p:cxnSp>
      <p:cxnSp>
        <p:nvCxnSpPr>
          <p:cNvPr id="15409" name="AEGIS_LINK_14"/>
          <p:cNvCxnSpPr>
            <a:stCxn xmlns:a="http://schemas.openxmlformats.org/drawingml/2006/main" id="15369" idx="3"/>
            <a:endCxn xmlns:a="http://schemas.openxmlformats.org/drawingml/2006/main" id="15372" idx="1"/>
          </p:cNvCxnSpPr>
          <p:nvPr/>
        </p:nvCxnSpPr>
        <p:spPr>
          <a:xfrm xmlns:a="http://schemas.openxmlformats.org/drawingml/2006/main">
            <a:off x="5848350" y="30003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F497D"/>
            </a:solidFill>
            <a:prstDash val="solid"/>
            <a:tailEnd type="triangle" w="med" len="med"/>
          </a:ln>
        </p:spPr>
      </p:cxnSp>
      <p:cxnSp>
        <p:nvCxnSpPr>
          <p:cNvPr id="15410" name="AEGIS_LINK_15"/>
          <p:cNvCxnSpPr>
            <a:stCxn xmlns:a="http://schemas.openxmlformats.org/drawingml/2006/main" id="15372" idx="3"/>
            <a:endCxn xmlns:a="http://schemas.openxmlformats.org/drawingml/2006/main" id="15375" idx="1"/>
          </p:cNvCxnSpPr>
          <p:nvPr/>
        </p:nvCxnSpPr>
        <p:spPr>
          <a:xfrm xmlns:a="http://schemas.openxmlformats.org/drawingml/2006/main">
            <a:off x="8705850" y="30003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F497D"/>
            </a:solidFill>
            <a:prstDash val="solid"/>
            <a:tailEnd type="triangle" w="med" len="med"/>
          </a:ln>
        </p:spPr>
      </p:cxnSp>
      <p:sp>
        <p:nvSpPr>
          <p:cNvPr id="15381" name="AEGIS_PROMPT_2">
            <a:extLst xmlns:a="http://schemas.openxmlformats.org/drawingml/2006/main">
              <a:ext uri="{FF2B5EF4-FFF2-40B4-BE49-F238E27FC236}">
                <a16:creationId xmlns:a16="http://schemas.microsoft.com/office/drawing/2014/main" id="{33D60411-773D-4DB1-91A8-609C2511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57575"/>
            <a:ext cx="1190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it addresses the problem</a:t>
            </a:r>
          </a:p>
        </p:txBody>
      </p:sp>
      <p:sp>
        <p:nvSpPr>
          <p:cNvPr id="15382" name="AEGIS_16">
            <a:extLst xmlns:a="http://schemas.openxmlformats.org/drawingml/2006/main">
              <a:ext uri="{FF2B5EF4-FFF2-40B4-BE49-F238E27FC236}">
                <a16:creationId xmlns:a16="http://schemas.microsoft.com/office/drawing/2014/main" id="{C96C0F2C-7D0A-45A9-942D-5F6BCEAC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14775"/>
            <a:ext cx="11144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Manual block-explorer tracing requires investigators to follow transactions individually, check destination labels and revisit addresses for new activity. AEGIS will automate these steps and prioritize receiving-VASP candidates for investigator review.</a:t>
            </a:r>
          </a:p>
        </p:txBody>
      </p:sp>
      <p:sp>
        <p:nvSpPr>
          <p:cNvPr id="15383" name="AEGIS_17">
            <a:extLst xmlns:a="http://schemas.openxmlformats.org/drawingml/2006/main">
              <a:ext uri="{FF2B5EF4-FFF2-40B4-BE49-F238E27FC236}">
                <a16:creationId xmlns:a16="http://schemas.microsoft.com/office/drawing/2014/main" id="{67E420AA-9AF0-4EA9-880D-20BCC63C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8650"/>
            <a:ext cx="11144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 lead will include the transaction path, attribution source, uncertainty and recommended next action, supporting faster preservation requests and VASP coordination.</a:t>
            </a:r>
          </a:p>
        </p:txBody>
      </p:sp>
      <p:sp>
        <p:nvSpPr>
          <p:cNvPr id="15384" name="AEGIS_PROMPT_3">
            <a:extLst xmlns:a="http://schemas.openxmlformats.org/drawingml/2006/main">
              <a:ext uri="{FF2B5EF4-FFF2-40B4-BE49-F238E27FC236}">
                <a16:creationId xmlns:a16="http://schemas.microsoft.com/office/drawing/2014/main" id="{DE64C9AF-39B6-4641-AE9E-770CF1A5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86325"/>
            <a:ext cx="1190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Innovation and uniqueness of the solution</a:t>
            </a:r>
          </a:p>
        </p:txBody>
      </p:sp>
      <p:sp>
        <p:nvSpPr>
          <p:cNvPr id="15385" name="AEGIS_18">
            <a:extLst xmlns:a="http://schemas.openxmlformats.org/drawingml/2006/main">
              <a:ext uri="{FF2B5EF4-FFF2-40B4-BE49-F238E27FC236}">
                <a16:creationId xmlns:a16="http://schemas.microsoft.com/office/drawing/2014/main" id="{A56D3250-C236-4F5F-8E4D-F857DD86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43525"/>
            <a:ext cx="1114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Continuous monitoring paired with explainable attribution: new transactions or revised wallet labels will update the investigation and trigger relevant alerts.</a:t>
            </a:r>
          </a:p>
        </p:txBody>
      </p:sp>
      <p:sp>
        <p:nvSpPr>
          <p:cNvPr id="15386" name="AEGIS_19">
            <a:extLst xmlns:a="http://schemas.openxmlformats.org/drawingml/2006/main">
              <a:ext uri="{FF2B5EF4-FFF2-40B4-BE49-F238E27FC236}">
                <a16:creationId xmlns:a16="http://schemas.microsoft.com/office/drawing/2014/main" id="{98A1B602-616E-469C-8D14-56EB3EAB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Every VASP lead will show why it was identified, which links are observed or inferred, and where tracing remains unresolved. Versioned findings will preserve the basis of earlier conclusions.</a:t>
            </a:r>
          </a:p>
        </p:txBody>
      </p:sp>
    </p:spTree>
    <p:extLst>
      <p:ext uri="{BB962C8B-B14F-4D97-AF65-F5344CB8AC3E}">
        <p14:creationId xmlns:p14="http://schemas.microsoft.com/office/powerpoint/2010/main" val="88139166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B8C31E2C-0CB7-4AF2-9B6C-CAF5D21AEC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3C32E11B-AE32-4261-91F4-784154A8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1815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Technologies to be used (e.g. programming languages, frameworks, hardware)</a:t>
            </a:r>
          </a:p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DD41768-297A-48C7-BE1F-6258F0A8D4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22A4DAA9-3EAE-4DAD-B345-255C1423D8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Your Team Name</a:t>
            </a:r>
            <a:endParaRPr/>
          </a:p>
        </p:txBody>
      </p:sp>
      <p:pic>
        <p:nvPicPr>
          <p:cNvPr id="17445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36895aba9c40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AEGIS_PROMPT_0">
            <a:extLst xmlns:a="http://schemas.openxmlformats.org/drawingml/2006/main">
              <a:ext uri="{FF2B5EF4-FFF2-40B4-BE49-F238E27FC236}">
                <a16:creationId xmlns:a16="http://schemas.microsoft.com/office/drawing/2014/main" id="{48C054ED-B36A-4557-9DC6-267E4D86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38275"/>
            <a:ext cx="108299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Technologies to be used (e.g. programming languages, frameworks, hardware)</a:t>
            </a:r>
          </a:p>
        </p:txBody>
      </p:sp>
      <p:sp>
        <p:nvSpPr>
          <p:cNvPr id="17413" name="AEGIS_20">
            <a:extLst xmlns:a="http://schemas.openxmlformats.org/drawingml/2006/main">
              <a:ext uri="{FF2B5EF4-FFF2-40B4-BE49-F238E27FC236}">
                <a16:creationId xmlns:a16="http://schemas.microsoft.com/office/drawing/2014/main" id="{6C690D40-DF14-4E4B-8819-A04CDEF7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1038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React investigator dashboard; FastAPI services; queued tracing and monitoring workers; chain-specific data adapters; incremental transaction indexing; persistent case storage; and a versioned VASP-label registry.</a:t>
            </a:r>
          </a:p>
        </p:txBody>
      </p:sp>
      <p:sp>
        <p:nvSpPr>
          <p:cNvPr id="17414" name="AEGIS_PROMPT_1">
            <a:extLst xmlns:a="http://schemas.openxmlformats.org/drawingml/2006/main">
              <a:ext uri="{FF2B5EF4-FFF2-40B4-BE49-F238E27FC236}">
                <a16:creationId xmlns:a16="http://schemas.microsoft.com/office/drawing/2014/main" id="{C49D2F2F-5999-47CE-A710-1B9FB7B8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108299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Methodology and process for implementation (Flow Charts/Images/ working prototype)</a:t>
            </a:r>
          </a:p>
        </p:txBody>
      </p:sp>
      <p:sp>
        <p:nvSpPr>
          <p:cNvPr id="17415" name="AEGIS_21">
            <a:extLst xmlns:a="http://schemas.openxmlformats.org/drawingml/2006/main">
              <a:ext uri="{FF2B5EF4-FFF2-40B4-BE49-F238E27FC236}">
                <a16:creationId xmlns:a16="http://schemas.microsoft.com/office/drawing/2014/main" id="{8220E3F3-51BE-45C3-92ED-A5FF99C3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Implementation Pipeline</a:t>
            </a:r>
          </a:p>
        </p:txBody>
      </p:sp>
      <p:sp>
        <p:nvSpPr>
          <p:cNvPr id="17416" name="AEGIS_NODE_22">
            <a:extLst xmlns:a="http://schemas.openxmlformats.org/drawingml/2006/main">
              <a:ext uri="{FF2B5EF4-FFF2-40B4-BE49-F238E27FC236}">
                <a16:creationId xmlns:a16="http://schemas.microsoft.com/office/drawing/2014/main" id="{31601F1F-9A77-45F5-883C-20231315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05275"/>
            <a:ext cx="23241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497D"/>
            </a:solidFill>
          </a:ln>
        </p:spPr>
        <p:txBody>
          <a:bodyPr xmlns:a="http://schemas.openxmlformats.org/drawingml/2006/main" lIns="85725" tIns="66675" rIns="85725" bIns="66675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417" name="AEGIS_23">
            <a:extLst xmlns:a="http://schemas.openxmlformats.org/drawingml/2006/main">
              <a:ext uri="{FF2B5EF4-FFF2-40B4-BE49-F238E27FC236}">
                <a16:creationId xmlns:a16="http://schemas.microsoft.com/office/drawing/2014/main" id="{4243843C-51E2-4AFC-9CE5-0ECF4C37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81475"/>
            <a:ext cx="2209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Chain adapters</a:t>
            </a:r>
          </a:p>
        </p:txBody>
      </p:sp>
      <p:sp>
        <p:nvSpPr>
          <p:cNvPr id="17418" name="AEGIS_24">
            <a:extLst xmlns:a="http://schemas.openxmlformats.org/drawingml/2006/main">
              <a:ext uri="{FF2B5EF4-FFF2-40B4-BE49-F238E27FC236}">
                <a16:creationId xmlns:a16="http://schemas.microsoft.com/office/drawing/2014/main" id="{2929ED79-EC2E-4565-B337-EE00A6C3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19600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Bitcoin, EVM/TRON</a:t>
            </a:r>
          </a:p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Supported bridges</a:t>
            </a:r>
          </a:p>
        </p:txBody>
      </p:sp>
      <p:sp>
        <p:nvSpPr>
          <p:cNvPr id="17419" name="AEGIS_NODE_25">
            <a:extLst xmlns:a="http://schemas.openxmlformats.org/drawingml/2006/main">
              <a:ext uri="{FF2B5EF4-FFF2-40B4-BE49-F238E27FC236}">
                <a16:creationId xmlns:a16="http://schemas.microsoft.com/office/drawing/2014/main" id="{DEBA0F7F-AD36-4A43-96B9-4D79EE72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105275"/>
            <a:ext cx="23241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497D"/>
            </a:solidFill>
          </a:ln>
        </p:spPr>
        <p:txBody>
          <a:bodyPr xmlns:a="http://schemas.openxmlformats.org/drawingml/2006/main" lIns="85725" tIns="66675" rIns="85725" bIns="66675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420" name="AEGIS_26">
            <a:extLst xmlns:a="http://schemas.openxmlformats.org/drawingml/2006/main">
              <a:ext uri="{FF2B5EF4-FFF2-40B4-BE49-F238E27FC236}">
                <a16:creationId xmlns:a16="http://schemas.microsoft.com/office/drawing/2014/main" id="{E39F12B4-9F65-4D08-90C1-0123DB4F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181475"/>
            <a:ext cx="2209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Tracing engine</a:t>
            </a:r>
          </a:p>
        </p:txBody>
      </p:sp>
      <p:sp>
        <p:nvSpPr>
          <p:cNvPr id="17421" name="AEGIS_27">
            <a:extLst xmlns:a="http://schemas.openxmlformats.org/drawingml/2006/main">
              <a:ext uri="{FF2B5EF4-FFF2-40B4-BE49-F238E27FC236}">
                <a16:creationId xmlns:a16="http://schemas.microsoft.com/office/drawing/2014/main" id="{0C2942B8-DB44-4B90-A3BC-90973C9A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419600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Spend links and</a:t>
            </a:r>
          </a:p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transfer events</a:t>
            </a:r>
          </a:p>
        </p:txBody>
      </p:sp>
      <p:sp>
        <p:nvSpPr>
          <p:cNvPr id="17422" name="AEGIS_NODE_28">
            <a:extLst xmlns:a="http://schemas.openxmlformats.org/drawingml/2006/main">
              <a:ext uri="{FF2B5EF4-FFF2-40B4-BE49-F238E27FC236}">
                <a16:creationId xmlns:a16="http://schemas.microsoft.com/office/drawing/2014/main" id="{F1A1071A-0D36-4D71-89AE-F926B05E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05275"/>
            <a:ext cx="23241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497D"/>
            </a:solidFill>
          </a:ln>
        </p:spPr>
        <p:txBody>
          <a:bodyPr xmlns:a="http://schemas.openxmlformats.org/drawingml/2006/main" lIns="85725" tIns="66675" rIns="85725" bIns="66675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423" name="AEGIS_29">
            <a:extLst xmlns:a="http://schemas.openxmlformats.org/drawingml/2006/main">
              <a:ext uri="{FF2B5EF4-FFF2-40B4-BE49-F238E27FC236}">
                <a16:creationId xmlns:a16="http://schemas.microsoft.com/office/drawing/2014/main" id="{8FCF06A6-E7AD-41C2-ACA9-79F45500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81475"/>
            <a:ext cx="2209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VASP matching</a:t>
            </a:r>
          </a:p>
        </p:txBody>
      </p:sp>
      <p:sp>
        <p:nvSpPr>
          <p:cNvPr id="17424" name="AEGIS_30">
            <a:extLst xmlns:a="http://schemas.openxmlformats.org/drawingml/2006/main">
              <a:ext uri="{FF2B5EF4-FFF2-40B4-BE49-F238E27FC236}">
                <a16:creationId xmlns:a16="http://schemas.microsoft.com/office/drawing/2014/main" id="{2B7CFDC0-C4B7-4988-9302-4A174301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19600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Sourced labels and</a:t>
            </a:r>
          </a:p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cautious clustering</a:t>
            </a:r>
          </a:p>
        </p:txBody>
      </p:sp>
      <p:sp>
        <p:nvSpPr>
          <p:cNvPr id="17425" name="AEGIS_NODE_31">
            <a:extLst xmlns:a="http://schemas.openxmlformats.org/drawingml/2006/main">
              <a:ext uri="{FF2B5EF4-FFF2-40B4-BE49-F238E27FC236}">
                <a16:creationId xmlns:a16="http://schemas.microsoft.com/office/drawing/2014/main" id="{005FD59A-6AF7-48FE-90B8-B3293459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105275"/>
            <a:ext cx="23241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497D"/>
            </a:solidFill>
          </a:ln>
        </p:spPr>
        <p:txBody>
          <a:bodyPr xmlns:a="http://schemas.openxmlformats.org/drawingml/2006/main" lIns="85725" tIns="66675" rIns="85725" bIns="66675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426" name="AEGIS_32">
            <a:extLst xmlns:a="http://schemas.openxmlformats.org/drawingml/2006/main">
              <a:ext uri="{FF2B5EF4-FFF2-40B4-BE49-F238E27FC236}">
                <a16:creationId xmlns:a16="http://schemas.microsoft.com/office/drawing/2014/main" id="{E37BEB4A-0DFE-4E48-8A6A-43EBE421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181475"/>
            <a:ext cx="2209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Case workspace</a:t>
            </a:r>
          </a:p>
        </p:txBody>
      </p:sp>
      <p:sp>
        <p:nvSpPr>
          <p:cNvPr id="17427" name="AEGIS_33">
            <a:extLst xmlns:a="http://schemas.openxmlformats.org/drawingml/2006/main">
              <a:ext uri="{FF2B5EF4-FFF2-40B4-BE49-F238E27FC236}">
                <a16:creationId xmlns:a16="http://schemas.microsoft.com/office/drawing/2014/main" id="{F258D200-B0AB-43EE-A6BA-8F555803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4419600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Review candidates</a:t>
            </a:r>
          </a:p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Monitor and report</a:t>
            </a:r>
          </a:p>
        </p:txBody>
      </p:sp>
      <p:cxnSp>
        <p:nvCxnSpPr>
          <p:cNvPr id="17462" name="AEGIS_LINK_34"/>
          <p:cNvCxnSpPr>
            <a:stCxn xmlns:a="http://schemas.openxmlformats.org/drawingml/2006/main" id="17416" idx="3"/>
            <a:endCxn xmlns:a="http://schemas.openxmlformats.org/drawingml/2006/main" id="17419" idx="1"/>
          </p:cNvCxnSpPr>
          <p:nvPr/>
        </p:nvCxnSpPr>
        <p:spPr>
          <a:xfrm xmlns:a="http://schemas.openxmlformats.org/drawingml/2006/main">
            <a:off x="3371850" y="4519613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F497D"/>
            </a:solidFill>
            <a:prstDash val="solid"/>
            <a:tailEnd type="triangle" w="med" len="med"/>
          </a:ln>
        </p:spPr>
      </p:cxnSp>
      <p:cxnSp>
        <p:nvCxnSpPr>
          <p:cNvPr id="17463" name="AEGIS_LINK_35"/>
          <p:cNvCxnSpPr>
            <a:stCxn xmlns:a="http://schemas.openxmlformats.org/drawingml/2006/main" id="17419" idx="3"/>
            <a:endCxn xmlns:a="http://schemas.openxmlformats.org/drawingml/2006/main" id="17422" idx="1"/>
          </p:cNvCxnSpPr>
          <p:nvPr/>
        </p:nvCxnSpPr>
        <p:spPr>
          <a:xfrm xmlns:a="http://schemas.openxmlformats.org/drawingml/2006/main">
            <a:off x="6048375" y="4519613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F497D"/>
            </a:solidFill>
            <a:prstDash val="solid"/>
            <a:tailEnd type="triangle" w="med" len="med"/>
          </a:ln>
        </p:spPr>
      </p:cxnSp>
      <p:cxnSp>
        <p:nvCxnSpPr>
          <p:cNvPr id="17464" name="AEGIS_LINK_36"/>
          <p:cNvCxnSpPr>
            <a:stCxn xmlns:a="http://schemas.openxmlformats.org/drawingml/2006/main" id="17422" idx="3"/>
            <a:endCxn xmlns:a="http://schemas.openxmlformats.org/drawingml/2006/main" id="17425" idx="1"/>
          </p:cNvCxnSpPr>
          <p:nvPr/>
        </p:nvCxnSpPr>
        <p:spPr>
          <a:xfrm xmlns:a="http://schemas.openxmlformats.org/drawingml/2006/main">
            <a:off x="8724900" y="4519613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F497D"/>
            </a:solidFill>
            <a:prstDash val="solid"/>
            <a:tailEnd type="triangle" w="med" len="med"/>
          </a:ln>
        </p:spPr>
      </p:cxnSp>
      <p:sp>
        <p:nvSpPr>
          <p:cNvPr id="17431" name="AEGIS_37">
            <a:extLst xmlns:a="http://schemas.openxmlformats.org/drawingml/2006/main">
              <a:ext uri="{FF2B5EF4-FFF2-40B4-BE49-F238E27FC236}">
                <a16:creationId xmlns:a16="http://schemas.microsoft.com/office/drawing/2014/main" id="{9170F412-5482-48E9-8D7A-13284CC9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81600"/>
            <a:ext cx="24098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Time-consistent paths</a:t>
            </a:r>
          </a:p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Explicit gaps at mixing</a:t>
            </a:r>
          </a:p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or unsupported bridges</a:t>
            </a:r>
          </a:p>
        </p:txBody>
      </p:sp>
      <p:sp>
        <p:nvSpPr>
          <p:cNvPr id="17432" name="AEGIS_38">
            <a:extLst xmlns:a="http://schemas.openxmlformats.org/drawingml/2006/main">
              <a:ext uri="{FF2B5EF4-FFF2-40B4-BE49-F238E27FC236}">
                <a16:creationId xmlns:a16="http://schemas.microsoft.com/office/drawing/2014/main" id="{1218E2D5-6193-404B-B3B5-04F5984B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5181600"/>
            <a:ext cx="24098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Explainable rules and</a:t>
            </a:r>
          </a:p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evaluated ML will flag</a:t>
            </a:r>
          </a:p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suspect flow patterns</a:t>
            </a:r>
          </a:p>
        </p:txBody>
      </p:sp>
      <p:sp>
        <p:nvSpPr>
          <p:cNvPr id="17433" name="AEGIS_NODE_39">
            <a:extLst xmlns:a="http://schemas.openxmlformats.org/drawingml/2006/main">
              <a:ext uri="{FF2B5EF4-FFF2-40B4-BE49-F238E27FC236}">
                <a16:creationId xmlns:a16="http://schemas.microsoft.com/office/drawing/2014/main" id="{D71E3B7A-F8CF-4555-A4E5-889FA8BD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81600"/>
            <a:ext cx="2324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497D"/>
            </a:solidFill>
          </a:ln>
        </p:spPr>
        <p:txBody>
          <a:bodyPr xmlns:a="http://schemas.openxmlformats.org/drawingml/2006/main" lIns="85725" tIns="66675" rIns="85725" bIns="66675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434" name="AEGIS_40">
            <a:extLst xmlns:a="http://schemas.openxmlformats.org/drawingml/2006/main">
              <a:ext uri="{FF2B5EF4-FFF2-40B4-BE49-F238E27FC236}">
                <a16:creationId xmlns:a16="http://schemas.microsoft.com/office/drawing/2014/main" id="{47B059DD-F97B-4477-B8E0-DEE21F2C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57800"/>
            <a:ext cx="2209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Label registry</a:t>
            </a:r>
          </a:p>
        </p:txBody>
      </p:sp>
      <p:sp>
        <p:nvSpPr>
          <p:cNvPr id="17435" name="AEGIS_41">
            <a:extLst xmlns:a="http://schemas.openxmlformats.org/drawingml/2006/main">
              <a:ext uri="{FF2B5EF4-FFF2-40B4-BE49-F238E27FC236}">
                <a16:creationId xmlns:a16="http://schemas.microsoft.com/office/drawing/2014/main" id="{9444CDAB-436C-4CA0-8870-67D0F1D8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95925"/>
            <a:ext cx="2209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 provenance</a:t>
            </a:r>
          </a:p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Review date</a:t>
            </a:r>
          </a:p>
        </p:txBody>
      </p:sp>
      <p:cxnSp>
        <p:nvCxnSpPr>
          <p:cNvPr id="17470" name="AEGIS_LINK_42"/>
          <p:cNvCxnSpPr>
            <a:stCxn xmlns:a="http://schemas.openxmlformats.org/drawingml/2006/main" id="17433" idx="0"/>
            <a:endCxn xmlns:a="http://schemas.openxmlformats.org/drawingml/2006/main" id="17422" idx="2"/>
          </p:cNvCxnSpPr>
          <p:nvPr/>
        </p:nvCxnSpPr>
        <p:spPr>
          <a:xfrm xmlns:a="http://schemas.openxmlformats.org/drawingml/2006/main" flipV="1">
            <a:off x="7562850" y="493395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F497D"/>
            </a:solidFill>
            <a:prstDash val="solid"/>
            <a:tailEnd type="triangle" w="med" len="med"/>
          </a:ln>
        </p:spPr>
      </p:cxnSp>
      <p:sp>
        <p:nvSpPr>
          <p:cNvPr id="17437" name="AEGIS_43">
            <a:extLst xmlns:a="http://schemas.openxmlformats.org/drawingml/2006/main">
              <a:ext uri="{FF2B5EF4-FFF2-40B4-BE49-F238E27FC236}">
                <a16:creationId xmlns:a16="http://schemas.microsoft.com/office/drawing/2014/main" id="{C19FFB00-EB02-4B44-BDDA-A1454F2D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4098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Role-based access</a:t>
            </a:r>
          </a:p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Audit trail</a:t>
            </a:r>
          </a:p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Approved LEA APIs</a:t>
            </a:r>
          </a:p>
        </p:txBody>
      </p:sp>
      <p:sp>
        <p:nvSpPr>
          <p:cNvPr id="17438" name="AEGIS_44">
            <a:extLst xmlns:a="http://schemas.openxmlformats.org/drawingml/2006/main">
              <a:ext uri="{FF2B5EF4-FFF2-40B4-BE49-F238E27FC236}">
                <a16:creationId xmlns:a16="http://schemas.microsoft.com/office/drawing/2014/main" id="{34541233-7C45-4DB5-B760-5E8D733B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38850"/>
            <a:ext cx="1038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Findings will distinguish observed transactions, inferred links and unresolved attribution.</a:t>
            </a:r>
          </a:p>
        </p:txBody>
      </p:sp>
    </p:spTree>
    <p:extLst>
      <p:ext uri="{BB962C8B-B14F-4D97-AF65-F5344CB8AC3E}">
        <p14:creationId xmlns:p14="http://schemas.microsoft.com/office/powerpoint/2010/main" val="19007854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3ADFD9E2-A047-406D-B3B9-73110CF4AE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BA107D59-7CA0-4B30-A552-B460B522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1384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Analysis of the feasibility of the idea</a:t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Potential challenges and risks</a:t>
            </a: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 b="0" i="0" u="non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Strategies</a:t>
            </a:r>
            <a:r>
              <a:rPr sz="2800" b="0" i="0" u="non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 for overcoming these challenges</a:t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8553C30-E298-457F-9565-9B86B36839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6F20E778-9C51-466C-83D1-8CC3EFA648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Your Team Name</a:t>
            </a:r>
            <a:endParaRPr/>
          </a:p>
        </p:txBody>
      </p:sp>
      <p:pic>
        <p:nvPicPr>
          <p:cNvPr id="1744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ce09973d694e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AEGIS_PROMPT_0">
            <a:extLst xmlns:a="http://schemas.openxmlformats.org/drawingml/2006/main">
              <a:ext uri="{FF2B5EF4-FFF2-40B4-BE49-F238E27FC236}">
                <a16:creationId xmlns:a16="http://schemas.microsoft.com/office/drawing/2014/main" id="{134D876D-773D-4AEC-A1C1-632ABDF8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95425"/>
            <a:ext cx="10829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Analysis of the feasibility of the idea</a:t>
            </a:r>
          </a:p>
        </p:txBody>
      </p:sp>
      <p:sp>
        <p:nvSpPr>
          <p:cNvPr id="17413" name="AEGIS_NODE_45">
            <a:extLst xmlns:a="http://schemas.openxmlformats.org/drawingml/2006/main">
              <a:ext uri="{FF2B5EF4-FFF2-40B4-BE49-F238E27FC236}">
                <a16:creationId xmlns:a16="http://schemas.microsoft.com/office/drawing/2014/main" id="{A1568293-CA93-4501-9E86-2C7FB90A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66925"/>
            <a:ext cx="23241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497D"/>
            </a:solidFill>
          </a:ln>
        </p:spPr>
        <p:txBody>
          <a:bodyPr xmlns:a="http://schemas.openxmlformats.org/drawingml/2006/main" lIns="85725" tIns="66675" rIns="85725" bIns="66675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414" name="AEGIS_46">
            <a:extLst xmlns:a="http://schemas.openxmlformats.org/drawingml/2006/main">
              <a:ext uri="{FF2B5EF4-FFF2-40B4-BE49-F238E27FC236}">
                <a16:creationId xmlns:a16="http://schemas.microsoft.com/office/drawing/2014/main" id="{D1584F4C-A0FE-4523-ACFE-0A0B9E40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43125"/>
            <a:ext cx="2209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1. Validate</a:t>
            </a:r>
          </a:p>
        </p:txBody>
      </p:sp>
      <p:sp>
        <p:nvSpPr>
          <p:cNvPr id="17415" name="AEGIS_47">
            <a:extLst xmlns:a="http://schemas.openxmlformats.org/drawingml/2006/main">
              <a:ext uri="{FF2B5EF4-FFF2-40B4-BE49-F238E27FC236}">
                <a16:creationId xmlns:a16="http://schemas.microsoft.com/office/drawing/2014/main" id="{59E1DC42-A7FC-4649-9F7E-53D5EC93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Bitcoin attribution</a:t>
            </a:r>
          </a:p>
        </p:txBody>
      </p:sp>
      <p:sp>
        <p:nvSpPr>
          <p:cNvPr id="17416" name="AEGIS_NODE_48">
            <a:extLst xmlns:a="http://schemas.openxmlformats.org/drawingml/2006/main">
              <a:ext uri="{FF2B5EF4-FFF2-40B4-BE49-F238E27FC236}">
                <a16:creationId xmlns:a16="http://schemas.microsoft.com/office/drawing/2014/main" id="{86B2DA0F-CD11-48B4-BBC6-DC056684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066925"/>
            <a:ext cx="23241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497D"/>
            </a:solidFill>
          </a:ln>
        </p:spPr>
        <p:txBody>
          <a:bodyPr xmlns:a="http://schemas.openxmlformats.org/drawingml/2006/main" lIns="85725" tIns="66675" rIns="85725" bIns="66675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417" name="AEGIS_49">
            <a:extLst xmlns:a="http://schemas.openxmlformats.org/drawingml/2006/main">
              <a:ext uri="{FF2B5EF4-FFF2-40B4-BE49-F238E27FC236}">
                <a16:creationId xmlns:a16="http://schemas.microsoft.com/office/drawing/2014/main" id="{75FCA558-6DE3-4032-9B52-DE6F2AB8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143125"/>
            <a:ext cx="2209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2. Monitor</a:t>
            </a:r>
          </a:p>
        </p:txBody>
      </p:sp>
      <p:sp>
        <p:nvSpPr>
          <p:cNvPr id="17418" name="AEGIS_50">
            <a:extLst xmlns:a="http://schemas.openxmlformats.org/drawingml/2006/main">
              <a:ext uri="{FF2B5EF4-FFF2-40B4-BE49-F238E27FC236}">
                <a16:creationId xmlns:a16="http://schemas.microsoft.com/office/drawing/2014/main" id="{59552649-EE83-497D-BF93-2490E91F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3812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Movement alerts</a:t>
            </a:r>
          </a:p>
        </p:txBody>
      </p:sp>
      <p:sp>
        <p:nvSpPr>
          <p:cNvPr id="17419" name="AEGIS_NODE_51">
            <a:extLst xmlns:a="http://schemas.openxmlformats.org/drawingml/2006/main">
              <a:ext uri="{FF2B5EF4-FFF2-40B4-BE49-F238E27FC236}">
                <a16:creationId xmlns:a16="http://schemas.microsoft.com/office/drawing/2014/main" id="{3668A6D5-4DED-4121-BA28-F5D15A18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66925"/>
            <a:ext cx="23241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497D"/>
            </a:solidFill>
          </a:ln>
        </p:spPr>
        <p:txBody>
          <a:bodyPr xmlns:a="http://schemas.openxmlformats.org/drawingml/2006/main" lIns="85725" tIns="66675" rIns="85725" bIns="66675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420" name="AEGIS_52">
            <a:extLst xmlns:a="http://schemas.openxmlformats.org/drawingml/2006/main">
              <a:ext uri="{FF2B5EF4-FFF2-40B4-BE49-F238E27FC236}">
                <a16:creationId xmlns:a16="http://schemas.microsoft.com/office/drawing/2014/main" id="{EADB9D1B-94F5-450F-B8F9-A72EAFF5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43125"/>
            <a:ext cx="2209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3. Extend</a:t>
            </a:r>
          </a:p>
        </p:txBody>
      </p:sp>
      <p:sp>
        <p:nvSpPr>
          <p:cNvPr id="17421" name="AEGIS_53">
            <a:extLst xmlns:a="http://schemas.openxmlformats.org/drawingml/2006/main">
              <a:ext uri="{FF2B5EF4-FFF2-40B4-BE49-F238E27FC236}">
                <a16:creationId xmlns:a16="http://schemas.microsoft.com/office/drawing/2014/main" id="{55CC0C86-AF6F-4F42-A821-2DA84FE7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EVM/TRON, bridges</a:t>
            </a:r>
          </a:p>
        </p:txBody>
      </p:sp>
      <p:sp>
        <p:nvSpPr>
          <p:cNvPr id="17422" name="AEGIS_NODE_54">
            <a:extLst xmlns:a="http://schemas.openxmlformats.org/drawingml/2006/main">
              <a:ext uri="{FF2B5EF4-FFF2-40B4-BE49-F238E27FC236}">
                <a16:creationId xmlns:a16="http://schemas.microsoft.com/office/drawing/2014/main" id="{F02012F0-AE54-4DD1-9800-8D516BBB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066925"/>
            <a:ext cx="23241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497D"/>
            </a:solidFill>
          </a:ln>
        </p:spPr>
        <p:txBody>
          <a:bodyPr xmlns:a="http://schemas.openxmlformats.org/drawingml/2006/main" lIns="85725" tIns="66675" rIns="85725" bIns="66675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423" name="AEGIS_55">
            <a:extLst xmlns:a="http://schemas.openxmlformats.org/drawingml/2006/main">
              <a:ext uri="{FF2B5EF4-FFF2-40B4-BE49-F238E27FC236}">
                <a16:creationId xmlns:a16="http://schemas.microsoft.com/office/drawing/2014/main" id="{C09A4DC1-82A0-4A22-B8CA-FF4F37AF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143125"/>
            <a:ext cx="2209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4. Integrate</a:t>
            </a:r>
          </a:p>
        </p:txBody>
      </p:sp>
      <p:sp>
        <p:nvSpPr>
          <p:cNvPr id="17424" name="AEGIS_56">
            <a:extLst xmlns:a="http://schemas.openxmlformats.org/drawingml/2006/main">
              <a:ext uri="{FF2B5EF4-FFF2-40B4-BE49-F238E27FC236}">
                <a16:creationId xmlns:a16="http://schemas.microsoft.com/office/drawing/2014/main" id="{ABA39792-E08C-4722-8841-D3581F9C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3812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Approved LEA access</a:t>
            </a:r>
          </a:p>
        </p:txBody>
      </p:sp>
      <p:cxnSp>
        <p:nvCxnSpPr>
          <p:cNvPr id="17458" name="AEGIS_LINK_57"/>
          <p:cNvCxnSpPr>
            <a:stCxn xmlns:a="http://schemas.openxmlformats.org/drawingml/2006/main" id="17413" idx="3"/>
            <a:endCxn xmlns:a="http://schemas.openxmlformats.org/drawingml/2006/main" id="17416" idx="1"/>
          </p:cNvCxnSpPr>
          <p:nvPr/>
        </p:nvCxnSpPr>
        <p:spPr>
          <a:xfrm xmlns:a="http://schemas.openxmlformats.org/drawingml/2006/main">
            <a:off x="3371850" y="2395538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F497D"/>
            </a:solidFill>
            <a:prstDash val="solid"/>
            <a:tailEnd type="triangle" w="med" len="med"/>
          </a:ln>
        </p:spPr>
      </p:cxnSp>
      <p:cxnSp>
        <p:nvCxnSpPr>
          <p:cNvPr id="17459" name="AEGIS_LINK_58"/>
          <p:cNvCxnSpPr>
            <a:stCxn xmlns:a="http://schemas.openxmlformats.org/drawingml/2006/main" id="17416" idx="3"/>
            <a:endCxn xmlns:a="http://schemas.openxmlformats.org/drawingml/2006/main" id="17419" idx="1"/>
          </p:cNvCxnSpPr>
          <p:nvPr/>
        </p:nvCxnSpPr>
        <p:spPr>
          <a:xfrm xmlns:a="http://schemas.openxmlformats.org/drawingml/2006/main">
            <a:off x="6048375" y="2395538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F497D"/>
            </a:solidFill>
            <a:prstDash val="solid"/>
            <a:tailEnd type="triangle" w="med" len="med"/>
          </a:ln>
        </p:spPr>
      </p:cxnSp>
      <p:cxnSp>
        <p:nvCxnSpPr>
          <p:cNvPr id="17460" name="AEGIS_LINK_59"/>
          <p:cNvCxnSpPr>
            <a:stCxn xmlns:a="http://schemas.openxmlformats.org/drawingml/2006/main" id="17419" idx="3"/>
            <a:endCxn xmlns:a="http://schemas.openxmlformats.org/drawingml/2006/main" id="17422" idx="1"/>
          </p:cNvCxnSpPr>
          <p:nvPr/>
        </p:nvCxnSpPr>
        <p:spPr>
          <a:xfrm xmlns:a="http://schemas.openxmlformats.org/drawingml/2006/main">
            <a:off x="8724900" y="2395538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F497D"/>
            </a:solidFill>
            <a:prstDash val="solid"/>
            <a:tailEnd type="triangle" w="med" len="med"/>
          </a:ln>
        </p:spPr>
      </p:cxnSp>
      <p:sp>
        <p:nvSpPr>
          <p:cNvPr id="17428" name="AEGIS_60">
            <a:extLst xmlns:a="http://schemas.openxmlformats.org/drawingml/2006/main">
              <a:ext uri="{FF2B5EF4-FFF2-40B4-BE49-F238E27FC236}">
                <a16:creationId xmlns:a16="http://schemas.microsoft.com/office/drawing/2014/main" id="{8F3C5A2C-8CA9-4ECC-8E7F-DEB10648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1028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Label supply: reviewed public disclosures and authorized VASP data, with source history.</a:t>
            </a:r>
          </a:p>
        </p:txBody>
      </p:sp>
      <p:sp>
        <p:nvSpPr>
          <p:cNvPr id="17429" name="AEGIS_PROMPT_1">
            <a:extLst xmlns:a="http://schemas.openxmlformats.org/drawingml/2006/main">
              <a:ext uri="{FF2B5EF4-FFF2-40B4-BE49-F238E27FC236}">
                <a16:creationId xmlns:a16="http://schemas.microsoft.com/office/drawing/2014/main" id="{D9F76D69-1E9C-4882-A34A-F6839F68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829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Potential challenges and risks</a:t>
            </a:r>
          </a:p>
        </p:txBody>
      </p:sp>
      <p:sp>
        <p:nvSpPr>
          <p:cNvPr id="17430" name="AEGIS_61">
            <a:extLst xmlns:a="http://schemas.openxmlformats.org/drawingml/2006/main">
              <a:ext uri="{FF2B5EF4-FFF2-40B4-BE49-F238E27FC236}">
                <a16:creationId xmlns:a16="http://schemas.microsoft.com/office/drawing/2014/main" id="{A84D157B-45D4-41A4-BA8A-340156DF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Uncertain labels and flows</a:t>
            </a:r>
          </a:p>
        </p:txBody>
      </p:sp>
      <p:sp>
        <p:nvSpPr>
          <p:cNvPr id="17431" name="AEGIS_62">
            <a:extLst xmlns:a="http://schemas.openxmlformats.org/drawingml/2006/main">
              <a:ext uri="{FF2B5EF4-FFF2-40B4-BE49-F238E27FC236}">
                <a16:creationId xmlns:a16="http://schemas.microsoft.com/office/drawing/2014/main" id="{D4A0FFB5-95A2-4272-A791-D7F88994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672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Provider limits and large histories</a:t>
            </a:r>
          </a:p>
        </p:txBody>
      </p:sp>
      <p:sp>
        <p:nvSpPr>
          <p:cNvPr id="17432" name="AEGIS_63">
            <a:extLst xmlns:a="http://schemas.openxmlformats.org/drawingml/2006/main">
              <a:ext uri="{FF2B5EF4-FFF2-40B4-BE49-F238E27FC236}">
                <a16:creationId xmlns:a16="http://schemas.microsoft.com/office/drawing/2014/main" id="{9CBDCB9B-676F-4C44-9B14-A122A84A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Sensitive cases and restricted access</a:t>
            </a:r>
          </a:p>
        </p:txBody>
      </p:sp>
      <p:sp>
        <p:nvSpPr>
          <p:cNvPr id="17433" name="AEGIS_PROMPT_2">
            <a:extLst xmlns:a="http://schemas.openxmlformats.org/drawingml/2006/main">
              <a:ext uri="{FF2B5EF4-FFF2-40B4-BE49-F238E27FC236}">
                <a16:creationId xmlns:a16="http://schemas.microsoft.com/office/drawing/2014/main" id="{1E00F1BC-DB4F-4356-B310-A982AAB4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43475"/>
            <a:ext cx="10829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Strategies for overcoming these challenges</a:t>
            </a:r>
          </a:p>
        </p:txBody>
      </p:sp>
      <p:sp>
        <p:nvSpPr>
          <p:cNvPr id="17434" name="AEGIS_64">
            <a:extLst xmlns:a="http://schemas.openxmlformats.org/drawingml/2006/main">
              <a:ext uri="{FF2B5EF4-FFF2-40B4-BE49-F238E27FC236}">
                <a16:creationId xmlns:a16="http://schemas.microsoft.com/office/drawing/2014/main" id="{672B32CA-2786-4FFF-88F6-5B75A704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483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Version label sources, review clusters and show unresolved paths.</a:t>
            </a:r>
          </a:p>
        </p:txBody>
      </p:sp>
      <p:sp>
        <p:nvSpPr>
          <p:cNvPr id="17435" name="AEGIS_65">
            <a:extLst xmlns:a="http://schemas.openxmlformats.org/drawingml/2006/main">
              <a:ext uri="{FF2B5EF4-FFF2-40B4-BE49-F238E27FC236}">
                <a16:creationId xmlns:a16="http://schemas.microsoft.com/office/drawing/2014/main" id="{697196E2-D901-40C5-81C7-943EA3A8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6737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Index incrementally, cache queries and bound graph traversal.</a:t>
            </a:r>
          </a:p>
        </p:txBody>
      </p:sp>
      <p:sp>
        <p:nvSpPr>
          <p:cNvPr id="17436" name="AEGIS_66">
            <a:extLst xmlns:a="http://schemas.openxmlformats.org/drawingml/2006/main">
              <a:ext uri="{FF2B5EF4-FFF2-40B4-BE49-F238E27FC236}">
                <a16:creationId xmlns:a16="http://schemas.microsoft.com/office/drawing/2014/main" id="{343188E3-8A79-48AD-A708-470B6F7C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Role-based permissions, audit logs and approved NCRP/SAHYOG APIs.</a:t>
            </a:r>
          </a:p>
        </p:txBody>
      </p:sp>
      <p:sp>
        <p:nvSpPr>
          <p:cNvPr id="17437" name="AEGIS_67">
            <a:extLst xmlns:a="http://schemas.openxmlformats.org/drawingml/2006/main">
              <a:ext uri="{FF2B5EF4-FFF2-40B4-BE49-F238E27FC236}">
                <a16:creationId xmlns:a16="http://schemas.microsoft.com/office/drawing/2014/main" id="{18408703-FFD8-4CEA-9A73-634BA1EB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15050"/>
            <a:ext cx="10287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Validation: held-out labelled paths and hard negatives. Measure precision, coverage and alert latency.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8D253B44-E117-4F04-9199-B9ADACF1A5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2CAC9750-C1C1-4E22-9234-D3FEEDCC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1384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 b="0" i="0" u="non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Potential impact on the target audience</a:t>
            </a: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Benefits of the solution (social, economic, environmental, etc.)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D2E0B30-A693-4C04-8389-EA92639468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884DDF25-08B3-48C0-AC50-C21F8457C7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Your Team Name</a:t>
            </a:r>
            <a:endParaRPr/>
          </a:p>
        </p:txBody>
      </p:sp>
      <p:pic>
        <p:nvPicPr>
          <p:cNvPr id="17451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6f77751c4345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AEGIS_PROMPT_0">
            <a:extLst xmlns:a="http://schemas.openxmlformats.org/drawingml/2006/main">
              <a:ext uri="{FF2B5EF4-FFF2-40B4-BE49-F238E27FC236}">
                <a16:creationId xmlns:a16="http://schemas.microsoft.com/office/drawing/2014/main" id="{1ADC7AB2-8544-44F4-A447-0A52C0A4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85900"/>
            <a:ext cx="10829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Potential impact on the target audience</a:t>
            </a:r>
          </a:p>
        </p:txBody>
      </p:sp>
      <p:sp>
        <p:nvSpPr>
          <p:cNvPr id="17413" name="AEGIS_68">
            <a:extLst xmlns:a="http://schemas.openxmlformats.org/drawingml/2006/main">
              <a:ext uri="{FF2B5EF4-FFF2-40B4-BE49-F238E27FC236}">
                <a16:creationId xmlns:a16="http://schemas.microsoft.com/office/drawing/2014/main" id="{27879B30-DAC0-478D-8DCD-4ED21F2B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1028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Investigators will receive a prioritized receiving-VASP lead with a reviewable fund trail.</a:t>
            </a:r>
          </a:p>
        </p:txBody>
      </p:sp>
      <p:sp>
        <p:nvSpPr>
          <p:cNvPr id="17414" name="AEGIS_69">
            <a:extLst xmlns:a="http://schemas.openxmlformats.org/drawingml/2006/main">
              <a:ext uri="{FF2B5EF4-FFF2-40B4-BE49-F238E27FC236}">
                <a16:creationId xmlns:a16="http://schemas.microsoft.com/office/drawing/2014/main" id="{84AAAC7A-D50E-4238-BF9E-91BEBAD3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Illustrative investigation</a:t>
            </a:r>
          </a:p>
        </p:txBody>
      </p:sp>
      <p:sp>
        <p:nvSpPr>
          <p:cNvPr id="17415" name="AEGIS_NODE_70">
            <a:extLst xmlns:a="http://schemas.openxmlformats.org/drawingml/2006/main">
              <a:ext uri="{FF2B5EF4-FFF2-40B4-BE49-F238E27FC236}">
                <a16:creationId xmlns:a16="http://schemas.microsoft.com/office/drawing/2014/main" id="{C5DA3004-F97A-4385-88AC-4CBEF0C0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2324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497D"/>
            </a:solidFill>
          </a:ln>
        </p:spPr>
        <p:txBody>
          <a:bodyPr xmlns:a="http://schemas.openxmlformats.org/drawingml/2006/main" lIns="85725" tIns="66675" rIns="85725" bIns="66675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416" name="AEGIS_71">
            <a:extLst xmlns:a="http://schemas.openxmlformats.org/drawingml/2006/main">
              <a:ext uri="{FF2B5EF4-FFF2-40B4-BE49-F238E27FC236}">
                <a16:creationId xmlns:a16="http://schemas.microsoft.com/office/drawing/2014/main" id="{E4E4C201-6A0C-413C-9441-C8223B55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00350"/>
            <a:ext cx="2209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Wallet A</a:t>
            </a:r>
          </a:p>
        </p:txBody>
      </p:sp>
      <p:sp>
        <p:nvSpPr>
          <p:cNvPr id="17417" name="AEGIS_72">
            <a:extLst xmlns:a="http://schemas.openxmlformats.org/drawingml/2006/main">
              <a:ext uri="{FF2B5EF4-FFF2-40B4-BE49-F238E27FC236}">
                <a16:creationId xmlns:a16="http://schemas.microsoft.com/office/drawing/2014/main" id="{1E2E7A00-E95A-4B3F-AF4A-DAD844EC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38475"/>
            <a:ext cx="2209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Reported address</a:t>
            </a:r>
          </a:p>
        </p:txBody>
      </p:sp>
      <p:sp>
        <p:nvSpPr>
          <p:cNvPr id="17418" name="AEGIS_NODE_73">
            <a:extLst xmlns:a="http://schemas.openxmlformats.org/drawingml/2006/main">
              <a:ext uri="{FF2B5EF4-FFF2-40B4-BE49-F238E27FC236}">
                <a16:creationId xmlns:a16="http://schemas.microsoft.com/office/drawing/2014/main" id="{43D0CA15-115B-413F-9001-15F5F387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724150"/>
            <a:ext cx="2324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497D"/>
            </a:solidFill>
          </a:ln>
        </p:spPr>
        <p:txBody>
          <a:bodyPr xmlns:a="http://schemas.openxmlformats.org/drawingml/2006/main" lIns="85725" tIns="66675" rIns="85725" bIns="66675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419" name="AEGIS_74">
            <a:extLst xmlns:a="http://schemas.openxmlformats.org/drawingml/2006/main">
              <a:ext uri="{FF2B5EF4-FFF2-40B4-BE49-F238E27FC236}">
                <a16:creationId xmlns:a16="http://schemas.microsoft.com/office/drawing/2014/main" id="{BC9F3646-7397-4AF1-B507-387A8656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800350"/>
            <a:ext cx="2209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Wallet B</a:t>
            </a:r>
          </a:p>
        </p:txBody>
      </p:sp>
      <p:sp>
        <p:nvSpPr>
          <p:cNvPr id="17420" name="AEGIS_75">
            <a:extLst xmlns:a="http://schemas.openxmlformats.org/drawingml/2006/main">
              <a:ext uri="{FF2B5EF4-FFF2-40B4-BE49-F238E27FC236}">
                <a16:creationId xmlns:a16="http://schemas.microsoft.com/office/drawing/2014/main" id="{EFE455AD-AB0C-4D29-8179-261B7649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038475"/>
            <a:ext cx="2209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Intermediary</a:t>
            </a:r>
          </a:p>
        </p:txBody>
      </p:sp>
      <p:sp>
        <p:nvSpPr>
          <p:cNvPr id="17421" name="AEGIS_NODE_76">
            <a:extLst xmlns:a="http://schemas.openxmlformats.org/drawingml/2006/main">
              <a:ext uri="{FF2B5EF4-FFF2-40B4-BE49-F238E27FC236}">
                <a16:creationId xmlns:a16="http://schemas.microsoft.com/office/drawing/2014/main" id="{614744BE-8934-4548-BEB6-61D770A8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24150"/>
            <a:ext cx="2324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497D"/>
            </a:solidFill>
          </a:ln>
        </p:spPr>
        <p:txBody>
          <a:bodyPr xmlns:a="http://schemas.openxmlformats.org/drawingml/2006/main" lIns="85725" tIns="66675" rIns="85725" bIns="66675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422" name="AEGIS_77">
            <a:extLst xmlns:a="http://schemas.openxmlformats.org/drawingml/2006/main">
              <a:ext uri="{FF2B5EF4-FFF2-40B4-BE49-F238E27FC236}">
                <a16:creationId xmlns:a16="http://schemas.microsoft.com/office/drawing/2014/main" id="{EA7A12F6-2B45-4A13-B609-BEBEAB10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00350"/>
            <a:ext cx="2209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Deposit address</a:t>
            </a:r>
          </a:p>
        </p:txBody>
      </p:sp>
      <p:sp>
        <p:nvSpPr>
          <p:cNvPr id="17423" name="AEGIS_78">
            <a:extLst xmlns:a="http://schemas.openxmlformats.org/drawingml/2006/main">
              <a:ext uri="{FF2B5EF4-FFF2-40B4-BE49-F238E27FC236}">
                <a16:creationId xmlns:a16="http://schemas.microsoft.com/office/drawing/2014/main" id="{A2FF6814-4574-4898-B3F8-997B5FE3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38475"/>
            <a:ext cx="2209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Sourced VASP label</a:t>
            </a:r>
          </a:p>
        </p:txBody>
      </p:sp>
      <p:sp>
        <p:nvSpPr>
          <p:cNvPr id="17424" name="AEGIS_NODE_79">
            <a:extLst xmlns:a="http://schemas.openxmlformats.org/drawingml/2006/main">
              <a:ext uri="{FF2B5EF4-FFF2-40B4-BE49-F238E27FC236}">
                <a16:creationId xmlns:a16="http://schemas.microsoft.com/office/drawing/2014/main" id="{1A6A4403-6F63-430B-ADFD-EEA214E4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724150"/>
            <a:ext cx="2324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F497D"/>
            </a:solidFill>
          </a:ln>
        </p:spPr>
        <p:txBody>
          <a:bodyPr xmlns:a="http://schemas.openxmlformats.org/drawingml/2006/main" lIns="85725" tIns="66675" rIns="85725" bIns="66675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425" name="AEGIS_80">
            <a:extLst xmlns:a="http://schemas.openxmlformats.org/drawingml/2006/main">
              <a:ext uri="{FF2B5EF4-FFF2-40B4-BE49-F238E27FC236}">
                <a16:creationId xmlns:a16="http://schemas.microsoft.com/office/drawing/2014/main" id="{D7B44EA1-4F34-4D09-8819-BBFAB10B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800350"/>
            <a:ext cx="2209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VASP X</a:t>
            </a:r>
          </a:p>
        </p:txBody>
      </p:sp>
      <p:sp>
        <p:nvSpPr>
          <p:cNvPr id="17426" name="AEGIS_81">
            <a:extLst xmlns:a="http://schemas.openxmlformats.org/drawingml/2006/main">
              <a:ext uri="{FF2B5EF4-FFF2-40B4-BE49-F238E27FC236}">
                <a16:creationId xmlns:a16="http://schemas.microsoft.com/office/drawing/2014/main" id="{2201D1D1-7B4D-46D4-B782-B84C9626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038475"/>
            <a:ext cx="2209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Receiving candidate</a:t>
            </a:r>
          </a:p>
        </p:txBody>
      </p:sp>
      <p:cxnSp>
        <p:nvCxnSpPr>
          <p:cNvPr id="17467" name="AEGIS_LINK_82"/>
          <p:cNvCxnSpPr>
            <a:stCxn xmlns:a="http://schemas.openxmlformats.org/drawingml/2006/main" id="17415" idx="3"/>
            <a:endCxn xmlns:a="http://schemas.openxmlformats.org/drawingml/2006/main" id="17418" idx="1"/>
          </p:cNvCxnSpPr>
          <p:nvPr/>
        </p:nvCxnSpPr>
        <p:spPr>
          <a:xfrm xmlns:a="http://schemas.openxmlformats.org/drawingml/2006/main">
            <a:off x="3371850" y="3019425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F497D"/>
            </a:solidFill>
            <a:prstDash val="solid"/>
            <a:tailEnd type="triangle" w="med" len="med"/>
          </a:ln>
        </p:spPr>
      </p:cxnSp>
      <p:cxnSp>
        <p:nvCxnSpPr>
          <p:cNvPr id="17468" name="AEGIS_LINK_83"/>
          <p:cNvCxnSpPr>
            <a:stCxn xmlns:a="http://schemas.openxmlformats.org/drawingml/2006/main" id="17418" idx="3"/>
            <a:endCxn xmlns:a="http://schemas.openxmlformats.org/drawingml/2006/main" id="17421" idx="1"/>
          </p:cNvCxnSpPr>
          <p:nvPr/>
        </p:nvCxnSpPr>
        <p:spPr>
          <a:xfrm xmlns:a="http://schemas.openxmlformats.org/drawingml/2006/main">
            <a:off x="6048375" y="3019425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F497D"/>
            </a:solidFill>
            <a:prstDash val="solid"/>
            <a:tailEnd type="triangle" w="med" len="med"/>
          </a:ln>
        </p:spPr>
      </p:cxnSp>
      <p:cxnSp>
        <p:nvCxnSpPr>
          <p:cNvPr id="17469" name="AEGIS_LINK_84"/>
          <p:cNvCxnSpPr>
            <a:stCxn xmlns:a="http://schemas.openxmlformats.org/drawingml/2006/main" id="17421" idx="3"/>
            <a:endCxn xmlns:a="http://schemas.openxmlformats.org/drawingml/2006/main" id="17424" idx="1"/>
          </p:cNvCxnSpPr>
          <p:nvPr/>
        </p:nvCxnSpPr>
        <p:spPr>
          <a:xfrm xmlns:a="http://schemas.openxmlformats.org/drawingml/2006/main">
            <a:off x="8724900" y="3019425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F497D"/>
            </a:solidFill>
            <a:prstDash val="dash"/>
            <a:tailEnd type="triangle" w="med" len="med"/>
          </a:ln>
        </p:spPr>
      </p:cxnSp>
      <p:sp>
        <p:nvSpPr>
          <p:cNvPr id="17430" name="AEGIS_85">
            <a:extLst xmlns:a="http://schemas.openxmlformats.org/drawingml/2006/main">
              <a:ext uri="{FF2B5EF4-FFF2-40B4-BE49-F238E27FC236}">
                <a16:creationId xmlns:a16="http://schemas.microsoft.com/office/drawing/2014/main" id="{8ECFB797-9212-458C-B7CD-AA1E37A6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24125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Transaction 1</a:t>
            </a:r>
          </a:p>
        </p:txBody>
      </p:sp>
      <p:sp>
        <p:nvSpPr>
          <p:cNvPr id="17431" name="AEGIS_86">
            <a:extLst xmlns:a="http://schemas.openxmlformats.org/drawingml/2006/main">
              <a:ext uri="{FF2B5EF4-FFF2-40B4-BE49-F238E27FC236}">
                <a16:creationId xmlns:a16="http://schemas.microsoft.com/office/drawing/2014/main" id="{9AE8C2F1-418E-4AE9-8557-A7CBD61E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24125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Transaction 2</a:t>
            </a:r>
          </a:p>
        </p:txBody>
      </p:sp>
      <p:sp>
        <p:nvSpPr>
          <p:cNvPr id="17432" name="AEGIS_87">
            <a:extLst xmlns:a="http://schemas.openxmlformats.org/drawingml/2006/main">
              <a:ext uri="{FF2B5EF4-FFF2-40B4-BE49-F238E27FC236}">
                <a16:creationId xmlns:a16="http://schemas.microsoft.com/office/drawing/2014/main" id="{F28420F9-B9E8-4BB4-992C-5825329A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524125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Attribution</a:t>
            </a:r>
          </a:p>
        </p:txBody>
      </p:sp>
      <p:sp>
        <p:nvSpPr>
          <p:cNvPr id="17433" name="AEGIS_88">
            <a:extLst xmlns:a="http://schemas.openxmlformats.org/drawingml/2006/main">
              <a:ext uri="{FF2B5EF4-FFF2-40B4-BE49-F238E27FC236}">
                <a16:creationId xmlns:a16="http://schemas.microsoft.com/office/drawing/2014/main" id="{296378F0-7CB7-4DCD-822E-B63C7F4A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Finding</a:t>
            </a:r>
          </a:p>
        </p:txBody>
      </p:sp>
      <p:sp>
        <p:nvSpPr>
          <p:cNvPr id="17434" name="AEGIS_89">
            <a:extLst xmlns:a="http://schemas.openxmlformats.org/drawingml/2006/main">
              <a:ext uri="{FF2B5EF4-FFF2-40B4-BE49-F238E27FC236}">
                <a16:creationId xmlns:a16="http://schemas.microsoft.com/office/drawing/2014/main" id="{160058CD-699D-4308-A369-AA783B8C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409950"/>
            <a:ext cx="919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Two-hop path, transaction IDs, amounts, timestamps and label source.</a:t>
            </a:r>
          </a:p>
        </p:txBody>
      </p:sp>
      <p:sp>
        <p:nvSpPr>
          <p:cNvPr id="17435" name="AEGIS_90">
            <a:extLst xmlns:a="http://schemas.openxmlformats.org/drawingml/2006/main">
              <a:ext uri="{FF2B5EF4-FFF2-40B4-BE49-F238E27FC236}">
                <a16:creationId xmlns:a16="http://schemas.microsoft.com/office/drawing/2014/main" id="{78C23557-3049-43B6-8A82-F63E7655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Next action</a:t>
            </a:r>
          </a:p>
        </p:txBody>
      </p:sp>
      <p:sp>
        <p:nvSpPr>
          <p:cNvPr id="17436" name="AEGIS_91">
            <a:extLst xmlns:a="http://schemas.openxmlformats.org/drawingml/2006/main">
              <a:ext uri="{FF2B5EF4-FFF2-40B4-BE49-F238E27FC236}">
                <a16:creationId xmlns:a16="http://schemas.microsoft.com/office/drawing/2014/main" id="{9CB95F1D-057C-4B63-B90C-4D15DD1A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714750"/>
            <a:ext cx="9191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Investigator reviews the lead and prepares a VASP preservation request.</a:t>
            </a:r>
          </a:p>
        </p:txBody>
      </p:sp>
      <p:sp>
        <p:nvSpPr>
          <p:cNvPr id="17437" name="AEGIS_92">
            <a:extLst xmlns:a="http://schemas.openxmlformats.org/drawingml/2006/main">
              <a:ext uri="{FF2B5EF4-FFF2-40B4-BE49-F238E27FC236}">
                <a16:creationId xmlns:a16="http://schemas.microsoft.com/office/drawing/2014/main" id="{F2082BA7-837E-4EF2-A53C-B5C84E0C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002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Fictional illustration. Transaction paths alone do not prove exact fund continuity or wrongdoing.</a:t>
            </a:r>
          </a:p>
        </p:txBody>
      </p:sp>
      <p:sp>
        <p:nvSpPr>
          <p:cNvPr id="17438" name="AEGIS_PROMPT_1">
            <a:extLst xmlns:a="http://schemas.openxmlformats.org/drawingml/2006/main">
              <a:ext uri="{FF2B5EF4-FFF2-40B4-BE49-F238E27FC236}">
                <a16:creationId xmlns:a16="http://schemas.microsoft.com/office/drawing/2014/main" id="{B7A554B2-7EA8-48F0-AA76-C8B06CD2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108299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Benefits of the solution (social, economic, environmental, etc.)</a:t>
            </a:r>
          </a:p>
        </p:txBody>
      </p:sp>
      <p:sp>
        <p:nvSpPr>
          <p:cNvPr id="17439" name="AEGIS_93">
            <a:extLst xmlns:a="http://schemas.openxmlformats.org/drawingml/2006/main">
              <a:ext uri="{FF2B5EF4-FFF2-40B4-BE49-F238E27FC236}">
                <a16:creationId xmlns:a16="http://schemas.microsoft.com/office/drawing/2014/main" id="{6F2AA7DE-5071-4000-A0C9-AB8BE40C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0"/>
            <a:ext cx="323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Social</a:t>
            </a:r>
          </a:p>
        </p:txBody>
      </p:sp>
      <p:sp>
        <p:nvSpPr>
          <p:cNvPr id="17440" name="AEGIS_94">
            <a:extLst xmlns:a="http://schemas.openxmlformats.org/drawingml/2006/main">
              <a:ext uri="{FF2B5EF4-FFF2-40B4-BE49-F238E27FC236}">
                <a16:creationId xmlns:a16="http://schemas.microsoft.com/office/drawing/2014/main" id="{FAD9D8E0-8D85-44EC-99E9-1ED186E5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48300"/>
            <a:ext cx="3333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Help investigators act sooner on victim reports and identify potential intervention points. Make complex fund trails understandable without requiring specialist blockchain expertise.</a:t>
            </a:r>
          </a:p>
        </p:txBody>
      </p:sp>
      <p:sp>
        <p:nvSpPr>
          <p:cNvPr id="17441" name="AEGIS_95">
            <a:extLst xmlns:a="http://schemas.openxmlformats.org/drawingml/2006/main">
              <a:ext uri="{FF2B5EF4-FFF2-40B4-BE49-F238E27FC236}">
                <a16:creationId xmlns:a16="http://schemas.microsoft.com/office/drawing/2014/main" id="{59B1389B-6FAA-4463-A1E5-4F6806CF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143500"/>
            <a:ext cx="323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Economic</a:t>
            </a:r>
          </a:p>
        </p:txBody>
      </p:sp>
      <p:sp>
        <p:nvSpPr>
          <p:cNvPr id="17442" name="AEGIS_96">
            <a:extLst xmlns:a="http://schemas.openxmlformats.org/drawingml/2006/main">
              <a:ext uri="{FF2B5EF4-FFF2-40B4-BE49-F238E27FC236}">
                <a16:creationId xmlns:a16="http://schemas.microsoft.com/office/drawing/2014/main" id="{66028006-955C-46B0-A7B2-5C0AB7B5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448300"/>
            <a:ext cx="3333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Reduce repeated transaction lookups and manual report preparation. Prioritize actionable leads so investigators can focus limited time on review and response.</a:t>
            </a:r>
          </a:p>
        </p:txBody>
      </p:sp>
      <p:sp>
        <p:nvSpPr>
          <p:cNvPr id="17443" name="AEGIS_97">
            <a:extLst xmlns:a="http://schemas.openxmlformats.org/drawingml/2006/main">
              <a:ext uri="{FF2B5EF4-FFF2-40B4-BE49-F238E27FC236}">
                <a16:creationId xmlns:a16="http://schemas.microsoft.com/office/drawing/2014/main" id="{C200D663-2210-49C6-BFAE-4CB24856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43500"/>
            <a:ext cx="323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Operational</a:t>
            </a:r>
          </a:p>
        </p:txBody>
      </p:sp>
      <p:sp>
        <p:nvSpPr>
          <p:cNvPr id="17444" name="AEGIS_98">
            <a:extLst xmlns:a="http://schemas.openxmlformats.org/drawingml/2006/main">
              <a:ext uri="{FF2B5EF4-FFF2-40B4-BE49-F238E27FC236}">
                <a16:creationId xmlns:a16="http://schemas.microsoft.com/office/drawing/2014/main" id="{A8603B10-7360-454E-B222-ABBCA9C7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448300"/>
            <a:ext cx="3333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Standardize investigation reports and VASP coordination. Preserve transaction references, label sources and analysis history so findings can be reviewed and handed between teams.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2D4EC714-8C28-453B-8446-6EF70B95A4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RESEARCH  AND REFERENCES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75EF6B74-DC6D-4444-8551-624F1005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5263"/>
            <a:ext cx="9385300" cy="523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>Details / Links of the reference and research work</a:t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9D62C27-A2F5-4EE6-BF3F-66150AE0B9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D1CCB2B7-0B16-46F6-A673-135113C5D9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Your Team Name</a:t>
            </a:r>
            <a:endParaRPr/>
          </a:p>
        </p:txBody>
      </p:sp>
      <p:pic>
        <p:nvPicPr>
          <p:cNvPr id="174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ca0be0972348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AEGIS_PROMPT_0">
            <a:extLst xmlns:a="http://schemas.openxmlformats.org/drawingml/2006/main">
              <a:ext uri="{FF2B5EF4-FFF2-40B4-BE49-F238E27FC236}">
                <a16:creationId xmlns:a16="http://schemas.microsoft.com/office/drawing/2014/main" id="{D6C714D8-37EC-4CEA-96EF-7616C790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829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Details / Links of the reference and research work</a:t>
            </a:r>
          </a:p>
        </p:txBody>
      </p:sp>
      <p:sp>
        <p:nvSpPr>
          <p:cNvPr id="17413" name="AEGIS_99">
            <a:extLst xmlns:a="http://schemas.openxmlformats.org/drawingml/2006/main">
              <a:ext uri="{FF2B5EF4-FFF2-40B4-BE49-F238E27FC236}">
                <a16:creationId xmlns:a16="http://schemas.microsoft.com/office/drawing/2014/main" id="{C2A3328B-CDCD-4F8F-8410-5CDB3A57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9825"/>
            <a:ext cx="2009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Address clustering</a:t>
            </a:r>
          </a:p>
        </p:txBody>
      </p:sp>
      <p:sp>
        <p:nvSpPr>
          <p:cNvPr id="17414" name="AEGIS_100">
            <a:extLst xmlns:a="http://schemas.openxmlformats.org/drawingml/2006/main">
              <a:ext uri="{FF2B5EF4-FFF2-40B4-BE49-F238E27FC236}">
                <a16:creationId xmlns:a16="http://schemas.microsoft.com/office/drawing/2014/main" id="{2FBECE48-1162-4CE6-9693-C86ED2C7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409825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Meiklejohn et al. (2013), A Fistful of Bitcoins: Characterizing Payments Among Men with No Names.</a:t>
            </a:r>
          </a:p>
        </p:txBody>
      </p:sp>
      <p:sp>
        <p:nvSpPr>
          <p:cNvPr id="17415" name="AEGIS_101">
            <a:extLst xmlns:a="http://schemas.openxmlformats.org/drawingml/2006/main">
              <a:ext uri="{FF2B5EF4-FFF2-40B4-BE49-F238E27FC236}">
                <a16:creationId xmlns:a16="http://schemas.microsoft.com/office/drawing/2014/main" id="{20F00571-6C0D-4C48-8FC8-C5E4DF2F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819400"/>
            <a:ext cx="828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u="sng">
                <a:solidFill>
                  <a:srgbClr val="0000FF"/>
                </a:solidFill>
                <a:latin typeface="Arial"/>
                <a:ea typeface="Arial"/>
                <a:cs typeface="Arial"/>
                <a:hlinkClick xmlns:r="http://schemas.openxmlformats.org/officeDocument/2006/relationships" r:id="R5cad506f3e8e412b"/>
              </a:rPr>
              <a:t>ACM IMC paper</a:t>
            </a:r>
          </a:p>
        </p:txBody>
      </p:sp>
      <p:sp>
        <p:nvSpPr>
          <p:cNvPr id="17416" name="AEGIS_102">
            <a:extLst xmlns:a="http://schemas.openxmlformats.org/drawingml/2006/main">
              <a:ext uri="{FF2B5EF4-FFF2-40B4-BE49-F238E27FC236}">
                <a16:creationId xmlns:a16="http://schemas.microsoft.com/office/drawing/2014/main" id="{265C5486-CA12-4E4A-AFA6-9B4AD44E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38475"/>
            <a:ext cx="2009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ML-assisted analysis</a:t>
            </a:r>
          </a:p>
        </p:txBody>
      </p:sp>
      <p:sp>
        <p:nvSpPr>
          <p:cNvPr id="17417" name="AEGIS_103">
            <a:extLst xmlns:a="http://schemas.openxmlformats.org/drawingml/2006/main">
              <a:ext uri="{FF2B5EF4-FFF2-40B4-BE49-F238E27FC236}">
                <a16:creationId xmlns:a16="http://schemas.microsoft.com/office/drawing/2014/main" id="{C4F3AA63-AD4E-429A-8BDF-FC851A1D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038475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Weber et al. (2019), Anti-Money Laundering in Bitcoin: Experimenting with Graph Convolutional Networks for Financial Forensics.</a:t>
            </a:r>
          </a:p>
        </p:txBody>
      </p:sp>
      <p:sp>
        <p:nvSpPr>
          <p:cNvPr id="17418" name="AEGIS_104">
            <a:extLst xmlns:a="http://schemas.openxmlformats.org/drawingml/2006/main">
              <a:ext uri="{FF2B5EF4-FFF2-40B4-BE49-F238E27FC236}">
                <a16:creationId xmlns:a16="http://schemas.microsoft.com/office/drawing/2014/main" id="{C974880E-6925-46DA-8649-A225182D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448050"/>
            <a:ext cx="828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u="sng">
                <a:solidFill>
                  <a:srgbClr val="0000FF"/>
                </a:solidFill>
                <a:latin typeface="Arial"/>
                <a:ea typeface="Arial"/>
                <a:cs typeface="Arial"/>
                <a:hlinkClick xmlns:r="http://schemas.openxmlformats.org/officeDocument/2006/relationships" r:id="R6f84b7aa78b24665"/>
              </a:rPr>
              <a:t>arXiv:1908.02591</a:t>
            </a:r>
          </a:p>
        </p:txBody>
      </p:sp>
      <p:sp>
        <p:nvSpPr>
          <p:cNvPr id="17419" name="AEGIS_105">
            <a:extLst xmlns:a="http://schemas.openxmlformats.org/drawingml/2006/main">
              <a:ext uri="{FF2B5EF4-FFF2-40B4-BE49-F238E27FC236}">
                <a16:creationId xmlns:a16="http://schemas.microsoft.com/office/drawing/2014/main" id="{9A66D66D-1413-4DF5-A9A0-7311574E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2009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Blockchain data</a:t>
            </a:r>
          </a:p>
        </p:txBody>
      </p:sp>
      <p:sp>
        <p:nvSpPr>
          <p:cNvPr id="17420" name="AEGIS_106">
            <a:extLst xmlns:a="http://schemas.openxmlformats.org/drawingml/2006/main">
              <a:ext uri="{FF2B5EF4-FFF2-40B4-BE49-F238E27FC236}">
                <a16:creationId xmlns:a16="http://schemas.microsoft.com/office/drawing/2014/main" id="{3A13E926-267E-4080-B0C9-DB17C1F4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667125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Blockstream Esplora: address and transaction API documentation.</a:t>
            </a:r>
          </a:p>
        </p:txBody>
      </p:sp>
      <p:sp>
        <p:nvSpPr>
          <p:cNvPr id="17421" name="AEGIS_107">
            <a:extLst xmlns:a="http://schemas.openxmlformats.org/drawingml/2006/main">
              <a:ext uri="{FF2B5EF4-FFF2-40B4-BE49-F238E27FC236}">
                <a16:creationId xmlns:a16="http://schemas.microsoft.com/office/drawing/2014/main" id="{66EE76B0-3434-4D25-851D-7B73A34A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076700"/>
            <a:ext cx="828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u="sng">
                <a:solidFill>
                  <a:srgbClr val="0000FF"/>
                </a:solidFill>
                <a:latin typeface="Arial"/>
                <a:ea typeface="Arial"/>
                <a:cs typeface="Arial"/>
                <a:hlinkClick xmlns:r="http://schemas.openxmlformats.org/officeDocument/2006/relationships" r:id="R429ad404bf714a10"/>
              </a:rPr>
              <a:t>Official API documentation</a:t>
            </a:r>
          </a:p>
        </p:txBody>
      </p:sp>
      <p:sp>
        <p:nvSpPr>
          <p:cNvPr id="17422" name="AEGIS_108">
            <a:extLst xmlns:a="http://schemas.openxmlformats.org/drawingml/2006/main">
              <a:ext uri="{FF2B5EF4-FFF2-40B4-BE49-F238E27FC236}">
                <a16:creationId xmlns:a16="http://schemas.microsoft.com/office/drawing/2014/main" id="{6F6538D2-F0B6-4C50-BAA6-810F737B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95775"/>
            <a:ext cx="2009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Attribution sources</a:t>
            </a:r>
          </a:p>
        </p:txBody>
      </p:sp>
      <p:sp>
        <p:nvSpPr>
          <p:cNvPr id="17423" name="AEGIS_109">
            <a:extLst xmlns:a="http://schemas.openxmlformats.org/drawingml/2006/main">
              <a:ext uri="{FF2B5EF4-FFF2-40B4-BE49-F238E27FC236}">
                <a16:creationId xmlns:a16="http://schemas.microsoft.com/office/drawing/2014/main" id="{D7ACCE4F-A104-4783-803E-58A95015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295775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Binance, Our Commitment to Transparency (2022): published wallet disclosures.</a:t>
            </a:r>
          </a:p>
        </p:txBody>
      </p:sp>
      <p:sp>
        <p:nvSpPr>
          <p:cNvPr id="17424" name="AEGIS_110">
            <a:extLst xmlns:a="http://schemas.openxmlformats.org/drawingml/2006/main">
              <a:ext uri="{FF2B5EF4-FFF2-40B4-BE49-F238E27FC236}">
                <a16:creationId xmlns:a16="http://schemas.microsoft.com/office/drawing/2014/main" id="{F027A0ED-BFB8-45CD-8E09-9FF4C188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705350"/>
            <a:ext cx="828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u="sng">
                <a:solidFill>
                  <a:srgbClr val="0000FF"/>
                </a:solidFill>
                <a:latin typeface="Arial"/>
                <a:ea typeface="Arial"/>
                <a:cs typeface="Arial"/>
                <a:hlinkClick xmlns:r="http://schemas.openxmlformats.org/officeDocument/2006/relationships" r:id="Ra50499a7b95d4b8d"/>
              </a:rPr>
              <a:t>Historical disclosure; not a deposit-account registry</a:t>
            </a:r>
          </a:p>
        </p:txBody>
      </p:sp>
      <p:sp>
        <p:nvSpPr>
          <p:cNvPr id="17425" name="AEGIS_111">
            <a:extLst xmlns:a="http://schemas.openxmlformats.org/drawingml/2006/main">
              <a:ext uri="{FF2B5EF4-FFF2-40B4-BE49-F238E27FC236}">
                <a16:creationId xmlns:a16="http://schemas.microsoft.com/office/drawing/2014/main" id="{F70A8E24-7A36-4046-A334-B6002C4D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24425"/>
            <a:ext cx="2009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AML context</a:t>
            </a:r>
          </a:p>
        </p:txBody>
      </p:sp>
      <p:sp>
        <p:nvSpPr>
          <p:cNvPr id="17426" name="AEGIS_112">
            <a:extLst xmlns:a="http://schemas.openxmlformats.org/drawingml/2006/main">
              <a:ext uri="{FF2B5EF4-FFF2-40B4-BE49-F238E27FC236}">
                <a16:creationId xmlns:a16="http://schemas.microsoft.com/office/drawing/2014/main" id="{780519A5-0600-45C9-8BF8-4DBC8C0F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924425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FATF (2021), Updated Guidance for a Risk-Based Approach to Virtual Assets and VASPs.</a:t>
            </a:r>
          </a:p>
        </p:txBody>
      </p:sp>
      <p:sp>
        <p:nvSpPr>
          <p:cNvPr id="17427" name="AEGIS_113">
            <a:extLst xmlns:a="http://schemas.openxmlformats.org/drawingml/2006/main">
              <a:ext uri="{FF2B5EF4-FFF2-40B4-BE49-F238E27FC236}">
                <a16:creationId xmlns:a16="http://schemas.microsoft.com/office/drawing/2014/main" id="{AC540E73-2FF9-42E8-8859-3F1D9B69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334000"/>
            <a:ext cx="828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u="sng">
                <a:solidFill>
                  <a:srgbClr val="0000FF"/>
                </a:solidFill>
                <a:latin typeface="Arial"/>
                <a:ea typeface="Arial"/>
                <a:cs typeface="Arial"/>
                <a:hlinkClick xmlns:r="http://schemas.openxmlformats.org/officeDocument/2006/relationships" r:id="R8917840a971b43d3"/>
              </a:rPr>
              <a:t>FATF guidance</a:t>
            </a:r>
          </a:p>
        </p:txBody>
      </p:sp>
      <p:sp>
        <p:nvSpPr>
          <p:cNvPr id="17428" name="AEGIS_114">
            <a:extLst xmlns:a="http://schemas.openxmlformats.org/drawingml/2006/main">
              <a:ext uri="{FF2B5EF4-FFF2-40B4-BE49-F238E27FC236}">
                <a16:creationId xmlns:a16="http://schemas.microsoft.com/office/drawing/2014/main" id="{2FEEED3C-864E-4B49-A290-F996515D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53075"/>
            <a:ext cx="2009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handling</a:t>
            </a:r>
          </a:p>
        </p:txBody>
      </p:sp>
      <p:sp>
        <p:nvSpPr>
          <p:cNvPr id="17429" name="AEGIS_115">
            <a:extLst xmlns:a="http://schemas.openxmlformats.org/drawingml/2006/main">
              <a:ext uri="{FF2B5EF4-FFF2-40B4-BE49-F238E27FC236}">
                <a16:creationId xmlns:a16="http://schemas.microsoft.com/office/drawing/2014/main" id="{04775C77-BE4E-46F1-BA1B-064EEAA9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553075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NIST SP 800-86 (2006), Guide to Integrating Forensic Techniques into Incident Response.</a:t>
            </a:r>
          </a:p>
        </p:txBody>
      </p:sp>
      <p:sp>
        <p:nvSpPr>
          <p:cNvPr id="17430" name="AEGIS_116">
            <a:extLst xmlns:a="http://schemas.openxmlformats.org/drawingml/2006/main">
              <a:ext uri="{FF2B5EF4-FFF2-40B4-BE49-F238E27FC236}">
                <a16:creationId xmlns:a16="http://schemas.microsoft.com/office/drawing/2014/main" id="{1116276F-58DD-45FB-AC8D-331B7A61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962650"/>
            <a:ext cx="8286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 u="sng">
                <a:solidFill>
                  <a:srgbClr val="0000FF"/>
                </a:solidFill>
                <a:latin typeface="Arial"/>
                <a:ea typeface="Arial"/>
                <a:cs typeface="Arial"/>
                <a:hlinkClick xmlns:r="http://schemas.openxmlformats.org/officeDocument/2006/relationships" r:id="R6f18d94a014d4872"/>
              </a:rPr>
              <a:t>NIST guidance; not a guarantee of legal admissibility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E46DF20-859B-4C8C-AB79-BAEEE73F48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7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FC2AB29B-E894-4093-B26B-71EDA82B1A2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3" name="Round Diagonal Corner Rectangle 2">
            <a:extLst xmlns:a="http://schemas.openxmlformats.org/drawingml/2006/main">
              <a:ext uri="{FF2B5EF4-FFF2-40B4-BE49-F238E27FC236}">
                <a16:creationId xmlns:a16="http://schemas.microsoft.com/office/drawing/2014/main" id="{33849929-E470-4202-B8A8-B3181B9B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91032"/>
            <a:ext cx="12192000" cy="4319200"/>
          </a:xfrm>
          <a:prstGeom xmlns:a="http://schemas.openxmlformats.org/drawingml/2006/main" prst="round2DiagRect">
            <a:avLst/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381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Google Shape;100;p3">
            <a:extLst xmlns:a="http://schemas.openxmlformats.org/drawingml/2006/main">
              <a:ext uri="{FF2B5EF4-FFF2-40B4-BE49-F238E27FC236}">
                <a16:creationId xmlns:a16="http://schemas.microsoft.com/office/drawing/2014/main" id="{159A5FC2-DC5D-4A65-81B0-02F4657C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32" y="1915454"/>
            <a:ext cx="11764736" cy="4070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514350" marR="0" lvl="0" indent="-51435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Kindly keep the maximum slides limit up to six </a:t>
            </a:r>
            <a:r>
              <a:rPr b="1" i="0" u="non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(6). </a:t>
            </a:r>
            <a:r>
              <a:rPr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( Including the </a:t>
            </a:r>
            <a:r>
              <a:rPr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title slide) </a:t>
            </a:r>
            <a:endParaRPr b="1">
              <a:latin typeface="Arial"/>
              <a:ea typeface="Arial"/>
              <a:cs typeface="Arial"/>
            </a:endParaRPr>
          </a:p>
          <a:p xmlns:a="http://schemas.openxmlformats.org/drawingml/2006/main">
            <a:pPr marL="514350" marR="0" lvl="0" indent="-51435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Try to avoid paragraphs and post your idea in points /diagrams / Infographics /pictures </a:t>
            </a:r>
            <a:endParaRPr b="1">
              <a:latin typeface="Arial"/>
              <a:ea typeface="Arial"/>
              <a:cs typeface="Arial"/>
            </a:endParaRPr>
          </a:p>
          <a:p xmlns:a="http://schemas.openxmlformats.org/drawingml/2006/main">
            <a:pPr marL="514350" marR="0" lvl="0" indent="-51435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Keep your explanation precise and easy to understand</a:t>
            </a:r>
            <a:endParaRPr b="1">
              <a:latin typeface="Arial"/>
              <a:ea typeface="Arial"/>
              <a:cs typeface="Arial"/>
            </a:endParaRPr>
          </a:p>
          <a:p xmlns:a="http://schemas.openxmlformats.org/drawingml/2006/main">
            <a:pPr marL="514350" marR="0" lvl="0" indent="-51435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Idea should be unique and novel. </a:t>
            </a:r>
            <a:endParaRPr b="1">
              <a:latin typeface="Arial"/>
              <a:ea typeface="Arial"/>
              <a:cs typeface="Arial"/>
            </a:endParaRPr>
          </a:p>
          <a:p xmlns:a="http://schemas.openxmlformats.org/drawingml/2006/main">
            <a:pPr marL="514350" marR="0" lvl="0" indent="-51435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You can only use provided </a:t>
            </a:r>
            <a:r>
              <a:rPr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template</a:t>
            </a:r>
            <a:r>
              <a:rPr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for making the </a:t>
            </a:r>
            <a:r>
              <a:rPr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PPT</a:t>
            </a:r>
            <a:r>
              <a:rPr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 without changing the idea details pointers (mentioned in previous slides).</a:t>
            </a:r>
            <a:endParaRPr b="1" i="0" u="non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514350" marR="0" lvl="0" indent="-51435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You need to save the file in PDF and upload the same on portal. No PPT, Word Doc or any other format will be supported.</a:t>
            </a:r>
            <a:endParaRPr b="1">
              <a:latin typeface="Arial"/>
              <a:ea typeface="Arial"/>
              <a:cs typeface="Arial"/>
            </a:endParaRPr>
          </a:p>
          <a:p xmlns:a="http://schemas.openxmlformats.org/drawingml/2006/main">
            <a:pPr marL="514350" marR="0" lvl="0" indent="-349885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i="0" u="none" cap="none">
                <a:solidFill>
                  <a:srgbClr val="C00000"/>
                </a:solidFill>
                <a:latin typeface="Arial"/>
                <a:ea typeface="Arial"/>
                <a:cs typeface="Arial"/>
              </a:rPr>
              <a:t>Note - You can delete this slide (Important Pointers) when you upload the details of your idea on SIH portal.</a:t>
            </a:r>
            <a:endParaRPr b="1">
              <a:solidFill>
                <a:srgbClr val="C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914400" marR="0" lvl="1" indent="-31623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9253D7C-E8FA-4671-B5FA-3666D02D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371" y="107066"/>
            <a:ext cx="841054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IMPORTANT INSTRUCTIONS</a:t>
            </a:r>
            <a:endParaRPr sz="3600" b="1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BF6A52E-426C-4EC8-9312-9EB8EBE1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343" y="1181900"/>
            <a:ext cx="9557657" cy="341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>
                <a:solidFill>
                  <a:schemeClr val="dk1"/>
                </a:solidFill>
                <a:latin typeface="Arial"/>
                <a:ea typeface="Arial"/>
                <a:cs typeface="Arial"/>
              </a:rPr>
              <a:t>Please ensure below pointers are met while submitting the Idea PPT: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1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87c553ad644e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2026-09-23T14:24:05.9050000Z</dcterms:created>
  <dcterms:modified xsi:type="dcterms:W3CDTF">2026-09-23T14:24:05.9050000Z</dcterms:modified>
</coreProperties>
</file>